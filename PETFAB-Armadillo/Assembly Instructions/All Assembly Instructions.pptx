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01a9ff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01a9ff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68436d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68436d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368436d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368436d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68436d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368436d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68436d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368436d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10a2852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10a2852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10a2852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510a2852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21fac51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521fac51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10a2852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10a2852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10a2852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510a2852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10a2852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510a2852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10a2852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510a2852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10a2852c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510a2852c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510a2852c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510a2852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10a2852c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510a2852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510a2852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510a2852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510a2852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510a2852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10a2852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510a2852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10a2852c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510a2852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510a2852c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510a2852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510a2852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510a2852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10a2852c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510a2852c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510a2852c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510a2852c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10a2852c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510a2852c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510a2852c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510a2852c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368436d9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368436d9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368436d9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368436d9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4215716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4215716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368436d9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368436d9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4215716e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4215716e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368436d9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368436d9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4215716e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4215716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4215716e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4215716e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4215716e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4215716e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4215716e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4215716e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4215716e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4215716e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4215716e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4215716e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4215716e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4215716e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4215716e6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f4215716e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4215716e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4215716e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4215716e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4215716e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4215716e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f4215716e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4215716e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4215716e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4215716e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4215716e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4215716e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f4215716e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4215716e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f4215716e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4215716e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f4215716e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4215716e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4215716e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52fb07b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f52fb07b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4215716e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f4215716e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48f05e94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48f05e94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48f05e94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f48f05e94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48f05e94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48f05e94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50843d84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f50843d8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4215716e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f4215716e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4215716e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f4215716e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4215716e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f4215716e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52fb07ba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f52fb07ba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52fb07ba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f52fb07ba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4215716e6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4215716e6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4215716e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f4215716e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f4215716e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f4215716e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f4215716e6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f4215716e6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4215716e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f4215716e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48f05e94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f48f05e94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50843d84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50843d84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50843d84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f50843d8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f54eafd8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f54eafd8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54eafd8a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f54eafd8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f54eafd8a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f54eafd8a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f54eafd8a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f54eafd8a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510a285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f510a285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f54eafd8a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f54eafd8a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f54eafd8a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f54eafd8a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f54eafd8a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f54eafd8a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f54eafd8a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f54eafd8a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54eafd8a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f54eafd8a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54eafd8a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f54eafd8a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f54eafd8a4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f54eafd8a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550abfe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f550abfe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f54eafd8a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f54eafd8a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f54eafd8a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f54eafd8a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f54eafd8a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f54eafd8a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8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Relationship Id="rId4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5.png"/><Relationship Id="rId4" Type="http://schemas.openxmlformats.org/officeDocument/2006/relationships/image" Target="../media/image5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Relationship Id="rId4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Relationship Id="rId4" Type="http://schemas.openxmlformats.org/officeDocument/2006/relationships/image" Target="../media/image9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0.png"/><Relationship Id="rId4" Type="http://schemas.openxmlformats.org/officeDocument/2006/relationships/image" Target="../media/image6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6.png"/><Relationship Id="rId4" Type="http://schemas.openxmlformats.org/officeDocument/2006/relationships/image" Target="../media/image5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3.png"/><Relationship Id="rId4" Type="http://schemas.openxmlformats.org/officeDocument/2006/relationships/image" Target="../media/image6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1.png"/><Relationship Id="rId4" Type="http://schemas.openxmlformats.org/officeDocument/2006/relationships/image" Target="../media/image9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1.png"/><Relationship Id="rId4" Type="http://schemas.openxmlformats.org/officeDocument/2006/relationships/image" Target="../media/image7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7.png"/><Relationship Id="rId4" Type="http://schemas.openxmlformats.org/officeDocument/2006/relationships/image" Target="../media/image7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5.png"/><Relationship Id="rId4" Type="http://schemas.openxmlformats.org/officeDocument/2006/relationships/image" Target="../media/image7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7.png"/><Relationship Id="rId4" Type="http://schemas.openxmlformats.org/officeDocument/2006/relationships/image" Target="../media/image7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9.png"/><Relationship Id="rId4" Type="http://schemas.openxmlformats.org/officeDocument/2006/relationships/image" Target="../media/image8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3.png"/><Relationship Id="rId4" Type="http://schemas.openxmlformats.org/officeDocument/2006/relationships/image" Target="../media/image8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6.png"/><Relationship Id="rId4" Type="http://schemas.openxmlformats.org/officeDocument/2006/relationships/image" Target="../media/image10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3.png"/><Relationship Id="rId4" Type="http://schemas.openxmlformats.org/officeDocument/2006/relationships/image" Target="../media/image8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0.png"/><Relationship Id="rId4" Type="http://schemas.openxmlformats.org/officeDocument/2006/relationships/image" Target="../media/image12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7.png"/><Relationship Id="rId4" Type="http://schemas.openxmlformats.org/officeDocument/2006/relationships/image" Target="../media/image11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7.png"/><Relationship Id="rId4" Type="http://schemas.openxmlformats.org/officeDocument/2006/relationships/image" Target="../media/image10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6.png"/><Relationship Id="rId4" Type="http://schemas.openxmlformats.org/officeDocument/2006/relationships/image" Target="../media/image9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0.png"/><Relationship Id="rId4" Type="http://schemas.openxmlformats.org/officeDocument/2006/relationships/image" Target="../media/image10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1.png"/><Relationship Id="rId4" Type="http://schemas.openxmlformats.org/officeDocument/2006/relationships/image" Target="../media/image9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1.png"/><Relationship Id="rId4" Type="http://schemas.openxmlformats.org/officeDocument/2006/relationships/image" Target="../media/image10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09.png"/><Relationship Id="rId4" Type="http://schemas.openxmlformats.org/officeDocument/2006/relationships/image" Target="../media/image12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04.png"/><Relationship Id="rId4" Type="http://schemas.openxmlformats.org/officeDocument/2006/relationships/image" Target="../media/image10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1.png"/><Relationship Id="rId4" Type="http://schemas.openxmlformats.org/officeDocument/2006/relationships/image" Target="../media/image13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1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28.png"/><Relationship Id="rId4" Type="http://schemas.openxmlformats.org/officeDocument/2006/relationships/image" Target="../media/image10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14.png"/><Relationship Id="rId4" Type="http://schemas.openxmlformats.org/officeDocument/2006/relationships/image" Target="../media/image11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29.png"/><Relationship Id="rId4" Type="http://schemas.openxmlformats.org/officeDocument/2006/relationships/image" Target="../media/image13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5.png"/><Relationship Id="rId4" Type="http://schemas.openxmlformats.org/officeDocument/2006/relationships/image" Target="../media/image11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26.png"/><Relationship Id="rId4" Type="http://schemas.openxmlformats.org/officeDocument/2006/relationships/image" Target="../media/image11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8.png"/><Relationship Id="rId4" Type="http://schemas.openxmlformats.org/officeDocument/2006/relationships/image" Target="../media/image13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3.png"/><Relationship Id="rId4" Type="http://schemas.openxmlformats.org/officeDocument/2006/relationships/image" Target="../media/image13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7.png"/><Relationship Id="rId4" Type="http://schemas.openxmlformats.org/officeDocument/2006/relationships/image" Target="../media/image12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34.png"/><Relationship Id="rId4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23662" l="20124" r="6298" t="25561"/>
          <a:stretch/>
        </p:blipFill>
        <p:spPr>
          <a:xfrm>
            <a:off x="1723937" y="934913"/>
            <a:ext cx="5696126" cy="245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0"/>
            <a:ext cx="750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Base Plate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33580" l="19548" r="9855" t="39588"/>
          <a:stretch/>
        </p:blipFill>
        <p:spPr>
          <a:xfrm>
            <a:off x="1437625" y="3501375"/>
            <a:ext cx="6268752" cy="148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677100"/>
            <a:ext cx="4572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Arm Base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Wire Holder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36T Ring Gear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M5x10x20mm Spacer</a:t>
            </a:r>
            <a:endParaRPr sz="2500">
              <a:solidFill>
                <a:srgbClr val="6AA84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677100"/>
            <a:ext cx="4572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M5x30mm Button Head Bolt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3x M5x14mm Button Head Bolt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7x M5 Nylock Nuts</a:t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688" y="490950"/>
            <a:ext cx="4872626" cy="41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964100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Base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1795550" y="1193625"/>
            <a:ext cx="722700" cy="110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5"/>
          <p:cNvSpPr txBox="1"/>
          <p:nvPr/>
        </p:nvSpPr>
        <p:spPr>
          <a:xfrm>
            <a:off x="0" y="2907575"/>
            <a:ext cx="17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14mm Spacers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712700" y="1941650"/>
            <a:ext cx="143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Wire Holder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939000" y="4329975"/>
            <a:ext cx="220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36 Tooth Ring Gear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5" name="Google Shape;75;p15"/>
          <p:cNvCxnSpPr>
            <a:stCxn id="72" idx="3"/>
          </p:cNvCxnSpPr>
          <p:nvPr/>
        </p:nvCxnSpPr>
        <p:spPr>
          <a:xfrm flipH="1" rot="10800000">
            <a:off x="1736100" y="2579525"/>
            <a:ext cx="918000" cy="558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2" idx="3"/>
          </p:cNvCxnSpPr>
          <p:nvPr/>
        </p:nvCxnSpPr>
        <p:spPr>
          <a:xfrm>
            <a:off x="1736100" y="3138425"/>
            <a:ext cx="1632300" cy="78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3" idx="1"/>
          </p:cNvCxnSpPr>
          <p:nvPr/>
        </p:nvCxnSpPr>
        <p:spPr>
          <a:xfrm flipH="1">
            <a:off x="4941300" y="2172500"/>
            <a:ext cx="2771400" cy="372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5"/>
          <p:cNvCxnSpPr>
            <a:stCxn id="74" idx="1"/>
          </p:cNvCxnSpPr>
          <p:nvPr/>
        </p:nvCxnSpPr>
        <p:spPr>
          <a:xfrm rot="10800000">
            <a:off x="6131400" y="4313625"/>
            <a:ext cx="807600" cy="247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3697"/>
            <a:ext cx="4312801" cy="3149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3063" r="0" t="0"/>
          <a:stretch/>
        </p:blipFill>
        <p:spPr>
          <a:xfrm>
            <a:off x="4831200" y="1598763"/>
            <a:ext cx="4312799" cy="19374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1455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Wire Holder through the center of the Arm Base Plate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-Arm Base Plate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-Wire Holder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-3x M5x14mm Button Head Bolts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-3x M5 Nylock Nuts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4352" r="0" t="0"/>
          <a:stretch/>
        </p:blipFill>
        <p:spPr>
          <a:xfrm>
            <a:off x="0" y="564151"/>
            <a:ext cx="4312801" cy="37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0" l="7006" r="5421" t="0"/>
          <a:stretch/>
        </p:blipFill>
        <p:spPr>
          <a:xfrm>
            <a:off x="4831200" y="1362567"/>
            <a:ext cx="4312801" cy="226275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M5x10x20mm Spacer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M5x30mm Button Head Bolts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4x M5 Nylock Nuts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-36T Ring Gear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455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Arm Base Plate to the 36T Ring Gear with 20mm spacers </a:t>
            </a:r>
            <a:r>
              <a:rPr lang="en" sz="2200">
                <a:solidFill>
                  <a:srgbClr val="6AA84F"/>
                </a:solidFill>
              </a:rPr>
              <a:t>in between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0" y="0"/>
            <a:ext cx="750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Base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850" y="677100"/>
            <a:ext cx="6290294" cy="416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2286000" y="601500"/>
            <a:ext cx="45720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Arm Base Plate Assembly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Base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Structure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Base Top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Base Wall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Base Handle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12T Ring Gear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6AA84F"/>
                </a:solidFill>
              </a:rPr>
              <a:t>Robotis XM540-W270-T Actuator</a:t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 Continued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0" y="677100"/>
            <a:ext cx="45720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20x Nylock Nut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8x M5x14mm Button Head Bolt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4x M5x30mm Button Head Bolt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8x M5x30mm Socket Head Bolt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8x M5x60mm Button Head Bolt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4x M2.5x12mm Socket Head Bolt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</a:rPr>
              <a:t>4x M2.5x25mm Socket Head Bolt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</a:rPr>
              <a:t>8x 5x11x5mm Bearing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16x 5x16x5mm Bearing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</a:rPr>
              <a:t>4x 5x8x25mm M5 Threaded Spacers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572000" y="677100"/>
            <a:ext cx="45720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</a:rPr>
              <a:t>8x 5x10x40mm M5 Threaded Spacers</a:t>
            </a:r>
            <a:endParaRPr sz="22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</a:rPr>
              <a:t>4x Robotis Spacers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500" y="43050"/>
            <a:ext cx="6362725" cy="49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10450" y="1122050"/>
            <a:ext cx="179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Base Plate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29" name="Google Shape;129;p21"/>
          <p:cNvCxnSpPr>
            <a:stCxn id="128" idx="3"/>
          </p:cNvCxnSpPr>
          <p:nvPr/>
        </p:nvCxnSpPr>
        <p:spPr>
          <a:xfrm flipH="1" rot="10800000">
            <a:off x="2305950" y="949700"/>
            <a:ext cx="1325700" cy="541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1"/>
          <p:cNvSpPr txBox="1"/>
          <p:nvPr/>
        </p:nvSpPr>
        <p:spPr>
          <a:xfrm>
            <a:off x="7012200" y="334550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Top</a:t>
            </a:r>
            <a:r>
              <a:rPr lang="en" sz="1800">
                <a:solidFill>
                  <a:srgbClr val="38761D"/>
                </a:solidFill>
              </a:rPr>
              <a:t>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1" name="Google Shape;131;p21"/>
          <p:cNvCxnSpPr>
            <a:stCxn id="130" idx="1"/>
          </p:cNvCxnSpPr>
          <p:nvPr/>
        </p:nvCxnSpPr>
        <p:spPr>
          <a:xfrm flipH="1">
            <a:off x="6018600" y="565400"/>
            <a:ext cx="993600" cy="885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21"/>
          <p:cNvSpPr txBox="1"/>
          <p:nvPr/>
        </p:nvSpPr>
        <p:spPr>
          <a:xfrm>
            <a:off x="6780900" y="1399250"/>
            <a:ext cx="23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Structure</a:t>
            </a:r>
            <a:r>
              <a:rPr lang="en" sz="1800">
                <a:solidFill>
                  <a:srgbClr val="38761D"/>
                </a:solidFill>
              </a:rPr>
              <a:t>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3" name="Google Shape;133;p21"/>
          <p:cNvCxnSpPr>
            <a:stCxn id="132" idx="1"/>
          </p:cNvCxnSpPr>
          <p:nvPr/>
        </p:nvCxnSpPr>
        <p:spPr>
          <a:xfrm flipH="1">
            <a:off x="5870400" y="1630100"/>
            <a:ext cx="910500" cy="550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1"/>
          <p:cNvSpPr txBox="1"/>
          <p:nvPr/>
        </p:nvSpPr>
        <p:spPr>
          <a:xfrm>
            <a:off x="299250" y="2507975"/>
            <a:ext cx="131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5" name="Google Shape;135;p21"/>
          <p:cNvCxnSpPr>
            <a:stCxn id="134" idx="3"/>
          </p:cNvCxnSpPr>
          <p:nvPr/>
        </p:nvCxnSpPr>
        <p:spPr>
          <a:xfrm>
            <a:off x="1610550" y="2738825"/>
            <a:ext cx="1449000" cy="282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1"/>
          <p:cNvSpPr txBox="1"/>
          <p:nvPr/>
        </p:nvSpPr>
        <p:spPr>
          <a:xfrm>
            <a:off x="409050" y="4084650"/>
            <a:ext cx="182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38761D"/>
                </a:solidFill>
              </a:rPr>
              <a:t>Robotis XM540-W270-T Actuator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7" name="Google Shape;137;p21"/>
          <p:cNvCxnSpPr>
            <a:stCxn id="136" idx="3"/>
          </p:cNvCxnSpPr>
          <p:nvPr/>
        </p:nvCxnSpPr>
        <p:spPr>
          <a:xfrm flipH="1" rot="10800000">
            <a:off x="2234850" y="4587150"/>
            <a:ext cx="431700" cy="5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1"/>
          <p:cNvSpPr txBox="1"/>
          <p:nvPr/>
        </p:nvSpPr>
        <p:spPr>
          <a:xfrm>
            <a:off x="7691775" y="1992613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Wall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9" name="Google Shape;139;p21"/>
          <p:cNvCxnSpPr>
            <a:stCxn id="138" idx="1"/>
          </p:cNvCxnSpPr>
          <p:nvPr/>
        </p:nvCxnSpPr>
        <p:spPr>
          <a:xfrm flipH="1">
            <a:off x="7425675" y="2223463"/>
            <a:ext cx="266100" cy="640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1"/>
          <p:cNvSpPr txBox="1"/>
          <p:nvPr/>
        </p:nvSpPr>
        <p:spPr>
          <a:xfrm>
            <a:off x="5649150" y="4546350"/>
            <a:ext cx="298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12T gear + Gear Spacer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41" name="Google Shape;141;p21"/>
          <p:cNvCxnSpPr>
            <a:stCxn id="140" idx="1"/>
          </p:cNvCxnSpPr>
          <p:nvPr/>
        </p:nvCxnSpPr>
        <p:spPr>
          <a:xfrm rot="10800000">
            <a:off x="3949350" y="4572600"/>
            <a:ext cx="1699800" cy="204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1"/>
          <p:cNvSpPr txBox="1"/>
          <p:nvPr/>
        </p:nvSpPr>
        <p:spPr>
          <a:xfrm>
            <a:off x="7608275" y="2863975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Handle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43" name="Google Shape;143;p21"/>
          <p:cNvCxnSpPr>
            <a:stCxn id="142" idx="2"/>
          </p:cNvCxnSpPr>
          <p:nvPr/>
        </p:nvCxnSpPr>
        <p:spPr>
          <a:xfrm flipH="1">
            <a:off x="7703525" y="3325675"/>
            <a:ext cx="802500" cy="47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2237"/>
            <a:ext cx="4398175" cy="2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 rotWithShape="1">
          <a:blip r:embed="rId4">
            <a:alphaModFix/>
          </a:blip>
          <a:srcRect b="0" l="3223" r="0" t="0"/>
          <a:stretch/>
        </p:blipFill>
        <p:spPr>
          <a:xfrm>
            <a:off x="4831200" y="1396775"/>
            <a:ext cx="4297800" cy="234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-Base Plate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-Base Handle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M5x30mm Button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2x Nylock Nuts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Base Handle to the edge of the Base Plate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5502"/>
            <a:ext cx="4312800" cy="2284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1420" r="0" t="0"/>
          <a:stretch/>
        </p:blipFill>
        <p:spPr>
          <a:xfrm>
            <a:off x="4831200" y="1482888"/>
            <a:ext cx="4312799" cy="23292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-Base Handle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M5x30mm Button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Nylock Nuts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Repeat for the other side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6452"/>
            <a:ext cx="4312800" cy="277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360489"/>
            <a:ext cx="4312801" cy="233913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-Structure Plate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2x 5x16x5mm Bearing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-5x11x5mm Bearing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-M5x30mm Hex Socket Head Bolt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-Nylock Nut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a bearing stack (in the order of wide, thin, wide) around the center of the structure plate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85" name="Google Shape;185;p25"/>
          <p:cNvPicPr preferRelativeResize="0"/>
          <p:nvPr/>
        </p:nvPicPr>
        <p:blipFill rotWithShape="1">
          <a:blip r:embed="rId3">
            <a:alphaModFix/>
          </a:blip>
          <a:srcRect b="0" l="1816" r="0" t="0"/>
          <a:stretch/>
        </p:blipFill>
        <p:spPr>
          <a:xfrm>
            <a:off x="0" y="1325397"/>
            <a:ext cx="4312799" cy="249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373220"/>
            <a:ext cx="4312800" cy="23970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-6x 5x16x5mm Bearing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-3x 5x11x5mm Bearing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049500" y="4092225"/>
            <a:ext cx="315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-3x M5x30mm Hex Socket Head Bolt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-3x Nylock Nut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3 more bearing stacks around one half of the center of the structure plate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7108"/>
            <a:ext cx="4312799" cy="263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 rotWithShape="1">
          <a:blip r:embed="rId4">
            <a:alphaModFix/>
          </a:blip>
          <a:srcRect b="0" l="0" r="5096" t="0"/>
          <a:stretch/>
        </p:blipFill>
        <p:spPr>
          <a:xfrm>
            <a:off x="4831200" y="1778780"/>
            <a:ext cx="4286250" cy="158194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-Arm Base Assembly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the Arm Base Assembly between the bearings in the bearing stacks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9228"/>
            <a:ext cx="4350900" cy="15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652077"/>
            <a:ext cx="4312801" cy="1781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-8x 5x16x5mm Bearing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5x11x5mm Bearing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3049500" y="4092225"/>
            <a:ext cx="313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M5x30mm Hex Socket Head Bolt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Nylock Nut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four more bearing stacks around the other half of the structure plate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8978"/>
            <a:ext cx="4312799" cy="265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374916"/>
            <a:ext cx="4312800" cy="2328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5x8x25mm M5 Threaded Spacers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-M5x14mm Button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a threaded spacer onto one corner of the Structure Plate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8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3137"/>
            <a:ext cx="4312800" cy="279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236024"/>
            <a:ext cx="4312801" cy="25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/>
        </p:nvSpPr>
        <p:spPr>
          <a:xfrm>
            <a:off x="0" y="4127700"/>
            <a:ext cx="3224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-3x 5x8x25mm M5 Threaded Spacers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-3x M5x14mm Button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threaded spacers on all other corners of the Structure Plate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00" y="1081413"/>
            <a:ext cx="3744424" cy="298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9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9525" y="1104188"/>
            <a:ext cx="2601774" cy="29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/>
        </p:nvSpPr>
        <p:spPr>
          <a:xfrm>
            <a:off x="0" y="4127700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Robotis XM540-W270-T Actuator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0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Remove the four bolts on the back of the actuator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10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75" y="1074187"/>
            <a:ext cx="3649801" cy="299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 rotWithShape="1">
          <a:blip r:embed="rId4">
            <a:alphaModFix/>
          </a:blip>
          <a:srcRect b="0" l="2851" r="4881" t="0"/>
          <a:stretch/>
        </p:blipFill>
        <p:spPr>
          <a:xfrm>
            <a:off x="5946565" y="1049600"/>
            <a:ext cx="2586461" cy="299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-Robotis XM540-W270-T Actuator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Robotis Spacers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four Robotis Spacers into the back of the actuator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-Base Plate (with handles)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</a:t>
            </a:r>
            <a:r>
              <a:rPr lang="en">
                <a:solidFill>
                  <a:srgbClr val="6AA84F"/>
                </a:solidFill>
              </a:rPr>
              <a:t>M2.5x25mm Socket Head Bolt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 rotWithShape="1">
          <a:blip r:embed="rId3">
            <a:alphaModFix/>
          </a:blip>
          <a:srcRect b="0" l="0" r="1478" t="0"/>
          <a:stretch/>
        </p:blipFill>
        <p:spPr>
          <a:xfrm>
            <a:off x="0" y="1735525"/>
            <a:ext cx="4175598" cy="18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735537"/>
            <a:ext cx="4308299" cy="14883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2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back of the actuator to the Base Plate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-12T Gear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-Gear Spacer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M2.5x12mm </a:t>
            </a:r>
            <a:r>
              <a:rPr lang="en">
                <a:solidFill>
                  <a:srgbClr val="6AA84F"/>
                </a:solidFill>
              </a:rPr>
              <a:t>Socket Head Bolt</a:t>
            </a:r>
            <a:br>
              <a:rPr lang="en">
                <a:solidFill>
                  <a:srgbClr val="6AA84F"/>
                </a:solidFill>
              </a:rPr>
            </a:br>
            <a:endParaRPr>
              <a:solidFill>
                <a:srgbClr val="6AA84F"/>
              </a:solidFill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3"/>
          <p:cNvPicPr preferRelativeResize="0"/>
          <p:nvPr/>
        </p:nvPicPr>
        <p:blipFill rotWithShape="1">
          <a:blip r:embed="rId3">
            <a:alphaModFix/>
          </a:blip>
          <a:srcRect b="0" l="3195" r="0" t="0"/>
          <a:stretch/>
        </p:blipFill>
        <p:spPr>
          <a:xfrm>
            <a:off x="0" y="977280"/>
            <a:ext cx="4175074" cy="22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785438"/>
            <a:ext cx="4312801" cy="144271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3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12T Gear on top of the Gear Spacer to the actuator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81" name="Google Shape;281;p34"/>
          <p:cNvSpPr txBox="1"/>
          <p:nvPr/>
        </p:nvSpPr>
        <p:spPr>
          <a:xfrm>
            <a:off x="0" y="4127700"/>
            <a:ext cx="3270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-8x M5*60mm Button Head Bolt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-8x 5x10x40mm M5 Threaded Spacers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282" name="Google Shape;2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3890"/>
            <a:ext cx="4201825" cy="277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825" y="1387475"/>
            <a:ext cx="4321174" cy="181472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4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M5x60mm Button Head Bolts through eight corner holes, and place 40mm spacers on top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Base Wall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292" name="Google Shape;292;p35"/>
          <p:cNvPicPr preferRelativeResize="0"/>
          <p:nvPr/>
        </p:nvPicPr>
        <p:blipFill rotWithShape="1">
          <a:blip r:embed="rId3">
            <a:alphaModFix/>
          </a:blip>
          <a:srcRect b="0" l="0" r="0" t="5553"/>
          <a:stretch/>
        </p:blipFill>
        <p:spPr>
          <a:xfrm>
            <a:off x="0" y="677100"/>
            <a:ext cx="4104399" cy="328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654184"/>
            <a:ext cx="4312799" cy="183513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5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5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Base Walls onto each face of the base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15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01" name="Google Shape;3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125"/>
            <a:ext cx="4104400" cy="318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234868"/>
            <a:ext cx="4312799" cy="267374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-Arm Structure Plate and Arm Base Plate Assembly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-8x Nylock Nuts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6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the Arm Base Plate Assembly on top of the bolts and attach Nylock nuts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16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13" name="Google Shape;3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825"/>
            <a:ext cx="4136604" cy="31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966546"/>
            <a:ext cx="4312799" cy="285635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M5x14mm Button Head Bolt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7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Place the Base Top Plate around the Arm Base Plate and bolt each corner</a:t>
            </a:r>
            <a:endParaRPr sz="22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64863"/>
            <a:ext cx="3565775" cy="46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8"/>
          <p:cNvPicPr preferRelativeResize="0"/>
          <p:nvPr/>
        </p:nvPicPr>
        <p:blipFill rotWithShape="1">
          <a:blip r:embed="rId4">
            <a:alphaModFix/>
          </a:blip>
          <a:srcRect b="0" l="13689" r="0" t="0"/>
          <a:stretch/>
        </p:blipFill>
        <p:spPr>
          <a:xfrm>
            <a:off x="327076" y="490950"/>
            <a:ext cx="4244925" cy="41616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 txBox="1"/>
          <p:nvPr/>
        </p:nvSpPr>
        <p:spPr>
          <a:xfrm>
            <a:off x="0" y="0"/>
            <a:ext cx="750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Shoulder Assembly Instructions</a:t>
            </a:r>
            <a:endParaRPr sz="3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0" y="6771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Arm Shoulder Piece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3x Robotis XM540-W270-T Actuator</a:t>
            </a:r>
            <a:endParaRPr sz="2500">
              <a:solidFill>
                <a:srgbClr val="6AA84F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4572000" y="677100"/>
            <a:ext cx="4572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8x M2.5x6mm Bolts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M2.5x25mm Bolts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Robotis Spacers</a:t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0"/>
          <p:cNvPicPr preferRelativeResize="0"/>
          <p:nvPr/>
        </p:nvPicPr>
        <p:blipFill rotWithShape="1">
          <a:blip r:embed="rId3">
            <a:alphaModFix/>
          </a:blip>
          <a:srcRect b="0" l="0" r="0" t="9396"/>
          <a:stretch/>
        </p:blipFill>
        <p:spPr>
          <a:xfrm>
            <a:off x="1340075" y="113925"/>
            <a:ext cx="6070200" cy="465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0" y="2907575"/>
            <a:ext cx="182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Robotis XM540-W270-T Motors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7177100" y="1941650"/>
            <a:ext cx="196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Shoulder Piece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340" name="Google Shape;340;p40"/>
          <p:cNvCxnSpPr>
            <a:stCxn id="338" idx="3"/>
          </p:cNvCxnSpPr>
          <p:nvPr/>
        </p:nvCxnSpPr>
        <p:spPr>
          <a:xfrm flipH="1" rot="10800000">
            <a:off x="1821000" y="845075"/>
            <a:ext cx="3213600" cy="2570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" name="Google Shape;341;p40"/>
          <p:cNvCxnSpPr>
            <a:stCxn id="338" idx="3"/>
          </p:cNvCxnSpPr>
          <p:nvPr/>
        </p:nvCxnSpPr>
        <p:spPr>
          <a:xfrm>
            <a:off x="1821000" y="3415475"/>
            <a:ext cx="773700" cy="14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40"/>
          <p:cNvCxnSpPr>
            <a:stCxn id="339" idx="1"/>
          </p:cNvCxnSpPr>
          <p:nvPr/>
        </p:nvCxnSpPr>
        <p:spPr>
          <a:xfrm flipH="1">
            <a:off x="4975100" y="2311100"/>
            <a:ext cx="2202000" cy="251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40"/>
          <p:cNvCxnSpPr>
            <a:stCxn id="338" idx="3"/>
          </p:cNvCxnSpPr>
          <p:nvPr/>
        </p:nvCxnSpPr>
        <p:spPr>
          <a:xfrm>
            <a:off x="1821000" y="3415475"/>
            <a:ext cx="3332700" cy="1059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49" name="Google Shape;34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" y="600150"/>
            <a:ext cx="4051507" cy="37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1"/>
          <p:cNvSpPr txBox="1"/>
          <p:nvPr/>
        </p:nvSpPr>
        <p:spPr>
          <a:xfrm>
            <a:off x="1455475" y="7695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Remove the bottom two bolts from both sides of the actuator</a:t>
            </a:r>
            <a:endParaRPr sz="2200">
              <a:solidFill>
                <a:srgbClr val="6AA84F"/>
              </a:solidFill>
            </a:endParaRPr>
          </a:p>
        </p:txBody>
      </p:sp>
      <p:pic>
        <p:nvPicPr>
          <p:cNvPr id="351" name="Google Shape;3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3" y="677097"/>
            <a:ext cx="3817705" cy="340445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1"/>
          <p:cNvSpPr txBox="1"/>
          <p:nvPr/>
        </p:nvSpPr>
        <p:spPr>
          <a:xfrm>
            <a:off x="0" y="4127700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-Robotis XM540-W270-T Actuator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58" name="Google Shape;358;p42"/>
          <p:cNvSpPr txBox="1"/>
          <p:nvPr/>
        </p:nvSpPr>
        <p:spPr>
          <a:xfrm>
            <a:off x="4524300" y="0"/>
            <a:ext cx="461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spacer rings into the actuator</a:t>
            </a:r>
            <a:endParaRPr sz="2200">
              <a:solidFill>
                <a:srgbClr val="6AA84F"/>
              </a:solidFill>
            </a:endParaRPr>
          </a:p>
        </p:txBody>
      </p:sp>
      <p:pic>
        <p:nvPicPr>
          <p:cNvPr id="359" name="Google Shape;3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7100"/>
            <a:ext cx="3722222" cy="345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1784" y="857710"/>
            <a:ext cx="3320216" cy="308938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-Robotis XM540-W270-T Actuator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Robotis Spacers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75" y="595974"/>
            <a:ext cx="3284426" cy="400002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69" name="Google Shape;36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9552" y="668750"/>
            <a:ext cx="3476150" cy="37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3"/>
          <p:cNvSpPr txBox="1"/>
          <p:nvPr/>
        </p:nvSpPr>
        <p:spPr>
          <a:xfrm>
            <a:off x="2756100" y="0"/>
            <a:ext cx="638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Place the actuator in the top of the shoulder piece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371" name="Google Shape;371;p43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-Arm Shoulder Piece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72" name="Google Shape;372;p43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2756100" y="0"/>
            <a:ext cx="638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</a:t>
            </a:r>
            <a:r>
              <a:rPr lang="en" sz="2200">
                <a:solidFill>
                  <a:srgbClr val="6AA84F"/>
                </a:solidFill>
              </a:rPr>
              <a:t> the actuator into the top of the shoulder piece</a:t>
            </a:r>
            <a:endParaRPr sz="2200">
              <a:solidFill>
                <a:srgbClr val="6AA84F"/>
              </a:solidFill>
            </a:endParaRPr>
          </a:p>
        </p:txBody>
      </p:sp>
      <p:pic>
        <p:nvPicPr>
          <p:cNvPr id="379" name="Google Shape;3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750" y="644963"/>
            <a:ext cx="3626249" cy="385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4999" y="644963"/>
            <a:ext cx="2414180" cy="385356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4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M2.5x25mm Socket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82" name="Google Shape;382;p44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88" name="Google Shape;388;p45"/>
          <p:cNvSpPr txBox="1"/>
          <p:nvPr/>
        </p:nvSpPr>
        <p:spPr>
          <a:xfrm>
            <a:off x="1999600" y="0"/>
            <a:ext cx="714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Align the actuator with the bottom of the shoulder piece</a:t>
            </a:r>
            <a:endParaRPr sz="2200">
              <a:solidFill>
                <a:srgbClr val="6AA84F"/>
              </a:solidFill>
            </a:endParaRPr>
          </a:p>
        </p:txBody>
      </p:sp>
      <p:pic>
        <p:nvPicPr>
          <p:cNvPr id="389" name="Google Shape;3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875" y="523200"/>
            <a:ext cx="2881154" cy="3932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5873" y="523200"/>
            <a:ext cx="2451650" cy="393274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-Robotis XM540-W270-T Actuator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92" name="Google Shape;392;p45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109" y="0"/>
            <a:ext cx="3567014" cy="411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121899" cy="43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2501175" y="0"/>
            <a:ext cx="664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</a:t>
            </a:r>
            <a:r>
              <a:rPr lang="en" sz="2200">
                <a:solidFill>
                  <a:srgbClr val="6AA84F"/>
                </a:solidFill>
              </a:rPr>
              <a:t> the actuator to the bottom of the shoulder piece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401" name="Google Shape;401;p46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M2.5x6mm Bolts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447" y="15309"/>
            <a:ext cx="3620550" cy="409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75" y="0"/>
            <a:ext cx="4149512" cy="41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2628700" y="0"/>
            <a:ext cx="349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Repeat steps 5-6 for the other actuator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-Robotis XM540-W270-T Actuator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M2.5x6mm Bolts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48"/>
          <p:cNvPicPr preferRelativeResize="0"/>
          <p:nvPr/>
        </p:nvPicPr>
        <p:blipFill rotWithShape="1">
          <a:blip r:embed="rId3">
            <a:alphaModFix/>
          </a:blip>
          <a:srcRect b="0" l="3204" r="0" t="0"/>
          <a:stretch/>
        </p:blipFill>
        <p:spPr>
          <a:xfrm>
            <a:off x="0" y="853313"/>
            <a:ext cx="4161875" cy="34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8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Elbow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419" name="Google Shape;41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875" y="1097325"/>
            <a:ext cx="5249126" cy="29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25" name="Google Shape;425;p49"/>
          <p:cNvSpPr txBox="1"/>
          <p:nvPr/>
        </p:nvSpPr>
        <p:spPr>
          <a:xfrm>
            <a:off x="0" y="677100"/>
            <a:ext cx="45720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Arm Elbow Piece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1x </a:t>
            </a:r>
            <a:r>
              <a:rPr lang="en" sz="2500">
                <a:solidFill>
                  <a:srgbClr val="6AA84F"/>
                </a:solidFill>
              </a:rPr>
              <a:t>Robotis XM540-W270-T Actuator</a:t>
            </a:r>
            <a:endParaRPr sz="2500">
              <a:solidFill>
                <a:srgbClr val="6AA84F"/>
              </a:solidFill>
            </a:endParaRPr>
          </a:p>
        </p:txBody>
      </p:sp>
      <p:sp>
        <p:nvSpPr>
          <p:cNvPr id="426" name="Google Shape;426;p49"/>
          <p:cNvSpPr txBox="1"/>
          <p:nvPr/>
        </p:nvSpPr>
        <p:spPr>
          <a:xfrm>
            <a:off x="4572005" y="677100"/>
            <a:ext cx="4572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8x M2.5x8mm Socket Head Bolt</a:t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200" y="592863"/>
            <a:ext cx="6317601" cy="395777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33" name="Google Shape;433;p50"/>
          <p:cNvSpPr txBox="1"/>
          <p:nvPr/>
        </p:nvSpPr>
        <p:spPr>
          <a:xfrm>
            <a:off x="0" y="1941650"/>
            <a:ext cx="180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38761D"/>
                </a:solidFill>
              </a:rPr>
              <a:t>Robotis XM540-W270-T Actuator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34" name="Google Shape;434;p50"/>
          <p:cNvCxnSpPr>
            <a:stCxn id="433" idx="3"/>
          </p:cNvCxnSpPr>
          <p:nvPr/>
        </p:nvCxnSpPr>
        <p:spPr>
          <a:xfrm>
            <a:off x="1803900" y="2449550"/>
            <a:ext cx="493200" cy="529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50"/>
          <p:cNvSpPr txBox="1"/>
          <p:nvPr/>
        </p:nvSpPr>
        <p:spPr>
          <a:xfrm>
            <a:off x="7210800" y="3361425"/>
            <a:ext cx="19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Elbow Piece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36" name="Google Shape;436;p50"/>
          <p:cNvCxnSpPr>
            <a:stCxn id="435" idx="1"/>
          </p:cNvCxnSpPr>
          <p:nvPr/>
        </p:nvCxnSpPr>
        <p:spPr>
          <a:xfrm rot="10800000">
            <a:off x="5748900" y="2851575"/>
            <a:ext cx="1461900" cy="740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42" name="Google Shape;442;p51"/>
          <p:cNvSpPr txBox="1"/>
          <p:nvPr/>
        </p:nvSpPr>
        <p:spPr>
          <a:xfrm>
            <a:off x="2067600" y="76950"/>
            <a:ext cx="707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the actuator between the ends of the elbow piece</a:t>
            </a:r>
            <a:endParaRPr sz="2200">
              <a:solidFill>
                <a:srgbClr val="6AA84F"/>
              </a:solidFill>
            </a:endParaRPr>
          </a:p>
        </p:txBody>
      </p:sp>
      <p:pic>
        <p:nvPicPr>
          <p:cNvPr id="443" name="Google Shape;44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1805"/>
            <a:ext cx="4312800" cy="2993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218049"/>
            <a:ext cx="4312799" cy="2707413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1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-Arm Elbow Piece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-Robotis XM540-W270-T Actuator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46" name="Google Shape;446;p51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2892250" y="76950"/>
            <a:ext cx="625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</a:t>
            </a:r>
            <a:r>
              <a:rPr lang="en" sz="2200">
                <a:solidFill>
                  <a:srgbClr val="6AA84F"/>
                </a:solidFill>
              </a:rPr>
              <a:t> the actuator into the ends of the elbow piece</a:t>
            </a:r>
            <a:endParaRPr sz="2200">
              <a:solidFill>
                <a:srgbClr val="6AA84F"/>
              </a:solidFill>
            </a:endParaRPr>
          </a:p>
        </p:txBody>
      </p:sp>
      <p:pic>
        <p:nvPicPr>
          <p:cNvPr id="453" name="Google Shape;453;p52"/>
          <p:cNvPicPr preferRelativeResize="0"/>
          <p:nvPr/>
        </p:nvPicPr>
        <p:blipFill rotWithShape="1">
          <a:blip r:embed="rId3">
            <a:alphaModFix/>
          </a:blip>
          <a:srcRect b="0" l="2325" r="0" t="0"/>
          <a:stretch/>
        </p:blipFill>
        <p:spPr>
          <a:xfrm>
            <a:off x="0" y="1103113"/>
            <a:ext cx="4312749" cy="281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659" y="1146400"/>
            <a:ext cx="4243292" cy="28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2"/>
          <p:cNvSpPr txBox="1"/>
          <p:nvPr/>
        </p:nvSpPr>
        <p:spPr>
          <a:xfrm>
            <a:off x="0" y="412770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-4x M2.5x8mm </a:t>
            </a:r>
            <a:r>
              <a:rPr lang="en">
                <a:solidFill>
                  <a:srgbClr val="6AA84F"/>
                </a:solidFill>
              </a:rPr>
              <a:t>Socket Head </a:t>
            </a:r>
            <a:r>
              <a:rPr lang="en">
                <a:solidFill>
                  <a:srgbClr val="6AA84F"/>
                </a:solidFill>
              </a:rPr>
              <a:t>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56" name="Google Shape;456;p5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Finger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462" name="Google Shape;462;p53"/>
          <p:cNvPicPr preferRelativeResize="0"/>
          <p:nvPr/>
        </p:nvPicPr>
        <p:blipFill rotWithShape="1">
          <a:blip r:embed="rId3">
            <a:alphaModFix/>
          </a:blip>
          <a:srcRect b="0" l="6647" r="0" t="0"/>
          <a:stretch/>
        </p:blipFill>
        <p:spPr>
          <a:xfrm>
            <a:off x="289050" y="834550"/>
            <a:ext cx="4921224" cy="347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98213"/>
            <a:ext cx="4489324" cy="33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3"/>
          <p:cNvSpPr/>
          <p:nvPr/>
        </p:nvSpPr>
        <p:spPr>
          <a:xfrm>
            <a:off x="324775" y="1389175"/>
            <a:ext cx="2312400" cy="19383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70" name="Google Shape;470;p54"/>
          <p:cNvSpPr txBox="1"/>
          <p:nvPr/>
        </p:nvSpPr>
        <p:spPr>
          <a:xfrm>
            <a:off x="0" y="677100"/>
            <a:ext cx="4572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2x Spring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2x Spring Spacer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4x Finger Front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Finger Center Plate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2x Front Finger Pad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4x Center Finger Pad (two top pieces, two bottom pieces)</a:t>
            </a:r>
            <a:endParaRPr sz="2500">
              <a:solidFill>
                <a:srgbClr val="6AA84F"/>
              </a:solidFill>
            </a:endParaRPr>
          </a:p>
        </p:txBody>
      </p:sp>
      <p:sp>
        <p:nvSpPr>
          <p:cNvPr id="471" name="Google Shape;471;p54"/>
          <p:cNvSpPr txBox="1"/>
          <p:nvPr/>
        </p:nvSpPr>
        <p:spPr>
          <a:xfrm>
            <a:off x="4572000" y="677100"/>
            <a:ext cx="45720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6x M3x25mm Socket Head Bolt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M3x20mm Socket Head Bolt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3x8x4mm Bearing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10x M3 Lock Washer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10x M3 Nut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835" y="0"/>
            <a:ext cx="59003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78" name="Google Shape;478;p55"/>
          <p:cNvSpPr txBox="1"/>
          <p:nvPr/>
        </p:nvSpPr>
        <p:spPr>
          <a:xfrm>
            <a:off x="0" y="677100"/>
            <a:ext cx="180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Finger Front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79" name="Google Shape;479;p55"/>
          <p:cNvCxnSpPr>
            <a:stCxn id="478" idx="3"/>
          </p:cNvCxnSpPr>
          <p:nvPr/>
        </p:nvCxnSpPr>
        <p:spPr>
          <a:xfrm flipH="1" rot="10800000">
            <a:off x="1803900" y="800550"/>
            <a:ext cx="2509500" cy="246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55"/>
          <p:cNvSpPr txBox="1"/>
          <p:nvPr/>
        </p:nvSpPr>
        <p:spPr>
          <a:xfrm>
            <a:off x="7210800" y="326350"/>
            <a:ext cx="19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Front Finger Pad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1" name="Google Shape;481;p55"/>
          <p:cNvCxnSpPr>
            <a:stCxn id="480" idx="1"/>
          </p:cNvCxnSpPr>
          <p:nvPr/>
        </p:nvCxnSpPr>
        <p:spPr>
          <a:xfrm flipH="1">
            <a:off x="6668100" y="557200"/>
            <a:ext cx="542700" cy="596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55"/>
          <p:cNvSpPr txBox="1"/>
          <p:nvPr/>
        </p:nvSpPr>
        <p:spPr>
          <a:xfrm>
            <a:off x="0" y="2045850"/>
            <a:ext cx="133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Finger Center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3" name="Google Shape;483;p55"/>
          <p:cNvCxnSpPr>
            <a:stCxn id="482" idx="3"/>
          </p:cNvCxnSpPr>
          <p:nvPr/>
        </p:nvCxnSpPr>
        <p:spPr>
          <a:xfrm flipH="1" rot="10800000">
            <a:off x="1336500" y="2206050"/>
            <a:ext cx="1391400" cy="347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55"/>
          <p:cNvSpPr txBox="1"/>
          <p:nvPr/>
        </p:nvSpPr>
        <p:spPr>
          <a:xfrm>
            <a:off x="0" y="3817825"/>
            <a:ext cx="16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Center Finger Pads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5" name="Google Shape;485;p55"/>
          <p:cNvCxnSpPr>
            <a:stCxn id="484" idx="3"/>
          </p:cNvCxnSpPr>
          <p:nvPr/>
        </p:nvCxnSpPr>
        <p:spPr>
          <a:xfrm flipH="1" rot="10800000">
            <a:off x="1616400" y="3107575"/>
            <a:ext cx="1001100" cy="1079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6" name="Google Shape;486;p55"/>
          <p:cNvSpPr txBox="1"/>
          <p:nvPr/>
        </p:nvSpPr>
        <p:spPr>
          <a:xfrm>
            <a:off x="7349250" y="3470125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7" name="Google Shape;487;p55"/>
          <p:cNvCxnSpPr>
            <a:stCxn id="486" idx="1"/>
          </p:cNvCxnSpPr>
          <p:nvPr/>
        </p:nvCxnSpPr>
        <p:spPr>
          <a:xfrm rot="10800000">
            <a:off x="5049450" y="2382775"/>
            <a:ext cx="2299800" cy="131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" name="Google Shape;488;p55"/>
          <p:cNvCxnSpPr>
            <a:stCxn id="484" idx="3"/>
          </p:cNvCxnSpPr>
          <p:nvPr/>
        </p:nvCxnSpPr>
        <p:spPr>
          <a:xfrm flipH="1" rot="10800000">
            <a:off x="1616400" y="3813775"/>
            <a:ext cx="1181400" cy="373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55"/>
          <p:cNvSpPr txBox="1"/>
          <p:nvPr/>
        </p:nvSpPr>
        <p:spPr>
          <a:xfrm>
            <a:off x="7210800" y="1947775"/>
            <a:ext cx="19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 Spacer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90" name="Google Shape;490;p55"/>
          <p:cNvCxnSpPr>
            <a:stCxn id="489" idx="1"/>
          </p:cNvCxnSpPr>
          <p:nvPr/>
        </p:nvCxnSpPr>
        <p:spPr>
          <a:xfrm rot="10800000">
            <a:off x="4961100" y="1801225"/>
            <a:ext cx="2249700" cy="377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56"/>
          <p:cNvPicPr preferRelativeResize="0"/>
          <p:nvPr/>
        </p:nvPicPr>
        <p:blipFill rotWithShape="1">
          <a:blip r:embed="rId3">
            <a:alphaModFix/>
          </a:blip>
          <a:srcRect b="-2250" l="0" r="0" t="2250"/>
          <a:stretch/>
        </p:blipFill>
        <p:spPr>
          <a:xfrm>
            <a:off x="1560100" y="609075"/>
            <a:ext cx="2075150" cy="38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97" name="Google Shape;497;p56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Front Finger Plates to the Front Finger Pad with a lock washer underneath the nut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498" name="Google Shape;498;p56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650" y="788050"/>
            <a:ext cx="4109050" cy="371884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Finger Front Plate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-Front Finger Pad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M3x25mm Socket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01" name="Google Shape;501;p56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02" name="Google Shape;502;p5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00" y="526898"/>
            <a:ext cx="3111200" cy="386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900" y="1279975"/>
            <a:ext cx="4039975" cy="25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10" name="Google Shape;510;p57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Center Finger Plates and Center Finger Pads together with a lock washer underneath the nut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511" name="Google Shape;511;p57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Finger Center Plate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Center Finger Pad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M3x20mm Socket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13" name="Google Shape;513;p57"/>
          <p:cNvSpPr txBox="1"/>
          <p:nvPr/>
        </p:nvSpPr>
        <p:spPr>
          <a:xfrm>
            <a:off x="3049500" y="4092225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M3 Nut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14" name="Google Shape;514;p57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8"/>
          <p:cNvPicPr preferRelativeResize="0"/>
          <p:nvPr/>
        </p:nvPicPr>
        <p:blipFill rotWithShape="1">
          <a:blip r:embed="rId3">
            <a:alphaModFix/>
          </a:blip>
          <a:srcRect b="0" l="2504" r="1940" t="0"/>
          <a:stretch/>
        </p:blipFill>
        <p:spPr>
          <a:xfrm>
            <a:off x="0" y="1436533"/>
            <a:ext cx="3994774" cy="2304392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21" name="Google Shape;521;p58"/>
          <p:cNvSpPr txBox="1"/>
          <p:nvPr/>
        </p:nvSpPr>
        <p:spPr>
          <a:xfrm>
            <a:off x="1435850" y="0"/>
            <a:ext cx="770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the Spring Spacer into the center of the spring and then align the spring with the end of the Center Finger Plates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522" name="Google Shape;522;p58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3" name="Google Shape;52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825" y="1172375"/>
            <a:ext cx="4382525" cy="256854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8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-Spring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-Spring Spacer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5375"/>
            <a:ext cx="4308399" cy="16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31" name="Google Shape;531;p59"/>
          <p:cNvSpPr txBox="1"/>
          <p:nvPr/>
        </p:nvSpPr>
        <p:spPr>
          <a:xfrm>
            <a:off x="1435850" y="0"/>
            <a:ext cx="77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Align the front section of the finger with the center section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532" name="Google Shape;532;p59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900" y="1769875"/>
            <a:ext cx="4443099" cy="19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9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-Finger Front Assembly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3212"/>
            <a:ext cx="4124626" cy="37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41" name="Google Shape;541;p60"/>
          <p:cNvSpPr txBox="1"/>
          <p:nvPr/>
        </p:nvSpPr>
        <p:spPr>
          <a:xfrm>
            <a:off x="1435850" y="0"/>
            <a:ext cx="770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front and center sections together on top of the bearings with a lock washer underneath the nut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542" name="Google Shape;542;p6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975" y="1928525"/>
            <a:ext cx="4284575" cy="20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0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-M3x25mm Socket Head Bolt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3x8x4mm Bearing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45" name="Google Shape;545;p60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46" name="Google Shape;546;p60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3200"/>
            <a:ext cx="3045000" cy="37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6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53" name="Google Shape;553;p61"/>
          <p:cNvSpPr txBox="1"/>
          <p:nvPr/>
        </p:nvSpPr>
        <p:spPr>
          <a:xfrm>
            <a:off x="1435850" y="0"/>
            <a:ext cx="77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Repeat steps 1-5 for a mirror finger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554" name="Google Shape;554;p6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1440975"/>
            <a:ext cx="4267200" cy="2261547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61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-Front Finger Pad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Finger Front Plate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57" name="Google Shape;557;p61"/>
          <p:cNvSpPr txBox="1"/>
          <p:nvPr/>
        </p:nvSpPr>
        <p:spPr>
          <a:xfrm>
            <a:off x="3049500" y="4092225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Finger Center Pads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Finger Center Plate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-Spring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-Spring Spacer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58" name="Google Shape;558;p61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1"/>
          <p:cNvSpPr txBox="1"/>
          <p:nvPr/>
        </p:nvSpPr>
        <p:spPr>
          <a:xfrm>
            <a:off x="6094500" y="4058218"/>
            <a:ext cx="304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2x 3x8x4mm Bearing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2x M3x20mm Socket Head Bolt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-3</a:t>
            </a:r>
            <a:r>
              <a:rPr lang="en">
                <a:solidFill>
                  <a:srgbClr val="6AA84F"/>
                </a:solidFill>
              </a:rPr>
              <a:t>x M3x25mm Socket Head Bolt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</a:rPr>
              <a:t>-2x 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M3 Nut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60" name="Google Shape;560;p61"/>
          <p:cNvSpPr/>
          <p:nvPr/>
        </p:nvSpPr>
        <p:spPr>
          <a:xfrm>
            <a:off x="6094500" y="4094328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2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Coiler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566" name="Google Shape;56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4" y="1026288"/>
            <a:ext cx="4671610" cy="3780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172" y="911988"/>
            <a:ext cx="4388025" cy="38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73" name="Google Shape;573;p63"/>
          <p:cNvSpPr txBox="1"/>
          <p:nvPr/>
        </p:nvSpPr>
        <p:spPr>
          <a:xfrm>
            <a:off x="0" y="677100"/>
            <a:ext cx="4572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2x Spring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2x Spring Spacer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4x Finger Front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Finger Center Plate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2x Front Finger Pad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4x Center Finger Pad (two top pieces, two bottom pieces)</a:t>
            </a:r>
            <a:endParaRPr sz="2500">
              <a:solidFill>
                <a:srgbClr val="6AA84F"/>
              </a:solidFill>
            </a:endParaRPr>
          </a:p>
        </p:txBody>
      </p:sp>
      <p:sp>
        <p:nvSpPr>
          <p:cNvPr id="574" name="Google Shape;574;p63"/>
          <p:cNvSpPr txBox="1"/>
          <p:nvPr/>
        </p:nvSpPr>
        <p:spPr>
          <a:xfrm>
            <a:off x="4572000" y="677100"/>
            <a:ext cx="457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8x M2.5x8mm Bolt</a:t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626" y="0"/>
            <a:ext cx="31163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81" name="Google Shape;581;p64"/>
          <p:cNvSpPr txBox="1"/>
          <p:nvPr/>
        </p:nvSpPr>
        <p:spPr>
          <a:xfrm>
            <a:off x="-35475" y="1020000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Coiler Top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582" name="Google Shape;582;p64"/>
          <p:cNvCxnSpPr>
            <a:stCxn id="581" idx="3"/>
          </p:cNvCxnSpPr>
          <p:nvPr/>
        </p:nvCxnSpPr>
        <p:spPr>
          <a:xfrm flipH="1" rot="10800000">
            <a:off x="1768425" y="1139550"/>
            <a:ext cx="1813800" cy="111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64"/>
          <p:cNvSpPr txBox="1"/>
          <p:nvPr/>
        </p:nvSpPr>
        <p:spPr>
          <a:xfrm>
            <a:off x="499700" y="3817825"/>
            <a:ext cx="111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Coiler Bottom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584" name="Google Shape;584;p64"/>
          <p:cNvSpPr txBox="1"/>
          <p:nvPr/>
        </p:nvSpPr>
        <p:spPr>
          <a:xfrm>
            <a:off x="7047150" y="3751288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Pulleys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585" name="Google Shape;585;p64"/>
          <p:cNvCxnSpPr>
            <a:stCxn id="584" idx="1"/>
          </p:cNvCxnSpPr>
          <p:nvPr/>
        </p:nvCxnSpPr>
        <p:spPr>
          <a:xfrm rot="10800000">
            <a:off x="4747050" y="3198838"/>
            <a:ext cx="2300100" cy="783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p64"/>
          <p:cNvCxnSpPr>
            <a:stCxn id="583" idx="3"/>
          </p:cNvCxnSpPr>
          <p:nvPr/>
        </p:nvCxnSpPr>
        <p:spPr>
          <a:xfrm>
            <a:off x="1616300" y="4187275"/>
            <a:ext cx="2013300" cy="14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7" name="Google Shape;587;p64"/>
          <p:cNvCxnSpPr>
            <a:stCxn id="584" idx="1"/>
          </p:cNvCxnSpPr>
          <p:nvPr/>
        </p:nvCxnSpPr>
        <p:spPr>
          <a:xfrm rot="10800000">
            <a:off x="5586450" y="2552338"/>
            <a:ext cx="1460700" cy="1429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150" y="523201"/>
            <a:ext cx="1254516" cy="3655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94" name="Google Shape;594;p65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Coiler Top to the pulleys and Coiler Bottom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595" name="Google Shape;595;p65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6" name="Google Shape;59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313" y="1668902"/>
            <a:ext cx="2571711" cy="180567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6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-Coiler Top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-Coiler Bottom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Pulley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98" name="Google Shape;598;p65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M3x14mm Socket Head Bolt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99" name="Google Shape;599;p65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775" y="523199"/>
            <a:ext cx="2123700" cy="340735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06" name="Google Shape;606;p66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Coiler to the horn of the actuator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607" name="Google Shape;607;p66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8" name="Google Shape;60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8650" y="1245463"/>
            <a:ext cx="2381875" cy="2882226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-Robotis XM540-W270-T Actuator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M2.5x8mm Socket Head Bolt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7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Base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615" name="Google Shape;61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9500"/>
            <a:ext cx="4267200" cy="3995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29500"/>
            <a:ext cx="4419600" cy="366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22" name="Google Shape;622;p68"/>
          <p:cNvSpPr txBox="1"/>
          <p:nvPr/>
        </p:nvSpPr>
        <p:spPr>
          <a:xfrm>
            <a:off x="0" y="677100"/>
            <a:ext cx="4572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Coiler Assembly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Gripper Base Top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Gripper Base Bottom Plate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Gripper Base Front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Gripper Base Side Wall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Pulley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Pulley Spacer</a:t>
            </a:r>
            <a:endParaRPr sz="2500">
              <a:solidFill>
                <a:srgbClr val="6AA84F"/>
              </a:solidFill>
            </a:endParaRPr>
          </a:p>
        </p:txBody>
      </p:sp>
      <p:sp>
        <p:nvSpPr>
          <p:cNvPr id="623" name="Google Shape;623;p68"/>
          <p:cNvSpPr txBox="1"/>
          <p:nvPr/>
        </p:nvSpPr>
        <p:spPr>
          <a:xfrm>
            <a:off x="4572000" y="677100"/>
            <a:ext cx="4572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M3x10mm Socket Head Bolt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4x M3x25mm Socket Head Bolt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6x M3 Lock Washer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6x M3 Nut</a:t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464" y="-18000"/>
            <a:ext cx="260797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30" name="Google Shape;630;p69"/>
          <p:cNvSpPr txBox="1"/>
          <p:nvPr/>
        </p:nvSpPr>
        <p:spPr>
          <a:xfrm>
            <a:off x="0" y="677100"/>
            <a:ext cx="180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Top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1" name="Google Shape;631;p69"/>
          <p:cNvCxnSpPr>
            <a:stCxn id="630" idx="3"/>
          </p:cNvCxnSpPr>
          <p:nvPr/>
        </p:nvCxnSpPr>
        <p:spPr>
          <a:xfrm flipH="1" rot="10800000">
            <a:off x="1803900" y="705750"/>
            <a:ext cx="2618700" cy="340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69"/>
          <p:cNvSpPr txBox="1"/>
          <p:nvPr/>
        </p:nvSpPr>
        <p:spPr>
          <a:xfrm>
            <a:off x="0" y="2045850"/>
            <a:ext cx="133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Side Wall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3" name="Google Shape;633;p69"/>
          <p:cNvCxnSpPr>
            <a:stCxn id="632" idx="3"/>
          </p:cNvCxnSpPr>
          <p:nvPr/>
        </p:nvCxnSpPr>
        <p:spPr>
          <a:xfrm flipH="1" rot="10800000">
            <a:off x="1336500" y="1266750"/>
            <a:ext cx="2745900" cy="128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69"/>
          <p:cNvSpPr txBox="1"/>
          <p:nvPr/>
        </p:nvSpPr>
        <p:spPr>
          <a:xfrm>
            <a:off x="499700" y="3817825"/>
            <a:ext cx="111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Pulley Spacers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5" name="Google Shape;635;p69"/>
          <p:cNvCxnSpPr>
            <a:stCxn id="634" idx="3"/>
          </p:cNvCxnSpPr>
          <p:nvPr/>
        </p:nvCxnSpPr>
        <p:spPr>
          <a:xfrm flipH="1" rot="10800000">
            <a:off x="1616300" y="1487875"/>
            <a:ext cx="2925300" cy="269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69"/>
          <p:cNvSpPr txBox="1"/>
          <p:nvPr/>
        </p:nvSpPr>
        <p:spPr>
          <a:xfrm>
            <a:off x="7112850" y="495913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Pulleys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7" name="Google Shape;637;p69"/>
          <p:cNvCxnSpPr>
            <a:stCxn id="636" idx="1"/>
          </p:cNvCxnSpPr>
          <p:nvPr/>
        </p:nvCxnSpPr>
        <p:spPr>
          <a:xfrm flipH="1">
            <a:off x="4717950" y="726763"/>
            <a:ext cx="2394900" cy="1027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69"/>
          <p:cNvCxnSpPr>
            <a:stCxn id="634" idx="3"/>
          </p:cNvCxnSpPr>
          <p:nvPr/>
        </p:nvCxnSpPr>
        <p:spPr>
          <a:xfrm flipH="1" rot="10800000">
            <a:off x="1616300" y="2023375"/>
            <a:ext cx="2942400" cy="2163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" name="Google Shape;639;p69"/>
          <p:cNvSpPr txBox="1"/>
          <p:nvPr/>
        </p:nvSpPr>
        <p:spPr>
          <a:xfrm>
            <a:off x="7189025" y="1708250"/>
            <a:ext cx="19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Front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40" name="Google Shape;640;p69"/>
          <p:cNvCxnSpPr>
            <a:stCxn id="639" idx="1"/>
          </p:cNvCxnSpPr>
          <p:nvPr/>
        </p:nvCxnSpPr>
        <p:spPr>
          <a:xfrm flipH="1">
            <a:off x="4975325" y="2077700"/>
            <a:ext cx="2213700" cy="532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69"/>
          <p:cNvCxnSpPr>
            <a:stCxn id="636" idx="1"/>
          </p:cNvCxnSpPr>
          <p:nvPr/>
        </p:nvCxnSpPr>
        <p:spPr>
          <a:xfrm flipH="1">
            <a:off x="5230350" y="726763"/>
            <a:ext cx="1882500" cy="1152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2" name="Google Shape;642;p69"/>
          <p:cNvSpPr txBox="1"/>
          <p:nvPr/>
        </p:nvSpPr>
        <p:spPr>
          <a:xfrm>
            <a:off x="7276050" y="2886900"/>
            <a:ext cx="157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Bottom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43" name="Google Shape;643;p69"/>
          <p:cNvCxnSpPr>
            <a:stCxn id="642" idx="1"/>
          </p:cNvCxnSpPr>
          <p:nvPr/>
        </p:nvCxnSpPr>
        <p:spPr>
          <a:xfrm flipH="1">
            <a:off x="5991450" y="3256350"/>
            <a:ext cx="1284600" cy="76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4" name="Google Shape;644;p69"/>
          <p:cNvSpPr txBox="1"/>
          <p:nvPr/>
        </p:nvSpPr>
        <p:spPr>
          <a:xfrm>
            <a:off x="7367375" y="4065550"/>
            <a:ext cx="175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38761D"/>
                </a:solidFill>
              </a:rPr>
              <a:t>Coiler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45" name="Google Shape;645;p69"/>
          <p:cNvCxnSpPr>
            <a:stCxn id="644" idx="1"/>
          </p:cNvCxnSpPr>
          <p:nvPr/>
        </p:nvCxnSpPr>
        <p:spPr>
          <a:xfrm rot="10800000">
            <a:off x="5811875" y="4111600"/>
            <a:ext cx="1555500" cy="323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51" name="Google Shape;651;p70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Remove the front four bolts from the actuator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652" name="Google Shape;652;p7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70"/>
          <p:cNvSpPr txBox="1"/>
          <p:nvPr/>
        </p:nvSpPr>
        <p:spPr>
          <a:xfrm>
            <a:off x="0" y="4127700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-Coiler Assembly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654" name="Google Shape;65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5" y="1039344"/>
            <a:ext cx="3635614" cy="305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8611" y="956840"/>
            <a:ext cx="3754215" cy="313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61" name="Google Shape;661;p71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Robotis Spacers into the front of the actuator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662" name="Google Shape;662;p7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1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-4 Robotis Spacers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664" name="Google Shape;66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0" y="966950"/>
            <a:ext cx="3616169" cy="3062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7862" y="915950"/>
            <a:ext cx="3657601" cy="316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19" y="677100"/>
            <a:ext cx="2970944" cy="3415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7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72" name="Google Shape;672;p72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Front Finger Plates to the Front Finger Pad with a lock washer underneath the nut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673" name="Google Shape;673;p72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4" name="Google Shape;67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0975" y="1632298"/>
            <a:ext cx="3556708" cy="203436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7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-Gripper Base Bottom Plate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-Gripper Base Front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M3x10mm Socket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676" name="Google Shape;676;p72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 Lock Washer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677" name="Google Shape;677;p72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25" y="500000"/>
            <a:ext cx="2289274" cy="3627701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7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84" name="Google Shape;684;p73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Gripper Base Bottom Plate to the actuator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685" name="Google Shape;685;p73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7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-Coiler Assembly with spacers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M2.5x16mm Socket Head Bolt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687" name="Google Shape;68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8549" y="861903"/>
            <a:ext cx="3226075" cy="314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93" name="Google Shape;693;p74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Front Finger Plates to the Front Finger Pad with a lock washer underneath the nut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694" name="Google Shape;694;p74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74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-Gripper Base Side Wall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M3x25mm Socket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696" name="Google Shape;696;p74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697" name="Google Shape;697;p74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8" name="Google Shape;69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400" y="424375"/>
            <a:ext cx="2200925" cy="362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600" y="1202175"/>
            <a:ext cx="2808738" cy="292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05" name="Google Shape;705;p75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pulley and pulley spacers to the front of the Gripper Base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706" name="Google Shape;706;p75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7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-3x12x4mm Pulley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Pulley Spacer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08" name="Google Shape;708;p75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M3x25mm Socket Head Bolt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09" name="Google Shape;709;p75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0" name="Google Shape;71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25" y="680201"/>
            <a:ext cx="2738226" cy="318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251" y="1237361"/>
            <a:ext cx="3136725" cy="26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25" y="359561"/>
            <a:ext cx="3235099" cy="368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7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18" name="Google Shape;718;p76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Repeat for the other side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719" name="Google Shape;719;p76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7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-3x12x4mm Pulley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Pulley Spacer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21" name="Google Shape;721;p76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-M3x25mm Socket Head Bolt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22" name="Google Shape;722;p7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961576"/>
            <a:ext cx="3889575" cy="297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7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729" name="Google Shape;729;p77"/>
          <p:cNvPicPr preferRelativeResize="0"/>
          <p:nvPr/>
        </p:nvPicPr>
        <p:blipFill rotWithShape="1">
          <a:blip r:embed="rId3">
            <a:alphaModFix/>
          </a:blip>
          <a:srcRect b="0" l="6648" r="11686" t="0"/>
          <a:stretch/>
        </p:blipFill>
        <p:spPr>
          <a:xfrm>
            <a:off x="0" y="954375"/>
            <a:ext cx="4305201" cy="347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77"/>
          <p:cNvPicPr preferRelativeResize="0"/>
          <p:nvPr/>
        </p:nvPicPr>
        <p:blipFill rotWithShape="1">
          <a:blip r:embed="rId4">
            <a:alphaModFix/>
          </a:blip>
          <a:srcRect b="0" l="9791" r="7653" t="0"/>
          <a:stretch/>
        </p:blipFill>
        <p:spPr>
          <a:xfrm>
            <a:off x="4441175" y="785675"/>
            <a:ext cx="4503401" cy="35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36" name="Google Shape;736;p78"/>
          <p:cNvSpPr txBox="1"/>
          <p:nvPr/>
        </p:nvSpPr>
        <p:spPr>
          <a:xfrm>
            <a:off x="0" y="677100"/>
            <a:ext cx="4572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Major Components:</a:t>
            </a:r>
            <a:br>
              <a:rPr lang="en" sz="2500">
                <a:solidFill>
                  <a:srgbClr val="6AA84F"/>
                </a:solidFill>
              </a:rPr>
            </a:br>
            <a:r>
              <a:rPr lang="en" sz="2500">
                <a:solidFill>
                  <a:srgbClr val="6AA84F"/>
                </a:solidFill>
              </a:rPr>
              <a:t>Gripper Base Assembly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Gripper Finger Assembly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Spring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Spring Spacer</a:t>
            </a:r>
            <a:endParaRPr sz="2500">
              <a:solidFill>
                <a:srgbClr val="6AA84F"/>
              </a:solidFill>
            </a:endParaRPr>
          </a:p>
        </p:txBody>
      </p:sp>
      <p:sp>
        <p:nvSpPr>
          <p:cNvPr id="737" name="Google Shape;737;p78"/>
          <p:cNvSpPr txBox="1"/>
          <p:nvPr/>
        </p:nvSpPr>
        <p:spPr>
          <a:xfrm>
            <a:off x="4572000" y="677100"/>
            <a:ext cx="4572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Minor Components: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AA84F"/>
                </a:solidFill>
              </a:rPr>
              <a:t>2x M3x25mm Socket Head Bolt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6AA84F"/>
                </a:solidFill>
              </a:rPr>
              <a:t>2</a:t>
            </a:r>
            <a:r>
              <a:rPr lang="en" sz="2500">
                <a:solidFill>
                  <a:srgbClr val="6AA84F"/>
                </a:solidFill>
              </a:rPr>
              <a:t>x M3 Lock Washer</a:t>
            </a:r>
            <a:endParaRPr sz="25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6AA84F"/>
                </a:solidFill>
              </a:rPr>
              <a:t>2x M3 Nut</a:t>
            </a:r>
            <a:endParaRPr sz="2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9500"/>
            <a:ext cx="9143999" cy="3304831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7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44" name="Google Shape;744;p79"/>
          <p:cNvSpPr txBox="1"/>
          <p:nvPr/>
        </p:nvSpPr>
        <p:spPr>
          <a:xfrm>
            <a:off x="389425" y="4214475"/>
            <a:ext cx="159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45" name="Google Shape;745;p79"/>
          <p:cNvCxnSpPr>
            <a:stCxn id="744" idx="0"/>
          </p:cNvCxnSpPr>
          <p:nvPr/>
        </p:nvCxnSpPr>
        <p:spPr>
          <a:xfrm flipH="1" rot="10800000">
            <a:off x="1186525" y="3285975"/>
            <a:ext cx="157200" cy="92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79"/>
          <p:cNvSpPr txBox="1"/>
          <p:nvPr/>
        </p:nvSpPr>
        <p:spPr>
          <a:xfrm>
            <a:off x="6349100" y="4004700"/>
            <a:ext cx="173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Finger Assembly 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47" name="Google Shape;747;p79"/>
          <p:cNvCxnSpPr>
            <a:stCxn id="746" idx="0"/>
          </p:cNvCxnSpPr>
          <p:nvPr/>
        </p:nvCxnSpPr>
        <p:spPr>
          <a:xfrm rot="10800000">
            <a:off x="6937400" y="2687400"/>
            <a:ext cx="278700" cy="131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8" name="Google Shape;748;p79"/>
          <p:cNvSpPr txBox="1"/>
          <p:nvPr/>
        </p:nvSpPr>
        <p:spPr>
          <a:xfrm>
            <a:off x="2409413" y="4286725"/>
            <a:ext cx="159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49" name="Google Shape;749;p79"/>
          <p:cNvCxnSpPr>
            <a:stCxn id="748" idx="0"/>
          </p:cNvCxnSpPr>
          <p:nvPr/>
        </p:nvCxnSpPr>
        <p:spPr>
          <a:xfrm flipH="1" rot="10800000">
            <a:off x="3206513" y="2150725"/>
            <a:ext cx="758700" cy="2136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79"/>
          <p:cNvSpPr txBox="1"/>
          <p:nvPr/>
        </p:nvSpPr>
        <p:spPr>
          <a:xfrm>
            <a:off x="5265803" y="748875"/>
            <a:ext cx="19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 Spacer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51" name="Google Shape;751;p79"/>
          <p:cNvCxnSpPr>
            <a:stCxn id="750" idx="1"/>
          </p:cNvCxnSpPr>
          <p:nvPr/>
        </p:nvCxnSpPr>
        <p:spPr>
          <a:xfrm flipH="1">
            <a:off x="4130303" y="979725"/>
            <a:ext cx="1135500" cy="56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9675"/>
            <a:ext cx="4144524" cy="25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8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58" name="Google Shape;758;p80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a spring spacer into the spring and align the spring with the end of the finger assembly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759" name="Google Shape;759;p8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0" name="Google Shape;76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1583675"/>
            <a:ext cx="3783226" cy="22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80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-Gripper Finger Assembly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-Spring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-Spring Spacer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3099"/>
            <a:ext cx="4053599" cy="1804702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68" name="Google Shape;768;p81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Insert the end of the spring into the Gripper Base Side Wall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769" name="Google Shape;769;p8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0" name="Google Shape;77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149" y="1242825"/>
            <a:ext cx="4108175" cy="21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81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-Gripper Base Assembly</a:t>
            </a:r>
            <a:br>
              <a:rPr lang="en">
                <a:solidFill>
                  <a:srgbClr val="6AA84F"/>
                </a:solidFill>
              </a:rPr>
            </a:b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1379"/>
            <a:ext cx="4053600" cy="2970521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8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78" name="Google Shape;778;p82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finger and two bearings to the gripper base with a lock washer and nut underneath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779" name="Google Shape;779;p82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0" name="Google Shape;78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875" y="1361538"/>
            <a:ext cx="4267200" cy="2420428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8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-M3x25mm Socket Head Bolt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2x 3x8x4mm Bearing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82" name="Google Shape;782;p82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83" name="Google Shape;783;p82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89" name="Google Shape;789;p83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Repeat steps 1-3 for the other finger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790" name="Google Shape;790;p83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1" name="Google Shape;79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9000"/>
            <a:ext cx="4053600" cy="288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400" y="1059263"/>
            <a:ext cx="4267199" cy="302497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8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-Gripper Finger Assembly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-M3x25mm Socket Head Bolt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94" name="Google Shape;794;p83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3x8x4mm Bearing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795" name="Google Shape;795;p83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4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801" name="Google Shape;80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5875"/>
            <a:ext cx="4718550" cy="40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151" y="872100"/>
            <a:ext cx="4772850" cy="37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08" name="Google Shape;808;p85"/>
          <p:cNvSpPr txBox="1"/>
          <p:nvPr/>
        </p:nvSpPr>
        <p:spPr>
          <a:xfrm>
            <a:off x="0" y="677100"/>
            <a:ext cx="4572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Major Components:</a:t>
            </a:r>
            <a:br>
              <a:rPr lang="en" sz="2400">
                <a:solidFill>
                  <a:srgbClr val="6AA84F"/>
                </a:solidFill>
              </a:rPr>
            </a:br>
            <a:r>
              <a:rPr lang="en" sz="2400">
                <a:solidFill>
                  <a:srgbClr val="6AA84F"/>
                </a:solidFill>
              </a:rPr>
              <a:t>Gripper Assembly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Base Assembly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Shoulder Assembly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Elbow Assembly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Intel Realsense D435i Camera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Camera Mount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Upper Wrist Mount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Center Wrist Mount</a:t>
            </a:r>
            <a:endParaRPr sz="2400">
              <a:solidFill>
                <a:srgbClr val="6AA84F"/>
              </a:solidFill>
            </a:endParaRPr>
          </a:p>
        </p:txBody>
      </p:sp>
      <p:sp>
        <p:nvSpPr>
          <p:cNvPr id="809" name="Google Shape;809;p85"/>
          <p:cNvSpPr txBox="1"/>
          <p:nvPr/>
        </p:nvSpPr>
        <p:spPr>
          <a:xfrm>
            <a:off x="4368075" y="677100"/>
            <a:ext cx="4776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</a:rPr>
              <a:t>Minor Components: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14x M2.5x6mm Socket Head Bolt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10x M2.5x8mm Socket Head Bolt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2</a:t>
            </a:r>
            <a:r>
              <a:rPr lang="en" sz="2400">
                <a:solidFill>
                  <a:srgbClr val="6AA84F"/>
                </a:solidFill>
              </a:rPr>
              <a:t>x M2.5x14mm Socket Head Bolt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2x M3x25mm Socket Head Bolt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2x M3x10mm Socket Head Bolt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2x M3 Lock Washer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2x M3 Nut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2x M2.5 Lock Washer</a:t>
            </a:r>
            <a:endParaRPr sz="24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AA84F"/>
                </a:solidFill>
              </a:rPr>
              <a:t>2x M2.5 Nut</a:t>
            </a:r>
            <a:endParaRPr sz="24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193" y="0"/>
            <a:ext cx="639560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8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16" name="Google Shape;816;p86"/>
          <p:cNvSpPr txBox="1"/>
          <p:nvPr/>
        </p:nvSpPr>
        <p:spPr>
          <a:xfrm>
            <a:off x="119425" y="2784875"/>
            <a:ext cx="159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Assembly + Wrist Mounts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17" name="Google Shape;817;p86"/>
          <p:cNvCxnSpPr>
            <a:stCxn id="816" idx="0"/>
          </p:cNvCxnSpPr>
          <p:nvPr/>
        </p:nvCxnSpPr>
        <p:spPr>
          <a:xfrm flipH="1" rot="10800000">
            <a:off x="916525" y="2290475"/>
            <a:ext cx="1091700" cy="494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8" name="Google Shape;818;p86"/>
          <p:cNvSpPr txBox="1"/>
          <p:nvPr/>
        </p:nvSpPr>
        <p:spPr>
          <a:xfrm>
            <a:off x="7410000" y="4214475"/>
            <a:ext cx="173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Shoulder </a:t>
            </a:r>
            <a:r>
              <a:rPr lang="en" sz="1800">
                <a:solidFill>
                  <a:srgbClr val="38761D"/>
                </a:solidFill>
              </a:rPr>
              <a:t>Assembly 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19" name="Google Shape;819;p86"/>
          <p:cNvCxnSpPr>
            <a:stCxn id="818" idx="0"/>
          </p:cNvCxnSpPr>
          <p:nvPr/>
        </p:nvCxnSpPr>
        <p:spPr>
          <a:xfrm rot="10800000">
            <a:off x="7670100" y="3021375"/>
            <a:ext cx="606900" cy="1193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86"/>
          <p:cNvSpPr txBox="1"/>
          <p:nvPr/>
        </p:nvSpPr>
        <p:spPr>
          <a:xfrm>
            <a:off x="675088" y="4026175"/>
            <a:ext cx="159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21" name="Google Shape;821;p86"/>
          <p:cNvCxnSpPr>
            <a:stCxn id="820" idx="3"/>
          </p:cNvCxnSpPr>
          <p:nvPr/>
        </p:nvCxnSpPr>
        <p:spPr>
          <a:xfrm flipH="1" rot="10800000">
            <a:off x="2269288" y="3990625"/>
            <a:ext cx="1303200" cy="405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86"/>
          <p:cNvSpPr txBox="1"/>
          <p:nvPr/>
        </p:nvSpPr>
        <p:spPr>
          <a:xfrm>
            <a:off x="6968703" y="215400"/>
            <a:ext cx="19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Elbow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23" name="Google Shape;823;p86"/>
          <p:cNvCxnSpPr>
            <a:stCxn id="822" idx="1"/>
          </p:cNvCxnSpPr>
          <p:nvPr/>
        </p:nvCxnSpPr>
        <p:spPr>
          <a:xfrm flipH="1">
            <a:off x="6225003" y="446250"/>
            <a:ext cx="743700" cy="603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4" name="Google Shape;824;p86"/>
          <p:cNvSpPr txBox="1"/>
          <p:nvPr/>
        </p:nvSpPr>
        <p:spPr>
          <a:xfrm>
            <a:off x="4896903" y="70250"/>
            <a:ext cx="19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Camera + Mount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25" name="Google Shape;825;p86"/>
          <p:cNvCxnSpPr/>
          <p:nvPr/>
        </p:nvCxnSpPr>
        <p:spPr>
          <a:xfrm flipH="1">
            <a:off x="4388403" y="293250"/>
            <a:ext cx="508500" cy="169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2359"/>
            <a:ext cx="4053600" cy="1520091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8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32" name="Google Shape;832;p87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Attach the Center Wrist mount to the Elbow Assembly using 4 bolts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33" name="Google Shape;833;p87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8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-Elbow Assembly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-Center Wrist Mount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-4x M2.5x6mm Socket Head Bolts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835" name="Google Shape;835;p87"/>
          <p:cNvPicPr preferRelativeResize="0"/>
          <p:nvPr/>
        </p:nvPicPr>
        <p:blipFill rotWithShape="1">
          <a:blip r:embed="rId4">
            <a:alphaModFix/>
          </a:blip>
          <a:srcRect b="0" l="4644" r="0" t="0"/>
          <a:stretch/>
        </p:blipFill>
        <p:spPr>
          <a:xfrm>
            <a:off x="4572000" y="1513650"/>
            <a:ext cx="4572001" cy="191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4264"/>
            <a:ext cx="4053601" cy="2842373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8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42" name="Google Shape;842;p88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Upper Wrist Mount to the Gripper Assembly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43" name="Google Shape;843;p88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4" name="Google Shape;844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016475"/>
            <a:ext cx="4267200" cy="2838492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88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-Top Wrist Mount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-Gripper Assembly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M3x25mm Socket Head Bolts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846" name="Google Shape;846;p88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 Lock Washer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M3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847" name="Google Shape;847;p88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53" name="Google Shape;853;p89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Upper Wrist Mount to the Center Wrist Mount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54" name="Google Shape;854;p89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5" name="Google Shape;85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5006"/>
            <a:ext cx="4053600" cy="2474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8198" y="1374213"/>
            <a:ext cx="4267200" cy="239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9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M2.5x14mm Socket Head Bolt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-2x M2.5 Lock Washer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858" name="Google Shape;858;p89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M2.5 Nut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859" name="Google Shape;859;p89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9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65" name="Google Shape;865;p90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bottom of the Center Wrist Mount to the gripper actuator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66" name="Google Shape;866;p9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7" name="Google Shape;867;p90"/>
          <p:cNvPicPr preferRelativeResize="0"/>
          <p:nvPr/>
        </p:nvPicPr>
        <p:blipFill rotWithShape="1">
          <a:blip r:embed="rId3">
            <a:alphaModFix/>
          </a:blip>
          <a:srcRect b="0" l="0" r="0" t="3148"/>
          <a:stretch/>
        </p:blipFill>
        <p:spPr>
          <a:xfrm>
            <a:off x="0" y="1219050"/>
            <a:ext cx="4053601" cy="1883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326" y="1219050"/>
            <a:ext cx="4487686" cy="21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90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M2.5x8mm Socket Head Bolt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75" name="Google Shape;875;p91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Align the Elbow Assembly with the Shoulder Assembly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76" name="Google Shape;876;p9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5" y="997687"/>
            <a:ext cx="3997475" cy="314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925" y="1094975"/>
            <a:ext cx="4267201" cy="305084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91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-Shoulder Assembly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85" name="Google Shape;885;p92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Elbow Assembly to the Shoulder Assembly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86" name="Google Shape;886;p92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7" name="Google Shape;88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75" y="1045914"/>
            <a:ext cx="3979624" cy="292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885475"/>
            <a:ext cx="4267199" cy="3245168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92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8x M2.5x6mm Socket Head Bolt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95" name="Google Shape;895;p93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Shoulder Assembly to the Arm Base Assembly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896" name="Google Shape;896;p93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7" name="Google Shape;89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25" y="574713"/>
            <a:ext cx="3248625" cy="350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662538"/>
            <a:ext cx="4267200" cy="3325823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9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-Arm Base Assembly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</a:t>
            </a:r>
            <a:r>
              <a:rPr lang="en">
                <a:solidFill>
                  <a:srgbClr val="6AA84F"/>
                </a:solidFill>
              </a:rPr>
              <a:t>8x M2.5x8mm Socket Head Bolt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9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8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905" name="Google Shape;905;p94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</a:t>
            </a:r>
            <a:r>
              <a:rPr lang="en" sz="2200">
                <a:solidFill>
                  <a:srgbClr val="6AA84F"/>
                </a:solidFill>
              </a:rPr>
              <a:t>the Camera Mount to the back two holes of the elbow actuator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906" name="Google Shape;906;p94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0575"/>
            <a:ext cx="4055547" cy="21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67780"/>
            <a:ext cx="4571901" cy="167804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94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-Camera Mount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M2.5x6mm Socket Head Bolt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9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9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915" name="Google Shape;915;p95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AA84F"/>
                </a:solidFill>
              </a:rPr>
              <a:t>Bolt the camera to the Camera Wrist Mount</a:t>
            </a:r>
            <a:endParaRPr sz="2200">
              <a:solidFill>
                <a:srgbClr val="6AA84F"/>
              </a:solidFill>
            </a:endParaRPr>
          </a:p>
        </p:txBody>
      </p:sp>
      <p:sp>
        <p:nvSpPr>
          <p:cNvPr id="916" name="Google Shape;916;p95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9168"/>
            <a:ext cx="4053599" cy="151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88195"/>
            <a:ext cx="4571999" cy="1711654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9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Parts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-Previous step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-Intel Realsense D435i Camera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-2x M3x10mm Socket Head Bolt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