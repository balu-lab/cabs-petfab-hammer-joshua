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0" name="Google Shape;112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0" name="Google Shape;115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0" name="Google Shape;122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4" name="Google Shape;124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_COVER">
  <p:cSld name="LESSON_COVER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812800" y="2112664"/>
            <a:ext cx="5943600" cy="1421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b="1" i="0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SSON_CONTENT">
  <p:cSld name="LESSON_CONTENT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/>
        </p:nvSpPr>
        <p:spPr>
          <a:xfrm>
            <a:off x="812800" y="1622080"/>
            <a:ext cx="5886450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ROBOTIC ARM COURSE · LESSON 5 OF 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812800" y="2112664"/>
            <a:ext cx="5943600" cy="1421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Implementation</a:t>
            </a:r>
            <a:br>
              <a:rPr b="1"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Forward Kinematics</a:t>
            </a:r>
            <a:br>
              <a:rPr b="1"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Other Methods</a:t>
            </a:r>
            <a:endParaRPr sz="3400"/>
          </a:p>
        </p:txBody>
      </p:sp>
      <p:sp>
        <p:nvSpPr>
          <p:cNvPr id="22" name="Google Shape;22;p5"/>
          <p:cNvSpPr txBox="1"/>
          <p:nvPr/>
        </p:nvSpPr>
        <p:spPr>
          <a:xfrm>
            <a:off x="812800" y="3728952"/>
            <a:ext cx="5679440" cy="684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Turning the DH recipe into working Python, then trying other methods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812800" y="4631913"/>
            <a:ext cx="56248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Day 1 · Forward kinematics in code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812800" y="4949413"/>
            <a:ext cx="56248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Day 2 · Other methods and the arm's reach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"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1000" y="1620441"/>
            <a:ext cx="4648200" cy="361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OPENING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Lesson 4 Left Off</a:t>
            </a:r>
            <a:endParaRPr sz="2800"/>
          </a:p>
        </p:txBody>
      </p:sp>
      <p:sp>
        <p:nvSpPr>
          <p:cNvPr id="33" name="Google Shape;33;p6"/>
          <p:cNvSpPr/>
          <p:nvPr/>
        </p:nvSpPr>
        <p:spPr>
          <a:xfrm>
            <a:off x="812800" y="1518841"/>
            <a:ext cx="1333500" cy="520700"/>
          </a:xfrm>
          <a:prstGeom prst="roundRect">
            <a:avLst>
              <a:gd fmla="val 1219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858203" y="1635408"/>
            <a:ext cx="124269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Joint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2197100" y="1518841"/>
            <a:ext cx="1524000" cy="520700"/>
          </a:xfrm>
          <a:prstGeom prst="roundRect">
            <a:avLst>
              <a:gd fmla="val 1219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2239645" y="1635408"/>
            <a:ext cx="14389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3771900" y="1518841"/>
            <a:ext cx="571500" cy="520700"/>
          </a:xfrm>
          <a:prstGeom prst="roundRect">
            <a:avLst>
              <a:gd fmla="val 1219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3828733" y="1635408"/>
            <a:ext cx="4578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394200" y="1518841"/>
            <a:ext cx="698500" cy="520700"/>
          </a:xfrm>
          <a:prstGeom prst="roundRect">
            <a:avLst>
              <a:gd fmla="val 1219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>
            <a:off x="4449128" y="1635408"/>
            <a:ext cx="588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5143500" y="1518841"/>
            <a:ext cx="698500" cy="520700"/>
          </a:xfrm>
          <a:prstGeom prst="roundRect">
            <a:avLst>
              <a:gd fmla="val 1219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5198428" y="1635408"/>
            <a:ext cx="588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22325" y="2099866"/>
            <a:ext cx="1314450" cy="539750"/>
          </a:xfrm>
          <a:prstGeom prst="roundRect">
            <a:avLst>
              <a:gd fmla="val 1000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 txBox="1"/>
          <p:nvPr/>
        </p:nvSpPr>
        <p:spPr>
          <a:xfrm>
            <a:off x="920750" y="2225958"/>
            <a:ext cx="11511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· Base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206625" y="2099866"/>
            <a:ext cx="15049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2259267" y="2225958"/>
            <a:ext cx="13996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781425" y="2099866"/>
            <a:ext cx="552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/>
        </p:nvSpPr>
        <p:spPr>
          <a:xfrm>
            <a:off x="3848354" y="2225958"/>
            <a:ext cx="4185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403725" y="2099866"/>
            <a:ext cx="679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4468749" y="2225958"/>
            <a:ext cx="5494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153025" y="2099866"/>
            <a:ext cx="679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 txBox="1"/>
          <p:nvPr/>
        </p:nvSpPr>
        <p:spPr>
          <a:xfrm>
            <a:off x="5218049" y="2225958"/>
            <a:ext cx="5494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22325" y="2709466"/>
            <a:ext cx="1314450" cy="539750"/>
          </a:xfrm>
          <a:prstGeom prst="roundRect">
            <a:avLst>
              <a:gd fmla="val 1000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 txBox="1"/>
          <p:nvPr/>
        </p:nvSpPr>
        <p:spPr>
          <a:xfrm>
            <a:off x="920750" y="2835558"/>
            <a:ext cx="111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· Shoulder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206625" y="2709466"/>
            <a:ext cx="15049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2259267" y="2835558"/>
            <a:ext cx="13996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90° − θS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781425" y="2709466"/>
            <a:ext cx="552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3848354" y="2835558"/>
            <a:ext cx="4185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403725" y="2709466"/>
            <a:ext cx="679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 txBox="1"/>
          <p:nvPr/>
        </p:nvSpPr>
        <p:spPr>
          <a:xfrm>
            <a:off x="4468749" y="2835558"/>
            <a:ext cx="5494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153025" y="2709466"/>
            <a:ext cx="679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 txBox="1"/>
          <p:nvPr/>
        </p:nvSpPr>
        <p:spPr>
          <a:xfrm>
            <a:off x="5218049" y="2835558"/>
            <a:ext cx="5494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22325" y="3319066"/>
            <a:ext cx="1314450" cy="539750"/>
          </a:xfrm>
          <a:prstGeom prst="roundRect">
            <a:avLst>
              <a:gd fmla="val 1000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920750" y="3445158"/>
            <a:ext cx="11511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· Elbow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2206625" y="3319066"/>
            <a:ext cx="15049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 txBox="1"/>
          <p:nvPr/>
        </p:nvSpPr>
        <p:spPr>
          <a:xfrm>
            <a:off x="2259267" y="3445158"/>
            <a:ext cx="139966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−θE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781425" y="3319066"/>
            <a:ext cx="552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3848354" y="3445158"/>
            <a:ext cx="4185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403725" y="3319066"/>
            <a:ext cx="679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4468749" y="3445158"/>
            <a:ext cx="5494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153025" y="3319066"/>
            <a:ext cx="679450" cy="5397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5218049" y="3445158"/>
            <a:ext cx="5494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812800" y="3994433"/>
            <a:ext cx="5283200" cy="540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θ = 90° − θS for the shoulder and θ = −θE for the elbow, the same conversions as in Lesson 4.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197600" y="1518841"/>
            <a:ext cx="5181600" cy="1531541"/>
          </a:xfrm>
          <a:prstGeom prst="roundRect">
            <a:avLst>
              <a:gd fmla="val 663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6426200" y="1689584"/>
            <a:ext cx="4866132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LESSON 4'S ANSWER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6426200" y="1976484"/>
            <a:ext cx="4866132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(301.78, 301.78, 176.78) mm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6426200" y="2368007"/>
            <a:ext cx="4876800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for θB = θS = θE = 45°, from T = A₁ · A₂ · A₃ multiplied by hand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200775" y="3205956"/>
            <a:ext cx="5175250" cy="1136452"/>
          </a:xfrm>
          <a:prstGeom prst="roundRect">
            <a:avLst>
              <a:gd fmla="val 8661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6394450" y="3354475"/>
            <a:ext cx="4931537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6394450" y="3610290"/>
            <a:ext cx="4889500" cy="576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Python do the multiplying, and check it against this answer.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OPENING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Hand Steps to Code Steps</a:t>
            </a:r>
            <a:endParaRPr sz="2800"/>
          </a:p>
        </p:txBody>
      </p:sp>
      <p:sp>
        <p:nvSpPr>
          <p:cNvPr id="89" name="Google Shape;89;p7"/>
          <p:cNvSpPr txBox="1"/>
          <p:nvPr/>
        </p:nvSpPr>
        <p:spPr>
          <a:xfrm>
            <a:off x="812800" y="1511784"/>
            <a:ext cx="418592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BY HAND (LESSON 4)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5397500" y="1511784"/>
            <a:ext cx="6161151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IN PYTHON (TODAY)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15975" y="1938536"/>
            <a:ext cx="4057650" cy="834231"/>
          </a:xfrm>
          <a:prstGeom prst="roundRect">
            <a:avLst>
              <a:gd fmla="val 11798" name="adj"/>
            </a:avLst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996950" y="2053349"/>
            <a:ext cx="3843528" cy="576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one row of the DH table, then build its matrix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4973638" y="2168174"/>
            <a:ext cx="327025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397500" y="1935361"/>
            <a:ext cx="5981700" cy="840581"/>
          </a:xfrm>
          <a:prstGeom prst="roundRect">
            <a:avLst>
              <a:gd fmla="val 906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5575300" y="2042403"/>
            <a:ext cx="56261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A2 = dh_matrix(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- theta_s, 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L1, 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15975" y="2893417"/>
            <a:ext cx="4057650" cy="559991"/>
          </a:xfrm>
          <a:prstGeom prst="roundRect">
            <a:avLst>
              <a:gd fmla="val 17576" name="adj"/>
            </a:avLst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996950" y="3023510"/>
            <a:ext cx="36957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Multiply the three matrices in joint order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4973638" y="2985935"/>
            <a:ext cx="327025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397500" y="2890242"/>
            <a:ext cx="5981700" cy="566341"/>
          </a:xfrm>
          <a:prstGeom prst="roundRect">
            <a:avLst>
              <a:gd fmla="val 1345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5575300" y="2997284"/>
            <a:ext cx="56261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 = A1 @ A2 @ A3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15975" y="3574058"/>
            <a:ext cx="4057650" cy="834231"/>
          </a:xfrm>
          <a:prstGeom prst="roundRect">
            <a:avLst>
              <a:gd fmla="val 11798" name="adj"/>
            </a:avLst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996950" y="3688871"/>
            <a:ext cx="3843528" cy="576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the last column of T for the tip position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4973638" y="3803696"/>
            <a:ext cx="327025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397500" y="3570883"/>
            <a:ext cx="5981700" cy="840581"/>
          </a:xfrm>
          <a:prstGeom prst="roundRect">
            <a:avLst>
              <a:gd fmla="val 906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5575300" y="3677925"/>
            <a:ext cx="56261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tip = T[: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15975" y="4617839"/>
            <a:ext cx="10560050" cy="879376"/>
          </a:xfrm>
          <a:prstGeom prst="roundRect">
            <a:avLst>
              <a:gd fmla="val 11193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1009650" y="4766357"/>
            <a:ext cx="104267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009650" y="5036641"/>
            <a:ext cx="104267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function that takes θB, θS and θE and gives back (x, y, z).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45 degrees from vertical and forearm horizontal"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4800" y="276225"/>
            <a:ext cx="21844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SETUP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Setting Up Python</a:t>
            </a:r>
            <a:endParaRPr sz="2800"/>
          </a:p>
        </p:txBody>
      </p:sp>
      <p:sp>
        <p:nvSpPr>
          <p:cNvPr id="117" name="Google Shape;117;p8"/>
          <p:cNvSpPr/>
          <p:nvPr/>
        </p:nvSpPr>
        <p:spPr>
          <a:xfrm>
            <a:off x="812800" y="151884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807085" y="1511250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320800" y="1568269"/>
            <a:ext cx="5363210" cy="2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that Python 3 is installed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320800" y="1909961"/>
            <a:ext cx="3302000" cy="454025"/>
          </a:xfrm>
          <a:prstGeom prst="roundRect">
            <a:avLst>
              <a:gd fmla="val 1678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1473200" y="1966203"/>
            <a:ext cx="29972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 --version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1320800" y="2406591"/>
            <a:ext cx="5415280" cy="450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It should print Python 3 and a version number. On some computers the command is python3.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12800" y="3021806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807085" y="3014215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1320800" y="3071234"/>
            <a:ext cx="5363210" cy="2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 NumPy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320800" y="3412927"/>
            <a:ext cx="3302000" cy="454025"/>
          </a:xfrm>
          <a:prstGeom prst="roundRect">
            <a:avLst>
              <a:gd fmla="val 1678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1473200" y="3469169"/>
            <a:ext cx="29972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pip install numpy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1320800" y="3909556"/>
            <a:ext cx="5415280" cy="450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888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NumPy does the matrix arithmetic. On some computers the command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is pip3.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812800" y="4524772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807085" y="4517181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1320800" y="4574200"/>
            <a:ext cx="5363210" cy="2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the starter file as fk.py, then run it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320800" y="4915892"/>
            <a:ext cx="3302000" cy="454025"/>
          </a:xfrm>
          <a:prstGeom prst="roundRect">
            <a:avLst>
              <a:gd fmla="val 1678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1473200" y="4972134"/>
            <a:ext cx="29972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 fk.py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1320800" y="5420787"/>
            <a:ext cx="5207000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It prints an error until the two functions are filled in. That is expected.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883400" y="1518841"/>
            <a:ext cx="4495800" cy="942280"/>
          </a:xfrm>
          <a:prstGeom prst="roundRect">
            <a:avLst>
              <a:gd fmla="val 10782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7112000" y="1689584"/>
            <a:ext cx="415975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THE STARTER FILE HAS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12000" y="1971111"/>
            <a:ext cx="4159758" cy="29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things ready for you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886575" y="2591296"/>
            <a:ext cx="4489450" cy="110232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7080250" y="2739814"/>
            <a:ext cx="4225163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L1 AND L2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080250" y="2997383"/>
            <a:ext cx="4254500" cy="540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link lengths, 250 mm each, written once at the top.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886575" y="3826966"/>
            <a:ext cx="4489450" cy="845145"/>
          </a:xfrm>
          <a:prstGeom prst="roundRect">
            <a:avLst>
              <a:gd fmla="val 1164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7080250" y="3975485"/>
            <a:ext cx="4225163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show()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080250" y="4247341"/>
            <a:ext cx="42251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Prints a position rounded to 2 decimals.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886575" y="4805462"/>
            <a:ext cx="4489450" cy="110232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7080250" y="4953980"/>
            <a:ext cx="4225163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EMPTY FUNCTIONS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080250" y="5211549"/>
            <a:ext cx="4254500" cy="540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dh_matrix and forward_kinematics. You write them today.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495" y="215900"/>
            <a:ext cx="159950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SETUP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 NumPy Tools</a:t>
            </a:r>
            <a:endParaRPr sz="2800"/>
          </a:p>
        </p:txBody>
      </p:sp>
      <p:sp>
        <p:nvSpPr>
          <p:cNvPr id="155" name="Google Shape;155;p9"/>
          <p:cNvSpPr/>
          <p:nvPr/>
        </p:nvSpPr>
        <p:spPr>
          <a:xfrm>
            <a:off x="815975" y="1522016"/>
            <a:ext cx="5200650" cy="1483221"/>
          </a:xfrm>
          <a:prstGeom prst="roundRect">
            <a:avLst>
              <a:gd fmla="val 663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971550" y="1625096"/>
            <a:ext cx="4889500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np.radians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971550" y="1964531"/>
            <a:ext cx="4889500" cy="632420"/>
          </a:xfrm>
          <a:prstGeom prst="roundRect">
            <a:avLst>
              <a:gd fmla="val 1204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1111250" y="2023495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np.radians(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180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1111250" y="2257155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→ 3.141592653589793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971550" y="2647821"/>
            <a:ext cx="4889500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Turns degrees into radians. NumPy's sin and cos want radians.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175375" y="1522016"/>
            <a:ext cx="5200650" cy="1483221"/>
          </a:xfrm>
          <a:prstGeom prst="roundRect">
            <a:avLst>
              <a:gd fmla="val 663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6330950" y="1625096"/>
            <a:ext cx="4889500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np.sin, np.cos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330950" y="1964531"/>
            <a:ext cx="4889500" cy="632420"/>
          </a:xfrm>
          <a:prstGeom prst="roundRect">
            <a:avLst>
              <a:gd fmla="val 1204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6470650" y="2023495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np.sin(np.radians(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470650" y="2257155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→ 1.0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6330950" y="2647821"/>
            <a:ext cx="5036185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 to radians first, then take the sine or cosine.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15975" y="3214787"/>
            <a:ext cx="5200650" cy="2184202"/>
          </a:xfrm>
          <a:prstGeom prst="roundRect">
            <a:avLst>
              <a:gd fmla="val 450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971550" y="3317868"/>
            <a:ext cx="4889500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971550" y="3657302"/>
            <a:ext cx="4889500" cy="1333401"/>
          </a:xfrm>
          <a:prstGeom prst="roundRect">
            <a:avLst>
              <a:gd fmla="val 571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1111250" y="3716266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= np.array([[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111250" y="3949926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 = np.array([[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1111250" y="4183586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print(A @ B)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111250" y="4417246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→ [[2 1]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1479550" y="4650907"/>
            <a:ext cx="42418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[4 3]]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971550" y="5041573"/>
            <a:ext cx="5036185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 multiplies matrices. A * B would multiply entry by entry.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175375" y="3214787"/>
            <a:ext cx="5200650" cy="2184202"/>
          </a:xfrm>
          <a:prstGeom prst="roundRect">
            <a:avLst>
              <a:gd fmla="val 450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6330950" y="3317868"/>
            <a:ext cx="4889500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slicing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330950" y="3657302"/>
            <a:ext cx="4889500" cy="866080"/>
          </a:xfrm>
          <a:prstGeom prst="roundRect">
            <a:avLst>
              <a:gd fmla="val 879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6470650" y="3716266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 = np.array([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6470650" y="3949926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print(v[: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470650" y="4183586"/>
            <a:ext cx="461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→ [10 20 30]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6330950" y="4565988"/>
            <a:ext cx="5085080" cy="450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8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[:3] keeps the first three entries. T[:3, 3] keeps the first three rows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column 3.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vertical and forearm horizontal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3505" y="215900"/>
            <a:ext cx="1626791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TRY IT YOURSELF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It Yourself #1</a:t>
            </a:r>
            <a:endParaRPr sz="2800"/>
          </a:p>
        </p:txBody>
      </p:sp>
      <p:sp>
        <p:nvSpPr>
          <p:cNvPr id="191" name="Google Shape;191;p10"/>
          <p:cNvSpPr txBox="1"/>
          <p:nvPr/>
        </p:nvSpPr>
        <p:spPr>
          <a:xfrm>
            <a:off x="812800" y="1503327"/>
            <a:ext cx="10820400" cy="313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the output of each, then run it.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812800" y="2035671"/>
            <a:ext cx="330200" cy="3302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807847" y="2025238"/>
            <a:ext cx="340106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270000" y="2035671"/>
            <a:ext cx="6350000" cy="435570"/>
          </a:xfrm>
          <a:prstGeom prst="roundRect">
            <a:avLst>
              <a:gd fmla="val 1749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1447800" y="2088587"/>
            <a:ext cx="5994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print(np.round(np.sin(np.radians(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12800" y="2585541"/>
            <a:ext cx="330200" cy="3302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807847" y="2575108"/>
            <a:ext cx="340106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270000" y="2585541"/>
            <a:ext cx="6350000" cy="435570"/>
          </a:xfrm>
          <a:prstGeom prst="roundRect">
            <a:avLst>
              <a:gd fmla="val 1749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447800" y="2638457"/>
            <a:ext cx="5994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print(np.round(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* np.cos(np.radians(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12800" y="3135412"/>
            <a:ext cx="330200" cy="3302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807847" y="3124979"/>
            <a:ext cx="340106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270000" y="3135412"/>
            <a:ext cx="6350000" cy="976511"/>
          </a:xfrm>
          <a:prstGeom prst="roundRect">
            <a:avLst>
              <a:gd fmla="val 780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1447800" y="3188328"/>
            <a:ext cx="5994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 = np.array([[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1447800" y="3458798"/>
            <a:ext cx="5994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 = np.array([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1447800" y="3729268"/>
            <a:ext cx="5994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print(M @ v)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10"/>
          <p:cNvGrpSpPr/>
          <p:nvPr/>
        </p:nvGrpSpPr>
        <p:grpSpPr>
          <a:xfrm>
            <a:off x="812800" y="4343400"/>
            <a:ext cx="10566400" cy="1596231"/>
            <a:chOff x="812800" y="4343400"/>
            <a:chExt cx="10566400" cy="1596231"/>
          </a:xfrm>
        </p:grpSpPr>
        <p:sp>
          <p:nvSpPr>
            <p:cNvPr id="207" name="Google Shape;207;p10"/>
            <p:cNvSpPr/>
            <p:nvPr/>
          </p:nvSpPr>
          <p:spPr>
            <a:xfrm>
              <a:off x="812800" y="4343400"/>
              <a:ext cx="10566400" cy="1596231"/>
            </a:xfrm>
            <a:prstGeom prst="roundRect">
              <a:avLst>
                <a:gd fmla="val 6365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0"/>
            <p:cNvSpPr txBox="1"/>
            <p:nvPr/>
          </p:nvSpPr>
          <p:spPr>
            <a:xfrm>
              <a:off x="1016000" y="4488743"/>
              <a:ext cx="3401060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SOLUTION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0"/>
            <p:cNvSpPr txBox="1"/>
            <p:nvPr/>
          </p:nvSpPr>
          <p:spPr>
            <a:xfrm>
              <a:off x="1016000" y="4745515"/>
              <a:ext cx="3401060" cy="30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→ 0.5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0"/>
            <p:cNvSpPr txBox="1"/>
            <p:nvPr/>
          </p:nvSpPr>
          <p:spPr>
            <a:xfrm>
              <a:off x="1016000" y="5104886"/>
              <a:ext cx="3401060" cy="30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 → 176.78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0"/>
            <p:cNvSpPr txBox="1"/>
            <p:nvPr/>
          </p:nvSpPr>
          <p:spPr>
            <a:xfrm>
              <a:off x="1016000" y="5464256"/>
              <a:ext cx="3401060" cy="30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 → [3 7]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0"/>
            <p:cNvSpPr txBox="1"/>
            <p:nvPr/>
          </p:nvSpPr>
          <p:spPr>
            <a:xfrm>
              <a:off x="4622800" y="4732524"/>
              <a:ext cx="6749796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NOTICE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 txBox="1"/>
            <p:nvPr/>
          </p:nvSpPr>
          <p:spPr>
            <a:xfrm>
              <a:off x="4622800" y="4990919"/>
              <a:ext cx="6749796" cy="274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176.78 is ΔX1 from Lesson 3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4622800" y="5316111"/>
              <a:ext cx="6749796" cy="214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It is also 250 · cos 45°, the first rotation example in Lesson 4.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ide view of the arm: upper arm leaning 45 degrees from vertical and forearm horizontal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4800" y="276225"/>
            <a:ext cx="21844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STEP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1: A Function for One Joint</a:t>
            </a:r>
            <a:endParaRPr sz="2800"/>
          </a:p>
        </p:txBody>
      </p:sp>
      <p:sp>
        <p:nvSpPr>
          <p:cNvPr id="223" name="Google Shape;223;p11"/>
          <p:cNvSpPr/>
          <p:nvPr/>
        </p:nvSpPr>
        <p:spPr>
          <a:xfrm>
            <a:off x="812800" y="1518841"/>
            <a:ext cx="6350000" cy="900311"/>
          </a:xfrm>
          <a:prstGeom prst="roundRect">
            <a:avLst>
              <a:gd fmla="val 112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THE FUNCTION WE WRITE FIRST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1016000" y="1880931"/>
            <a:ext cx="5943600" cy="37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dh_matrix(theta, d, a, alpha):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815975" y="2625527"/>
            <a:ext cx="3803650" cy="2995513"/>
          </a:xfrm>
          <a:prstGeom prst="roundRect">
            <a:avLst>
              <a:gd fmla="val 328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996950" y="2761345"/>
            <a:ext cx="3544951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IN: FOUR NUMBERS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996950" y="3037964"/>
            <a:ext cx="35449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turn about z (degrees)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996950" y="3349114"/>
            <a:ext cx="35449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along z (mm)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996950" y="3660264"/>
            <a:ext cx="35449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along x (mm)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996950" y="3971414"/>
            <a:ext cx="35449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turn about x (degrees)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829175" y="2625527"/>
            <a:ext cx="6546850" cy="2995513"/>
          </a:xfrm>
          <a:prstGeom prst="roundRect">
            <a:avLst>
              <a:gd fmla="val 328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5010150" y="2761345"/>
            <a:ext cx="6370447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OUT: ONE 4×4 MATRIX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019675" y="3067447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5036312" y="3169297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 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378575" y="3067447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6395212" y="3169297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−sin θ cos 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737475" y="3067447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7754112" y="3169297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θ sin 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9096375" y="3067447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9113012" y="3169297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cos 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019675" y="360838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5036312" y="3710238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378575" y="360838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6395212" y="3710238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 θ cos 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737475" y="360838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7754112" y="3710238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−cos θ sin 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9096375" y="360838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9113012" y="3710238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sin 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019675" y="414932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5036312" y="425117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378575" y="414932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6395212" y="425117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7737475" y="414932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7754112" y="425117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 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9096375" y="4149328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9113012" y="425117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019675" y="4690269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5036312" y="479211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378575" y="4690269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6395212" y="479211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737475" y="4690269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7754112" y="479211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096375" y="4690269"/>
            <a:ext cx="1289050" cy="471091"/>
          </a:xfrm>
          <a:prstGeom prst="roundRect">
            <a:avLst>
              <a:gd fmla="val 11457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9113012" y="4792119"/>
            <a:ext cx="1255776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5010150" y="5238919"/>
            <a:ext cx="6370447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matrix from Lesson 4, slide 22.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, seen from another side"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735" y="215900"/>
            <a:ext cx="163383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STEP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Writing dh_matrix</a:t>
            </a:r>
            <a:endParaRPr sz="2800"/>
          </a:p>
        </p:txBody>
      </p:sp>
      <p:sp>
        <p:nvSpPr>
          <p:cNvPr id="275" name="Google Shape;275;p12"/>
          <p:cNvSpPr/>
          <p:nvPr/>
        </p:nvSpPr>
        <p:spPr>
          <a:xfrm>
            <a:off x="812800" y="1518841"/>
            <a:ext cx="6350000" cy="3658394"/>
          </a:xfrm>
          <a:prstGeom prst="roundRect">
            <a:avLst>
              <a:gd fmla="val 277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1016000" y="1886677"/>
            <a:ext cx="5943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dh_matrix(theta, d, a, alpha):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1441450" y="2169847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 = np.radians(theta)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1441450" y="2453017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 = np.radians(alpha)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1441450" y="2736188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ct, st = np.cos(t), np.sin(t)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1441450" y="3019358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ca, sa = np.cos(al), np.sin(al)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1441450" y="3302528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np.array([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1866900" y="3585699"/>
            <a:ext cx="50927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[ct, -st * ca, st * sa, a * ct],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1866900" y="3868869"/>
            <a:ext cx="50927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[st, ct * ca, -ct * sa, a * st],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1866900" y="4152039"/>
            <a:ext cx="50927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sa, ca, d],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1866900" y="4435210"/>
            <a:ext cx="50927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1441450" y="4718380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7318375" y="1522016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7512050" y="1670534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LINES 2–3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7512050" y="1929857"/>
            <a:ext cx="3733800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Degrees to radians first, because NumPy wants radians.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7318375" y="2697956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7512050" y="284647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LINES 4–5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7512050" y="3105797"/>
            <a:ext cx="381711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Short names: ct is cos θ, st is sin θ, ca is cos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α, sa is sin α.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7318375" y="3873897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7512050" y="402241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LINES 6–11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7512050" y="4281738"/>
            <a:ext cx="381711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4×4 array, row by row, from the matrix on the last slide.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297" name="Google Shape;2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STEP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One Joint</a:t>
            </a:r>
            <a:endParaRPr sz="2800"/>
          </a:p>
        </p:txBody>
      </p:sp>
      <p:sp>
        <p:nvSpPr>
          <p:cNvPr id="305" name="Google Shape;305;p13"/>
          <p:cNvSpPr/>
          <p:nvPr/>
        </p:nvSpPr>
        <p:spPr>
          <a:xfrm>
            <a:off x="812800" y="1518841"/>
            <a:ext cx="6350000" cy="1109861"/>
          </a:xfrm>
          <a:prstGeom prst="roundRect">
            <a:avLst>
              <a:gd fmla="val 915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1016000" y="1886677"/>
            <a:ext cx="5943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show(dh_matrix(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)[: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1016000" y="2169847"/>
            <a:ext cx="5943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show(dh_matrix(-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)[: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812800" y="2755702"/>
            <a:ext cx="6350000" cy="1183481"/>
          </a:xfrm>
          <a:prstGeom prst="roundRect">
            <a:avLst>
              <a:gd fmla="val 8585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1016000" y="2888345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1016000" y="3123840"/>
            <a:ext cx="5943600" cy="3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[176.78, 176.78, 0.0]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1016000" y="3469220"/>
            <a:ext cx="5943600" cy="3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[176.78, -176.78, 0.0]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7369175" y="1522016"/>
            <a:ext cx="4006850" cy="1548011"/>
          </a:xfrm>
          <a:prstGeom prst="roundRect">
            <a:avLst>
              <a:gd fmla="val 63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 txBox="1"/>
          <p:nvPr/>
        </p:nvSpPr>
        <p:spPr>
          <a:xfrm>
            <a:off x="7562850" y="1670534"/>
            <a:ext cx="3728085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EXPECTED, FROM LESSON 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7562850" y="1929857"/>
            <a:ext cx="3764280" cy="98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A₂ (shoulder, θS = 45°): last column (176.78, 176.78, 0).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A₃ (elbow, θE = 45°): last column (176.78, −176.78, 0).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369175" y="3203377"/>
            <a:ext cx="40068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7562850" y="3351895"/>
            <a:ext cx="3728085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YOURS DIFFERS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7562850" y="3611218"/>
            <a:ext cx="3721100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np.radians on both angles, and the signs in the second row of the matrix.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30 degrees from vertical with the forearm bent further forward" id="319" name="Google Shape;3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870" y="215900"/>
            <a:ext cx="144016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STEP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2: The DH Table in Code</a:t>
            </a:r>
            <a:endParaRPr sz="2800"/>
          </a:p>
        </p:txBody>
      </p:sp>
      <p:sp>
        <p:nvSpPr>
          <p:cNvPr id="327" name="Google Shape;327;p14"/>
          <p:cNvSpPr/>
          <p:nvPr/>
        </p:nvSpPr>
        <p:spPr>
          <a:xfrm>
            <a:off x="812800" y="1518841"/>
            <a:ext cx="1333500" cy="502841"/>
          </a:xfrm>
          <a:prstGeom prst="roundRect">
            <a:avLst>
              <a:gd fmla="val 1262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858203" y="1636566"/>
            <a:ext cx="1242695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Joint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2197100" y="1518841"/>
            <a:ext cx="1524000" cy="502841"/>
          </a:xfrm>
          <a:prstGeom prst="roundRect">
            <a:avLst>
              <a:gd fmla="val 1262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2239645" y="1636566"/>
            <a:ext cx="1438910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3771900" y="1518841"/>
            <a:ext cx="571500" cy="502841"/>
          </a:xfrm>
          <a:prstGeom prst="roundRect">
            <a:avLst>
              <a:gd fmla="val 1262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3828733" y="1636566"/>
            <a:ext cx="457835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394200" y="1518841"/>
            <a:ext cx="698500" cy="502841"/>
          </a:xfrm>
          <a:prstGeom prst="roundRect">
            <a:avLst>
              <a:gd fmla="val 1262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4449128" y="1636566"/>
            <a:ext cx="588645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5143500" y="1518841"/>
            <a:ext cx="698500" cy="502841"/>
          </a:xfrm>
          <a:prstGeom prst="roundRect">
            <a:avLst>
              <a:gd fmla="val 1262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5198428" y="1636566"/>
            <a:ext cx="588645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969000" y="1518841"/>
            <a:ext cx="5410200" cy="502841"/>
          </a:xfrm>
          <a:prstGeom prst="roundRect">
            <a:avLst>
              <a:gd fmla="val 1262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6121400" y="1636566"/>
            <a:ext cx="525856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822325" y="2107406"/>
            <a:ext cx="1314450" cy="521891"/>
          </a:xfrm>
          <a:prstGeom prst="roundRect">
            <a:avLst>
              <a:gd fmla="val 10342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 txBox="1"/>
          <p:nvPr/>
        </p:nvSpPr>
        <p:spPr>
          <a:xfrm>
            <a:off x="920750" y="2234657"/>
            <a:ext cx="115112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· Base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2206625" y="2107406"/>
            <a:ext cx="15049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2259267" y="2234657"/>
            <a:ext cx="1399667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3781425" y="2107406"/>
            <a:ext cx="552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 txBox="1"/>
          <p:nvPr/>
        </p:nvSpPr>
        <p:spPr>
          <a:xfrm>
            <a:off x="3848354" y="2234657"/>
            <a:ext cx="41859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403725" y="2107406"/>
            <a:ext cx="679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 txBox="1"/>
          <p:nvPr/>
        </p:nvSpPr>
        <p:spPr>
          <a:xfrm>
            <a:off x="4468749" y="2234657"/>
            <a:ext cx="54940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5153025" y="2107406"/>
            <a:ext cx="679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5218049" y="2234657"/>
            <a:ext cx="54940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969000" y="2097881"/>
            <a:ext cx="5410200" cy="540941"/>
          </a:xfrm>
          <a:prstGeom prst="roundRect">
            <a:avLst>
              <a:gd fmla="val 1408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6121400" y="2182547"/>
            <a:ext cx="5105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A1 = dh_matrix(theta_b,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822325" y="2724547"/>
            <a:ext cx="1314450" cy="521891"/>
          </a:xfrm>
          <a:prstGeom prst="roundRect">
            <a:avLst>
              <a:gd fmla="val 10342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920750" y="2851797"/>
            <a:ext cx="115112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· Shoulder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2206625" y="2724547"/>
            <a:ext cx="15049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 txBox="1"/>
          <p:nvPr/>
        </p:nvSpPr>
        <p:spPr>
          <a:xfrm>
            <a:off x="2259267" y="2851797"/>
            <a:ext cx="1399667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90° − θS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3781425" y="2724547"/>
            <a:ext cx="552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 txBox="1"/>
          <p:nvPr/>
        </p:nvSpPr>
        <p:spPr>
          <a:xfrm>
            <a:off x="3848354" y="2851797"/>
            <a:ext cx="41859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403725" y="2724547"/>
            <a:ext cx="679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 txBox="1"/>
          <p:nvPr/>
        </p:nvSpPr>
        <p:spPr>
          <a:xfrm>
            <a:off x="4468749" y="2851797"/>
            <a:ext cx="54940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153025" y="2724547"/>
            <a:ext cx="679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 txBox="1"/>
          <p:nvPr/>
        </p:nvSpPr>
        <p:spPr>
          <a:xfrm>
            <a:off x="5218049" y="2851797"/>
            <a:ext cx="54940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969000" y="2715022"/>
            <a:ext cx="5410200" cy="540941"/>
          </a:xfrm>
          <a:prstGeom prst="roundRect">
            <a:avLst>
              <a:gd fmla="val 1408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 txBox="1"/>
          <p:nvPr/>
        </p:nvSpPr>
        <p:spPr>
          <a:xfrm>
            <a:off x="6121400" y="2799688"/>
            <a:ext cx="5105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A2 = dh_matrix(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- theta_s,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L1,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22325" y="3341688"/>
            <a:ext cx="1314450" cy="521891"/>
          </a:xfrm>
          <a:prstGeom prst="roundRect">
            <a:avLst>
              <a:gd fmla="val 10342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920750" y="3468938"/>
            <a:ext cx="115112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· Elbow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2206625" y="3341688"/>
            <a:ext cx="15049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2259267" y="3468938"/>
            <a:ext cx="1399667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−θE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3781425" y="3341688"/>
            <a:ext cx="552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 txBox="1"/>
          <p:nvPr/>
        </p:nvSpPr>
        <p:spPr>
          <a:xfrm>
            <a:off x="3848354" y="3468938"/>
            <a:ext cx="41859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403725" y="3341688"/>
            <a:ext cx="679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 txBox="1"/>
          <p:nvPr/>
        </p:nvSpPr>
        <p:spPr>
          <a:xfrm>
            <a:off x="4468749" y="3468938"/>
            <a:ext cx="54940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5153025" y="3341688"/>
            <a:ext cx="679450" cy="521891"/>
          </a:xfrm>
          <a:prstGeom prst="roundRect">
            <a:avLst>
              <a:gd fmla="val 1034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5218049" y="3468938"/>
            <a:ext cx="54940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969000" y="3332163"/>
            <a:ext cx="5410200" cy="540941"/>
          </a:xfrm>
          <a:prstGeom prst="roundRect">
            <a:avLst>
              <a:gd fmla="val 1408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 txBox="1"/>
          <p:nvPr/>
        </p:nvSpPr>
        <p:spPr>
          <a:xfrm>
            <a:off x="6121400" y="3416828"/>
            <a:ext cx="5105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A3 = dh_matrix(-theta_e,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L2,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815975" y="4079478"/>
            <a:ext cx="5200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1009650" y="4227997"/>
            <a:ext cx="495769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ONE ROW, ONE CALL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1009650" y="4487319"/>
            <a:ext cx="500583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row of the table becomes one dh_matrix call. The θ column keeps the conversions from Lesson 4.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175375" y="4079478"/>
            <a:ext cx="5200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 txBox="1"/>
          <p:nvPr/>
        </p:nvSpPr>
        <p:spPr>
          <a:xfrm>
            <a:off x="6369050" y="4227997"/>
            <a:ext cx="495769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 AND L2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 txBox="1"/>
          <p:nvPr/>
        </p:nvSpPr>
        <p:spPr>
          <a:xfrm>
            <a:off x="6369050" y="4487319"/>
            <a:ext cx="500583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link lengths are set once at the top of the file. If the real arm is measured differently, change two numbers.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381" name="Google Shape;3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STEP 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3: Multiply and Read the Tip</a:t>
            </a:r>
            <a:endParaRPr sz="2800"/>
          </a:p>
        </p:txBody>
      </p:sp>
      <p:sp>
        <p:nvSpPr>
          <p:cNvPr id="389" name="Google Shape;389;p15"/>
          <p:cNvSpPr/>
          <p:nvPr/>
        </p:nvSpPr>
        <p:spPr>
          <a:xfrm>
            <a:off x="812800" y="1518841"/>
            <a:ext cx="5207000" cy="1183481"/>
          </a:xfrm>
          <a:prstGeom prst="roundRect">
            <a:avLst>
              <a:gd fmla="val 85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 txBox="1"/>
          <p:nvPr/>
        </p:nvSpPr>
        <p:spPr>
          <a:xfrm>
            <a:off x="1016000" y="1676884"/>
            <a:ext cx="494461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1016000" y="1886979"/>
            <a:ext cx="4800600" cy="3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 = A1 @ A2 @ A3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1016000" y="2206959"/>
            <a:ext cx="4800600" cy="3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T[:</a:t>
            </a:r>
            <a:r>
              <a:rPr b="0" i="0" lang="en-US" sz="16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6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815975" y="2857897"/>
            <a:ext cx="5200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 txBox="1"/>
          <p:nvPr/>
        </p:nvSpPr>
        <p:spPr>
          <a:xfrm>
            <a:off x="1009650" y="3006415"/>
            <a:ext cx="495769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JOINT ORDER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 txBox="1"/>
          <p:nvPr/>
        </p:nvSpPr>
        <p:spPr>
          <a:xfrm>
            <a:off x="1009650" y="3265738"/>
            <a:ext cx="500583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first, then shoulder, then elbow. A3 @ A2 @ A1 gives a different answer (Lesson 4, “Order Matters”).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327775" y="1522016"/>
            <a:ext cx="5048250" cy="3209032"/>
          </a:xfrm>
          <a:prstGeom prst="roundRect">
            <a:avLst>
              <a:gd fmla="val 3067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6508750" y="1657834"/>
            <a:ext cx="482688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T, THE 4×4 RESULT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6518275" y="196393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6541198" y="206241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7458075" y="196393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 txBox="1"/>
          <p:nvPr/>
        </p:nvSpPr>
        <p:spPr>
          <a:xfrm>
            <a:off x="7480999" y="206241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8397875" y="196393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8420798" y="206241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9337675" y="196393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9360599" y="206241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6518275" y="255825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 txBox="1"/>
          <p:nvPr/>
        </p:nvSpPr>
        <p:spPr>
          <a:xfrm>
            <a:off x="6541198" y="265673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7458075" y="255825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 txBox="1"/>
          <p:nvPr/>
        </p:nvSpPr>
        <p:spPr>
          <a:xfrm>
            <a:off x="7480999" y="265673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8397875" y="255825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 txBox="1"/>
          <p:nvPr/>
        </p:nvSpPr>
        <p:spPr>
          <a:xfrm>
            <a:off x="8420798" y="265673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9337675" y="2558256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 txBox="1"/>
          <p:nvPr/>
        </p:nvSpPr>
        <p:spPr>
          <a:xfrm>
            <a:off x="9360599" y="2656730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6518275" y="315257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6541198" y="325105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7458075" y="315257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 txBox="1"/>
          <p:nvPr/>
        </p:nvSpPr>
        <p:spPr>
          <a:xfrm>
            <a:off x="7480999" y="325105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8397875" y="315257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 txBox="1"/>
          <p:nvPr/>
        </p:nvSpPr>
        <p:spPr>
          <a:xfrm>
            <a:off x="8420798" y="325105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9337675" y="315257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 txBox="1"/>
          <p:nvPr/>
        </p:nvSpPr>
        <p:spPr>
          <a:xfrm>
            <a:off x="9360599" y="325105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6518275" y="374689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 txBox="1"/>
          <p:nvPr/>
        </p:nvSpPr>
        <p:spPr>
          <a:xfrm>
            <a:off x="6541198" y="384537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7458075" y="374689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 txBox="1"/>
          <p:nvPr/>
        </p:nvSpPr>
        <p:spPr>
          <a:xfrm>
            <a:off x="7480999" y="384537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8397875" y="374689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8420798" y="384537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9337675" y="3746897"/>
            <a:ext cx="869950" cy="524470"/>
          </a:xfrm>
          <a:prstGeom prst="roundRect">
            <a:avLst>
              <a:gd fmla="val 1029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 txBox="1"/>
          <p:nvPr/>
        </p:nvSpPr>
        <p:spPr>
          <a:xfrm>
            <a:off x="9360599" y="3845371"/>
            <a:ext cx="824103" cy="302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 txBox="1"/>
          <p:nvPr/>
        </p:nvSpPr>
        <p:spPr>
          <a:xfrm>
            <a:off x="6508750" y="4343998"/>
            <a:ext cx="4826889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T[:3, 3] is rows 0 to 2 of column 3, the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tip.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60 degrees from vertical and forearm in line with it" id="431" name="Google Shape;4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2516" y="215900"/>
            <a:ext cx="190877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STEP 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6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Whole Function</a:t>
            </a:r>
            <a:endParaRPr sz="2800"/>
          </a:p>
        </p:txBody>
      </p:sp>
      <p:sp>
        <p:nvSpPr>
          <p:cNvPr id="439" name="Google Shape;439;p16"/>
          <p:cNvSpPr/>
          <p:nvPr/>
        </p:nvSpPr>
        <p:spPr>
          <a:xfrm>
            <a:off x="812800" y="1518841"/>
            <a:ext cx="6350000" cy="3358753"/>
          </a:xfrm>
          <a:prstGeom prst="roundRect">
            <a:avLst>
              <a:gd fmla="val 302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1016000" y="1886677"/>
            <a:ext cx="5943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1016000" y="2303197"/>
            <a:ext cx="5943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L1 =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# upper arm (mm)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1016000" y="2586367"/>
            <a:ext cx="5943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L2 =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# forearm (mm)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1016000" y="3002888"/>
            <a:ext cx="5943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forward_kinematics(theta_b, theta_s, theta_e):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1441450" y="3286058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A1 = dh_matrix(theta_b,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1441450" y="3569228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A2 = dh_matrix(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- theta_s,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L1,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1441450" y="3852399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A3 = dh_matrix(-theta_e,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L2,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1441450" y="4135569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 = A1 @ A2 @ A3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1441450" y="4418739"/>
            <a:ext cx="5518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T[: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7318375" y="1522016"/>
            <a:ext cx="4057650" cy="827980"/>
          </a:xfrm>
          <a:prstGeom prst="roundRect">
            <a:avLst>
              <a:gd fmla="val 11887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"/>
          <p:cNvSpPr txBox="1"/>
          <p:nvPr/>
        </p:nvSpPr>
        <p:spPr>
          <a:xfrm>
            <a:off x="7512050" y="1670534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L1, L2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 txBox="1"/>
          <p:nvPr/>
        </p:nvSpPr>
        <p:spPr>
          <a:xfrm>
            <a:off x="7512050" y="1943202"/>
            <a:ext cx="3780409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link lengths from Lesson 4.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7318375" y="2457946"/>
            <a:ext cx="4057650" cy="827980"/>
          </a:xfrm>
          <a:prstGeom prst="roundRect">
            <a:avLst>
              <a:gd fmla="val 11887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6"/>
          <p:cNvSpPr txBox="1"/>
          <p:nvPr/>
        </p:nvSpPr>
        <p:spPr>
          <a:xfrm>
            <a:off x="7512050" y="2606464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A1, A2, A3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6"/>
          <p:cNvSpPr txBox="1"/>
          <p:nvPr/>
        </p:nvSpPr>
        <p:spPr>
          <a:xfrm>
            <a:off x="7512050" y="2879132"/>
            <a:ext cx="3780409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row of the DH table each.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318375" y="3393877"/>
            <a:ext cx="4057650" cy="827980"/>
          </a:xfrm>
          <a:prstGeom prst="roundRect">
            <a:avLst>
              <a:gd fmla="val 11887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 txBox="1"/>
          <p:nvPr/>
        </p:nvSpPr>
        <p:spPr>
          <a:xfrm>
            <a:off x="7512050" y="354239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T AND RETURN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6"/>
          <p:cNvSpPr txBox="1"/>
          <p:nvPr/>
        </p:nvSpPr>
        <p:spPr>
          <a:xfrm>
            <a:off x="7512050" y="3815063"/>
            <a:ext cx="3780409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Multiply in joint order, then read the tip.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7318375" y="4329807"/>
            <a:ext cx="4057650" cy="827980"/>
          </a:xfrm>
          <a:prstGeom prst="roundRect">
            <a:avLst>
              <a:gd fmla="val 11887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 txBox="1"/>
          <p:nvPr/>
        </p:nvSpPr>
        <p:spPr>
          <a:xfrm>
            <a:off x="7512050" y="447832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IT GOES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7512050" y="4750993"/>
            <a:ext cx="3780409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Below dh_matrix, in the same file.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" id="462" name="Google Shape;4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495" y="215900"/>
            <a:ext cx="159950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"/>
          <p:cNvSpPr txBox="1"/>
          <p:nvPr/>
        </p:nvSpPr>
        <p:spPr>
          <a:xfrm>
            <a:off x="812800" y="653343"/>
            <a:ext cx="549402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RUN IT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the Worked Example</a:t>
            </a:r>
            <a:endParaRPr sz="2800"/>
          </a:p>
        </p:txBody>
      </p:sp>
      <p:sp>
        <p:nvSpPr>
          <p:cNvPr id="470" name="Google Shape;470;p17"/>
          <p:cNvSpPr/>
          <p:nvPr/>
        </p:nvSpPr>
        <p:spPr>
          <a:xfrm>
            <a:off x="812800" y="1518841"/>
            <a:ext cx="5334000" cy="1146770"/>
          </a:xfrm>
          <a:prstGeom prst="roundRect">
            <a:avLst>
              <a:gd fmla="val 886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 txBox="1"/>
          <p:nvPr/>
        </p:nvSpPr>
        <p:spPr>
          <a:xfrm>
            <a:off x="1016000" y="1676884"/>
            <a:ext cx="507542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1016000" y="1890003"/>
            <a:ext cx="49276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tip = forward_kinematics(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5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 txBox="1"/>
          <p:nvPr/>
        </p:nvSpPr>
        <p:spPr>
          <a:xfrm>
            <a:off x="1016000" y="2191628"/>
            <a:ext cx="4927600" cy="30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show(tip)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812800" y="2792611"/>
            <a:ext cx="5334000" cy="1158776"/>
          </a:xfrm>
          <a:prstGeom prst="roundRect">
            <a:avLst>
              <a:gd fmla="val 8768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 txBox="1"/>
          <p:nvPr/>
        </p:nvSpPr>
        <p:spPr>
          <a:xfrm>
            <a:off x="1016000" y="2925254"/>
            <a:ext cx="507542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1016000" y="3151678"/>
            <a:ext cx="4927600" cy="394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[301.78, 301.78, 176.78]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 txBox="1"/>
          <p:nvPr/>
        </p:nvSpPr>
        <p:spPr>
          <a:xfrm>
            <a:off x="1016000" y="3584446"/>
            <a:ext cx="5075428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The same answer as Lesson 4.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815975" y="4081562"/>
            <a:ext cx="532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7"/>
          <p:cNvSpPr txBox="1"/>
          <p:nvPr/>
        </p:nvSpPr>
        <p:spPr>
          <a:xfrm>
            <a:off x="1009650" y="4230080"/>
            <a:ext cx="50885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WHAT show() DOES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7"/>
          <p:cNvSpPr txBox="1"/>
          <p:nvPr/>
        </p:nvSpPr>
        <p:spPr>
          <a:xfrm>
            <a:off x="1009650" y="4489403"/>
            <a:ext cx="5041900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only rounds the numbers to 2 decimals so the output is easy to read.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6353175" y="4625975"/>
            <a:ext cx="5022850" cy="1352550"/>
          </a:xfrm>
          <a:prstGeom prst="roundRect">
            <a:avLst>
              <a:gd fmla="val 7277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ide view of the arm: upper arm leaning 45 degrees from vertical and forearm horizontal" id="482" name="Google Shape;4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00" y="1524000"/>
            <a:ext cx="4064000" cy="2090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de view of the arm at 45, 45, 45 degrees: shoulder angle, elbow angle, reach r, height z and a top view of the tip" id="483" name="Google Shape;4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0" y="1117600"/>
            <a:ext cx="5029200" cy="48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7"/>
          <p:cNvSpPr txBox="1"/>
          <p:nvPr/>
        </p:nvSpPr>
        <p:spPr>
          <a:xfrm>
            <a:off x="6241355" y="2059124"/>
            <a:ext cx="933450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 = 45°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 txBox="1"/>
          <p:nvPr/>
        </p:nvSpPr>
        <p:spPr>
          <a:xfrm>
            <a:off x="8787110" y="1126963"/>
            <a:ext cx="933450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 = 45°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7"/>
          <p:cNvSpPr txBox="1"/>
          <p:nvPr/>
        </p:nvSpPr>
        <p:spPr>
          <a:xfrm>
            <a:off x="9853910" y="2418593"/>
            <a:ext cx="1079500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z = 176.78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 txBox="1"/>
          <p:nvPr/>
        </p:nvSpPr>
        <p:spPr>
          <a:xfrm>
            <a:off x="7816106" y="3921559"/>
            <a:ext cx="1054100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 = 426.78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6502400" y="4694464"/>
            <a:ext cx="933450" cy="195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TOP VIEW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 txBox="1"/>
          <p:nvPr/>
        </p:nvSpPr>
        <p:spPr>
          <a:xfrm>
            <a:off x="7042150" y="5605991"/>
            <a:ext cx="831850" cy="22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θB = 45°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8489950" y="5710917"/>
            <a:ext cx="2286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7"/>
          <p:cNvSpPr txBox="1"/>
          <p:nvPr/>
        </p:nvSpPr>
        <p:spPr>
          <a:xfrm>
            <a:off x="7683500" y="4904467"/>
            <a:ext cx="2286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7"/>
          <p:cNvSpPr txBox="1"/>
          <p:nvPr/>
        </p:nvSpPr>
        <p:spPr>
          <a:xfrm>
            <a:off x="9652000" y="4770664"/>
            <a:ext cx="1238250" cy="195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THE TIP (mm)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9652000" y="5000019"/>
            <a:ext cx="1149350" cy="27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= 301.78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 txBox="1"/>
          <p:nvPr/>
        </p:nvSpPr>
        <p:spPr>
          <a:xfrm>
            <a:off x="9652000" y="5292119"/>
            <a:ext cx="1149350" cy="27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= 301.78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9652000" y="5584219"/>
            <a:ext cx="1136650" cy="27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z = 176.78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"/>
          <p:cNvSpPr txBox="1"/>
          <p:nvPr/>
        </p:nvSpPr>
        <p:spPr>
          <a:xfrm>
            <a:off x="812800" y="653343"/>
            <a:ext cx="497078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TRY IT YOURSELF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8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It Yourself #2</a:t>
            </a:r>
            <a:endParaRPr sz="2800"/>
          </a:p>
        </p:txBody>
      </p:sp>
      <p:sp>
        <p:nvSpPr>
          <p:cNvPr id="503" name="Google Shape;503;p18"/>
          <p:cNvSpPr/>
          <p:nvPr/>
        </p:nvSpPr>
        <p:spPr>
          <a:xfrm>
            <a:off x="815975" y="1522016"/>
            <a:ext cx="4946650" cy="1291431"/>
          </a:xfrm>
          <a:prstGeom prst="roundRect">
            <a:avLst>
              <a:gd fmla="val 762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8"/>
          <p:cNvSpPr txBox="1"/>
          <p:nvPr/>
        </p:nvSpPr>
        <p:spPr>
          <a:xfrm>
            <a:off x="996950" y="1645134"/>
            <a:ext cx="4722241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LESSON 4, TRY IT YOURSELF #4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8"/>
          <p:cNvSpPr txBox="1"/>
          <p:nvPr/>
        </p:nvSpPr>
        <p:spPr>
          <a:xfrm>
            <a:off x="996950" y="1920825"/>
            <a:ext cx="4722241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θB = 30°, θS = 60°, θE = 0°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996950" y="2273102"/>
            <a:ext cx="4584700" cy="410170"/>
          </a:xfrm>
          <a:prstGeom prst="roundRect">
            <a:avLst>
              <a:gd fmla="val 1857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8"/>
          <p:cNvSpPr txBox="1"/>
          <p:nvPr/>
        </p:nvSpPr>
        <p:spPr>
          <a:xfrm>
            <a:off x="1149350" y="2313317"/>
            <a:ext cx="42799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show(forward_kinematics(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815975" y="2946797"/>
            <a:ext cx="4946650" cy="1291431"/>
          </a:xfrm>
          <a:prstGeom prst="roundRect">
            <a:avLst>
              <a:gd fmla="val 762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8"/>
          <p:cNvSpPr txBox="1"/>
          <p:nvPr/>
        </p:nvSpPr>
        <p:spPr>
          <a:xfrm>
            <a:off x="996950" y="3069915"/>
            <a:ext cx="4722241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LESSON 4, TRY IT YOURSELF #5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996950" y="3345606"/>
            <a:ext cx="4722241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θB = 120°, θS = 0°, θE = 90°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996950" y="3697883"/>
            <a:ext cx="4584700" cy="410170"/>
          </a:xfrm>
          <a:prstGeom prst="roundRect">
            <a:avLst>
              <a:gd fmla="val 18578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"/>
          <p:cNvSpPr txBox="1"/>
          <p:nvPr/>
        </p:nvSpPr>
        <p:spPr>
          <a:xfrm>
            <a:off x="1149350" y="3738099"/>
            <a:ext cx="42799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show(forward_kinematics(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120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 txBox="1"/>
          <p:nvPr/>
        </p:nvSpPr>
        <p:spPr>
          <a:xfrm>
            <a:off x="5969000" y="770617"/>
            <a:ext cx="5613400" cy="51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Lesson 4's practice problems in code. Compare with your hand answers: they should match to 2 decimals.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60 degrees from vertical and forearm in line with it" id="514" name="Google Shape;5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7600" y="2032000"/>
            <a:ext cx="2501900" cy="1631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de view of the arm with the shoulder at 60 degrees and the forearm in line with the upper arm; the tip is unknown" id="515" name="Google Shape;5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0" y="1498600"/>
            <a:ext cx="2730500" cy="2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8"/>
          <p:cNvSpPr txBox="1"/>
          <p:nvPr/>
        </p:nvSpPr>
        <p:spPr>
          <a:xfrm>
            <a:off x="5969000" y="1481817"/>
            <a:ext cx="3429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#4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 txBox="1"/>
          <p:nvPr/>
        </p:nvSpPr>
        <p:spPr>
          <a:xfrm>
            <a:off x="5826720" y="2518752"/>
            <a:ext cx="882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 = 60°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 txBox="1"/>
          <p:nvPr/>
        </p:nvSpPr>
        <p:spPr>
          <a:xfrm>
            <a:off x="6534745" y="2312377"/>
            <a:ext cx="7747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 = 0°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8"/>
          <p:cNvSpPr txBox="1"/>
          <p:nvPr/>
        </p:nvSpPr>
        <p:spPr>
          <a:xfrm>
            <a:off x="7661225" y="1943383"/>
            <a:ext cx="6858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tip = 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vertical and forearm horizontal" id="520" name="Google Shape;52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1900" y="2032000"/>
            <a:ext cx="252730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de view of the arm with the upper arm vertical and the forearm horizontal; the tip is unknown" id="521" name="Google Shape;52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1900" y="1498600"/>
            <a:ext cx="2527300" cy="2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8"/>
          <p:cNvSpPr txBox="1"/>
          <p:nvPr/>
        </p:nvSpPr>
        <p:spPr>
          <a:xfrm>
            <a:off x="8851900" y="1481817"/>
            <a:ext cx="3429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#5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 txBox="1"/>
          <p:nvPr/>
        </p:nvSpPr>
        <p:spPr>
          <a:xfrm>
            <a:off x="8690570" y="2810158"/>
            <a:ext cx="7747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 = 0°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 txBox="1"/>
          <p:nvPr/>
        </p:nvSpPr>
        <p:spPr>
          <a:xfrm>
            <a:off x="10049470" y="1649397"/>
            <a:ext cx="882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 = 90°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8"/>
          <p:cNvSpPr txBox="1"/>
          <p:nvPr/>
        </p:nvSpPr>
        <p:spPr>
          <a:xfrm>
            <a:off x="9983341" y="2607652"/>
            <a:ext cx="6858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tip = 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" name="Google Shape;526;p18"/>
          <p:cNvGrpSpPr/>
          <p:nvPr/>
        </p:nvGrpSpPr>
        <p:grpSpPr>
          <a:xfrm>
            <a:off x="812800" y="4521200"/>
            <a:ext cx="10566400" cy="1340346"/>
            <a:chOff x="812800" y="4521200"/>
            <a:chExt cx="10566400" cy="1340346"/>
          </a:xfrm>
        </p:grpSpPr>
        <p:sp>
          <p:nvSpPr>
            <p:cNvPr id="527" name="Google Shape;527;p18"/>
            <p:cNvSpPr/>
            <p:nvPr/>
          </p:nvSpPr>
          <p:spPr>
            <a:xfrm>
              <a:off x="812800" y="4521200"/>
              <a:ext cx="10566400" cy="1340346"/>
            </a:xfrm>
            <a:prstGeom prst="roundRect">
              <a:avLst>
                <a:gd fmla="val 7580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8"/>
            <p:cNvSpPr txBox="1"/>
            <p:nvPr/>
          </p:nvSpPr>
          <p:spPr>
            <a:xfrm>
              <a:off x="1016000" y="4906554"/>
              <a:ext cx="507542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#4 · SOLUTION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8"/>
            <p:cNvSpPr txBox="1"/>
            <p:nvPr/>
          </p:nvSpPr>
          <p:spPr>
            <a:xfrm>
              <a:off x="1016000" y="5147915"/>
              <a:ext cx="4927600" cy="321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onsolas"/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[375.0, 216.51, 250.0]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8"/>
            <p:cNvSpPr txBox="1"/>
            <p:nvPr/>
          </p:nvSpPr>
          <p:spPr>
            <a:xfrm>
              <a:off x="6248400" y="4666543"/>
              <a:ext cx="507542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#5 · SOLUTION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8"/>
            <p:cNvSpPr txBox="1"/>
            <p:nvPr/>
          </p:nvSpPr>
          <p:spPr>
            <a:xfrm>
              <a:off x="6248400" y="4907905"/>
              <a:ext cx="4927600" cy="321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onsolas"/>
                <a:buNone/>
              </a:pPr>
              <a:r>
                <a:rPr b="1" i="0" lang="en-US" sz="17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[-125.0, 216.51, 250.0]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8"/>
            <p:cNvSpPr txBox="1"/>
            <p:nvPr/>
          </p:nvSpPr>
          <p:spPr>
            <a:xfrm>
              <a:off x="6248400" y="5259030"/>
              <a:ext cx="5124704" cy="450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Same as Lesson 4. Python drops trailing zeros: 375.00 prints as 375.0.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9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9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Write a Test?</a:t>
            </a:r>
            <a:endParaRPr sz="2800"/>
          </a:p>
        </p:txBody>
      </p:sp>
      <p:sp>
        <p:nvSpPr>
          <p:cNvPr id="540" name="Google Shape;540;p19"/>
          <p:cNvSpPr txBox="1"/>
          <p:nvPr/>
        </p:nvSpPr>
        <p:spPr>
          <a:xfrm>
            <a:off x="812800" y="1503791"/>
            <a:ext cx="10820400" cy="29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test runs the function on poses where we already know the answer.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812800" y="2019201"/>
            <a:ext cx="2095500" cy="358080"/>
          </a:xfrm>
          <a:prstGeom prst="roundRect">
            <a:avLst>
              <a:gd fmla="val 1773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889000" y="2074535"/>
            <a:ext cx="2001393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Angles (θB, θS, θE)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2959100" y="2019201"/>
            <a:ext cx="3556000" cy="358080"/>
          </a:xfrm>
          <a:prstGeom prst="roundRect">
            <a:avLst>
              <a:gd fmla="val 1773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"/>
          <p:cNvSpPr txBox="1"/>
          <p:nvPr/>
        </p:nvSpPr>
        <p:spPr>
          <a:xfrm>
            <a:off x="3035300" y="2074535"/>
            <a:ext cx="3505708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Expected tip (x, y, z) in mm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6565900" y="2019201"/>
            <a:ext cx="4445000" cy="358080"/>
          </a:xfrm>
          <a:prstGeom prst="roundRect">
            <a:avLst>
              <a:gd fmla="val 1773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9"/>
          <p:cNvSpPr txBox="1"/>
          <p:nvPr/>
        </p:nvSpPr>
        <p:spPr>
          <a:xfrm>
            <a:off x="6642100" y="2074535"/>
            <a:ext cx="4421378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we know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822325" y="2437606"/>
            <a:ext cx="20764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9"/>
          <p:cNvSpPr txBox="1"/>
          <p:nvPr/>
        </p:nvSpPr>
        <p:spPr>
          <a:xfrm>
            <a:off x="908050" y="2502466"/>
            <a:ext cx="196215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2968625" y="2437606"/>
            <a:ext cx="3536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9"/>
          <p:cNvSpPr txBox="1"/>
          <p:nvPr/>
        </p:nvSpPr>
        <p:spPr>
          <a:xfrm>
            <a:off x="3054350" y="2502466"/>
            <a:ext cx="346646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(0, 0, 500)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6575425" y="2437606"/>
            <a:ext cx="4425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9"/>
          <p:cNvSpPr txBox="1"/>
          <p:nvPr/>
        </p:nvSpPr>
        <p:spPr>
          <a:xfrm>
            <a:off x="6661150" y="2502466"/>
            <a:ext cx="438213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Arm straight up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822325" y="2884587"/>
            <a:ext cx="20764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9"/>
          <p:cNvSpPr txBox="1"/>
          <p:nvPr/>
        </p:nvSpPr>
        <p:spPr>
          <a:xfrm>
            <a:off x="908050" y="2949446"/>
            <a:ext cx="196215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(90, 0, 0)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2968625" y="2884587"/>
            <a:ext cx="3536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9"/>
          <p:cNvSpPr txBox="1"/>
          <p:nvPr/>
        </p:nvSpPr>
        <p:spPr>
          <a:xfrm>
            <a:off x="3054350" y="2949446"/>
            <a:ext cx="346646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(0, 0, 500)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6575425" y="2884587"/>
            <a:ext cx="4425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9"/>
          <p:cNvSpPr txBox="1"/>
          <p:nvPr/>
        </p:nvSpPr>
        <p:spPr>
          <a:xfrm>
            <a:off x="6661150" y="2949446"/>
            <a:ext cx="438213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Base turns; the tip stays on the axis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822325" y="3331567"/>
            <a:ext cx="20764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9"/>
          <p:cNvSpPr txBox="1"/>
          <p:nvPr/>
        </p:nvSpPr>
        <p:spPr>
          <a:xfrm>
            <a:off x="908050" y="3396427"/>
            <a:ext cx="196215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(0, 90, 0)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2968625" y="3331567"/>
            <a:ext cx="3536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9"/>
          <p:cNvSpPr txBox="1"/>
          <p:nvPr/>
        </p:nvSpPr>
        <p:spPr>
          <a:xfrm>
            <a:off x="3054350" y="3396427"/>
            <a:ext cx="346646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(500, 0, 0)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6575425" y="3331567"/>
            <a:ext cx="4425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9"/>
          <p:cNvSpPr txBox="1"/>
          <p:nvPr/>
        </p:nvSpPr>
        <p:spPr>
          <a:xfrm>
            <a:off x="6661150" y="3396427"/>
            <a:ext cx="438213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Straight out along x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822325" y="3778548"/>
            <a:ext cx="20764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9"/>
          <p:cNvSpPr txBox="1"/>
          <p:nvPr/>
        </p:nvSpPr>
        <p:spPr>
          <a:xfrm>
            <a:off x="908050" y="3843407"/>
            <a:ext cx="196215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(90, 90, 0)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2968625" y="3778548"/>
            <a:ext cx="3536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9"/>
          <p:cNvSpPr txBox="1"/>
          <p:nvPr/>
        </p:nvSpPr>
        <p:spPr>
          <a:xfrm>
            <a:off x="3054350" y="3843407"/>
            <a:ext cx="346646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(0, 500, 0)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6575425" y="3778548"/>
            <a:ext cx="4425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9"/>
          <p:cNvSpPr txBox="1"/>
          <p:nvPr/>
        </p:nvSpPr>
        <p:spPr>
          <a:xfrm>
            <a:off x="6661150" y="3843407"/>
            <a:ext cx="438213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Straight out along 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822325" y="4225528"/>
            <a:ext cx="20764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9"/>
          <p:cNvSpPr txBox="1"/>
          <p:nvPr/>
        </p:nvSpPr>
        <p:spPr>
          <a:xfrm>
            <a:off x="908050" y="4290388"/>
            <a:ext cx="196215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(45, 45, 45)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2968625" y="4225528"/>
            <a:ext cx="3536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9"/>
          <p:cNvSpPr txBox="1"/>
          <p:nvPr/>
        </p:nvSpPr>
        <p:spPr>
          <a:xfrm>
            <a:off x="3054350" y="4290388"/>
            <a:ext cx="346646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(301.78, 301.78, 176.78)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6575425" y="4225528"/>
            <a:ext cx="4425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9"/>
          <p:cNvSpPr txBox="1"/>
          <p:nvPr/>
        </p:nvSpPr>
        <p:spPr>
          <a:xfrm>
            <a:off x="6661150" y="4290388"/>
            <a:ext cx="438213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Worked example, Lessons 3 and 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822325" y="4672509"/>
            <a:ext cx="20764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9"/>
          <p:cNvSpPr txBox="1"/>
          <p:nvPr/>
        </p:nvSpPr>
        <p:spPr>
          <a:xfrm>
            <a:off x="908050" y="4737368"/>
            <a:ext cx="196215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(30, 60, 0)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2968625" y="4672509"/>
            <a:ext cx="3536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9"/>
          <p:cNvSpPr txBox="1"/>
          <p:nvPr/>
        </p:nvSpPr>
        <p:spPr>
          <a:xfrm>
            <a:off x="3054350" y="4737368"/>
            <a:ext cx="346646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(375.00, 216.51, 250.00)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6575425" y="4672509"/>
            <a:ext cx="4425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9"/>
          <p:cNvSpPr txBox="1"/>
          <p:nvPr/>
        </p:nvSpPr>
        <p:spPr>
          <a:xfrm>
            <a:off x="6661150" y="4737368"/>
            <a:ext cx="438213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Lesson 4, Try It Yourself #4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9"/>
          <p:cNvSpPr/>
          <p:nvPr/>
        </p:nvSpPr>
        <p:spPr>
          <a:xfrm>
            <a:off x="822325" y="5119489"/>
            <a:ext cx="20764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9"/>
          <p:cNvSpPr txBox="1"/>
          <p:nvPr/>
        </p:nvSpPr>
        <p:spPr>
          <a:xfrm>
            <a:off x="908050" y="5184349"/>
            <a:ext cx="196215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(120, 0, 90)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2968625" y="5119489"/>
            <a:ext cx="3536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"/>
          <p:cNvSpPr txBox="1"/>
          <p:nvPr/>
        </p:nvSpPr>
        <p:spPr>
          <a:xfrm>
            <a:off x="3054350" y="5184349"/>
            <a:ext cx="346646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(−125.00, 216.51, 250.00)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6575425" y="5119489"/>
            <a:ext cx="4425950" cy="377130"/>
          </a:xfrm>
          <a:prstGeom prst="roundRect">
            <a:avLst>
              <a:gd fmla="val 14312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9"/>
          <p:cNvSpPr txBox="1"/>
          <p:nvPr/>
        </p:nvSpPr>
        <p:spPr>
          <a:xfrm>
            <a:off x="6661150" y="5184349"/>
            <a:ext cx="438213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Lesson 4, Try It Yourself #5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vertical and forearm horizontal" id="589" name="Google Shape;5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3505" y="215900"/>
            <a:ext cx="1626791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0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0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Test File</a:t>
            </a:r>
            <a:endParaRPr sz="2800"/>
          </a:p>
        </p:txBody>
      </p:sp>
      <p:sp>
        <p:nvSpPr>
          <p:cNvPr id="597" name="Google Shape;597;p20"/>
          <p:cNvSpPr/>
          <p:nvPr/>
        </p:nvSpPr>
        <p:spPr>
          <a:xfrm>
            <a:off x="812800" y="1518841"/>
            <a:ext cx="6731000" cy="3709392"/>
          </a:xfrm>
          <a:prstGeom prst="roundRect">
            <a:avLst>
              <a:gd fmla="val 273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0"/>
          <p:cNvSpPr txBox="1"/>
          <p:nvPr/>
        </p:nvSpPr>
        <p:spPr>
          <a:xfrm>
            <a:off x="1016000" y="1676884"/>
            <a:ext cx="651433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check_fk.py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0"/>
          <p:cNvSpPr txBox="1"/>
          <p:nvPr/>
        </p:nvSpPr>
        <p:spPr>
          <a:xfrm>
            <a:off x="1016000" y="1889701"/>
            <a:ext cx="6324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0"/>
          <p:cNvSpPr txBox="1"/>
          <p:nvPr/>
        </p:nvSpPr>
        <p:spPr>
          <a:xfrm>
            <a:off x="1016000" y="2154416"/>
            <a:ext cx="6324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fk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forward_kinematics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0"/>
          <p:cNvSpPr txBox="1"/>
          <p:nvPr/>
        </p:nvSpPr>
        <p:spPr>
          <a:xfrm>
            <a:off x="1016000" y="2546132"/>
            <a:ext cx="6324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TESTS = [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0"/>
          <p:cNvSpPr txBox="1"/>
          <p:nvPr/>
        </p:nvSpPr>
        <p:spPr>
          <a:xfrm>
            <a:off x="1409700" y="2810848"/>
            <a:ext cx="5930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), 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)),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0"/>
          <p:cNvSpPr txBox="1"/>
          <p:nvPr/>
        </p:nvSpPr>
        <p:spPr>
          <a:xfrm>
            <a:off x="1409700" y="3075563"/>
            <a:ext cx="5930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), 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301.78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301.78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176.78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)),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0"/>
          <p:cNvSpPr txBox="1"/>
          <p:nvPr/>
        </p:nvSpPr>
        <p:spPr>
          <a:xfrm>
            <a:off x="1409700" y="3340279"/>
            <a:ext cx="5930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# ... five more poses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0"/>
          <p:cNvSpPr txBox="1"/>
          <p:nvPr/>
        </p:nvSpPr>
        <p:spPr>
          <a:xfrm>
            <a:off x="1016000" y="3604994"/>
            <a:ext cx="6324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0"/>
          <p:cNvSpPr txBox="1"/>
          <p:nvPr/>
        </p:nvSpPr>
        <p:spPr>
          <a:xfrm>
            <a:off x="1016000" y="3996710"/>
            <a:ext cx="6324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angles, expected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TESTS: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0"/>
          <p:cNvSpPr txBox="1"/>
          <p:nvPr/>
        </p:nvSpPr>
        <p:spPr>
          <a:xfrm>
            <a:off x="1409700" y="4261426"/>
            <a:ext cx="5930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got = fk(*angles)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0"/>
          <p:cNvSpPr txBox="1"/>
          <p:nvPr/>
        </p:nvSpPr>
        <p:spPr>
          <a:xfrm>
            <a:off x="1409700" y="4526141"/>
            <a:ext cx="5930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ok = np.allclose(got, expected, atol=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0.01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0"/>
          <p:cNvSpPr txBox="1"/>
          <p:nvPr/>
        </p:nvSpPr>
        <p:spPr>
          <a:xfrm>
            <a:off x="1409700" y="4790857"/>
            <a:ext cx="5930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"PASS"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ok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"FAIL"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angles)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7699375" y="1522016"/>
            <a:ext cx="3676650" cy="1308001"/>
          </a:xfrm>
          <a:prstGeom prst="roundRect">
            <a:avLst>
              <a:gd fmla="val 7525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0"/>
          <p:cNvSpPr txBox="1"/>
          <p:nvPr/>
        </p:nvSpPr>
        <p:spPr>
          <a:xfrm>
            <a:off x="7893050" y="1670534"/>
            <a:ext cx="338797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np.allclose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0"/>
          <p:cNvSpPr txBox="1"/>
          <p:nvPr/>
        </p:nvSpPr>
        <p:spPr>
          <a:xfrm>
            <a:off x="7893050" y="1929857"/>
            <a:ext cx="3420872" cy="74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Compares two lists number by number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allows a small difference (atol =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0.01).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7699375" y="2937966"/>
            <a:ext cx="3676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0"/>
          <p:cNvSpPr txBox="1"/>
          <p:nvPr/>
        </p:nvSpPr>
        <p:spPr>
          <a:xfrm>
            <a:off x="7893050" y="3086485"/>
            <a:ext cx="338797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NOT ==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0"/>
          <p:cNvSpPr txBox="1"/>
          <p:nvPr/>
        </p:nvSpPr>
        <p:spPr>
          <a:xfrm>
            <a:off x="7893050" y="3345808"/>
            <a:ext cx="342087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Rounding: the exact answer 301.7767…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not exactly 301.78.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7699375" y="4113907"/>
            <a:ext cx="3676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0"/>
          <p:cNvSpPr txBox="1"/>
          <p:nvPr/>
        </p:nvSpPr>
        <p:spPr>
          <a:xfrm>
            <a:off x="7893050" y="4262425"/>
            <a:ext cx="338797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*angles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0"/>
          <p:cNvSpPr txBox="1"/>
          <p:nvPr/>
        </p:nvSpPr>
        <p:spPr>
          <a:xfrm>
            <a:off x="7893050" y="4521748"/>
            <a:ext cx="342087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Unpacks (45, 45, 45) into three separate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arguments.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op view of the arm with the base turned 45 degrees" id="619" name="Google Shape;6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005" y="215900"/>
            <a:ext cx="1245791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1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TESTING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1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the Test</a:t>
            </a:r>
            <a:endParaRPr sz="2800"/>
          </a:p>
        </p:txBody>
      </p:sp>
      <p:sp>
        <p:nvSpPr>
          <p:cNvPr id="627" name="Google Shape;627;p21"/>
          <p:cNvSpPr/>
          <p:nvPr/>
        </p:nvSpPr>
        <p:spPr>
          <a:xfrm>
            <a:off x="812800" y="1518841"/>
            <a:ext cx="10566400" cy="2666802"/>
          </a:xfrm>
          <a:prstGeom prst="roundRect">
            <a:avLst>
              <a:gd fmla="val 381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1"/>
          <p:cNvSpPr txBox="1"/>
          <p:nvPr/>
        </p:nvSpPr>
        <p:spPr>
          <a:xfrm>
            <a:off x="1016000" y="1651484"/>
            <a:ext cx="104140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 check_fk.py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1"/>
          <p:cNvSpPr txBox="1"/>
          <p:nvPr/>
        </p:nvSpPr>
        <p:spPr>
          <a:xfrm>
            <a:off x="1016000" y="1892724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PASS (0, 0, 0) -&gt; [0.0, 0.0, 500.0] expected [0.0, 0.0, 500.0]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1"/>
          <p:cNvSpPr txBox="1"/>
          <p:nvPr/>
        </p:nvSpPr>
        <p:spPr>
          <a:xfrm>
            <a:off x="1016000" y="2164485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PASS (90, 0, 0) -&gt; [0.0, 0.0, 500.0] expected [0.0, 0.0, 500.0]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1"/>
          <p:cNvSpPr txBox="1"/>
          <p:nvPr/>
        </p:nvSpPr>
        <p:spPr>
          <a:xfrm>
            <a:off x="1016000" y="2436245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PASS (0, 90, 0) -&gt; [500.0, 0.0, 0.0] expected [500.0, 0.0, 0.0]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1"/>
          <p:cNvSpPr txBox="1"/>
          <p:nvPr/>
        </p:nvSpPr>
        <p:spPr>
          <a:xfrm>
            <a:off x="1016000" y="2708005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PASS (90, 90, 0) -&gt; [0.0, 500.0, 0.0] expected [0.0, 500.0, 0.0]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1"/>
          <p:cNvSpPr txBox="1"/>
          <p:nvPr/>
        </p:nvSpPr>
        <p:spPr>
          <a:xfrm>
            <a:off x="1016000" y="2979765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PASS (45, 45, 45) -&gt; [301.78, 301.78, 176.78] expected [301.78, 301.78, 176.78]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1"/>
          <p:cNvSpPr txBox="1"/>
          <p:nvPr/>
        </p:nvSpPr>
        <p:spPr>
          <a:xfrm>
            <a:off x="1016000" y="3251525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PASS (30, 60, 0) -&gt; [375.0, 216.51, 250.0] expected [375.0, 216.51, 250.0]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1"/>
          <p:cNvSpPr txBox="1"/>
          <p:nvPr/>
        </p:nvSpPr>
        <p:spPr>
          <a:xfrm>
            <a:off x="1016000" y="3523285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PASS (120, 0, 90) -&gt; [-125.0, 216.51, 250.0] expected [-125.0, 216.51, 250.0]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1"/>
          <p:cNvSpPr txBox="1"/>
          <p:nvPr/>
        </p:nvSpPr>
        <p:spPr>
          <a:xfrm>
            <a:off x="1016000" y="3795046"/>
            <a:ext cx="101600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of 7 tests passed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815975" y="4392017"/>
            <a:ext cx="5200650" cy="110232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1"/>
          <p:cNvSpPr txBox="1"/>
          <p:nvPr/>
        </p:nvSpPr>
        <p:spPr>
          <a:xfrm>
            <a:off x="1009650" y="4540536"/>
            <a:ext cx="495769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ALL PASS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1"/>
          <p:cNvSpPr txBox="1"/>
          <p:nvPr/>
        </p:nvSpPr>
        <p:spPr>
          <a:xfrm>
            <a:off x="1009650" y="4798104"/>
            <a:ext cx="5005832" cy="540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function agrees with every hand answer and every pose we can check by eye.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6175375" y="4392017"/>
            <a:ext cx="5200650" cy="110232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1"/>
          <p:cNvSpPr txBox="1"/>
          <p:nvPr/>
        </p:nvSpPr>
        <p:spPr>
          <a:xfrm>
            <a:off x="6369050" y="4540536"/>
            <a:ext cx="495769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FAIL LINE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1"/>
          <p:cNvSpPr txBox="1"/>
          <p:nvPr/>
        </p:nvSpPr>
        <p:spPr>
          <a:xfrm>
            <a:off x="6369050" y="4798104"/>
            <a:ext cx="4914900" cy="540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the two lists on that line, then try the bug hunt on the next slide.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, seen from another side" id="643" name="Google Shape;6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735" y="215900"/>
            <a:ext cx="163383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2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DEBUGGING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2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Bug Hunt</a:t>
            </a:r>
            <a:endParaRPr sz="2800"/>
          </a:p>
        </p:txBody>
      </p:sp>
      <p:sp>
        <p:nvSpPr>
          <p:cNvPr id="651" name="Google Shape;651;p22"/>
          <p:cNvSpPr/>
          <p:nvPr/>
        </p:nvSpPr>
        <p:spPr>
          <a:xfrm>
            <a:off x="812800" y="1518841"/>
            <a:ext cx="10566400" cy="1274961"/>
          </a:xfrm>
          <a:prstGeom prst="roundRect">
            <a:avLst>
              <a:gd fmla="val 796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/>
          <p:cNvSpPr txBox="1"/>
          <p:nvPr/>
        </p:nvSpPr>
        <p:spPr>
          <a:xfrm>
            <a:off x="1041400" y="1689584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FOR 45°, 45°, 45° THE RIGHT ANSWER 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2"/>
          <p:cNvSpPr txBox="1"/>
          <p:nvPr/>
        </p:nvSpPr>
        <p:spPr>
          <a:xfrm>
            <a:off x="1041400" y="1970647"/>
            <a:ext cx="10363200" cy="313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[301.78, 301.78, 176.78]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2"/>
          <p:cNvSpPr txBox="1"/>
          <p:nvPr/>
        </p:nvSpPr>
        <p:spPr>
          <a:xfrm>
            <a:off x="1041400" y="2364782"/>
            <a:ext cx="10363200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Each broken version below gives one of the three wrong outputs. Match them.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812800" y="2997002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 txBox="1"/>
          <p:nvPr/>
        </p:nvSpPr>
        <p:spPr>
          <a:xfrm>
            <a:off x="807466" y="2987990"/>
            <a:ext cx="366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1295400" y="2997002"/>
            <a:ext cx="5715000" cy="706041"/>
          </a:xfrm>
          <a:prstGeom prst="roundRect">
            <a:avLst>
              <a:gd fmla="val 1079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"/>
          <p:cNvSpPr txBox="1"/>
          <p:nvPr/>
        </p:nvSpPr>
        <p:spPr>
          <a:xfrm>
            <a:off x="1473200" y="3049917"/>
            <a:ext cx="5359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 = theta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2"/>
          <p:cNvSpPr txBox="1"/>
          <p:nvPr/>
        </p:nvSpPr>
        <p:spPr>
          <a:xfrm>
            <a:off x="1473200" y="3320388"/>
            <a:ext cx="5359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al = alpha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2"/>
          <p:cNvSpPr/>
          <p:nvPr/>
        </p:nvSpPr>
        <p:spPr>
          <a:xfrm>
            <a:off x="812800" y="3830042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2"/>
          <p:cNvSpPr txBox="1"/>
          <p:nvPr/>
        </p:nvSpPr>
        <p:spPr>
          <a:xfrm>
            <a:off x="807466" y="3821030"/>
            <a:ext cx="366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1295400" y="3830042"/>
            <a:ext cx="5715000" cy="435570"/>
          </a:xfrm>
          <a:prstGeom prst="roundRect">
            <a:avLst>
              <a:gd fmla="val 1749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2"/>
          <p:cNvSpPr txBox="1"/>
          <p:nvPr/>
        </p:nvSpPr>
        <p:spPr>
          <a:xfrm>
            <a:off x="1473200" y="3882958"/>
            <a:ext cx="5359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 = A3 @ A2 @ A1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812800" y="4392613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2"/>
          <p:cNvSpPr txBox="1"/>
          <p:nvPr/>
        </p:nvSpPr>
        <p:spPr>
          <a:xfrm>
            <a:off x="807466" y="4383601"/>
            <a:ext cx="366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1295400" y="4392613"/>
            <a:ext cx="5715000" cy="706041"/>
          </a:xfrm>
          <a:prstGeom prst="roundRect">
            <a:avLst>
              <a:gd fmla="val 1079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2"/>
          <p:cNvSpPr txBox="1"/>
          <p:nvPr/>
        </p:nvSpPr>
        <p:spPr>
          <a:xfrm>
            <a:off x="1473200" y="4445528"/>
            <a:ext cx="5359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A2 = dh_matrix(theta_s,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L1,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2"/>
          <p:cNvSpPr txBox="1"/>
          <p:nvPr/>
        </p:nvSpPr>
        <p:spPr>
          <a:xfrm>
            <a:off x="1473200" y="4715999"/>
            <a:ext cx="5359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A3 = dh_matrix(theta_e,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L2,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7391400" y="3057922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2"/>
          <p:cNvSpPr txBox="1"/>
          <p:nvPr/>
        </p:nvSpPr>
        <p:spPr>
          <a:xfrm>
            <a:off x="7386066" y="3048910"/>
            <a:ext cx="366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7874000" y="2997002"/>
            <a:ext cx="3505200" cy="477441"/>
          </a:xfrm>
          <a:prstGeom prst="roundRect">
            <a:avLst>
              <a:gd fmla="val 1596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2"/>
          <p:cNvSpPr txBox="1"/>
          <p:nvPr/>
        </p:nvSpPr>
        <p:spPr>
          <a:xfrm>
            <a:off x="8026400" y="3084207"/>
            <a:ext cx="3200400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[426.78, -176.78, 0.0]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7391400" y="3662362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2"/>
          <p:cNvSpPr txBox="1"/>
          <p:nvPr/>
        </p:nvSpPr>
        <p:spPr>
          <a:xfrm>
            <a:off x="7386066" y="3653351"/>
            <a:ext cx="366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7874000" y="3601442"/>
            <a:ext cx="3505200" cy="477441"/>
          </a:xfrm>
          <a:prstGeom prst="roundRect">
            <a:avLst>
              <a:gd fmla="val 1596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2"/>
          <p:cNvSpPr txBox="1"/>
          <p:nvPr/>
        </p:nvSpPr>
        <p:spPr>
          <a:xfrm>
            <a:off x="8026400" y="3688648"/>
            <a:ext cx="3200400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[125.0, 125.0, 426.78]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7391400" y="4266803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2"/>
          <p:cNvSpPr txBox="1"/>
          <p:nvPr/>
        </p:nvSpPr>
        <p:spPr>
          <a:xfrm>
            <a:off x="7386066" y="4257791"/>
            <a:ext cx="366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7874000" y="4205883"/>
            <a:ext cx="3505200" cy="477441"/>
          </a:xfrm>
          <a:prstGeom prst="roundRect">
            <a:avLst>
              <a:gd fmla="val 1596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2"/>
          <p:cNvSpPr txBox="1"/>
          <p:nvPr/>
        </p:nvSpPr>
        <p:spPr>
          <a:xfrm>
            <a:off x="8026400" y="4293089"/>
            <a:ext cx="3200400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[281.43, 274.4, 190.18]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30 degrees from vertical with the forearm bent further forward" id="681" name="Google Shape;6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870" y="215900"/>
            <a:ext cx="144016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3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DEBUGGING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3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Bug Hunt: Answers</a:t>
            </a:r>
            <a:endParaRPr sz="2800"/>
          </a:p>
        </p:txBody>
      </p:sp>
      <p:sp>
        <p:nvSpPr>
          <p:cNvPr id="689" name="Google Shape;689;p23"/>
          <p:cNvSpPr/>
          <p:nvPr/>
        </p:nvSpPr>
        <p:spPr>
          <a:xfrm>
            <a:off x="815975" y="1522016"/>
            <a:ext cx="3414216" cy="1471216"/>
          </a:xfrm>
          <a:prstGeom prst="roundRect">
            <a:avLst>
              <a:gd fmla="val 6690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 txBox="1"/>
          <p:nvPr/>
        </p:nvSpPr>
        <p:spPr>
          <a:xfrm>
            <a:off x="984250" y="1652995"/>
            <a:ext cx="3169996" cy="39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 → 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3"/>
          <p:cNvSpPr txBox="1"/>
          <p:nvPr/>
        </p:nvSpPr>
        <p:spPr>
          <a:xfrm>
            <a:off x="984250" y="2109078"/>
            <a:ext cx="3169996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Forgot np.radians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3"/>
          <p:cNvSpPr txBox="1"/>
          <p:nvPr/>
        </p:nvSpPr>
        <p:spPr>
          <a:xfrm>
            <a:off x="984250" y="2400241"/>
            <a:ext cx="3200773" cy="450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sin and cos received degrees. Fix: t = np.radians(theta).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3"/>
          <p:cNvSpPr/>
          <p:nvPr/>
        </p:nvSpPr>
        <p:spPr>
          <a:xfrm>
            <a:off x="4388941" y="1522016"/>
            <a:ext cx="3414216" cy="1471216"/>
          </a:xfrm>
          <a:prstGeom prst="roundRect">
            <a:avLst>
              <a:gd fmla="val 6690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3"/>
          <p:cNvSpPr txBox="1"/>
          <p:nvPr/>
        </p:nvSpPr>
        <p:spPr>
          <a:xfrm>
            <a:off x="4557216" y="1652995"/>
            <a:ext cx="3169996" cy="39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B → 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3"/>
          <p:cNvSpPr txBox="1"/>
          <p:nvPr/>
        </p:nvSpPr>
        <p:spPr>
          <a:xfrm>
            <a:off x="4557216" y="2109078"/>
            <a:ext cx="3169996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Wrong multiplication order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3"/>
          <p:cNvSpPr txBox="1"/>
          <p:nvPr/>
        </p:nvSpPr>
        <p:spPr>
          <a:xfrm>
            <a:off x="4557216" y="2400241"/>
            <a:ext cx="3141166" cy="450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joints must be multiplied base first. Fix: T = A1 @ A2 @ A3.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3"/>
          <p:cNvSpPr/>
          <p:nvPr/>
        </p:nvSpPr>
        <p:spPr>
          <a:xfrm>
            <a:off x="7961908" y="1522016"/>
            <a:ext cx="3414216" cy="1471216"/>
          </a:xfrm>
          <a:prstGeom prst="roundRect">
            <a:avLst>
              <a:gd fmla="val 6690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3"/>
          <p:cNvSpPr txBox="1"/>
          <p:nvPr/>
        </p:nvSpPr>
        <p:spPr>
          <a:xfrm>
            <a:off x="8130183" y="1652995"/>
            <a:ext cx="3169996" cy="39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C → 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3"/>
          <p:cNvSpPr txBox="1"/>
          <p:nvPr/>
        </p:nvSpPr>
        <p:spPr>
          <a:xfrm>
            <a:off x="8130183" y="2109078"/>
            <a:ext cx="3169996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Forgot the θ conversions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3"/>
          <p:cNvSpPr txBox="1"/>
          <p:nvPr/>
        </p:nvSpPr>
        <p:spPr>
          <a:xfrm>
            <a:off x="8130183" y="2400241"/>
            <a:ext cx="3179266" cy="450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θ column is 90 − theta_s and −theta_e.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3"/>
          <p:cNvSpPr/>
          <p:nvPr/>
        </p:nvSpPr>
        <p:spPr>
          <a:xfrm>
            <a:off x="812800" y="3199606"/>
            <a:ext cx="10566400" cy="1217811"/>
          </a:xfrm>
          <a:prstGeom prst="roundRect">
            <a:avLst>
              <a:gd fmla="val 834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3"/>
          <p:cNvSpPr txBox="1"/>
          <p:nvPr/>
        </p:nvSpPr>
        <p:spPr>
          <a:xfrm>
            <a:off x="1041400" y="3370350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THE STRAIGHT-UP TEST CATCHES ALL THREE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3"/>
          <p:cNvSpPr txBox="1"/>
          <p:nvPr/>
        </p:nvSpPr>
        <p:spPr>
          <a:xfrm>
            <a:off x="1041400" y="3659669"/>
            <a:ext cx="10363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(0, 0, 0) the right answer is [0.0, 0.0, 500.0]. The bugs give: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3"/>
          <p:cNvSpPr txBox="1"/>
          <p:nvPr/>
        </p:nvSpPr>
        <p:spPr>
          <a:xfrm>
            <a:off x="1041400" y="3963682"/>
            <a:ext cx="3117056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A: [-224.04, -200.29, 399.62]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3"/>
          <p:cNvSpPr txBox="1"/>
          <p:nvPr/>
        </p:nvSpPr>
        <p:spPr>
          <a:xfrm>
            <a:off x="4399756" y="3963682"/>
            <a:ext cx="2367756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B: [250.0, 250.0, 0.0]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3"/>
          <p:cNvSpPr txBox="1"/>
          <p:nvPr/>
        </p:nvSpPr>
        <p:spPr>
          <a:xfrm>
            <a:off x="7008813" y="3963682"/>
            <a:ext cx="2153642" cy="27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C: [500.0, 0.0, 0.0]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45 degrees from vertical and forearm horizontal" id="707" name="Google Shape;7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4800" y="276225"/>
            <a:ext cx="21844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4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1 · WRAP-UP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4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 1 Recap</a:t>
            </a:r>
            <a:endParaRPr sz="2800"/>
          </a:p>
        </p:txBody>
      </p:sp>
      <p:sp>
        <p:nvSpPr>
          <p:cNvPr id="715" name="Google Shape;715;p24"/>
          <p:cNvSpPr/>
          <p:nvPr/>
        </p:nvSpPr>
        <p:spPr>
          <a:xfrm>
            <a:off x="815975" y="1522016"/>
            <a:ext cx="3414216" cy="1631950"/>
          </a:xfrm>
          <a:prstGeom prst="roundRect">
            <a:avLst>
              <a:gd fmla="val 603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4"/>
          <p:cNvSpPr/>
          <p:nvPr/>
        </p:nvSpPr>
        <p:spPr>
          <a:xfrm>
            <a:off x="996950" y="167759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4"/>
          <p:cNvSpPr txBox="1"/>
          <p:nvPr/>
        </p:nvSpPr>
        <p:spPr>
          <a:xfrm>
            <a:off x="991235" y="1670000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4"/>
          <p:cNvSpPr txBox="1"/>
          <p:nvPr/>
        </p:nvSpPr>
        <p:spPr>
          <a:xfrm>
            <a:off x="996950" y="2118008"/>
            <a:ext cx="3052266" cy="296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dh_matrix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4"/>
          <p:cNvSpPr txBox="1"/>
          <p:nvPr/>
        </p:nvSpPr>
        <p:spPr>
          <a:xfrm>
            <a:off x="996950" y="2486308"/>
            <a:ext cx="3174357" cy="51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joint: one row of the DH table becomes one 4×4 matrix.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4"/>
          <p:cNvSpPr/>
          <p:nvPr/>
        </p:nvSpPr>
        <p:spPr>
          <a:xfrm>
            <a:off x="4388941" y="1522016"/>
            <a:ext cx="3414216" cy="1631950"/>
          </a:xfrm>
          <a:prstGeom prst="roundRect">
            <a:avLst>
              <a:gd fmla="val 603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4"/>
          <p:cNvSpPr/>
          <p:nvPr/>
        </p:nvSpPr>
        <p:spPr>
          <a:xfrm>
            <a:off x="4569916" y="167759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4"/>
          <p:cNvSpPr txBox="1"/>
          <p:nvPr/>
        </p:nvSpPr>
        <p:spPr>
          <a:xfrm>
            <a:off x="4564201" y="1670000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4"/>
          <p:cNvSpPr txBox="1"/>
          <p:nvPr/>
        </p:nvSpPr>
        <p:spPr>
          <a:xfrm>
            <a:off x="4569916" y="2118008"/>
            <a:ext cx="3052266" cy="296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forward_kinematics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4"/>
          <p:cNvSpPr txBox="1"/>
          <p:nvPr/>
        </p:nvSpPr>
        <p:spPr>
          <a:xfrm>
            <a:off x="4569916" y="2486308"/>
            <a:ext cx="3174357" cy="51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matrices, multiplied in joint order with @. The tip is T[:3, 3].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4"/>
          <p:cNvSpPr/>
          <p:nvPr/>
        </p:nvSpPr>
        <p:spPr>
          <a:xfrm>
            <a:off x="7961908" y="1522016"/>
            <a:ext cx="3414216" cy="1631950"/>
          </a:xfrm>
          <a:prstGeom prst="roundRect">
            <a:avLst>
              <a:gd fmla="val 603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4"/>
          <p:cNvSpPr/>
          <p:nvPr/>
        </p:nvSpPr>
        <p:spPr>
          <a:xfrm>
            <a:off x="8142883" y="167759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4"/>
          <p:cNvSpPr txBox="1"/>
          <p:nvPr/>
        </p:nvSpPr>
        <p:spPr>
          <a:xfrm>
            <a:off x="8137168" y="1670000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4"/>
          <p:cNvSpPr txBox="1"/>
          <p:nvPr/>
        </p:nvSpPr>
        <p:spPr>
          <a:xfrm>
            <a:off x="8142883" y="2118008"/>
            <a:ext cx="3052266" cy="296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check_fk.py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4"/>
          <p:cNvSpPr txBox="1"/>
          <p:nvPr/>
        </p:nvSpPr>
        <p:spPr>
          <a:xfrm>
            <a:off x="8142883" y="2486308"/>
            <a:ext cx="3174357" cy="51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Seven poses with known answers: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of 7 tests passed.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4"/>
          <p:cNvSpPr/>
          <p:nvPr/>
        </p:nvSpPr>
        <p:spPr>
          <a:xfrm>
            <a:off x="812800" y="3360341"/>
            <a:ext cx="10566400" cy="1308695"/>
          </a:xfrm>
          <a:prstGeom prst="roundRect">
            <a:avLst>
              <a:gd fmla="val 776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4"/>
          <p:cNvSpPr txBox="1"/>
          <p:nvPr/>
        </p:nvSpPr>
        <p:spPr>
          <a:xfrm>
            <a:off x="1041400" y="3531084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NEXT TIME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4"/>
          <p:cNvSpPr txBox="1"/>
          <p:nvPr/>
        </p:nvSpPr>
        <p:spPr>
          <a:xfrm>
            <a:off x="1041400" y="3817984"/>
            <a:ext cx="1036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same tip, found in other ways.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4"/>
          <p:cNvSpPr txBox="1"/>
          <p:nvPr/>
        </p:nvSpPr>
        <p:spPr>
          <a:xfrm>
            <a:off x="1041400" y="4222040"/>
            <a:ext cx="1036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Trigonometry, a new method called screw theory, and a map of where the tip can go.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734" name="Google Shape;7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5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OPENING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5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 2: Where We Left Off</a:t>
            </a:r>
            <a:endParaRPr sz="2800"/>
          </a:p>
        </p:txBody>
      </p:sp>
      <p:sp>
        <p:nvSpPr>
          <p:cNvPr id="742" name="Google Shape;742;p25"/>
          <p:cNvSpPr/>
          <p:nvPr/>
        </p:nvSpPr>
        <p:spPr>
          <a:xfrm>
            <a:off x="815975" y="1522016"/>
            <a:ext cx="5073650" cy="1073150"/>
          </a:xfrm>
          <a:prstGeom prst="roundRect">
            <a:avLst>
              <a:gd fmla="val 9172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5"/>
          <p:cNvSpPr txBox="1"/>
          <p:nvPr/>
        </p:nvSpPr>
        <p:spPr>
          <a:xfrm>
            <a:off x="996950" y="1657834"/>
            <a:ext cx="4853051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QUESTION 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5"/>
          <p:cNvSpPr txBox="1"/>
          <p:nvPr/>
        </p:nvSpPr>
        <p:spPr>
          <a:xfrm>
            <a:off x="996950" y="1934453"/>
            <a:ext cx="48530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dh_matrix return?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815975" y="2753916"/>
            <a:ext cx="5073650" cy="1073150"/>
          </a:xfrm>
          <a:prstGeom prst="roundRect">
            <a:avLst>
              <a:gd fmla="val 9172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5"/>
          <p:cNvSpPr txBox="1"/>
          <p:nvPr/>
        </p:nvSpPr>
        <p:spPr>
          <a:xfrm>
            <a:off x="996950" y="2889734"/>
            <a:ext cx="4853051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QUESTION 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5"/>
          <p:cNvSpPr txBox="1"/>
          <p:nvPr/>
        </p:nvSpPr>
        <p:spPr>
          <a:xfrm>
            <a:off x="996950" y="3166353"/>
            <a:ext cx="48530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do we write @ and not * between matrices?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815975" y="3985816"/>
            <a:ext cx="5073650" cy="1073150"/>
          </a:xfrm>
          <a:prstGeom prst="roundRect">
            <a:avLst>
              <a:gd fmla="val 9172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5"/>
          <p:cNvSpPr txBox="1"/>
          <p:nvPr/>
        </p:nvSpPr>
        <p:spPr>
          <a:xfrm>
            <a:off x="996950" y="4121634"/>
            <a:ext cx="4853051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QUESTION 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5"/>
          <p:cNvSpPr txBox="1"/>
          <p:nvPr/>
        </p:nvSpPr>
        <p:spPr>
          <a:xfrm>
            <a:off x="996950" y="4388728"/>
            <a:ext cx="4900168" cy="51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should forward_kinematics(0, 0, 0) give, and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1" name="Google Shape;751;p25"/>
          <p:cNvGrpSpPr/>
          <p:nvPr/>
        </p:nvGrpSpPr>
        <p:grpSpPr>
          <a:xfrm>
            <a:off x="6096000" y="1517650"/>
            <a:ext cx="5302504" cy="3543300"/>
            <a:chOff x="6096000" y="1517650"/>
            <a:chExt cx="5302504" cy="3543300"/>
          </a:xfrm>
        </p:grpSpPr>
        <p:sp>
          <p:nvSpPr>
            <p:cNvPr id="752" name="Google Shape;752;p25"/>
            <p:cNvSpPr/>
            <p:nvPr/>
          </p:nvSpPr>
          <p:spPr>
            <a:xfrm>
              <a:off x="6096000" y="1517650"/>
              <a:ext cx="5283200" cy="1079500"/>
            </a:xfrm>
            <a:prstGeom prst="roundRect">
              <a:avLst>
                <a:gd fmla="val 9412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5"/>
            <p:cNvSpPr txBox="1"/>
            <p:nvPr/>
          </p:nvSpPr>
          <p:spPr>
            <a:xfrm>
              <a:off x="6273800" y="1650293"/>
              <a:ext cx="507542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ANSWER 1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5"/>
            <p:cNvSpPr txBox="1"/>
            <p:nvPr/>
          </p:nvSpPr>
          <p:spPr>
            <a:xfrm>
              <a:off x="6273800" y="1926912"/>
              <a:ext cx="5075428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4×4 matrix.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6096000" y="2749550"/>
              <a:ext cx="5283200" cy="1079500"/>
            </a:xfrm>
            <a:prstGeom prst="roundRect">
              <a:avLst>
                <a:gd fmla="val 9412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5"/>
            <p:cNvSpPr txBox="1"/>
            <p:nvPr/>
          </p:nvSpPr>
          <p:spPr>
            <a:xfrm>
              <a:off x="6273800" y="2882193"/>
              <a:ext cx="507542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ANSWER 2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5"/>
            <p:cNvSpPr txBox="1"/>
            <p:nvPr/>
          </p:nvSpPr>
          <p:spPr>
            <a:xfrm>
              <a:off x="6273800" y="3158812"/>
              <a:ext cx="5075428" cy="2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* multiplies entry by entry. @ multiplies matrices.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6096000" y="3981450"/>
              <a:ext cx="5283200" cy="1079500"/>
            </a:xfrm>
            <a:prstGeom prst="roundRect">
              <a:avLst>
                <a:gd fmla="val 9412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5"/>
            <p:cNvSpPr txBox="1"/>
            <p:nvPr/>
          </p:nvSpPr>
          <p:spPr>
            <a:xfrm>
              <a:off x="6273800" y="4114093"/>
              <a:ext cx="507542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ANSWER 3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5"/>
            <p:cNvSpPr txBox="1"/>
            <p:nvPr/>
          </p:nvSpPr>
          <p:spPr>
            <a:xfrm>
              <a:off x="6273800" y="4381187"/>
              <a:ext cx="5124704" cy="512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[0.0, 0.0, 500.0]: the arm points straight up, 250 + 250 mm.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Three-quarter view of the robotic arm on its base, upper arm vertical and forearm horizontal" id="761" name="Google Shape;7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495" y="215900"/>
            <a:ext cx="159950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6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TRIGONOMETRY IN CODE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6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Lesson 3 in Code</a:t>
            </a:r>
            <a:endParaRPr sz="2800"/>
          </a:p>
        </p:txBody>
      </p:sp>
      <p:sp>
        <p:nvSpPr>
          <p:cNvPr id="769" name="Google Shape;769;p26"/>
          <p:cNvSpPr/>
          <p:nvPr/>
        </p:nvSpPr>
        <p:spPr>
          <a:xfrm>
            <a:off x="812800" y="1518841"/>
            <a:ext cx="6604000" cy="2525713"/>
          </a:xfrm>
          <a:prstGeom prst="roundRect">
            <a:avLst>
              <a:gd fmla="val 402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6"/>
          <p:cNvSpPr txBox="1"/>
          <p:nvPr/>
        </p:nvSpPr>
        <p:spPr>
          <a:xfrm>
            <a:off x="1016000" y="1676884"/>
            <a:ext cx="638352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compare_methods.py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6"/>
          <p:cNvSpPr txBox="1"/>
          <p:nvPr/>
        </p:nvSpPr>
        <p:spPr>
          <a:xfrm>
            <a:off x="1016000" y="1886677"/>
            <a:ext cx="6197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trig_fk(theta_b, theta_s, theta_e):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6"/>
          <p:cNvSpPr txBox="1"/>
          <p:nvPr/>
        </p:nvSpPr>
        <p:spPr>
          <a:xfrm>
            <a:off x="1441450" y="2169847"/>
            <a:ext cx="5772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 = np.radians(theta_b)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6"/>
          <p:cNvSpPr txBox="1"/>
          <p:nvPr/>
        </p:nvSpPr>
        <p:spPr>
          <a:xfrm>
            <a:off x="1441450" y="2453017"/>
            <a:ext cx="5772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 = np.radians(theta_s)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6"/>
          <p:cNvSpPr txBox="1"/>
          <p:nvPr/>
        </p:nvSpPr>
        <p:spPr>
          <a:xfrm>
            <a:off x="1441450" y="2736188"/>
            <a:ext cx="5772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 = np.radians(theta_s + theta_e)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6"/>
          <p:cNvSpPr txBox="1"/>
          <p:nvPr/>
        </p:nvSpPr>
        <p:spPr>
          <a:xfrm>
            <a:off x="1441450" y="3019358"/>
            <a:ext cx="5772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 = L1 * np.sin(s) + L2 * np.sin(se)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6"/>
          <p:cNvSpPr txBox="1"/>
          <p:nvPr/>
        </p:nvSpPr>
        <p:spPr>
          <a:xfrm>
            <a:off x="1441450" y="3302528"/>
            <a:ext cx="5772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 = L1 * np.cos(s) + L2 * np.cos(se)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6"/>
          <p:cNvSpPr txBox="1"/>
          <p:nvPr/>
        </p:nvSpPr>
        <p:spPr>
          <a:xfrm>
            <a:off x="1441450" y="3585699"/>
            <a:ext cx="577215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np.array([r * np.cos(b), r * np.sin(b), z])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6"/>
          <p:cNvSpPr/>
          <p:nvPr/>
        </p:nvSpPr>
        <p:spPr>
          <a:xfrm>
            <a:off x="815975" y="4174728"/>
            <a:ext cx="659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6"/>
          <p:cNvSpPr txBox="1"/>
          <p:nvPr/>
        </p:nvSpPr>
        <p:spPr>
          <a:xfrm>
            <a:off x="1009650" y="4323247"/>
            <a:ext cx="63966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WHERE IT GOES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6"/>
          <p:cNvSpPr txBox="1"/>
          <p:nvPr/>
        </p:nvSpPr>
        <p:spPr>
          <a:xfrm>
            <a:off x="1009650" y="4582569"/>
            <a:ext cx="645871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new file next to fk.py. Start it with import numpy as np and from fk import forward_kinematics as fk, L1, L2.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45 degrees from vertical and forearm horizontal" id="781" name="Google Shape;7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4600" y="1752600"/>
            <a:ext cx="3048000" cy="1567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de view of the arm at 45, 45, 45 degrees: r is the sum of the two horizontal parts and z is the height" id="782" name="Google Shape;7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9200" y="14986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26"/>
          <p:cNvSpPr txBox="1"/>
          <p:nvPr/>
        </p:nvSpPr>
        <p:spPr>
          <a:xfrm>
            <a:off x="7835205" y="2157397"/>
            <a:ext cx="374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6"/>
          <p:cNvSpPr txBox="1"/>
          <p:nvPr/>
        </p:nvSpPr>
        <p:spPr>
          <a:xfrm>
            <a:off x="8631535" y="1439252"/>
            <a:ext cx="374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6"/>
          <p:cNvSpPr txBox="1"/>
          <p:nvPr/>
        </p:nvSpPr>
        <p:spPr>
          <a:xfrm>
            <a:off x="10260310" y="2420327"/>
            <a:ext cx="101600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z = 176.78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6"/>
          <p:cNvSpPr txBox="1"/>
          <p:nvPr/>
        </p:nvSpPr>
        <p:spPr>
          <a:xfrm>
            <a:off x="8293646" y="3605046"/>
            <a:ext cx="666750" cy="22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176.78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6"/>
          <p:cNvSpPr txBox="1"/>
          <p:nvPr/>
        </p:nvSpPr>
        <p:spPr>
          <a:xfrm>
            <a:off x="9208095" y="3605046"/>
            <a:ext cx="419100" cy="22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250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 txBox="1"/>
          <p:nvPr/>
        </p:nvSpPr>
        <p:spPr>
          <a:xfrm>
            <a:off x="8562231" y="4072074"/>
            <a:ext cx="1054100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 = 426.78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7572375" y="4524375"/>
            <a:ext cx="3803650" cy="700980"/>
          </a:xfrm>
          <a:prstGeom prst="roundRect">
            <a:avLst>
              <a:gd fmla="val 1404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6"/>
          <p:cNvSpPr txBox="1"/>
          <p:nvPr/>
        </p:nvSpPr>
        <p:spPr>
          <a:xfrm>
            <a:off x="7727950" y="4622093"/>
            <a:ext cx="3597275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x AND 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6"/>
          <p:cNvSpPr txBox="1"/>
          <p:nvPr/>
        </p:nvSpPr>
        <p:spPr>
          <a:xfrm>
            <a:off x="7727950" y="4869361"/>
            <a:ext cx="3597275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Turn r by the base angle θB.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6"/>
          <p:cNvSpPr/>
          <p:nvPr/>
        </p:nvSpPr>
        <p:spPr>
          <a:xfrm>
            <a:off x="7572375" y="5320605"/>
            <a:ext cx="3803650" cy="700980"/>
          </a:xfrm>
          <a:prstGeom prst="roundRect">
            <a:avLst>
              <a:gd fmla="val 14041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6"/>
          <p:cNvSpPr txBox="1"/>
          <p:nvPr/>
        </p:nvSpPr>
        <p:spPr>
          <a:xfrm>
            <a:off x="7727950" y="5418324"/>
            <a:ext cx="3597275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LESSON 3 USED Y FOR UP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6"/>
          <p:cNvSpPr txBox="1"/>
          <p:nvPr/>
        </p:nvSpPr>
        <p:spPr>
          <a:xfrm>
            <a:off x="7727950" y="5665592"/>
            <a:ext cx="3597275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z is up, as in Lesson 4.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7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TRIGONOMETRY IN CODE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7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the Methods Agree?</a:t>
            </a:r>
            <a:endParaRPr sz="2800"/>
          </a:p>
        </p:txBody>
      </p:sp>
      <p:sp>
        <p:nvSpPr>
          <p:cNvPr id="802" name="Google Shape;802;p27"/>
          <p:cNvSpPr/>
          <p:nvPr/>
        </p:nvSpPr>
        <p:spPr>
          <a:xfrm>
            <a:off x="812800" y="1518841"/>
            <a:ext cx="6350000" cy="2650530"/>
          </a:xfrm>
          <a:prstGeom prst="roundRect">
            <a:avLst>
              <a:gd fmla="val 383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7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compare_methods.py, BELOW trig_fk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7"/>
          <p:cNvSpPr txBox="1"/>
          <p:nvPr/>
        </p:nvSpPr>
        <p:spPr>
          <a:xfrm>
            <a:off x="1016000" y="1889701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random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7"/>
          <p:cNvSpPr txBox="1"/>
          <p:nvPr/>
        </p:nvSpPr>
        <p:spPr>
          <a:xfrm>
            <a:off x="1016000" y="2281416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worst =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7"/>
          <p:cNvSpPr txBox="1"/>
          <p:nvPr/>
        </p:nvSpPr>
        <p:spPr>
          <a:xfrm>
            <a:off x="1016000" y="2546132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_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range(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2000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7"/>
          <p:cNvSpPr txBox="1"/>
          <p:nvPr/>
        </p:nvSpPr>
        <p:spPr>
          <a:xfrm>
            <a:off x="1409700" y="2810848"/>
            <a:ext cx="5549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angles = [random.uniform(-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180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180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_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range(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)]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7"/>
          <p:cNvSpPr txBox="1"/>
          <p:nvPr/>
        </p:nvSpPr>
        <p:spPr>
          <a:xfrm>
            <a:off x="1409700" y="3075563"/>
            <a:ext cx="5549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diff = np.abs(fk(*angles) - trig_fk(*angles)).max()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7"/>
          <p:cNvSpPr txBox="1"/>
          <p:nvPr/>
        </p:nvSpPr>
        <p:spPr>
          <a:xfrm>
            <a:off x="1409700" y="3340279"/>
            <a:ext cx="5549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worst = max(worst, diff)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7"/>
          <p:cNvSpPr txBox="1"/>
          <p:nvPr/>
        </p:nvSpPr>
        <p:spPr>
          <a:xfrm>
            <a:off x="1016000" y="3731994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print(worst &lt;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0.000001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7"/>
          <p:cNvSpPr/>
          <p:nvPr/>
        </p:nvSpPr>
        <p:spPr>
          <a:xfrm>
            <a:off x="7315200" y="1518841"/>
            <a:ext cx="4064000" cy="1059061"/>
          </a:xfrm>
          <a:prstGeom prst="roundRect">
            <a:avLst>
              <a:gd fmla="val 959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7"/>
          <p:cNvSpPr txBox="1"/>
          <p:nvPr/>
        </p:nvSpPr>
        <p:spPr>
          <a:xfrm>
            <a:off x="7518400" y="1651484"/>
            <a:ext cx="376732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7"/>
          <p:cNvSpPr txBox="1"/>
          <p:nvPr/>
        </p:nvSpPr>
        <p:spPr>
          <a:xfrm>
            <a:off x="7518400" y="1863393"/>
            <a:ext cx="3657600" cy="574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7318375" y="2708077"/>
            <a:ext cx="4057650" cy="1308001"/>
          </a:xfrm>
          <a:prstGeom prst="roundRect">
            <a:avLst>
              <a:gd fmla="val 7525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7"/>
          <p:cNvSpPr txBox="1"/>
          <p:nvPr/>
        </p:nvSpPr>
        <p:spPr>
          <a:xfrm>
            <a:off x="7512050" y="285659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WHAT IT MEANS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7"/>
          <p:cNvSpPr txBox="1"/>
          <p:nvPr/>
        </p:nvSpPr>
        <p:spPr>
          <a:xfrm>
            <a:off x="7512050" y="3115918"/>
            <a:ext cx="3817112" cy="74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2,000 random poses, the biggest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 between the two functions is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 than 0.000001 mm.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7"/>
          <p:cNvSpPr/>
          <p:nvPr/>
        </p:nvSpPr>
        <p:spPr>
          <a:xfrm>
            <a:off x="7318375" y="4149427"/>
            <a:ext cx="4057650" cy="827980"/>
          </a:xfrm>
          <a:prstGeom prst="roundRect">
            <a:avLst>
              <a:gd fmla="val 11887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7"/>
          <p:cNvSpPr txBox="1"/>
          <p:nvPr/>
        </p:nvSpPr>
        <p:spPr>
          <a:xfrm>
            <a:off x="7512050" y="4297946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METHODS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7"/>
          <p:cNvSpPr txBox="1"/>
          <p:nvPr/>
        </p:nvSpPr>
        <p:spPr>
          <a:xfrm>
            <a:off x="7512050" y="4570613"/>
            <a:ext cx="3780409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maths, same arm, same answer.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820" name="Google Shape;8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8"/>
          <p:cNvSpPr txBox="1"/>
          <p:nvPr/>
        </p:nvSpPr>
        <p:spPr>
          <a:xfrm>
            <a:off x="812800" y="653343"/>
            <a:ext cx="497078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TRY IT YOURSELF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8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It Yourself #3</a:t>
            </a:r>
            <a:endParaRPr sz="2800"/>
          </a:p>
        </p:txBody>
      </p:sp>
      <p:sp>
        <p:nvSpPr>
          <p:cNvPr id="828" name="Google Shape;828;p28"/>
          <p:cNvSpPr/>
          <p:nvPr/>
        </p:nvSpPr>
        <p:spPr>
          <a:xfrm>
            <a:off x="815975" y="1522016"/>
            <a:ext cx="10560050" cy="735211"/>
          </a:xfrm>
          <a:prstGeom prst="roundRect">
            <a:avLst>
              <a:gd fmla="val 13387" name="adj"/>
            </a:avLst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8"/>
          <p:cNvSpPr txBox="1"/>
          <p:nvPr/>
        </p:nvSpPr>
        <p:spPr>
          <a:xfrm>
            <a:off x="996950" y="1626396"/>
            <a:ext cx="1045210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250 · sin θS + 250 · sin(θS + θE)    z = 250 · cos θS + 250 · cos(θS + θE)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8"/>
          <p:cNvSpPr txBox="1"/>
          <p:nvPr/>
        </p:nvSpPr>
        <p:spPr>
          <a:xfrm>
            <a:off x="996950" y="1895577"/>
            <a:ext cx="10452100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r · cos θB    y = r · sin θB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815975" y="2466777"/>
            <a:ext cx="5200650" cy="1734542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8"/>
          <p:cNvSpPr txBox="1"/>
          <p:nvPr/>
        </p:nvSpPr>
        <p:spPr>
          <a:xfrm>
            <a:off x="996950" y="2589895"/>
            <a:ext cx="2433066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PROBLEM (a)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8"/>
          <p:cNvSpPr txBox="1"/>
          <p:nvPr/>
        </p:nvSpPr>
        <p:spPr>
          <a:xfrm>
            <a:off x="996950" y="2840186"/>
            <a:ext cx="2433066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θB = 90°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8"/>
          <p:cNvSpPr txBox="1"/>
          <p:nvPr/>
        </p:nvSpPr>
        <p:spPr>
          <a:xfrm>
            <a:off x="996950" y="3158876"/>
            <a:ext cx="2433066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 = 90°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8"/>
          <p:cNvSpPr txBox="1"/>
          <p:nvPr/>
        </p:nvSpPr>
        <p:spPr>
          <a:xfrm>
            <a:off x="996950" y="3477567"/>
            <a:ext cx="2433066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 = 45°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8"/>
          <p:cNvSpPr txBox="1"/>
          <p:nvPr/>
        </p:nvSpPr>
        <p:spPr>
          <a:xfrm>
            <a:off x="996950" y="3794011"/>
            <a:ext cx="243306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(x, y, z) = (?, ?, ?)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6175375" y="2466777"/>
            <a:ext cx="5200650" cy="1734542"/>
          </a:xfrm>
          <a:prstGeom prst="roundRect">
            <a:avLst>
              <a:gd fmla="val 5674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8"/>
          <p:cNvSpPr txBox="1"/>
          <p:nvPr/>
        </p:nvSpPr>
        <p:spPr>
          <a:xfrm>
            <a:off x="6356350" y="2589895"/>
            <a:ext cx="2433066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PROBLEM (b)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8"/>
          <p:cNvSpPr txBox="1"/>
          <p:nvPr/>
        </p:nvSpPr>
        <p:spPr>
          <a:xfrm>
            <a:off x="6356350" y="2840186"/>
            <a:ext cx="2433066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θB = 0°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8"/>
          <p:cNvSpPr txBox="1"/>
          <p:nvPr/>
        </p:nvSpPr>
        <p:spPr>
          <a:xfrm>
            <a:off x="6356350" y="3158876"/>
            <a:ext cx="2433066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 = 30°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8"/>
          <p:cNvSpPr txBox="1"/>
          <p:nvPr/>
        </p:nvSpPr>
        <p:spPr>
          <a:xfrm>
            <a:off x="6356350" y="3477567"/>
            <a:ext cx="2433066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 = 60°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8"/>
          <p:cNvSpPr txBox="1"/>
          <p:nvPr/>
        </p:nvSpPr>
        <p:spPr>
          <a:xfrm>
            <a:off x="6356350" y="3794011"/>
            <a:ext cx="2433066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(x, y, z) = (?, ?, ?)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8"/>
          <p:cNvSpPr txBox="1"/>
          <p:nvPr/>
        </p:nvSpPr>
        <p:spPr>
          <a:xfrm>
            <a:off x="5969000" y="770617"/>
            <a:ext cx="5562600" cy="51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r and z with a calculator, then check with code. The side view is drawn for each problem.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 of the arm with the upper arm level and the forearm pointing down at 45 degrees; the tip is below the shoulder" id="844" name="Google Shape;8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6150" y="2603500"/>
            <a:ext cx="23495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28"/>
          <p:cNvSpPr txBox="1"/>
          <p:nvPr/>
        </p:nvSpPr>
        <p:spPr>
          <a:xfrm>
            <a:off x="3606800" y="2739415"/>
            <a:ext cx="374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8"/>
          <p:cNvSpPr txBox="1"/>
          <p:nvPr/>
        </p:nvSpPr>
        <p:spPr>
          <a:xfrm>
            <a:off x="5264150" y="3387115"/>
            <a:ext cx="374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 of the arm with the upper arm leaning 30 degrees and the forearm level; the tip is unknown" id="847" name="Google Shape;84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5550" y="2603500"/>
            <a:ext cx="23495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28"/>
          <p:cNvSpPr txBox="1"/>
          <p:nvPr/>
        </p:nvSpPr>
        <p:spPr>
          <a:xfrm>
            <a:off x="8839200" y="3196615"/>
            <a:ext cx="374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8"/>
          <p:cNvSpPr txBox="1"/>
          <p:nvPr/>
        </p:nvSpPr>
        <p:spPr>
          <a:xfrm>
            <a:off x="10071100" y="2585824"/>
            <a:ext cx="374650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θE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0" name="Google Shape;850;p28"/>
          <p:cNvGrpSpPr/>
          <p:nvPr/>
        </p:nvGrpSpPr>
        <p:grpSpPr>
          <a:xfrm>
            <a:off x="812800" y="4381500"/>
            <a:ext cx="10566400" cy="1633141"/>
            <a:chOff x="812800" y="4381500"/>
            <a:chExt cx="10566400" cy="1633141"/>
          </a:xfrm>
        </p:grpSpPr>
        <p:sp>
          <p:nvSpPr>
            <p:cNvPr id="851" name="Google Shape;851;p28"/>
            <p:cNvSpPr/>
            <p:nvPr/>
          </p:nvSpPr>
          <p:spPr>
            <a:xfrm>
              <a:off x="812800" y="4381500"/>
              <a:ext cx="10566400" cy="1633141"/>
            </a:xfrm>
            <a:prstGeom prst="roundRect">
              <a:avLst>
                <a:gd fmla="val 6221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8"/>
            <p:cNvSpPr txBox="1"/>
            <p:nvPr/>
          </p:nvSpPr>
          <p:spPr>
            <a:xfrm>
              <a:off x="1016000" y="4526843"/>
              <a:ext cx="507542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(a) SOLUTION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8"/>
            <p:cNvSpPr txBox="1"/>
            <p:nvPr/>
          </p:nvSpPr>
          <p:spPr>
            <a:xfrm>
              <a:off x="1016000" y="4787587"/>
              <a:ext cx="5075428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 = 426.78, z = −176.78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8"/>
            <p:cNvSpPr txBox="1"/>
            <p:nvPr/>
          </p:nvSpPr>
          <p:spPr>
            <a:xfrm>
              <a:off x="1016000" y="5086037"/>
              <a:ext cx="4927600" cy="2961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onsolas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[0.0, 426.78, -176.78]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8"/>
            <p:cNvSpPr txBox="1"/>
            <p:nvPr/>
          </p:nvSpPr>
          <p:spPr>
            <a:xfrm>
              <a:off x="1016000" y="5412125"/>
              <a:ext cx="5124704" cy="450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θS + θE = 135°, so the forearm points below horizontal and z is negative.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8"/>
            <p:cNvSpPr txBox="1"/>
            <p:nvPr/>
          </p:nvSpPr>
          <p:spPr>
            <a:xfrm>
              <a:off x="6248400" y="4634099"/>
              <a:ext cx="507542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(b) SOLUTION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8"/>
            <p:cNvSpPr txBox="1"/>
            <p:nvPr/>
          </p:nvSpPr>
          <p:spPr>
            <a:xfrm>
              <a:off x="6248400" y="4894843"/>
              <a:ext cx="5075428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 = 375.00, z = 216.51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8"/>
            <p:cNvSpPr txBox="1"/>
            <p:nvPr/>
          </p:nvSpPr>
          <p:spPr>
            <a:xfrm>
              <a:off x="6248400" y="5193293"/>
              <a:ext cx="4927600" cy="2961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onsolas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[375.0, 0.0, 216.51]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8"/>
            <p:cNvSpPr txBox="1"/>
            <p:nvPr/>
          </p:nvSpPr>
          <p:spPr>
            <a:xfrm>
              <a:off x="6248400" y="5527645"/>
              <a:ext cx="4927600" cy="214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θS + θE = 90°, so the forearm is horizontal and adds 250 mm to r.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9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SCREW THEORY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9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Second Way to Describe the Arm</a:t>
            </a:r>
            <a:endParaRPr sz="2800"/>
          </a:p>
        </p:txBody>
      </p:sp>
      <p:sp>
        <p:nvSpPr>
          <p:cNvPr id="867" name="Google Shape;867;p29"/>
          <p:cNvSpPr/>
          <p:nvPr/>
        </p:nvSpPr>
        <p:spPr>
          <a:xfrm>
            <a:off x="815975" y="1522016"/>
            <a:ext cx="5200650" cy="2188170"/>
          </a:xfrm>
          <a:prstGeom prst="roundRect">
            <a:avLst>
              <a:gd fmla="val 449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9"/>
          <p:cNvSpPr txBox="1"/>
          <p:nvPr/>
        </p:nvSpPr>
        <p:spPr>
          <a:xfrm>
            <a:off x="1022350" y="1683234"/>
            <a:ext cx="4931537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LESSON 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9"/>
          <p:cNvSpPr txBox="1"/>
          <p:nvPr/>
        </p:nvSpPr>
        <p:spPr>
          <a:xfrm>
            <a:off x="1022350" y="1970134"/>
            <a:ext cx="4931537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 matrices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9"/>
          <p:cNvSpPr txBox="1"/>
          <p:nvPr/>
        </p:nvSpPr>
        <p:spPr>
          <a:xfrm>
            <a:off x="1022350" y="2366253"/>
            <a:ext cx="493153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coordinate frame on every joint.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9"/>
          <p:cNvSpPr txBox="1"/>
          <p:nvPr/>
        </p:nvSpPr>
        <p:spPr>
          <a:xfrm>
            <a:off x="1022350" y="2702803"/>
            <a:ext cx="493153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table of θ, d, a and α.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9"/>
          <p:cNvSpPr txBox="1"/>
          <p:nvPr/>
        </p:nvSpPr>
        <p:spPr>
          <a:xfrm>
            <a:off x="1022350" y="3039353"/>
            <a:ext cx="493153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matrix per row, multiplied from base to tip.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9"/>
          <p:cNvSpPr/>
          <p:nvPr/>
        </p:nvSpPr>
        <p:spPr>
          <a:xfrm>
            <a:off x="6175375" y="1522016"/>
            <a:ext cx="5200650" cy="2188170"/>
          </a:xfrm>
          <a:prstGeom prst="roundRect">
            <a:avLst>
              <a:gd fmla="val 4498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9"/>
          <p:cNvSpPr txBox="1"/>
          <p:nvPr/>
        </p:nvSpPr>
        <p:spPr>
          <a:xfrm>
            <a:off x="6381750" y="1683234"/>
            <a:ext cx="4931537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9"/>
          <p:cNvSpPr txBox="1"/>
          <p:nvPr/>
        </p:nvSpPr>
        <p:spPr>
          <a:xfrm>
            <a:off x="6381750" y="1970134"/>
            <a:ext cx="4931537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Screw theory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9"/>
          <p:cNvSpPr txBox="1"/>
          <p:nvPr/>
        </p:nvSpPr>
        <p:spPr>
          <a:xfrm>
            <a:off x="6381750" y="2366253"/>
            <a:ext cx="493153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arm in its zero pose.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9"/>
          <p:cNvSpPr txBox="1"/>
          <p:nvPr/>
        </p:nvSpPr>
        <p:spPr>
          <a:xfrm>
            <a:off x="6381750" y="2693278"/>
            <a:ext cx="4940300" cy="512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joint described by its turning axis: which way it points, and one point it passes through.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9"/>
          <p:cNvSpPr txBox="1"/>
          <p:nvPr/>
        </p:nvSpPr>
        <p:spPr>
          <a:xfrm>
            <a:off x="6381750" y="3287003"/>
            <a:ext cx="493153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matrix per turn, applied to the zero pose.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9"/>
          <p:cNvSpPr/>
          <p:nvPr/>
        </p:nvSpPr>
        <p:spPr>
          <a:xfrm>
            <a:off x="812800" y="3916561"/>
            <a:ext cx="10566400" cy="1292126"/>
          </a:xfrm>
          <a:prstGeom prst="roundRect">
            <a:avLst>
              <a:gd fmla="val 786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9"/>
          <p:cNvSpPr txBox="1"/>
          <p:nvPr/>
        </p:nvSpPr>
        <p:spPr>
          <a:xfrm>
            <a:off x="1041400" y="4087304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ALSO CALLED THE PRODUCT OF EXPONENTIALS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9"/>
          <p:cNvSpPr txBox="1"/>
          <p:nvPr/>
        </p:nvSpPr>
        <p:spPr>
          <a:xfrm>
            <a:off x="1041400" y="4368367"/>
            <a:ext cx="10363200" cy="313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Both methods give the same tip position.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9"/>
          <p:cNvSpPr txBox="1"/>
          <p:nvPr/>
        </p:nvSpPr>
        <p:spPr>
          <a:xfrm>
            <a:off x="1041400" y="4761691"/>
            <a:ext cx="1036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Screw theory needs no frames and no table, only the zero pose and one axis for each joint.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, seen from another side" id="883" name="Google Shape;8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735" y="215900"/>
            <a:ext cx="163383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0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SCREW THEORY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0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Zero Pose and the Axes</a:t>
            </a:r>
            <a:endParaRPr sz="2800"/>
          </a:p>
        </p:txBody>
      </p:sp>
      <p:sp>
        <p:nvSpPr>
          <p:cNvPr id="891" name="Google Shape;891;p30"/>
          <p:cNvSpPr/>
          <p:nvPr/>
        </p:nvSpPr>
        <p:spPr>
          <a:xfrm>
            <a:off x="5181600" y="1518841"/>
            <a:ext cx="1206500" cy="408880"/>
          </a:xfrm>
          <a:prstGeom prst="roundRect">
            <a:avLst>
              <a:gd fmla="val 1553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0"/>
          <p:cNvSpPr txBox="1"/>
          <p:nvPr/>
        </p:nvSpPr>
        <p:spPr>
          <a:xfrm>
            <a:off x="5228908" y="1599575"/>
            <a:ext cx="111188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Joint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6438900" y="1518841"/>
            <a:ext cx="1714500" cy="408880"/>
          </a:xfrm>
          <a:prstGeom prst="roundRect">
            <a:avLst>
              <a:gd fmla="val 1553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 txBox="1"/>
          <p:nvPr/>
        </p:nvSpPr>
        <p:spPr>
          <a:xfrm>
            <a:off x="6478588" y="1599575"/>
            <a:ext cx="163512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Axis points along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8204200" y="1518841"/>
            <a:ext cx="1714500" cy="408880"/>
          </a:xfrm>
          <a:prstGeom prst="roundRect">
            <a:avLst>
              <a:gd fmla="val 1553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0"/>
          <p:cNvSpPr txBox="1"/>
          <p:nvPr/>
        </p:nvSpPr>
        <p:spPr>
          <a:xfrm>
            <a:off x="8243888" y="1599575"/>
            <a:ext cx="1635125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Passes through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5191125" y="1988046"/>
            <a:ext cx="1187450" cy="445691"/>
          </a:xfrm>
          <a:prstGeom prst="roundRect">
            <a:avLst>
              <a:gd fmla="val 1211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0"/>
          <p:cNvSpPr txBox="1"/>
          <p:nvPr/>
        </p:nvSpPr>
        <p:spPr>
          <a:xfrm>
            <a:off x="5289550" y="2069425"/>
            <a:ext cx="102031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6448425" y="1988046"/>
            <a:ext cx="1695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0"/>
          <p:cNvSpPr txBox="1"/>
          <p:nvPr/>
        </p:nvSpPr>
        <p:spPr>
          <a:xfrm>
            <a:off x="6498209" y="2077197"/>
            <a:ext cx="159588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(0, 0, 1)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0"/>
          <p:cNvSpPr/>
          <p:nvPr/>
        </p:nvSpPr>
        <p:spPr>
          <a:xfrm>
            <a:off x="8213725" y="1988046"/>
            <a:ext cx="1695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0"/>
          <p:cNvSpPr txBox="1"/>
          <p:nvPr/>
        </p:nvSpPr>
        <p:spPr>
          <a:xfrm>
            <a:off x="8263509" y="2077197"/>
            <a:ext cx="159588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(0, 0, 0)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0"/>
          <p:cNvSpPr/>
          <p:nvPr/>
        </p:nvSpPr>
        <p:spPr>
          <a:xfrm>
            <a:off x="5191125" y="2503587"/>
            <a:ext cx="1187450" cy="445691"/>
          </a:xfrm>
          <a:prstGeom prst="roundRect">
            <a:avLst>
              <a:gd fmla="val 1211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0"/>
          <p:cNvSpPr txBox="1"/>
          <p:nvPr/>
        </p:nvSpPr>
        <p:spPr>
          <a:xfrm>
            <a:off x="5289550" y="2584966"/>
            <a:ext cx="102031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0"/>
          <p:cNvSpPr/>
          <p:nvPr/>
        </p:nvSpPr>
        <p:spPr>
          <a:xfrm>
            <a:off x="6448425" y="2503587"/>
            <a:ext cx="1695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0"/>
          <p:cNvSpPr txBox="1"/>
          <p:nvPr/>
        </p:nvSpPr>
        <p:spPr>
          <a:xfrm>
            <a:off x="6498209" y="2592737"/>
            <a:ext cx="159588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(0, 1, 0)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0"/>
          <p:cNvSpPr/>
          <p:nvPr/>
        </p:nvSpPr>
        <p:spPr>
          <a:xfrm>
            <a:off x="8213725" y="2503587"/>
            <a:ext cx="1695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0"/>
          <p:cNvSpPr txBox="1"/>
          <p:nvPr/>
        </p:nvSpPr>
        <p:spPr>
          <a:xfrm>
            <a:off x="8263509" y="2592737"/>
            <a:ext cx="159588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(0, 0, 0)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0"/>
          <p:cNvSpPr/>
          <p:nvPr/>
        </p:nvSpPr>
        <p:spPr>
          <a:xfrm>
            <a:off x="5191125" y="3019127"/>
            <a:ext cx="1187450" cy="445691"/>
          </a:xfrm>
          <a:prstGeom prst="roundRect">
            <a:avLst>
              <a:gd fmla="val 1211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0"/>
          <p:cNvSpPr txBox="1"/>
          <p:nvPr/>
        </p:nvSpPr>
        <p:spPr>
          <a:xfrm>
            <a:off x="5289550" y="3100507"/>
            <a:ext cx="102031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Elbow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0"/>
          <p:cNvSpPr/>
          <p:nvPr/>
        </p:nvSpPr>
        <p:spPr>
          <a:xfrm>
            <a:off x="6448425" y="3019127"/>
            <a:ext cx="1695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0"/>
          <p:cNvSpPr txBox="1"/>
          <p:nvPr/>
        </p:nvSpPr>
        <p:spPr>
          <a:xfrm>
            <a:off x="6498209" y="3108278"/>
            <a:ext cx="159588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(0, 1, 0)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0"/>
          <p:cNvSpPr/>
          <p:nvPr/>
        </p:nvSpPr>
        <p:spPr>
          <a:xfrm>
            <a:off x="8213725" y="3019127"/>
            <a:ext cx="1695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0"/>
          <p:cNvSpPr txBox="1"/>
          <p:nvPr/>
        </p:nvSpPr>
        <p:spPr>
          <a:xfrm>
            <a:off x="8263509" y="3108278"/>
            <a:ext cx="1595882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(0, 0, 250)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0"/>
          <p:cNvSpPr/>
          <p:nvPr/>
        </p:nvSpPr>
        <p:spPr>
          <a:xfrm>
            <a:off x="5184775" y="3604518"/>
            <a:ext cx="61912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0"/>
          <p:cNvSpPr txBox="1"/>
          <p:nvPr/>
        </p:nvSpPr>
        <p:spPr>
          <a:xfrm>
            <a:off x="5378450" y="3753036"/>
            <a:ext cx="5978017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THE ZERO POSE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0"/>
          <p:cNvSpPr txBox="1"/>
          <p:nvPr/>
        </p:nvSpPr>
        <p:spPr>
          <a:xfrm>
            <a:off x="5378450" y="4012359"/>
            <a:ext cx="6036056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angle is 0 and the arm points straight up. x is forward, y is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sideways (into the page) and z is up.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0"/>
          <p:cNvSpPr/>
          <p:nvPr/>
        </p:nvSpPr>
        <p:spPr>
          <a:xfrm>
            <a:off x="5184775" y="4805859"/>
            <a:ext cx="61912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0"/>
          <p:cNvSpPr txBox="1"/>
          <p:nvPr/>
        </p:nvSpPr>
        <p:spPr>
          <a:xfrm>
            <a:off x="5378450" y="4954377"/>
            <a:ext cx="5978017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PICTURE, TOP RIGHT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0"/>
          <p:cNvSpPr txBox="1"/>
          <p:nvPr/>
        </p:nvSpPr>
        <p:spPr>
          <a:xfrm>
            <a:off x="5378450" y="5213700"/>
            <a:ext cx="6036056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the shoulder is at 0° and the elbow is bent 90°. Straighten the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elbow and the forearm points up: the zero pose.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e arm in its zero pose, drawn from the side: base and shoulder at the bottom, elbow in the middle, tip at the top, with the turning axes marked" id="921" name="Google Shape;9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1517650"/>
            <a:ext cx="4064000" cy="41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30"/>
          <p:cNvSpPr txBox="1"/>
          <p:nvPr/>
        </p:nvSpPr>
        <p:spPr>
          <a:xfrm>
            <a:off x="2171700" y="1622556"/>
            <a:ext cx="2616200" cy="226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Tip M = (0, 0, 500)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0"/>
          <p:cNvSpPr txBox="1"/>
          <p:nvPr/>
        </p:nvSpPr>
        <p:spPr>
          <a:xfrm>
            <a:off x="2235200" y="3125450"/>
            <a:ext cx="2509520" cy="425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Elbow axis along y,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(0, 0, 250)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0"/>
          <p:cNvSpPr txBox="1"/>
          <p:nvPr/>
        </p:nvSpPr>
        <p:spPr>
          <a:xfrm>
            <a:off x="2235200" y="4465300"/>
            <a:ext cx="2509520" cy="425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Shoulder axis along y,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(0, 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0"/>
          <p:cNvSpPr txBox="1"/>
          <p:nvPr/>
        </p:nvSpPr>
        <p:spPr>
          <a:xfrm>
            <a:off x="2755900" y="5138400"/>
            <a:ext cx="2179320" cy="425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2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axis along z,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(0, 0, 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0"/>
          <p:cNvSpPr txBox="1"/>
          <p:nvPr/>
        </p:nvSpPr>
        <p:spPr>
          <a:xfrm>
            <a:off x="3898900" y="2092608"/>
            <a:ext cx="196215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0"/>
          <p:cNvSpPr txBox="1"/>
          <p:nvPr/>
        </p:nvSpPr>
        <p:spPr>
          <a:xfrm>
            <a:off x="4597400" y="2727608"/>
            <a:ext cx="196215" cy="2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0"/>
          <p:cNvSpPr txBox="1"/>
          <p:nvPr/>
        </p:nvSpPr>
        <p:spPr>
          <a:xfrm>
            <a:off x="3606800" y="2981154"/>
            <a:ext cx="1569720" cy="195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y: into the page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vertical and forearm horizontal" id="929" name="Google Shape;92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3505" y="215900"/>
            <a:ext cx="1626791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1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SCREW THEORY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1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Screw Recipe</a:t>
            </a:r>
            <a:endParaRPr sz="2800"/>
          </a:p>
        </p:txBody>
      </p:sp>
      <p:sp>
        <p:nvSpPr>
          <p:cNvPr id="937" name="Google Shape;937;p31"/>
          <p:cNvSpPr/>
          <p:nvPr/>
        </p:nvSpPr>
        <p:spPr>
          <a:xfrm>
            <a:off x="812800" y="1518841"/>
            <a:ext cx="10566400" cy="1325166"/>
          </a:xfrm>
          <a:prstGeom prst="roundRect">
            <a:avLst>
              <a:gd fmla="val 7667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1"/>
          <p:cNvSpPr txBox="1"/>
          <p:nvPr/>
        </p:nvSpPr>
        <p:spPr>
          <a:xfrm>
            <a:off x="1041400" y="1689584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THE TIP IS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1"/>
          <p:cNvSpPr txBox="1"/>
          <p:nvPr/>
        </p:nvSpPr>
        <p:spPr>
          <a:xfrm>
            <a:off x="1041400" y="1969670"/>
            <a:ext cx="10363200" cy="346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 = (base turn) · (shoulder turn) · (elbow turn) · M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1"/>
          <p:cNvSpPr txBox="1"/>
          <p:nvPr/>
        </p:nvSpPr>
        <p:spPr>
          <a:xfrm>
            <a:off x="1041400" y="2397011"/>
            <a:ext cx="1036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 is the matrix of the zero pose. The turn written next to M acts first.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1"/>
          <p:cNvSpPr/>
          <p:nvPr/>
        </p:nvSpPr>
        <p:spPr>
          <a:xfrm>
            <a:off x="815975" y="3050381"/>
            <a:ext cx="3414216" cy="1822351"/>
          </a:xfrm>
          <a:prstGeom prst="roundRect">
            <a:avLst>
              <a:gd fmla="val 540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1"/>
          <p:cNvSpPr/>
          <p:nvPr/>
        </p:nvSpPr>
        <p:spPr>
          <a:xfrm>
            <a:off x="996950" y="3205956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1"/>
          <p:cNvSpPr txBox="1"/>
          <p:nvPr/>
        </p:nvSpPr>
        <p:spPr>
          <a:xfrm>
            <a:off x="991235" y="3198365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1"/>
          <p:cNvSpPr txBox="1"/>
          <p:nvPr/>
        </p:nvSpPr>
        <p:spPr>
          <a:xfrm>
            <a:off x="996950" y="3659375"/>
            <a:ext cx="3143834" cy="27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elbow turns first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1"/>
          <p:cNvSpPr txBox="1"/>
          <p:nvPr/>
        </p:nvSpPr>
        <p:spPr>
          <a:xfrm>
            <a:off x="996950" y="4010722"/>
            <a:ext cx="3143834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its axis S3, by θE.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31"/>
          <p:cNvSpPr/>
          <p:nvPr/>
        </p:nvSpPr>
        <p:spPr>
          <a:xfrm>
            <a:off x="996950" y="4343797"/>
            <a:ext cx="3052266" cy="373360"/>
          </a:xfrm>
          <a:prstGeom prst="roundRect">
            <a:avLst>
              <a:gd fmla="val 2040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1"/>
          <p:cNvSpPr txBox="1"/>
          <p:nvPr/>
        </p:nvSpPr>
        <p:spPr>
          <a:xfrm>
            <a:off x="1111250" y="4390060"/>
            <a:ext cx="2823666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screw_matrix(S3, theta_e)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1"/>
          <p:cNvSpPr/>
          <p:nvPr/>
        </p:nvSpPr>
        <p:spPr>
          <a:xfrm>
            <a:off x="4388941" y="3050381"/>
            <a:ext cx="3414216" cy="1822351"/>
          </a:xfrm>
          <a:prstGeom prst="roundRect">
            <a:avLst>
              <a:gd fmla="val 540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1"/>
          <p:cNvSpPr/>
          <p:nvPr/>
        </p:nvSpPr>
        <p:spPr>
          <a:xfrm>
            <a:off x="4569916" y="3205956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1"/>
          <p:cNvSpPr txBox="1"/>
          <p:nvPr/>
        </p:nvSpPr>
        <p:spPr>
          <a:xfrm>
            <a:off x="4564201" y="3198365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1"/>
          <p:cNvSpPr txBox="1"/>
          <p:nvPr/>
        </p:nvSpPr>
        <p:spPr>
          <a:xfrm>
            <a:off x="4569916" y="3659375"/>
            <a:ext cx="3143834" cy="27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the shoulder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1"/>
          <p:cNvSpPr txBox="1"/>
          <p:nvPr/>
        </p:nvSpPr>
        <p:spPr>
          <a:xfrm>
            <a:off x="4569916" y="4010722"/>
            <a:ext cx="3143834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its axis S2, by θS.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1"/>
          <p:cNvSpPr/>
          <p:nvPr/>
        </p:nvSpPr>
        <p:spPr>
          <a:xfrm>
            <a:off x="4569916" y="4343797"/>
            <a:ext cx="3052266" cy="373360"/>
          </a:xfrm>
          <a:prstGeom prst="roundRect">
            <a:avLst>
              <a:gd fmla="val 2040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1"/>
          <p:cNvSpPr txBox="1"/>
          <p:nvPr/>
        </p:nvSpPr>
        <p:spPr>
          <a:xfrm>
            <a:off x="4684216" y="4390060"/>
            <a:ext cx="2823666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screw_matrix(S2, theta_s)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1"/>
          <p:cNvSpPr/>
          <p:nvPr/>
        </p:nvSpPr>
        <p:spPr>
          <a:xfrm>
            <a:off x="7961908" y="3050381"/>
            <a:ext cx="3414216" cy="1822351"/>
          </a:xfrm>
          <a:prstGeom prst="roundRect">
            <a:avLst>
              <a:gd fmla="val 5401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1"/>
          <p:cNvSpPr/>
          <p:nvPr/>
        </p:nvSpPr>
        <p:spPr>
          <a:xfrm>
            <a:off x="8142883" y="3205956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1"/>
          <p:cNvSpPr txBox="1"/>
          <p:nvPr/>
        </p:nvSpPr>
        <p:spPr>
          <a:xfrm>
            <a:off x="8137168" y="3198365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1"/>
          <p:cNvSpPr txBox="1"/>
          <p:nvPr/>
        </p:nvSpPr>
        <p:spPr>
          <a:xfrm>
            <a:off x="8142883" y="3659375"/>
            <a:ext cx="3143834" cy="27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the base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1"/>
          <p:cNvSpPr txBox="1"/>
          <p:nvPr/>
        </p:nvSpPr>
        <p:spPr>
          <a:xfrm>
            <a:off x="8142883" y="4010722"/>
            <a:ext cx="3143834" cy="231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its axis S1, by θB.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1"/>
          <p:cNvSpPr/>
          <p:nvPr/>
        </p:nvSpPr>
        <p:spPr>
          <a:xfrm>
            <a:off x="8142883" y="4343797"/>
            <a:ext cx="3052266" cy="373360"/>
          </a:xfrm>
          <a:prstGeom prst="roundRect">
            <a:avLst>
              <a:gd fmla="val 2040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1"/>
          <p:cNvSpPr txBox="1"/>
          <p:nvPr/>
        </p:nvSpPr>
        <p:spPr>
          <a:xfrm>
            <a:off x="8257183" y="4390060"/>
            <a:ext cx="2823666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screw_matrix(S1, theta_b)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1"/>
          <p:cNvSpPr/>
          <p:nvPr/>
        </p:nvSpPr>
        <p:spPr>
          <a:xfrm>
            <a:off x="815975" y="5082282"/>
            <a:ext cx="10560050" cy="845145"/>
          </a:xfrm>
          <a:prstGeom prst="roundRect">
            <a:avLst>
              <a:gd fmla="val 1164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1"/>
          <p:cNvSpPr txBox="1"/>
          <p:nvPr/>
        </p:nvSpPr>
        <p:spPr>
          <a:xfrm>
            <a:off x="1009650" y="5230800"/>
            <a:ext cx="104267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OPPOSITE ORDER TO DH, SAME ANSWER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1"/>
          <p:cNvSpPr txBox="1"/>
          <p:nvPr/>
        </p:nvSpPr>
        <p:spPr>
          <a:xfrm>
            <a:off x="1009650" y="5502657"/>
            <a:ext cx="10426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 reads from the base to the tip. Screw theory turns the elbow first, then the shoulder, then the base.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" id="965" name="Google Shape;96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495" y="215900"/>
            <a:ext cx="159950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2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SCREW THEORY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2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Screw Theory in Code</a:t>
            </a:r>
            <a:endParaRPr sz="2800"/>
          </a:p>
        </p:txBody>
      </p:sp>
      <p:sp>
        <p:nvSpPr>
          <p:cNvPr id="973" name="Google Shape;973;p32"/>
          <p:cNvSpPr/>
          <p:nvPr/>
        </p:nvSpPr>
        <p:spPr>
          <a:xfrm>
            <a:off x="812800" y="1518841"/>
            <a:ext cx="6350000" cy="2915245"/>
          </a:xfrm>
          <a:prstGeom prst="roundRect">
            <a:avLst>
              <a:gd fmla="val 348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2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2"/>
          <p:cNvSpPr txBox="1"/>
          <p:nvPr/>
        </p:nvSpPr>
        <p:spPr>
          <a:xfrm>
            <a:off x="1016000" y="1889701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screw_helper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screw_axis, screw_matrix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2"/>
          <p:cNvSpPr txBox="1"/>
          <p:nvPr/>
        </p:nvSpPr>
        <p:spPr>
          <a:xfrm>
            <a:off x="1016000" y="2281416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 = np.array([[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2"/>
          <p:cNvSpPr txBox="1"/>
          <p:nvPr/>
        </p:nvSpPr>
        <p:spPr>
          <a:xfrm>
            <a:off x="2400300" y="2546132"/>
            <a:ext cx="45593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2"/>
          <p:cNvSpPr txBox="1"/>
          <p:nvPr/>
        </p:nvSpPr>
        <p:spPr>
          <a:xfrm>
            <a:off x="2400300" y="2810848"/>
            <a:ext cx="45593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L1 + L2],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2"/>
          <p:cNvSpPr txBox="1"/>
          <p:nvPr/>
        </p:nvSpPr>
        <p:spPr>
          <a:xfrm>
            <a:off x="2400300" y="3075563"/>
            <a:ext cx="45593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2"/>
          <p:cNvSpPr txBox="1"/>
          <p:nvPr/>
        </p:nvSpPr>
        <p:spPr>
          <a:xfrm>
            <a:off x="1016000" y="3467279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S1 = screw_axis([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2"/>
          <p:cNvSpPr txBox="1"/>
          <p:nvPr/>
        </p:nvSpPr>
        <p:spPr>
          <a:xfrm>
            <a:off x="1016000" y="3731994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S2 = screw_axis([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2"/>
          <p:cNvSpPr txBox="1"/>
          <p:nvPr/>
        </p:nvSpPr>
        <p:spPr>
          <a:xfrm>
            <a:off x="1016000" y="3996710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S3 = screw_axis([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L1])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2"/>
          <p:cNvSpPr/>
          <p:nvPr/>
        </p:nvSpPr>
        <p:spPr>
          <a:xfrm>
            <a:off x="7318375" y="1522016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2"/>
          <p:cNvSpPr txBox="1"/>
          <p:nvPr/>
        </p:nvSpPr>
        <p:spPr>
          <a:xfrm>
            <a:off x="7512050" y="1670534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2"/>
          <p:cNvSpPr txBox="1"/>
          <p:nvPr/>
        </p:nvSpPr>
        <p:spPr>
          <a:xfrm>
            <a:off x="7512050" y="1929857"/>
            <a:ext cx="381711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tip at the zero pose: (0, 0, L1 + L2) = (0,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 500).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2"/>
          <p:cNvSpPr/>
          <p:nvPr/>
        </p:nvSpPr>
        <p:spPr>
          <a:xfrm>
            <a:off x="7318375" y="2697956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2"/>
          <p:cNvSpPr txBox="1"/>
          <p:nvPr/>
        </p:nvSpPr>
        <p:spPr>
          <a:xfrm>
            <a:off x="7512050" y="284647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screw_axis(direction, point)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2"/>
          <p:cNvSpPr txBox="1"/>
          <p:nvPr/>
        </p:nvSpPr>
        <p:spPr>
          <a:xfrm>
            <a:off x="7512050" y="3105797"/>
            <a:ext cx="3771900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way the axis points, and one point it passes through.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2"/>
          <p:cNvSpPr/>
          <p:nvPr/>
        </p:nvSpPr>
        <p:spPr>
          <a:xfrm>
            <a:off x="7318375" y="3873897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32"/>
          <p:cNvSpPr txBox="1"/>
          <p:nvPr/>
        </p:nvSpPr>
        <p:spPr>
          <a:xfrm>
            <a:off x="7512050" y="402241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screw_matrix(S, angle)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2"/>
          <p:cNvSpPr txBox="1"/>
          <p:nvPr/>
        </p:nvSpPr>
        <p:spPr>
          <a:xfrm>
            <a:off x="7512050" y="4281738"/>
            <a:ext cx="381711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Turns a joint about its axis. It is in screw_helper.py, so you do not write it.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vertical and forearm horizontal" id="992" name="Google Shape;9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3505" y="215900"/>
            <a:ext cx="1626791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3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SCREW THEORY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3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Worked Example: One Turn at a Time</a:t>
            </a:r>
            <a:endParaRPr sz="2800"/>
          </a:p>
        </p:txBody>
      </p:sp>
      <p:sp>
        <p:nvSpPr>
          <p:cNvPr id="1000" name="Google Shape;1000;p33"/>
          <p:cNvSpPr txBox="1"/>
          <p:nvPr/>
        </p:nvSpPr>
        <p:spPr>
          <a:xfrm>
            <a:off x="812800" y="1510655"/>
            <a:ext cx="10820400" cy="280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θB = θS = θE = 45°. Follow the point p, starting at the zero-pose tip.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3"/>
          <p:cNvSpPr/>
          <p:nvPr/>
        </p:nvSpPr>
        <p:spPr>
          <a:xfrm>
            <a:off x="815975" y="2005806"/>
            <a:ext cx="2559050" cy="1803202"/>
          </a:xfrm>
          <a:prstGeom prst="roundRect">
            <a:avLst>
              <a:gd fmla="val 54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3"/>
          <p:cNvSpPr/>
          <p:nvPr/>
        </p:nvSpPr>
        <p:spPr>
          <a:xfrm>
            <a:off x="958850" y="2148681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3"/>
          <p:cNvSpPr txBox="1"/>
          <p:nvPr/>
        </p:nvSpPr>
        <p:spPr>
          <a:xfrm>
            <a:off x="954278" y="2138248"/>
            <a:ext cx="313944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3"/>
          <p:cNvSpPr txBox="1"/>
          <p:nvPr/>
        </p:nvSpPr>
        <p:spPr>
          <a:xfrm>
            <a:off x="1352550" y="2187364"/>
            <a:ext cx="60463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3"/>
          <p:cNvSpPr/>
          <p:nvPr/>
        </p:nvSpPr>
        <p:spPr>
          <a:xfrm>
            <a:off x="958850" y="2529681"/>
            <a:ext cx="2273300" cy="373360"/>
          </a:xfrm>
          <a:prstGeom prst="roundRect">
            <a:avLst>
              <a:gd fmla="val 2040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3"/>
          <p:cNvSpPr txBox="1"/>
          <p:nvPr/>
        </p:nvSpPr>
        <p:spPr>
          <a:xfrm>
            <a:off x="1060450" y="2575945"/>
            <a:ext cx="207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 = [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958850" y="2965815"/>
            <a:ext cx="2336800" cy="409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zero-pose tip, with the extra 1.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3"/>
          <p:cNvSpPr txBox="1"/>
          <p:nvPr/>
        </p:nvSpPr>
        <p:spPr>
          <a:xfrm>
            <a:off x="958850" y="3438892"/>
            <a:ext cx="2341499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(0, 0, 500)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3"/>
          <p:cNvSpPr/>
          <p:nvPr/>
        </p:nvSpPr>
        <p:spPr>
          <a:xfrm>
            <a:off x="3482975" y="2005806"/>
            <a:ext cx="2559050" cy="1803202"/>
          </a:xfrm>
          <a:prstGeom prst="roundRect">
            <a:avLst>
              <a:gd fmla="val 54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3"/>
          <p:cNvSpPr/>
          <p:nvPr/>
        </p:nvSpPr>
        <p:spPr>
          <a:xfrm>
            <a:off x="3625850" y="2148681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3"/>
          <p:cNvSpPr txBox="1"/>
          <p:nvPr/>
        </p:nvSpPr>
        <p:spPr>
          <a:xfrm>
            <a:off x="3621278" y="2138248"/>
            <a:ext cx="313944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3"/>
          <p:cNvSpPr txBox="1"/>
          <p:nvPr/>
        </p:nvSpPr>
        <p:spPr>
          <a:xfrm>
            <a:off x="4019550" y="2187364"/>
            <a:ext cx="675184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ELBOW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3"/>
          <p:cNvSpPr/>
          <p:nvPr/>
        </p:nvSpPr>
        <p:spPr>
          <a:xfrm>
            <a:off x="3625850" y="2529681"/>
            <a:ext cx="2273300" cy="373360"/>
          </a:xfrm>
          <a:prstGeom prst="roundRect">
            <a:avLst>
              <a:gd fmla="val 2040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3"/>
          <p:cNvSpPr txBox="1"/>
          <p:nvPr/>
        </p:nvSpPr>
        <p:spPr>
          <a:xfrm>
            <a:off x="3727450" y="2575945"/>
            <a:ext cx="207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screw_matrix(S3,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3"/>
          <p:cNvSpPr txBox="1"/>
          <p:nvPr/>
        </p:nvSpPr>
        <p:spPr>
          <a:xfrm>
            <a:off x="3625850" y="2973475"/>
            <a:ext cx="2341499" cy="198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Turn p about S3 by 45°.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3"/>
          <p:cNvSpPr txBox="1"/>
          <p:nvPr/>
        </p:nvSpPr>
        <p:spPr>
          <a:xfrm>
            <a:off x="3625850" y="3240852"/>
            <a:ext cx="2341499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(176.78, 0, 426.78)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3"/>
          <p:cNvSpPr/>
          <p:nvPr/>
        </p:nvSpPr>
        <p:spPr>
          <a:xfrm>
            <a:off x="6149975" y="2005806"/>
            <a:ext cx="2559050" cy="1803202"/>
          </a:xfrm>
          <a:prstGeom prst="roundRect">
            <a:avLst>
              <a:gd fmla="val 54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3"/>
          <p:cNvSpPr/>
          <p:nvPr/>
        </p:nvSpPr>
        <p:spPr>
          <a:xfrm>
            <a:off x="6292850" y="2148681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3"/>
          <p:cNvSpPr txBox="1"/>
          <p:nvPr/>
        </p:nvSpPr>
        <p:spPr>
          <a:xfrm>
            <a:off x="6288278" y="2138248"/>
            <a:ext cx="313944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3"/>
          <p:cNvSpPr txBox="1"/>
          <p:nvPr/>
        </p:nvSpPr>
        <p:spPr>
          <a:xfrm>
            <a:off x="6686550" y="2187364"/>
            <a:ext cx="1020266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SHOULDER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3"/>
          <p:cNvSpPr/>
          <p:nvPr/>
        </p:nvSpPr>
        <p:spPr>
          <a:xfrm>
            <a:off x="6292850" y="2529681"/>
            <a:ext cx="2273300" cy="373360"/>
          </a:xfrm>
          <a:prstGeom prst="roundRect">
            <a:avLst>
              <a:gd fmla="val 2040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3"/>
          <p:cNvSpPr txBox="1"/>
          <p:nvPr/>
        </p:nvSpPr>
        <p:spPr>
          <a:xfrm>
            <a:off x="6394450" y="2575945"/>
            <a:ext cx="207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screw_matrix(S2,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3"/>
          <p:cNvSpPr txBox="1"/>
          <p:nvPr/>
        </p:nvSpPr>
        <p:spPr>
          <a:xfrm>
            <a:off x="6292850" y="2973475"/>
            <a:ext cx="2341499" cy="198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Turn p about S2 by 45°.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33"/>
          <p:cNvSpPr txBox="1"/>
          <p:nvPr/>
        </p:nvSpPr>
        <p:spPr>
          <a:xfrm>
            <a:off x="6292850" y="3240852"/>
            <a:ext cx="2341499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(426.78, 0, 176.78)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3"/>
          <p:cNvSpPr/>
          <p:nvPr/>
        </p:nvSpPr>
        <p:spPr>
          <a:xfrm>
            <a:off x="8816975" y="2005806"/>
            <a:ext cx="2559050" cy="1803202"/>
          </a:xfrm>
          <a:prstGeom prst="roundRect">
            <a:avLst>
              <a:gd fmla="val 54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3"/>
          <p:cNvSpPr/>
          <p:nvPr/>
        </p:nvSpPr>
        <p:spPr>
          <a:xfrm>
            <a:off x="8959850" y="2148681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3"/>
          <p:cNvSpPr txBox="1"/>
          <p:nvPr/>
        </p:nvSpPr>
        <p:spPr>
          <a:xfrm>
            <a:off x="8955278" y="2138248"/>
            <a:ext cx="313944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3"/>
          <p:cNvSpPr txBox="1"/>
          <p:nvPr/>
        </p:nvSpPr>
        <p:spPr>
          <a:xfrm>
            <a:off x="9353550" y="2187364"/>
            <a:ext cx="512366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3"/>
          <p:cNvSpPr/>
          <p:nvPr/>
        </p:nvSpPr>
        <p:spPr>
          <a:xfrm>
            <a:off x="8959850" y="2529681"/>
            <a:ext cx="2273300" cy="373360"/>
          </a:xfrm>
          <a:prstGeom prst="roundRect">
            <a:avLst>
              <a:gd fmla="val 2040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3"/>
          <p:cNvSpPr txBox="1"/>
          <p:nvPr/>
        </p:nvSpPr>
        <p:spPr>
          <a:xfrm>
            <a:off x="9061450" y="2575945"/>
            <a:ext cx="20701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screw_matrix(S1,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3"/>
          <p:cNvSpPr txBox="1"/>
          <p:nvPr/>
        </p:nvSpPr>
        <p:spPr>
          <a:xfrm>
            <a:off x="8959850" y="2973475"/>
            <a:ext cx="2341499" cy="198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Turn p about S1 by 45°.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3"/>
          <p:cNvSpPr txBox="1"/>
          <p:nvPr/>
        </p:nvSpPr>
        <p:spPr>
          <a:xfrm>
            <a:off x="8959850" y="3240852"/>
            <a:ext cx="2341499" cy="214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(301.78, 301.78, 176.78)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3"/>
          <p:cNvSpPr/>
          <p:nvPr/>
        </p:nvSpPr>
        <p:spPr>
          <a:xfrm>
            <a:off x="812800" y="4015383"/>
            <a:ext cx="10566400" cy="1308695"/>
          </a:xfrm>
          <a:prstGeom prst="roundRect">
            <a:avLst>
              <a:gd fmla="val 776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3"/>
          <p:cNvSpPr txBox="1"/>
          <p:nvPr/>
        </p:nvSpPr>
        <p:spPr>
          <a:xfrm>
            <a:off x="1041400" y="4186126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THE SAME ANSWER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3"/>
          <p:cNvSpPr txBox="1"/>
          <p:nvPr/>
        </p:nvSpPr>
        <p:spPr>
          <a:xfrm>
            <a:off x="1041400" y="4473026"/>
            <a:ext cx="1036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(301.78, 301.78, 176.78) mm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3"/>
          <p:cNvSpPr txBox="1"/>
          <p:nvPr/>
        </p:nvSpPr>
        <p:spPr>
          <a:xfrm>
            <a:off x="1041400" y="4877083"/>
            <a:ext cx="1036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The same tip as Lessons 3 and 4, found by a third method.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1037" name="Google Shape;10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34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TRY IT YOURSELF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4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It Yourself #4</a:t>
            </a:r>
            <a:endParaRPr sz="2800"/>
          </a:p>
        </p:txBody>
      </p:sp>
      <p:sp>
        <p:nvSpPr>
          <p:cNvPr id="1045" name="Google Shape;1045;p34"/>
          <p:cNvSpPr/>
          <p:nvPr/>
        </p:nvSpPr>
        <p:spPr>
          <a:xfrm>
            <a:off x="812800" y="1518841"/>
            <a:ext cx="6604000" cy="1282601"/>
          </a:xfrm>
          <a:prstGeom prst="roundRect">
            <a:avLst>
              <a:gd fmla="val 7921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4"/>
          <p:cNvSpPr txBox="1"/>
          <p:nvPr/>
        </p:nvSpPr>
        <p:spPr>
          <a:xfrm>
            <a:off x="1016000" y="1676884"/>
            <a:ext cx="638352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fk_screw.py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4"/>
          <p:cNvSpPr txBox="1"/>
          <p:nvPr/>
        </p:nvSpPr>
        <p:spPr>
          <a:xfrm>
            <a:off x="1016000" y="1892724"/>
            <a:ext cx="61976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forward_kinematics_screw(theta_b, theta_s, theta_e):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4"/>
          <p:cNvSpPr txBox="1"/>
          <p:nvPr/>
        </p:nvSpPr>
        <p:spPr>
          <a:xfrm>
            <a:off x="1384300" y="2139085"/>
            <a:ext cx="58293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 = ... </a:t>
            </a:r>
            <a:r>
              <a:rPr b="0" i="0" lang="en-US" sz="12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# turn, turn, turn, then 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4"/>
          <p:cNvSpPr txBox="1"/>
          <p:nvPr/>
        </p:nvSpPr>
        <p:spPr>
          <a:xfrm>
            <a:off x="1384300" y="2385445"/>
            <a:ext cx="58293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T[: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4"/>
          <p:cNvSpPr/>
          <p:nvPr/>
        </p:nvSpPr>
        <p:spPr>
          <a:xfrm>
            <a:off x="812800" y="2903041"/>
            <a:ext cx="6604000" cy="789880"/>
          </a:xfrm>
          <a:prstGeom prst="roundRect">
            <a:avLst>
              <a:gd fmla="val 1286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4"/>
          <p:cNvSpPr txBox="1"/>
          <p:nvPr/>
        </p:nvSpPr>
        <p:spPr>
          <a:xfrm>
            <a:off x="1016000" y="3061085"/>
            <a:ext cx="638352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IN check_fk.py, CHANGE THE IMPORT LINE 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4"/>
          <p:cNvSpPr txBox="1"/>
          <p:nvPr/>
        </p:nvSpPr>
        <p:spPr>
          <a:xfrm>
            <a:off x="1016000" y="3276925"/>
            <a:ext cx="6197600" cy="250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fk_screw </a:t>
            </a: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forward_kinematics_screw </a:t>
            </a:r>
            <a:r>
              <a:rPr b="0" i="0" lang="en-US" sz="12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fk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4"/>
          <p:cNvSpPr txBox="1"/>
          <p:nvPr/>
        </p:nvSpPr>
        <p:spPr>
          <a:xfrm>
            <a:off x="7620000" y="1511583"/>
            <a:ext cx="3759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Save fk_screw_starter.py as fk_screw.py.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4"/>
          <p:cNvSpPr txBox="1"/>
          <p:nvPr/>
        </p:nvSpPr>
        <p:spPr>
          <a:xfrm>
            <a:off x="7620000" y="1848133"/>
            <a:ext cx="387197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Replace the dots with one expression.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4"/>
          <p:cNvSpPr txBox="1"/>
          <p:nvPr/>
        </p:nvSpPr>
        <p:spPr>
          <a:xfrm>
            <a:off x="7620000" y="2184683"/>
            <a:ext cx="387197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Change the import line in check_fk.py.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4"/>
          <p:cNvSpPr txBox="1"/>
          <p:nvPr/>
        </p:nvSpPr>
        <p:spPr>
          <a:xfrm>
            <a:off x="7620000" y="2521233"/>
            <a:ext cx="387197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· Run check_fk.py.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7" name="Google Shape;1057;p34"/>
          <p:cNvGrpSpPr/>
          <p:nvPr/>
        </p:nvGrpSpPr>
        <p:grpSpPr>
          <a:xfrm>
            <a:off x="812800" y="4381500"/>
            <a:ext cx="10566400" cy="1627783"/>
            <a:chOff x="812800" y="4381500"/>
            <a:chExt cx="10566400" cy="1627783"/>
          </a:xfrm>
        </p:grpSpPr>
        <p:sp>
          <p:nvSpPr>
            <p:cNvPr id="1058" name="Google Shape;1058;p34"/>
            <p:cNvSpPr/>
            <p:nvPr/>
          </p:nvSpPr>
          <p:spPr>
            <a:xfrm>
              <a:off x="812800" y="4381500"/>
              <a:ext cx="10566400" cy="1627783"/>
            </a:xfrm>
            <a:prstGeom prst="roundRect">
              <a:avLst>
                <a:gd fmla="val 6242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4"/>
            <p:cNvSpPr txBox="1"/>
            <p:nvPr/>
          </p:nvSpPr>
          <p:spPr>
            <a:xfrm>
              <a:off x="1016000" y="4526843"/>
              <a:ext cx="5232400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SOLUTION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34"/>
            <p:cNvSpPr txBox="1"/>
            <p:nvPr/>
          </p:nvSpPr>
          <p:spPr>
            <a:xfrm>
              <a:off x="1016000" y="4752360"/>
              <a:ext cx="5080000" cy="272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onsolas"/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T = (screw_matrix(S1, theta_b)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34"/>
            <p:cNvSpPr txBox="1"/>
            <p:nvPr/>
          </p:nvSpPr>
          <p:spPr>
            <a:xfrm>
              <a:off x="1511300" y="5029776"/>
              <a:ext cx="4584700" cy="272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onsolas"/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@ screw_matrix(S2, theta_s)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34"/>
            <p:cNvSpPr txBox="1"/>
            <p:nvPr/>
          </p:nvSpPr>
          <p:spPr>
            <a:xfrm>
              <a:off x="1511300" y="5307191"/>
              <a:ext cx="4584700" cy="272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onsolas"/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@ screw_matrix(S3, theta_e)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4"/>
            <p:cNvSpPr txBox="1"/>
            <p:nvPr/>
          </p:nvSpPr>
          <p:spPr>
            <a:xfrm>
              <a:off x="1511300" y="5584607"/>
              <a:ext cx="4584700" cy="272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Consolas"/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@ M)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4"/>
            <p:cNvSpPr txBox="1"/>
            <p:nvPr/>
          </p:nvSpPr>
          <p:spPr>
            <a:xfrm>
              <a:off x="6400800" y="4760702"/>
              <a:ext cx="4918456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RESULT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4"/>
            <p:cNvSpPr txBox="1"/>
            <p:nvPr/>
          </p:nvSpPr>
          <p:spPr>
            <a:xfrm>
              <a:off x="6400800" y="5016663"/>
              <a:ext cx="4918456" cy="325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</a:pPr>
              <a:r>
                <a:rPr b="1" i="0" lang="en-US" sz="1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 of 7 tests passed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4"/>
            <p:cNvSpPr txBox="1"/>
            <p:nvPr/>
          </p:nvSpPr>
          <p:spPr>
            <a:xfrm>
              <a:off x="6400800" y="5395784"/>
              <a:ext cx="4918456" cy="214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Screw theory passes the same test as DH.</a:t>
              </a:r>
              <a:endPara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Three-quarter view of the robotic arm on its base, upper arm vertical and forearm horizontal, seen from another side" id="1067" name="Google Shape;106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9735" y="215900"/>
            <a:ext cx="163383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5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COMPARING METHODS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5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Methods Compared</a:t>
            </a:r>
            <a:endParaRPr sz="2800"/>
          </a:p>
        </p:txBody>
      </p:sp>
      <p:sp>
        <p:nvSpPr>
          <p:cNvPr id="1075" name="Google Shape;1075;p35"/>
          <p:cNvSpPr/>
          <p:nvPr/>
        </p:nvSpPr>
        <p:spPr>
          <a:xfrm>
            <a:off x="812800" y="1518841"/>
            <a:ext cx="1841500" cy="426641"/>
          </a:xfrm>
          <a:prstGeom prst="roundRect">
            <a:avLst>
              <a:gd fmla="val 1488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5"/>
          <p:cNvSpPr/>
          <p:nvPr/>
        </p:nvSpPr>
        <p:spPr>
          <a:xfrm>
            <a:off x="2705100" y="1518841"/>
            <a:ext cx="2857500" cy="426641"/>
          </a:xfrm>
          <a:prstGeom prst="roundRect">
            <a:avLst>
              <a:gd fmla="val 1488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5"/>
          <p:cNvSpPr txBox="1"/>
          <p:nvPr/>
        </p:nvSpPr>
        <p:spPr>
          <a:xfrm>
            <a:off x="2794000" y="1598466"/>
            <a:ext cx="2760091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Trigonometry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5"/>
          <p:cNvSpPr/>
          <p:nvPr/>
        </p:nvSpPr>
        <p:spPr>
          <a:xfrm>
            <a:off x="5613400" y="1518841"/>
            <a:ext cx="2857500" cy="426641"/>
          </a:xfrm>
          <a:prstGeom prst="roundRect">
            <a:avLst>
              <a:gd fmla="val 1488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5"/>
          <p:cNvSpPr txBox="1"/>
          <p:nvPr/>
        </p:nvSpPr>
        <p:spPr>
          <a:xfrm>
            <a:off x="5702300" y="1598466"/>
            <a:ext cx="2760091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DH matrices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5"/>
          <p:cNvSpPr/>
          <p:nvPr/>
        </p:nvSpPr>
        <p:spPr>
          <a:xfrm>
            <a:off x="8521700" y="1518841"/>
            <a:ext cx="2857500" cy="426641"/>
          </a:xfrm>
          <a:prstGeom prst="roundRect">
            <a:avLst>
              <a:gd fmla="val 14884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5"/>
          <p:cNvSpPr txBox="1"/>
          <p:nvPr/>
        </p:nvSpPr>
        <p:spPr>
          <a:xfrm>
            <a:off x="8610600" y="1598466"/>
            <a:ext cx="2760091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Screw theory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5"/>
          <p:cNvSpPr/>
          <p:nvPr/>
        </p:nvSpPr>
        <p:spPr>
          <a:xfrm>
            <a:off x="822325" y="2005806"/>
            <a:ext cx="1822450" cy="694531"/>
          </a:xfrm>
          <a:prstGeom prst="roundRect">
            <a:avLst>
              <a:gd fmla="val 7771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5"/>
          <p:cNvSpPr txBox="1"/>
          <p:nvPr/>
        </p:nvSpPr>
        <p:spPr>
          <a:xfrm>
            <a:off x="920750" y="1970536"/>
            <a:ext cx="1674368" cy="49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describe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5"/>
          <p:cNvSpPr/>
          <p:nvPr/>
        </p:nvSpPr>
        <p:spPr>
          <a:xfrm>
            <a:off x="2714625" y="2005806"/>
            <a:ext cx="2838450" cy="694531"/>
          </a:xfrm>
          <a:prstGeom prst="roundRect">
            <a:avLst>
              <a:gd fmla="val 777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35"/>
          <p:cNvSpPr txBox="1"/>
          <p:nvPr/>
        </p:nvSpPr>
        <p:spPr>
          <a:xfrm>
            <a:off x="2813050" y="1970536"/>
            <a:ext cx="2720848" cy="49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triangles for this arm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5"/>
          <p:cNvSpPr/>
          <p:nvPr/>
        </p:nvSpPr>
        <p:spPr>
          <a:xfrm>
            <a:off x="5622925" y="2005806"/>
            <a:ext cx="2838450" cy="694531"/>
          </a:xfrm>
          <a:prstGeom prst="roundRect">
            <a:avLst>
              <a:gd fmla="val 777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5"/>
          <p:cNvSpPr txBox="1"/>
          <p:nvPr/>
        </p:nvSpPr>
        <p:spPr>
          <a:xfrm>
            <a:off x="5721350" y="2077137"/>
            <a:ext cx="2743200" cy="52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frame on every joint, then a table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5"/>
          <p:cNvSpPr/>
          <p:nvPr/>
        </p:nvSpPr>
        <p:spPr>
          <a:xfrm>
            <a:off x="8531225" y="2005806"/>
            <a:ext cx="2838450" cy="694531"/>
          </a:xfrm>
          <a:prstGeom prst="roundRect">
            <a:avLst>
              <a:gd fmla="val 7771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5"/>
          <p:cNvSpPr txBox="1"/>
          <p:nvPr/>
        </p:nvSpPr>
        <p:spPr>
          <a:xfrm>
            <a:off x="8629650" y="2077137"/>
            <a:ext cx="2747264" cy="52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zero pose and one axis per joint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5"/>
          <p:cNvSpPr/>
          <p:nvPr/>
        </p:nvSpPr>
        <p:spPr>
          <a:xfrm>
            <a:off x="822325" y="2770188"/>
            <a:ext cx="1822450" cy="445691"/>
          </a:xfrm>
          <a:prstGeom prst="roundRect">
            <a:avLst>
              <a:gd fmla="val 1211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35"/>
          <p:cNvSpPr txBox="1"/>
          <p:nvPr/>
        </p:nvSpPr>
        <p:spPr>
          <a:xfrm>
            <a:off x="920750" y="2859338"/>
            <a:ext cx="167436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code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5"/>
          <p:cNvSpPr/>
          <p:nvPr/>
        </p:nvSpPr>
        <p:spPr>
          <a:xfrm>
            <a:off x="2714625" y="2770188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5"/>
          <p:cNvSpPr txBox="1"/>
          <p:nvPr/>
        </p:nvSpPr>
        <p:spPr>
          <a:xfrm>
            <a:off x="2813050" y="2859338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few formulas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5"/>
          <p:cNvSpPr/>
          <p:nvPr/>
        </p:nvSpPr>
        <p:spPr>
          <a:xfrm>
            <a:off x="5622925" y="2770188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5"/>
          <p:cNvSpPr txBox="1"/>
          <p:nvPr/>
        </p:nvSpPr>
        <p:spPr>
          <a:xfrm>
            <a:off x="5721350" y="2859338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matrix per table row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5"/>
          <p:cNvSpPr/>
          <p:nvPr/>
        </p:nvSpPr>
        <p:spPr>
          <a:xfrm>
            <a:off x="8531225" y="2770188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5"/>
          <p:cNvSpPr txBox="1"/>
          <p:nvPr/>
        </p:nvSpPr>
        <p:spPr>
          <a:xfrm>
            <a:off x="8629650" y="2859338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matrix per axis, plus 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5"/>
          <p:cNvSpPr/>
          <p:nvPr/>
        </p:nvSpPr>
        <p:spPr>
          <a:xfrm>
            <a:off x="822325" y="3285728"/>
            <a:ext cx="1822450" cy="445691"/>
          </a:xfrm>
          <a:prstGeom prst="roundRect">
            <a:avLst>
              <a:gd fmla="val 1211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5"/>
          <p:cNvSpPr txBox="1"/>
          <p:nvPr/>
        </p:nvSpPr>
        <p:spPr>
          <a:xfrm>
            <a:off x="920750" y="3374879"/>
            <a:ext cx="167436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new joint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5"/>
          <p:cNvSpPr/>
          <p:nvPr/>
        </p:nvSpPr>
        <p:spPr>
          <a:xfrm>
            <a:off x="2714625" y="3285728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5"/>
          <p:cNvSpPr txBox="1"/>
          <p:nvPr/>
        </p:nvSpPr>
        <p:spPr>
          <a:xfrm>
            <a:off x="2813050" y="3374879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triangles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5"/>
          <p:cNvSpPr/>
          <p:nvPr/>
        </p:nvSpPr>
        <p:spPr>
          <a:xfrm>
            <a:off x="5622925" y="3285728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5"/>
          <p:cNvSpPr txBox="1"/>
          <p:nvPr/>
        </p:nvSpPr>
        <p:spPr>
          <a:xfrm>
            <a:off x="5721350" y="3374879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more row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5"/>
          <p:cNvSpPr/>
          <p:nvPr/>
        </p:nvSpPr>
        <p:spPr>
          <a:xfrm>
            <a:off x="8531225" y="3285728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5"/>
          <p:cNvSpPr txBox="1"/>
          <p:nvPr/>
        </p:nvSpPr>
        <p:spPr>
          <a:xfrm>
            <a:off x="8629650" y="3374879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more axis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5"/>
          <p:cNvSpPr/>
          <p:nvPr/>
        </p:nvSpPr>
        <p:spPr>
          <a:xfrm>
            <a:off x="822325" y="3801269"/>
            <a:ext cx="1822450" cy="445691"/>
          </a:xfrm>
          <a:prstGeom prst="roundRect">
            <a:avLst>
              <a:gd fmla="val 12110" name="adj"/>
            </a:avLst>
          </a:prstGeom>
          <a:solidFill>
            <a:srgbClr val="F3F3F3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5"/>
          <p:cNvSpPr txBox="1"/>
          <p:nvPr/>
        </p:nvSpPr>
        <p:spPr>
          <a:xfrm>
            <a:off x="920750" y="3890419"/>
            <a:ext cx="167436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45°, 45°, 45°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5"/>
          <p:cNvSpPr/>
          <p:nvPr/>
        </p:nvSpPr>
        <p:spPr>
          <a:xfrm>
            <a:off x="2714625" y="3801269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5"/>
          <p:cNvSpPr txBox="1"/>
          <p:nvPr/>
        </p:nvSpPr>
        <p:spPr>
          <a:xfrm>
            <a:off x="2813050" y="3890419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(301.78, 301.78, 176.78)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5"/>
          <p:cNvSpPr/>
          <p:nvPr/>
        </p:nvSpPr>
        <p:spPr>
          <a:xfrm>
            <a:off x="5622925" y="3801269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35"/>
          <p:cNvSpPr txBox="1"/>
          <p:nvPr/>
        </p:nvSpPr>
        <p:spPr>
          <a:xfrm>
            <a:off x="5721350" y="3890419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(301.78, 301.78, 176.78)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5"/>
          <p:cNvSpPr/>
          <p:nvPr/>
        </p:nvSpPr>
        <p:spPr>
          <a:xfrm>
            <a:off x="8531225" y="3801269"/>
            <a:ext cx="2838450" cy="445691"/>
          </a:xfrm>
          <a:prstGeom prst="roundRect">
            <a:avLst>
              <a:gd fmla="val 12110" name="adj"/>
            </a:avLst>
          </a:prstGeom>
          <a:solidFill>
            <a:srgbClr val="FFFFF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5"/>
          <p:cNvSpPr txBox="1"/>
          <p:nvPr/>
        </p:nvSpPr>
        <p:spPr>
          <a:xfrm>
            <a:off x="8629650" y="3890419"/>
            <a:ext cx="2720848" cy="248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(301.78, 301.78, 176.78)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5"/>
          <p:cNvSpPr/>
          <p:nvPr/>
        </p:nvSpPr>
        <p:spPr>
          <a:xfrm>
            <a:off x="812800" y="4459684"/>
            <a:ext cx="10566400" cy="942280"/>
          </a:xfrm>
          <a:prstGeom prst="roundRect">
            <a:avLst>
              <a:gd fmla="val 10782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35"/>
          <p:cNvSpPr txBox="1"/>
          <p:nvPr/>
        </p:nvSpPr>
        <p:spPr>
          <a:xfrm>
            <a:off x="1041400" y="4630428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DISCUSS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5"/>
          <p:cNvSpPr txBox="1"/>
          <p:nvPr/>
        </p:nvSpPr>
        <p:spPr>
          <a:xfrm>
            <a:off x="1041400" y="4911955"/>
            <a:ext cx="10363200" cy="29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the arm had six joints, which method would you choose, and why?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1117" name="Google Shape;11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6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REACH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36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Can the Tip Go?</a:t>
            </a:r>
            <a:endParaRPr sz="2800"/>
          </a:p>
        </p:txBody>
      </p:sp>
      <p:sp>
        <p:nvSpPr>
          <p:cNvPr id="1125" name="Google Shape;1125;p36"/>
          <p:cNvSpPr txBox="1"/>
          <p:nvPr/>
        </p:nvSpPr>
        <p:spPr>
          <a:xfrm>
            <a:off x="812800" y="1499820"/>
            <a:ext cx="5943600" cy="580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function, called thousands of times, maps the arm's reach.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6"/>
          <p:cNvSpPr/>
          <p:nvPr/>
        </p:nvSpPr>
        <p:spPr>
          <a:xfrm>
            <a:off x="812800" y="2219722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6"/>
          <p:cNvSpPr txBox="1"/>
          <p:nvPr/>
        </p:nvSpPr>
        <p:spPr>
          <a:xfrm>
            <a:off x="807085" y="2212131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6"/>
          <p:cNvSpPr txBox="1"/>
          <p:nvPr/>
        </p:nvSpPr>
        <p:spPr>
          <a:xfrm>
            <a:off x="1320800" y="2264090"/>
            <a:ext cx="4000302" cy="2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 over many shoulder and elbow angles.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6"/>
          <p:cNvSpPr/>
          <p:nvPr/>
        </p:nvSpPr>
        <p:spPr>
          <a:xfrm>
            <a:off x="812800" y="2740422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6"/>
          <p:cNvSpPr txBox="1"/>
          <p:nvPr/>
        </p:nvSpPr>
        <p:spPr>
          <a:xfrm>
            <a:off x="807085" y="2732831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6"/>
          <p:cNvSpPr txBox="1"/>
          <p:nvPr/>
        </p:nvSpPr>
        <p:spPr>
          <a:xfrm>
            <a:off x="1320800" y="2784790"/>
            <a:ext cx="3400822" cy="2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forward_kinematics for each pair.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6"/>
          <p:cNvSpPr/>
          <p:nvPr/>
        </p:nvSpPr>
        <p:spPr>
          <a:xfrm>
            <a:off x="812800" y="3261122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6"/>
          <p:cNvSpPr txBox="1"/>
          <p:nvPr/>
        </p:nvSpPr>
        <p:spPr>
          <a:xfrm>
            <a:off x="807085" y="3253531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6"/>
          <p:cNvSpPr txBox="1"/>
          <p:nvPr/>
        </p:nvSpPr>
        <p:spPr>
          <a:xfrm>
            <a:off x="1320800" y="3305490"/>
            <a:ext cx="2158702" cy="2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the tip positions.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6"/>
          <p:cNvSpPr/>
          <p:nvPr/>
        </p:nvSpPr>
        <p:spPr>
          <a:xfrm>
            <a:off x="812800" y="3781822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6"/>
          <p:cNvSpPr txBox="1"/>
          <p:nvPr/>
        </p:nvSpPr>
        <p:spPr>
          <a:xfrm>
            <a:off x="807085" y="3774231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6"/>
          <p:cNvSpPr txBox="1"/>
          <p:nvPr/>
        </p:nvSpPr>
        <p:spPr>
          <a:xfrm>
            <a:off x="1320800" y="3826190"/>
            <a:ext cx="4971455" cy="26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Plot them and measure the farthest and nearest points.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6"/>
          <p:cNvSpPr/>
          <p:nvPr/>
        </p:nvSpPr>
        <p:spPr>
          <a:xfrm>
            <a:off x="6886575" y="1522016"/>
            <a:ext cx="4489450" cy="1616670"/>
          </a:xfrm>
          <a:prstGeom prst="roundRect">
            <a:avLst>
              <a:gd fmla="val 608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6"/>
          <p:cNvSpPr txBox="1"/>
          <p:nvPr/>
        </p:nvSpPr>
        <p:spPr>
          <a:xfrm>
            <a:off x="7080250" y="1670534"/>
            <a:ext cx="4225163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OUR PRACTICE RANGES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6"/>
          <p:cNvSpPr txBox="1"/>
          <p:nvPr/>
        </p:nvSpPr>
        <p:spPr>
          <a:xfrm>
            <a:off x="7080250" y="1928103"/>
            <a:ext cx="4266184" cy="1055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θB = 0° (a side view)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θS = 0° to 90°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θE = 0° to 90°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 of 5°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6"/>
          <p:cNvSpPr/>
          <p:nvPr/>
        </p:nvSpPr>
        <p:spPr>
          <a:xfrm>
            <a:off x="6886575" y="3272036"/>
            <a:ext cx="4489450" cy="896541"/>
          </a:xfrm>
          <a:prstGeom prst="roundRect">
            <a:avLst>
              <a:gd fmla="val 10978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36"/>
          <p:cNvSpPr txBox="1"/>
          <p:nvPr/>
        </p:nvSpPr>
        <p:spPr>
          <a:xfrm>
            <a:off x="7080250" y="3420554"/>
            <a:ext cx="4225163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POSES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6"/>
          <p:cNvSpPr txBox="1"/>
          <p:nvPr/>
        </p:nvSpPr>
        <p:spPr>
          <a:xfrm>
            <a:off x="7080250" y="3690026"/>
            <a:ext cx="4225163" cy="30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 × 19 = 361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6"/>
          <p:cNvSpPr/>
          <p:nvPr/>
        </p:nvSpPr>
        <p:spPr>
          <a:xfrm>
            <a:off x="6886575" y="4301927"/>
            <a:ext cx="44894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6"/>
          <p:cNvSpPr txBox="1"/>
          <p:nvPr/>
        </p:nvSpPr>
        <p:spPr>
          <a:xfrm>
            <a:off x="7080250" y="4450445"/>
            <a:ext cx="4225163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NOT THE REAL LIMITS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6"/>
          <p:cNvSpPr txBox="1"/>
          <p:nvPr/>
        </p:nvSpPr>
        <p:spPr>
          <a:xfrm>
            <a:off x="7080250" y="4709768"/>
            <a:ext cx="4254500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ranges are for practice. They are not measured on the real arm.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60 degrees from vertical and forearm in line with it" id="1147" name="Google Shape;11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2516" y="215900"/>
            <a:ext cx="190877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37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REACH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7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Sweeping the Joint Angles</a:t>
            </a:r>
            <a:endParaRPr sz="2800"/>
          </a:p>
        </p:txBody>
      </p:sp>
      <p:sp>
        <p:nvSpPr>
          <p:cNvPr id="1155" name="Google Shape;1155;p37"/>
          <p:cNvSpPr/>
          <p:nvPr/>
        </p:nvSpPr>
        <p:spPr>
          <a:xfrm>
            <a:off x="812800" y="1518841"/>
            <a:ext cx="6350000" cy="3444677"/>
          </a:xfrm>
          <a:prstGeom prst="roundRect">
            <a:avLst>
              <a:gd fmla="val 2949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7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workspace_sweep.py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7"/>
          <p:cNvSpPr txBox="1"/>
          <p:nvPr/>
        </p:nvSpPr>
        <p:spPr>
          <a:xfrm>
            <a:off x="1016000" y="1889701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points = []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7"/>
          <p:cNvSpPr txBox="1"/>
          <p:nvPr/>
        </p:nvSpPr>
        <p:spPr>
          <a:xfrm>
            <a:off x="1016000" y="2154416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theta_s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range(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7"/>
          <p:cNvSpPr txBox="1"/>
          <p:nvPr/>
        </p:nvSpPr>
        <p:spPr>
          <a:xfrm>
            <a:off x="1409700" y="2419132"/>
            <a:ext cx="5549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theta_e </a:t>
            </a: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range(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91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7"/>
          <p:cNvSpPr txBox="1"/>
          <p:nvPr/>
        </p:nvSpPr>
        <p:spPr>
          <a:xfrm>
            <a:off x="1809750" y="2683848"/>
            <a:ext cx="514985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x, y, z = fk(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theta_s, theta_e)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7"/>
          <p:cNvSpPr txBox="1"/>
          <p:nvPr/>
        </p:nvSpPr>
        <p:spPr>
          <a:xfrm>
            <a:off x="1809750" y="2948563"/>
            <a:ext cx="514985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points.append((x, z))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7"/>
          <p:cNvSpPr txBox="1"/>
          <p:nvPr/>
        </p:nvSpPr>
        <p:spPr>
          <a:xfrm>
            <a:off x="1016000" y="3340279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points = np.array(points)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7"/>
          <p:cNvSpPr txBox="1"/>
          <p:nvPr/>
        </p:nvSpPr>
        <p:spPr>
          <a:xfrm>
            <a:off x="1016000" y="3604994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reach = np.hypot(points[:,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points[:,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7"/>
          <p:cNvSpPr txBox="1"/>
          <p:nvPr/>
        </p:nvSpPr>
        <p:spPr>
          <a:xfrm>
            <a:off x="1016000" y="3996710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print(len(points),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"poses"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7"/>
          <p:cNvSpPr txBox="1"/>
          <p:nvPr/>
        </p:nvSpPr>
        <p:spPr>
          <a:xfrm>
            <a:off x="1016000" y="4261426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"farthest:"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round(reach.max(),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"mm"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7"/>
          <p:cNvSpPr txBox="1"/>
          <p:nvPr/>
        </p:nvSpPr>
        <p:spPr>
          <a:xfrm>
            <a:off x="1016000" y="4526141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"nearest:"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round(reach.min(),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"mm"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7"/>
          <p:cNvSpPr/>
          <p:nvPr/>
        </p:nvSpPr>
        <p:spPr>
          <a:xfrm>
            <a:off x="7315200" y="1518841"/>
            <a:ext cx="4064000" cy="1418431"/>
          </a:xfrm>
          <a:prstGeom prst="roundRect">
            <a:avLst>
              <a:gd fmla="val 716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7"/>
          <p:cNvSpPr txBox="1"/>
          <p:nvPr/>
        </p:nvSpPr>
        <p:spPr>
          <a:xfrm>
            <a:off x="7518400" y="1651484"/>
            <a:ext cx="376732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7"/>
          <p:cNvSpPr txBox="1"/>
          <p:nvPr/>
        </p:nvSpPr>
        <p:spPr>
          <a:xfrm>
            <a:off x="7518400" y="1886677"/>
            <a:ext cx="3657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361 poses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7"/>
          <p:cNvSpPr txBox="1"/>
          <p:nvPr/>
        </p:nvSpPr>
        <p:spPr>
          <a:xfrm>
            <a:off x="7518400" y="2195247"/>
            <a:ext cx="3657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farthest: 500.0 mm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7"/>
          <p:cNvSpPr txBox="1"/>
          <p:nvPr/>
        </p:nvSpPr>
        <p:spPr>
          <a:xfrm>
            <a:off x="7518400" y="2503817"/>
            <a:ext cx="36576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nearest: 353.55 mm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7"/>
          <p:cNvSpPr/>
          <p:nvPr/>
        </p:nvSpPr>
        <p:spPr>
          <a:xfrm>
            <a:off x="7318375" y="3042047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7"/>
          <p:cNvSpPr txBox="1"/>
          <p:nvPr/>
        </p:nvSpPr>
        <p:spPr>
          <a:xfrm>
            <a:off x="7512050" y="319056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7"/>
          <p:cNvSpPr txBox="1"/>
          <p:nvPr/>
        </p:nvSpPr>
        <p:spPr>
          <a:xfrm>
            <a:off x="7512050" y="3449888"/>
            <a:ext cx="3733800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distance from the shoulder to the tip: √(x² + z²).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7"/>
          <p:cNvSpPr/>
          <p:nvPr/>
        </p:nvSpPr>
        <p:spPr>
          <a:xfrm>
            <a:off x="7318375" y="4217988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7"/>
          <p:cNvSpPr txBox="1"/>
          <p:nvPr/>
        </p:nvSpPr>
        <p:spPr>
          <a:xfrm>
            <a:off x="7512050" y="4366506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PLOT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7"/>
          <p:cNvSpPr txBox="1"/>
          <p:nvPr/>
        </p:nvSpPr>
        <p:spPr>
          <a:xfrm>
            <a:off x="7512050" y="4625829"/>
            <a:ext cx="381711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workspace_sweep.py also draws the dots with matplotlib.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de view of the arm: upper arm leaning 30 degrees from vertical with the forearm bent further forward" id="1178" name="Google Shape;11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870" y="215900"/>
            <a:ext cx="144016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8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REACH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8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Reachable Region</a:t>
            </a:r>
            <a:endParaRPr sz="2800"/>
          </a:p>
        </p:txBody>
      </p:sp>
      <p:pic>
        <p:nvPicPr>
          <p:cNvPr descr="Side-view plot of the 361 tip positions as green dots between two dashed arcs, 353.55 mm and 500 mm from the shoulder" id="1186" name="Google Shape;118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1518841"/>
            <a:ext cx="4511675" cy="44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38"/>
          <p:cNvSpPr/>
          <p:nvPr/>
        </p:nvSpPr>
        <p:spPr>
          <a:xfrm>
            <a:off x="5530850" y="1522016"/>
            <a:ext cx="5845175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8"/>
          <p:cNvSpPr txBox="1"/>
          <p:nvPr/>
        </p:nvSpPr>
        <p:spPr>
          <a:xfrm>
            <a:off x="5724525" y="1670534"/>
            <a:ext cx="562156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FARTHEST: 500 mm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8"/>
          <p:cNvSpPr txBox="1"/>
          <p:nvPr/>
        </p:nvSpPr>
        <p:spPr>
          <a:xfrm>
            <a:off x="5724525" y="1929857"/>
            <a:ext cx="5676138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the elbow straight (θE = 0°), the tip is 250 + 250 mm from the shoulder.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8"/>
          <p:cNvSpPr/>
          <p:nvPr/>
        </p:nvSpPr>
        <p:spPr>
          <a:xfrm>
            <a:off x="5530850" y="2723356"/>
            <a:ext cx="5845175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8"/>
          <p:cNvSpPr txBox="1"/>
          <p:nvPr/>
        </p:nvSpPr>
        <p:spPr>
          <a:xfrm>
            <a:off x="5724525" y="2871875"/>
            <a:ext cx="562156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NEAREST: 353.55 mm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8"/>
          <p:cNvSpPr txBox="1"/>
          <p:nvPr/>
        </p:nvSpPr>
        <p:spPr>
          <a:xfrm>
            <a:off x="5724525" y="3131197"/>
            <a:ext cx="5521325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the elbow bent 90°, the tip is 2 × 250 × cos 45° from the shoulder.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8"/>
          <p:cNvSpPr/>
          <p:nvPr/>
        </p:nvSpPr>
        <p:spPr>
          <a:xfrm>
            <a:off x="5530850" y="3924697"/>
            <a:ext cx="5845175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8"/>
          <p:cNvSpPr txBox="1"/>
          <p:nvPr/>
        </p:nvSpPr>
        <p:spPr>
          <a:xfrm>
            <a:off x="5724525" y="4073215"/>
            <a:ext cx="562156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SPIN THE BASE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8"/>
          <p:cNvSpPr txBox="1"/>
          <p:nvPr/>
        </p:nvSpPr>
        <p:spPr>
          <a:xfrm>
            <a:off x="5724525" y="4332538"/>
            <a:ext cx="5521325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Turning θB from 0° to 360° sweeps this picture around the vertical z axis.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" id="1196" name="Google Shape;119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87495" y="215900"/>
            <a:ext cx="159950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39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TRY IT YOURSELF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9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It Yourself #5</a:t>
            </a:r>
            <a:endParaRPr sz="2800"/>
          </a:p>
        </p:txBody>
      </p:sp>
      <p:sp>
        <p:nvSpPr>
          <p:cNvPr id="1204" name="Google Shape;1204;p39"/>
          <p:cNvSpPr txBox="1"/>
          <p:nvPr/>
        </p:nvSpPr>
        <p:spPr>
          <a:xfrm>
            <a:off x="812800" y="1499820"/>
            <a:ext cx="5232400" cy="580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the elbow bend up to 150°. Predict the new nearest distance, then run it.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9"/>
          <p:cNvSpPr/>
          <p:nvPr/>
        </p:nvSpPr>
        <p:spPr>
          <a:xfrm>
            <a:off x="812800" y="2194322"/>
            <a:ext cx="5080000" cy="460970"/>
          </a:xfrm>
          <a:prstGeom prst="roundRect">
            <a:avLst>
              <a:gd fmla="val 16530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39"/>
          <p:cNvSpPr txBox="1"/>
          <p:nvPr/>
        </p:nvSpPr>
        <p:spPr>
          <a:xfrm>
            <a:off x="990600" y="2259938"/>
            <a:ext cx="4724400" cy="293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theta_e </a:t>
            </a:r>
            <a:r>
              <a:rPr b="0" i="0" lang="en-US" sz="14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range(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151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9"/>
          <p:cNvSpPr/>
          <p:nvPr/>
        </p:nvSpPr>
        <p:spPr>
          <a:xfrm>
            <a:off x="815975" y="2772767"/>
            <a:ext cx="5073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9"/>
          <p:cNvSpPr txBox="1"/>
          <p:nvPr/>
        </p:nvSpPr>
        <p:spPr>
          <a:xfrm>
            <a:off x="1009650" y="2921286"/>
            <a:ext cx="482688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9"/>
          <p:cNvSpPr txBox="1"/>
          <p:nvPr/>
        </p:nvSpPr>
        <p:spPr>
          <a:xfrm>
            <a:off x="1009650" y="3180608"/>
            <a:ext cx="487375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the elbow bent by θE, the tip is 2 × 250 × cos(θE ÷ 2) from the shoulder.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0" name="Google Shape;1210;p39"/>
          <p:cNvGrpSpPr/>
          <p:nvPr/>
        </p:nvGrpSpPr>
        <p:grpSpPr>
          <a:xfrm>
            <a:off x="812800" y="1663700"/>
            <a:ext cx="9122370" cy="4261842"/>
            <a:chOff x="812800" y="1663700"/>
            <a:chExt cx="9122370" cy="4261842"/>
          </a:xfrm>
        </p:grpSpPr>
        <p:sp>
          <p:nvSpPr>
            <p:cNvPr id="1211" name="Google Shape;1211;p39"/>
            <p:cNvSpPr/>
            <p:nvPr/>
          </p:nvSpPr>
          <p:spPr>
            <a:xfrm>
              <a:off x="812800" y="4572000"/>
              <a:ext cx="5080000" cy="1353542"/>
            </a:xfrm>
            <a:prstGeom prst="roundRect">
              <a:avLst>
                <a:gd fmla="val 7506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9"/>
            <p:cNvSpPr txBox="1"/>
            <p:nvPr/>
          </p:nvSpPr>
          <p:spPr>
            <a:xfrm>
              <a:off x="1016000" y="4704643"/>
              <a:ext cx="4813808" cy="213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3C47D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93C47D"/>
                  </a:solidFill>
                  <a:latin typeface="Arial"/>
                  <a:ea typeface="Arial"/>
                  <a:cs typeface="Arial"/>
                  <a:sym typeface="Arial"/>
                </a:rPr>
                <a:t>SOLUTION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39"/>
            <p:cNvSpPr txBox="1"/>
            <p:nvPr/>
          </p:nvSpPr>
          <p:spPr>
            <a:xfrm>
              <a:off x="1016000" y="4936026"/>
              <a:ext cx="4673600" cy="27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589 poses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39"/>
            <p:cNvSpPr txBox="1"/>
            <p:nvPr/>
          </p:nvSpPr>
          <p:spPr>
            <a:xfrm>
              <a:off x="1016000" y="5222967"/>
              <a:ext cx="4673600" cy="27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farthest: 500.0 mm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39"/>
            <p:cNvSpPr txBox="1"/>
            <p:nvPr/>
          </p:nvSpPr>
          <p:spPr>
            <a:xfrm>
              <a:off x="1016000" y="5509907"/>
              <a:ext cx="4673600" cy="27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onsolas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nearest: 129.41 mm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ide-view plot with new red dots for the elbow bent from 95 to 150 degrees, reaching as near as 129.41 mm from the shoulder" id="1216" name="Google Shape;1216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23000" y="1663700"/>
              <a:ext cx="3712170" cy="4064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Side view of the arm: upper arm vertical and forearm horizontal" id="1217" name="Google Shape;12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3505" y="215900"/>
            <a:ext cx="1626791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40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DAY 2 · OPTIONAL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0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Optional: From Motor Ticks to Angles</a:t>
            </a:r>
            <a:endParaRPr sz="2800"/>
          </a:p>
        </p:txBody>
      </p:sp>
      <p:sp>
        <p:nvSpPr>
          <p:cNvPr id="1225" name="Google Shape;1225;p40"/>
          <p:cNvSpPr/>
          <p:nvPr/>
        </p:nvSpPr>
        <p:spPr>
          <a:xfrm>
            <a:off x="812800" y="1518841"/>
            <a:ext cx="6350000" cy="1994098"/>
          </a:xfrm>
          <a:prstGeom prst="roundRect">
            <a:avLst>
              <a:gd fmla="val 5095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40"/>
          <p:cNvSpPr txBox="1"/>
          <p:nvPr/>
        </p:nvSpPr>
        <p:spPr>
          <a:xfrm>
            <a:off x="1016000" y="1676884"/>
            <a:ext cx="6121908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40"/>
          <p:cNvSpPr txBox="1"/>
          <p:nvPr/>
        </p:nvSpPr>
        <p:spPr>
          <a:xfrm>
            <a:off x="1016000" y="1889701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TICKS_PER_DEGREE =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4096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360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0"/>
          <p:cNvSpPr txBox="1"/>
          <p:nvPr/>
        </p:nvSpPr>
        <p:spPr>
          <a:xfrm>
            <a:off x="1016000" y="2154416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ZERO_TICKS = 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2048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3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# [measure on the real arm]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0"/>
          <p:cNvSpPr txBox="1"/>
          <p:nvPr/>
        </p:nvSpPr>
        <p:spPr>
          <a:xfrm>
            <a:off x="1016000" y="2546132"/>
            <a:ext cx="59436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ticks_to_degrees(ticks, gear_ratio=</a:t>
            </a:r>
            <a:r>
              <a:rPr b="0" i="0" lang="en-US" sz="1300" u="none" cap="none" strike="noStrike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0"/>
          <p:cNvSpPr txBox="1"/>
          <p:nvPr/>
        </p:nvSpPr>
        <p:spPr>
          <a:xfrm>
            <a:off x="1409700" y="2810848"/>
            <a:ext cx="5549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degrees = ticks - ZERO_TICKS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0"/>
          <p:cNvSpPr txBox="1"/>
          <p:nvPr/>
        </p:nvSpPr>
        <p:spPr>
          <a:xfrm>
            <a:off x="1409700" y="3075563"/>
            <a:ext cx="5549900" cy="272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degrees / (TICKS_PER_DEGREE * gear_ratio)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0"/>
          <p:cNvSpPr/>
          <p:nvPr/>
        </p:nvSpPr>
        <p:spPr>
          <a:xfrm>
            <a:off x="7318375" y="1522016"/>
            <a:ext cx="4057650" cy="827980"/>
          </a:xfrm>
          <a:prstGeom prst="roundRect">
            <a:avLst>
              <a:gd fmla="val 11887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0"/>
          <p:cNvSpPr txBox="1"/>
          <p:nvPr/>
        </p:nvSpPr>
        <p:spPr>
          <a:xfrm>
            <a:off x="7512050" y="1670534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4096 TICKS PER TURN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0"/>
          <p:cNvSpPr txBox="1"/>
          <p:nvPr/>
        </p:nvSpPr>
        <p:spPr>
          <a:xfrm>
            <a:off x="7512050" y="1943202"/>
            <a:ext cx="3780409" cy="240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1° is 4096 ÷ 360 ≈ 11.38 ticks.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0"/>
          <p:cNvSpPr/>
          <p:nvPr/>
        </p:nvSpPr>
        <p:spPr>
          <a:xfrm>
            <a:off x="7318375" y="2457946"/>
            <a:ext cx="4057650" cy="1067991"/>
          </a:xfrm>
          <a:prstGeom prst="roundRect">
            <a:avLst>
              <a:gd fmla="val 9216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40"/>
          <p:cNvSpPr txBox="1"/>
          <p:nvPr/>
        </p:nvSpPr>
        <p:spPr>
          <a:xfrm>
            <a:off x="7512050" y="2606464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45° IS 512 TICKS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0"/>
          <p:cNvSpPr txBox="1"/>
          <p:nvPr/>
        </p:nvSpPr>
        <p:spPr>
          <a:xfrm>
            <a:off x="7512050" y="2865787"/>
            <a:ext cx="3817112" cy="504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shoulder or elbow. The base motor is geared 3 to 1, so 45° of base is 1536 ticks.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0"/>
          <p:cNvSpPr/>
          <p:nvPr/>
        </p:nvSpPr>
        <p:spPr>
          <a:xfrm>
            <a:off x="7318375" y="3633887"/>
            <a:ext cx="4057650" cy="1256506"/>
          </a:xfrm>
          <a:prstGeom prst="roundRect">
            <a:avLst>
              <a:gd fmla="val 7833" name="adj"/>
            </a:avLst>
          </a:prstGeom>
          <a:solidFill>
            <a:srgbClr val="FFFFFF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0"/>
          <p:cNvSpPr txBox="1"/>
          <p:nvPr/>
        </p:nvSpPr>
        <p:spPr>
          <a:xfrm>
            <a:off x="7512050" y="3782405"/>
            <a:ext cx="3780409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ZERO_TICKS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0"/>
          <p:cNvSpPr txBox="1"/>
          <p:nvPr/>
        </p:nvSpPr>
        <p:spPr>
          <a:xfrm>
            <a:off x="7512050" y="4043482"/>
            <a:ext cx="3733800" cy="691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the ticks with the arm in its zero pose. 2048 is only the servo centre value used in waypoint.py. The motor direction may also need a sign flip.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vertical and forearm horizontal" id="1241" name="Google Shape;124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495" y="215900"/>
            <a:ext cx="1599505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1"/>
          <p:cNvSpPr txBox="1"/>
          <p:nvPr/>
        </p:nvSpPr>
        <p:spPr>
          <a:xfrm>
            <a:off x="812800" y="653343"/>
            <a:ext cx="837184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41"/>
          <p:cNvSpPr txBox="1"/>
          <p:nvPr>
            <p:ph type="title"/>
          </p:nvPr>
        </p:nvSpPr>
        <p:spPr>
          <a:xfrm>
            <a:off x="812800" y="884302"/>
            <a:ext cx="8371840" cy="43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We Learned</a:t>
            </a:r>
            <a:endParaRPr sz="2800"/>
          </a:p>
        </p:txBody>
      </p:sp>
      <p:sp>
        <p:nvSpPr>
          <p:cNvPr id="1249" name="Google Shape;1249;p41"/>
          <p:cNvSpPr/>
          <p:nvPr/>
        </p:nvSpPr>
        <p:spPr>
          <a:xfrm>
            <a:off x="815975" y="1522016"/>
            <a:ext cx="5200650" cy="1029791"/>
          </a:xfrm>
          <a:prstGeom prst="roundRect">
            <a:avLst>
              <a:gd fmla="val 95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1"/>
          <p:cNvSpPr/>
          <p:nvPr/>
        </p:nvSpPr>
        <p:spPr>
          <a:xfrm>
            <a:off x="996950" y="166489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41"/>
          <p:cNvSpPr txBox="1"/>
          <p:nvPr/>
        </p:nvSpPr>
        <p:spPr>
          <a:xfrm>
            <a:off x="991235" y="1657300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41"/>
          <p:cNvSpPr txBox="1"/>
          <p:nvPr/>
        </p:nvSpPr>
        <p:spPr>
          <a:xfrm>
            <a:off x="1504950" y="1648259"/>
            <a:ext cx="4460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tested function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41"/>
          <p:cNvSpPr txBox="1"/>
          <p:nvPr/>
        </p:nvSpPr>
        <p:spPr>
          <a:xfrm>
            <a:off x="1504950" y="1924757"/>
            <a:ext cx="4503928" cy="4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forward_kinematics turns three joint angles into the tip position, and check_fk.py proves it.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41"/>
          <p:cNvSpPr/>
          <p:nvPr/>
        </p:nvSpPr>
        <p:spPr>
          <a:xfrm>
            <a:off x="6175375" y="1522016"/>
            <a:ext cx="5200650" cy="1029791"/>
          </a:xfrm>
          <a:prstGeom prst="roundRect">
            <a:avLst>
              <a:gd fmla="val 95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1"/>
          <p:cNvSpPr/>
          <p:nvPr/>
        </p:nvSpPr>
        <p:spPr>
          <a:xfrm>
            <a:off x="6356350" y="166489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1"/>
          <p:cNvSpPr txBox="1"/>
          <p:nvPr/>
        </p:nvSpPr>
        <p:spPr>
          <a:xfrm>
            <a:off x="6350635" y="1657300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41"/>
          <p:cNvSpPr txBox="1"/>
          <p:nvPr/>
        </p:nvSpPr>
        <p:spPr>
          <a:xfrm>
            <a:off x="6864350" y="1648259"/>
            <a:ext cx="4460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methods, one answer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41"/>
          <p:cNvSpPr txBox="1"/>
          <p:nvPr/>
        </p:nvSpPr>
        <p:spPr>
          <a:xfrm>
            <a:off x="6864350" y="1924757"/>
            <a:ext cx="4503928" cy="4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Trigonometry, DH and screw theory all give (301.78, 301.78, 176.78) for 45°, 45°, 45°.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41"/>
          <p:cNvSpPr/>
          <p:nvPr/>
        </p:nvSpPr>
        <p:spPr>
          <a:xfrm>
            <a:off x="815975" y="2761357"/>
            <a:ext cx="5200650" cy="1029791"/>
          </a:xfrm>
          <a:prstGeom prst="roundRect">
            <a:avLst>
              <a:gd fmla="val 95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1"/>
          <p:cNvSpPr/>
          <p:nvPr/>
        </p:nvSpPr>
        <p:spPr>
          <a:xfrm>
            <a:off x="996950" y="2904232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41"/>
          <p:cNvSpPr txBox="1"/>
          <p:nvPr/>
        </p:nvSpPr>
        <p:spPr>
          <a:xfrm>
            <a:off x="991235" y="2896641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1"/>
          <p:cNvSpPr txBox="1"/>
          <p:nvPr/>
        </p:nvSpPr>
        <p:spPr>
          <a:xfrm>
            <a:off x="1504950" y="2887600"/>
            <a:ext cx="4460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tests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41"/>
          <p:cNvSpPr txBox="1"/>
          <p:nvPr/>
        </p:nvSpPr>
        <p:spPr>
          <a:xfrm>
            <a:off x="1504950" y="3164098"/>
            <a:ext cx="4503928" cy="4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Poses we can check by eye, like the straight-up arm, catch bugs fast.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41"/>
          <p:cNvSpPr/>
          <p:nvPr/>
        </p:nvSpPr>
        <p:spPr>
          <a:xfrm>
            <a:off x="6175375" y="2761357"/>
            <a:ext cx="5200650" cy="1029791"/>
          </a:xfrm>
          <a:prstGeom prst="roundRect">
            <a:avLst>
              <a:gd fmla="val 9558" name="adj"/>
            </a:avLst>
          </a:prstGeom>
          <a:solidFill>
            <a:srgbClr val="FFFFFF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1"/>
          <p:cNvSpPr/>
          <p:nvPr/>
        </p:nvSpPr>
        <p:spPr>
          <a:xfrm>
            <a:off x="6356350" y="2904232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1"/>
          <p:cNvSpPr txBox="1"/>
          <p:nvPr/>
        </p:nvSpPr>
        <p:spPr>
          <a:xfrm>
            <a:off x="6350635" y="2896641"/>
            <a:ext cx="39243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1"/>
          <p:cNvSpPr txBox="1"/>
          <p:nvPr/>
        </p:nvSpPr>
        <p:spPr>
          <a:xfrm>
            <a:off x="6864350" y="2887600"/>
            <a:ext cx="4460621" cy="2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reach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1"/>
          <p:cNvSpPr txBox="1"/>
          <p:nvPr/>
        </p:nvSpPr>
        <p:spPr>
          <a:xfrm>
            <a:off x="6864350" y="3164098"/>
            <a:ext cx="4503928" cy="4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111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Calling the function thousands of times maps where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tip can go.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41"/>
          <p:cNvSpPr/>
          <p:nvPr/>
        </p:nvSpPr>
        <p:spPr>
          <a:xfrm>
            <a:off x="812800" y="3997523"/>
            <a:ext cx="10566400" cy="1308695"/>
          </a:xfrm>
          <a:prstGeom prst="roundRect">
            <a:avLst>
              <a:gd fmla="val 7763" name="adj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1"/>
          <p:cNvSpPr txBox="1"/>
          <p:nvPr/>
        </p:nvSpPr>
        <p:spPr>
          <a:xfrm>
            <a:off x="1041400" y="4168267"/>
            <a:ext cx="10363200" cy="2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NEXT: LESSON 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41"/>
          <p:cNvSpPr txBox="1"/>
          <p:nvPr/>
        </p:nvSpPr>
        <p:spPr>
          <a:xfrm>
            <a:off x="1041400" y="4455166"/>
            <a:ext cx="10363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Trigonometric Approach to Inverse Kinematics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41"/>
          <p:cNvSpPr txBox="1"/>
          <p:nvPr/>
        </p:nvSpPr>
        <p:spPr>
          <a:xfrm>
            <a:off x="1041400" y="4859223"/>
            <a:ext cx="10363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Going the other way: from a target position back to the joint angles.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ree-quarter view of the robotic arm on its base, upper arm leaning forward and forearm horizontal" id="1273" name="Google Shape;127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6685" y="215900"/>
            <a:ext cx="2180530" cy="12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Robotic Arm Course">
  <a:themeElements>
    <a:clrScheme name="Robotic Arm Course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6AA84F"/>
      </a:accent1>
      <a:accent2>
        <a:srgbClr val="F1C232"/>
      </a:accent2>
      <a:accent3>
        <a:srgbClr val="FF0000"/>
      </a:accent3>
      <a:accent4>
        <a:srgbClr val="1155CC"/>
      </a:accent4>
      <a:accent5>
        <a:srgbClr val="666666"/>
      </a:accent5>
      <a:accent6>
        <a:srgbClr val="38761D"/>
      </a:accent6>
      <a:hlink>
        <a:srgbClr val="1155CC"/>
      </a:hlink>
      <a:folHlink>
        <a:srgbClr val="66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obotic Arm Course">
  <a:themeElements>
    <a:clrScheme name="Robotic Arm Course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6AA84F"/>
      </a:accent1>
      <a:accent2>
        <a:srgbClr val="F1C232"/>
      </a:accent2>
      <a:accent3>
        <a:srgbClr val="FF0000"/>
      </a:accent3>
      <a:accent4>
        <a:srgbClr val="1155CC"/>
      </a:accent4>
      <a:accent5>
        <a:srgbClr val="666666"/>
      </a:accent5>
      <a:accent6>
        <a:srgbClr val="38761D"/>
      </a:accent6>
      <a:hlink>
        <a:srgbClr val="1155CC"/>
      </a:hlink>
      <a:folHlink>
        <a:srgbClr val="66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