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5c91e6a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5c91e6a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5c91e6af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5c91e6af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5c91e6af3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5c91e6af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5c91e6af3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5c91e6af3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5c91e6af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5c91e6af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5c91e6af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5c91e6af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5c91e6af3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5c91e6af3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5c91e6af3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5c91e6af3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5c91e6af3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5c91e6af3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5c91e6af3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5c91e6af3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5c91e6af3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5c91e6af3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5c91e6af3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5c91e6af3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5c91e6af3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5c91e6af3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5c91e6af3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5c91e6af3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5c91e6af3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5c91e6af3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5c91e6af3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f5c91e6af3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5cca99f71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5cca99f7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5c91e6af3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f5c91e6af3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f5cd2536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f5cd2536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5cd25361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f5cd25361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5cd25361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f5cd25361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hyperlink" Target="https://www.universal-robots.com/products/ur-series/" TargetMode="External"/><Relationship Id="rId5" Type="http://schemas.openxmlformats.org/officeDocument/2006/relationships/hyperlink" Target="https://www.universal-robots.com/products/ur-seri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7.png"/><Relationship Id="rId4" Type="http://schemas.openxmlformats.org/officeDocument/2006/relationships/hyperlink" Target="https://www.universal-robots.com/products/ur-series/" TargetMode="External"/><Relationship Id="rId5" Type="http://schemas.openxmlformats.org/officeDocument/2006/relationships/hyperlink" Target="https://www.universal-robots.com/products/ur-series/" TargetMode="External"/><Relationship Id="rId6"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hyperlink" Target="https://www.cubemars.com/product/akh70-48-v-1-0-kv41-hollow-shaft-planetary-actuator.html" TargetMode="External"/><Relationship Id="rId5" Type="http://schemas.openxmlformats.org/officeDocument/2006/relationships/hyperlink" Target="https://www.cubemars.com/product/akh70-48-v-1-0-kv41-hollow-shaft-planetary-actuator.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hyperlink" Target="https://www.universal-robots.com/products/ur-series/" TargetMode="External"/><Relationship Id="rId5" Type="http://schemas.openxmlformats.org/officeDocument/2006/relationships/hyperlink" Target="https://www.universal-robots.com/products/ur-serie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hyperlink" Target="https://www.universal-robots.com/products/ur-series/" TargetMode="External"/><Relationship Id="rId5" Type="http://schemas.openxmlformats.org/officeDocument/2006/relationships/hyperlink" Target="https://www.universal-robots.com/products/ur-serie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hyperlink" Target="https://www.universal-robots.com/products/ur-series/" TargetMode="External"/><Relationship Id="rId5" Type="http://schemas.openxmlformats.org/officeDocument/2006/relationships/hyperlink" Target="https://www.universal-robots.com/products/ur-seri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universal-robots.com/products/ur-series/" TargetMode="External"/><Relationship Id="rId4" Type="http://schemas.openxmlformats.org/officeDocument/2006/relationships/hyperlink" Target="https://www.universal-robots.com/products/ur-series/" TargetMode="External"/><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www.youtube.com/watch?v=yYUuWWnfRsk" TargetMode="External"/><Relationship Id="rId4" Type="http://schemas.openxmlformats.org/officeDocument/2006/relationships/image" Target="../media/image15.jpg"/><Relationship Id="rId5" Type="http://schemas.openxmlformats.org/officeDocument/2006/relationships/hyperlink" Target="http://www.youtube.com/watch?v=DZXqX18ywSs" TargetMode="External"/><Relationship Id="rId6"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www.youtube.com/watch?v=hVvs6_Wx2HM" TargetMode="External"/><Relationship Id="rId4" Type="http://schemas.openxmlformats.org/officeDocument/2006/relationships/image" Target="../media/image30.jpg"/><Relationship Id="rId5"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www.youtube.com/watch?v=3Stkpd132kU" TargetMode="External"/><Relationship Id="rId4" Type="http://schemas.openxmlformats.org/officeDocument/2006/relationships/image" Target="../media/image17.jpg"/><Relationship Id="rId5" Type="http://schemas.openxmlformats.org/officeDocument/2006/relationships/hyperlink" Target="http://www.youtube.com/watch?v=CAdTjePDBfc" TargetMode="External"/><Relationship Id="rId6" Type="http://schemas.openxmlformats.org/officeDocument/2006/relationships/image" Target="../media/image2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0" y="0"/>
            <a:ext cx="9144000" cy="675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3000"/>
              <a:t>Introduction to the Robotic Arm</a:t>
            </a:r>
            <a:endParaRPr b="1" sz="3000"/>
          </a:p>
        </p:txBody>
      </p:sp>
      <p:pic>
        <p:nvPicPr>
          <p:cNvPr id="55" name="Google Shape;55;p13"/>
          <p:cNvPicPr preferRelativeResize="0"/>
          <p:nvPr/>
        </p:nvPicPr>
        <p:blipFill>
          <a:blip r:embed="rId3">
            <a:alphaModFix/>
          </a:blip>
          <a:stretch>
            <a:fillRect/>
          </a:stretch>
        </p:blipFill>
        <p:spPr>
          <a:xfrm>
            <a:off x="0" y="3709476"/>
            <a:ext cx="2551251" cy="1434025"/>
          </a:xfrm>
          <a:prstGeom prst="rect">
            <a:avLst/>
          </a:prstGeom>
          <a:noFill/>
          <a:ln>
            <a:noFill/>
          </a:ln>
        </p:spPr>
      </p:pic>
      <p:pic>
        <p:nvPicPr>
          <p:cNvPr id="56" name="Google Shape;56;p13"/>
          <p:cNvPicPr preferRelativeResize="0"/>
          <p:nvPr/>
        </p:nvPicPr>
        <p:blipFill>
          <a:blip r:embed="rId4">
            <a:alphaModFix/>
          </a:blip>
          <a:stretch>
            <a:fillRect/>
          </a:stretch>
        </p:blipFill>
        <p:spPr>
          <a:xfrm>
            <a:off x="2634077" y="3709475"/>
            <a:ext cx="2548025" cy="1434025"/>
          </a:xfrm>
          <a:prstGeom prst="rect">
            <a:avLst/>
          </a:prstGeom>
          <a:noFill/>
          <a:ln>
            <a:noFill/>
          </a:ln>
        </p:spPr>
      </p:pic>
      <p:pic>
        <p:nvPicPr>
          <p:cNvPr id="57" name="Google Shape;57;p13"/>
          <p:cNvPicPr preferRelativeResize="0"/>
          <p:nvPr/>
        </p:nvPicPr>
        <p:blipFill>
          <a:blip r:embed="rId5">
            <a:alphaModFix/>
          </a:blip>
          <a:stretch>
            <a:fillRect/>
          </a:stretch>
        </p:blipFill>
        <p:spPr>
          <a:xfrm>
            <a:off x="2844300" y="1797777"/>
            <a:ext cx="957405" cy="1839226"/>
          </a:xfrm>
          <a:prstGeom prst="rect">
            <a:avLst/>
          </a:prstGeom>
          <a:noFill/>
          <a:ln>
            <a:noFill/>
          </a:ln>
        </p:spPr>
      </p:pic>
      <p:pic>
        <p:nvPicPr>
          <p:cNvPr id="58" name="Google Shape;58;p13"/>
          <p:cNvPicPr preferRelativeResize="0"/>
          <p:nvPr/>
        </p:nvPicPr>
        <p:blipFill>
          <a:blip r:embed="rId6">
            <a:alphaModFix/>
          </a:blip>
          <a:stretch>
            <a:fillRect/>
          </a:stretch>
        </p:blipFill>
        <p:spPr>
          <a:xfrm>
            <a:off x="0" y="1797777"/>
            <a:ext cx="2757499" cy="1839223"/>
          </a:xfrm>
          <a:prstGeom prst="rect">
            <a:avLst/>
          </a:prstGeom>
          <a:noFill/>
          <a:ln>
            <a:noFill/>
          </a:ln>
        </p:spPr>
      </p:pic>
      <p:pic>
        <p:nvPicPr>
          <p:cNvPr id="59" name="Google Shape;59;p13" title="Main ASM (1).png"/>
          <p:cNvPicPr preferRelativeResize="0"/>
          <p:nvPr/>
        </p:nvPicPr>
        <p:blipFill rotWithShape="1">
          <a:blip r:embed="rId7">
            <a:alphaModFix/>
          </a:blip>
          <a:srcRect b="4707" l="0" r="2922" t="0"/>
          <a:stretch/>
        </p:blipFill>
        <p:spPr>
          <a:xfrm>
            <a:off x="4174425" y="1435425"/>
            <a:ext cx="4919752" cy="3732575"/>
          </a:xfrm>
          <a:prstGeom prst="rect">
            <a:avLst/>
          </a:prstGeom>
          <a:noFill/>
          <a:ln>
            <a:noFill/>
          </a:ln>
        </p:spPr>
      </p:pic>
      <p:sp>
        <p:nvSpPr>
          <p:cNvPr id="60" name="Google Shape;60;p13"/>
          <p:cNvSpPr txBox="1"/>
          <p:nvPr/>
        </p:nvSpPr>
        <p:spPr>
          <a:xfrm>
            <a:off x="311700" y="527721"/>
            <a:ext cx="85206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n" sz="2000">
                <a:solidFill>
                  <a:srgbClr val="595959"/>
                </a:solidFill>
              </a:rPr>
              <a:t>By Joseph Ruhan</a:t>
            </a:r>
            <a:endParaRPr sz="2000">
              <a:solidFill>
                <a:srgbClr val="59595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020"/>
              <a:t>What Defines a Robotic Arm?</a:t>
            </a:r>
            <a:endParaRPr b="1" sz="3020"/>
          </a:p>
        </p:txBody>
      </p:sp>
      <p:pic>
        <p:nvPicPr>
          <p:cNvPr id="66" name="Google Shape;66;p14"/>
          <p:cNvPicPr preferRelativeResize="0"/>
          <p:nvPr/>
        </p:nvPicPr>
        <p:blipFill>
          <a:blip r:embed="rId3">
            <a:alphaModFix/>
          </a:blip>
          <a:stretch>
            <a:fillRect/>
          </a:stretch>
        </p:blipFill>
        <p:spPr>
          <a:xfrm>
            <a:off x="0" y="891872"/>
            <a:ext cx="4735714" cy="3551803"/>
          </a:xfrm>
          <a:prstGeom prst="rect">
            <a:avLst/>
          </a:prstGeom>
          <a:noFill/>
          <a:ln>
            <a:noFill/>
          </a:ln>
        </p:spPr>
      </p:pic>
      <p:sp>
        <p:nvSpPr>
          <p:cNvPr id="67" name="Google Shape;67;p14">
            <a:hlinkClick r:id="rId4"/>
          </p:cNvPr>
          <p:cNvSpPr txBox="1"/>
          <p:nvPr/>
        </p:nvSpPr>
        <p:spPr>
          <a:xfrm>
            <a:off x="0" y="4758600"/>
            <a:ext cx="4896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hlink"/>
                </a:solidFill>
                <a:hlinkClick r:id="rId5"/>
              </a:rPr>
              <a:t>Image Credit: Universal Robots</a:t>
            </a:r>
            <a:endParaRPr sz="1300">
              <a:solidFill>
                <a:schemeClr val="dk2"/>
              </a:solidFill>
            </a:endParaRPr>
          </a:p>
        </p:txBody>
      </p:sp>
      <p:cxnSp>
        <p:nvCxnSpPr>
          <p:cNvPr id="68" name="Google Shape;68;p14"/>
          <p:cNvCxnSpPr>
            <a:stCxn id="69" idx="1"/>
          </p:cNvCxnSpPr>
          <p:nvPr/>
        </p:nvCxnSpPr>
        <p:spPr>
          <a:xfrm flipH="1">
            <a:off x="2082853" y="943450"/>
            <a:ext cx="2201400" cy="1137600"/>
          </a:xfrm>
          <a:prstGeom prst="straightConnector1">
            <a:avLst/>
          </a:prstGeom>
          <a:noFill/>
          <a:ln cap="flat" cmpd="sng" w="36150">
            <a:solidFill>
              <a:srgbClr val="1155CC"/>
            </a:solidFill>
            <a:prstDash val="solid"/>
            <a:round/>
            <a:headEnd len="med" w="med" type="none"/>
            <a:tailEnd len="med" w="med" type="triangle"/>
          </a:ln>
        </p:spPr>
      </p:cxnSp>
      <p:sp>
        <p:nvSpPr>
          <p:cNvPr id="69" name="Google Shape;69;p14"/>
          <p:cNvSpPr txBox="1"/>
          <p:nvPr/>
        </p:nvSpPr>
        <p:spPr>
          <a:xfrm>
            <a:off x="4284253" y="724450"/>
            <a:ext cx="3799200" cy="438000"/>
          </a:xfrm>
          <a:prstGeom prst="rect">
            <a:avLst/>
          </a:prstGeom>
          <a:noFill/>
          <a:ln>
            <a:noFill/>
          </a:ln>
        </p:spPr>
        <p:txBody>
          <a:bodyPr anchorCtr="0" anchor="t" bIns="86725" lIns="86725" spcFirstLastPara="1" rIns="86725" wrap="square" tIns="86725">
            <a:spAutoFit/>
          </a:bodyPr>
          <a:lstStyle/>
          <a:p>
            <a:pPr indent="0" lvl="0" marL="0" rtl="0" algn="l">
              <a:spcBef>
                <a:spcPts val="0"/>
              </a:spcBef>
              <a:spcAft>
                <a:spcPts val="0"/>
              </a:spcAft>
              <a:buNone/>
            </a:pPr>
            <a:r>
              <a:rPr lang="en" sz="1708">
                <a:solidFill>
                  <a:schemeClr val="dk2"/>
                </a:solidFill>
              </a:rPr>
              <a:t>End Effector</a:t>
            </a:r>
            <a:endParaRPr sz="1708">
              <a:solidFill>
                <a:schemeClr val="dk2"/>
              </a:solidFill>
            </a:endParaRPr>
          </a:p>
        </p:txBody>
      </p:sp>
      <p:sp>
        <p:nvSpPr>
          <p:cNvPr id="70" name="Google Shape;70;p14"/>
          <p:cNvSpPr txBox="1"/>
          <p:nvPr/>
        </p:nvSpPr>
        <p:spPr>
          <a:xfrm>
            <a:off x="4875675" y="2667774"/>
            <a:ext cx="3799200" cy="438000"/>
          </a:xfrm>
          <a:prstGeom prst="rect">
            <a:avLst/>
          </a:prstGeom>
          <a:noFill/>
          <a:ln>
            <a:noFill/>
          </a:ln>
        </p:spPr>
        <p:txBody>
          <a:bodyPr anchorCtr="0" anchor="t" bIns="86725" lIns="86725" spcFirstLastPara="1" rIns="86725" wrap="square" tIns="86725">
            <a:spAutoFit/>
          </a:bodyPr>
          <a:lstStyle/>
          <a:p>
            <a:pPr indent="0" lvl="0" marL="0" rtl="0" algn="l">
              <a:spcBef>
                <a:spcPts val="0"/>
              </a:spcBef>
              <a:spcAft>
                <a:spcPts val="0"/>
              </a:spcAft>
              <a:buNone/>
            </a:pPr>
            <a:r>
              <a:rPr lang="en" sz="1708">
                <a:solidFill>
                  <a:schemeClr val="dk2"/>
                </a:solidFill>
              </a:rPr>
              <a:t>Joints</a:t>
            </a:r>
            <a:endParaRPr sz="1708">
              <a:solidFill>
                <a:schemeClr val="dk2"/>
              </a:solidFill>
            </a:endParaRPr>
          </a:p>
        </p:txBody>
      </p:sp>
      <p:cxnSp>
        <p:nvCxnSpPr>
          <p:cNvPr id="71" name="Google Shape;71;p14"/>
          <p:cNvCxnSpPr>
            <a:stCxn id="70" idx="1"/>
          </p:cNvCxnSpPr>
          <p:nvPr/>
        </p:nvCxnSpPr>
        <p:spPr>
          <a:xfrm rot="10800000">
            <a:off x="3546375" y="2678574"/>
            <a:ext cx="1329300" cy="208200"/>
          </a:xfrm>
          <a:prstGeom prst="straightConnector1">
            <a:avLst/>
          </a:prstGeom>
          <a:noFill/>
          <a:ln cap="flat" cmpd="sng" w="36150">
            <a:solidFill>
              <a:srgbClr val="FFD966"/>
            </a:solidFill>
            <a:prstDash val="solid"/>
            <a:round/>
            <a:headEnd len="med" w="med" type="none"/>
            <a:tailEnd len="med" w="med" type="triangle"/>
          </a:ln>
        </p:spPr>
      </p:cxnSp>
      <p:cxnSp>
        <p:nvCxnSpPr>
          <p:cNvPr id="72" name="Google Shape;72;p14"/>
          <p:cNvCxnSpPr>
            <a:stCxn id="73" idx="1"/>
          </p:cNvCxnSpPr>
          <p:nvPr/>
        </p:nvCxnSpPr>
        <p:spPr>
          <a:xfrm flipH="1">
            <a:off x="2955975" y="1719513"/>
            <a:ext cx="1919700" cy="492300"/>
          </a:xfrm>
          <a:prstGeom prst="straightConnector1">
            <a:avLst/>
          </a:prstGeom>
          <a:noFill/>
          <a:ln cap="flat" cmpd="sng" w="36150">
            <a:solidFill>
              <a:srgbClr val="6AA84F"/>
            </a:solidFill>
            <a:prstDash val="solid"/>
            <a:round/>
            <a:headEnd len="med" w="med" type="none"/>
            <a:tailEnd len="med" w="med" type="triangle"/>
          </a:ln>
        </p:spPr>
      </p:cxnSp>
      <p:sp>
        <p:nvSpPr>
          <p:cNvPr id="73" name="Google Shape;73;p14"/>
          <p:cNvSpPr txBox="1"/>
          <p:nvPr/>
        </p:nvSpPr>
        <p:spPr>
          <a:xfrm>
            <a:off x="4875675" y="1500513"/>
            <a:ext cx="3799200" cy="438000"/>
          </a:xfrm>
          <a:prstGeom prst="rect">
            <a:avLst/>
          </a:prstGeom>
          <a:noFill/>
          <a:ln>
            <a:noFill/>
          </a:ln>
        </p:spPr>
        <p:txBody>
          <a:bodyPr anchorCtr="0" anchor="t" bIns="86725" lIns="86725" spcFirstLastPara="1" rIns="86725" wrap="square" tIns="86725">
            <a:spAutoFit/>
          </a:bodyPr>
          <a:lstStyle/>
          <a:p>
            <a:pPr indent="0" lvl="0" marL="0" rtl="0" algn="l">
              <a:spcBef>
                <a:spcPts val="0"/>
              </a:spcBef>
              <a:spcAft>
                <a:spcPts val="0"/>
              </a:spcAft>
              <a:buNone/>
            </a:pPr>
            <a:r>
              <a:rPr lang="en" sz="1708">
                <a:solidFill>
                  <a:schemeClr val="dk2"/>
                </a:solidFill>
              </a:rPr>
              <a:t>Rigid Links</a:t>
            </a:r>
            <a:endParaRPr sz="1708">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5"/>
          <p:cNvPicPr preferRelativeResize="0"/>
          <p:nvPr/>
        </p:nvPicPr>
        <p:blipFill>
          <a:blip r:embed="rId3">
            <a:alphaModFix/>
          </a:blip>
          <a:stretch>
            <a:fillRect/>
          </a:stretch>
        </p:blipFill>
        <p:spPr>
          <a:xfrm>
            <a:off x="0" y="572700"/>
            <a:ext cx="2706151" cy="3608202"/>
          </a:xfrm>
          <a:prstGeom prst="rect">
            <a:avLst/>
          </a:prstGeom>
          <a:noFill/>
          <a:ln>
            <a:noFill/>
          </a:ln>
        </p:spPr>
      </p:pic>
      <p:sp>
        <p:nvSpPr>
          <p:cNvPr id="79" name="Google Shape;79;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1C232"/>
                </a:solidFill>
              </a:rPr>
              <a:t>Joints</a:t>
            </a:r>
            <a:endParaRPr b="1">
              <a:solidFill>
                <a:srgbClr val="F1C232"/>
              </a:solidFill>
            </a:endParaRPr>
          </a:p>
        </p:txBody>
      </p:sp>
      <p:sp>
        <p:nvSpPr>
          <p:cNvPr id="80" name="Google Shape;80;p15">
            <a:hlinkClick r:id="rId4"/>
          </p:cNvPr>
          <p:cNvSpPr txBox="1"/>
          <p:nvPr/>
        </p:nvSpPr>
        <p:spPr>
          <a:xfrm>
            <a:off x="0" y="4758600"/>
            <a:ext cx="4896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hlink"/>
                </a:solidFill>
                <a:hlinkClick r:id="rId5"/>
              </a:rPr>
              <a:t>Image Credit: Universal Robots</a:t>
            </a:r>
            <a:endParaRPr sz="1300">
              <a:solidFill>
                <a:schemeClr val="dk2"/>
              </a:solidFill>
            </a:endParaRPr>
          </a:p>
        </p:txBody>
      </p:sp>
      <p:sp>
        <p:nvSpPr>
          <p:cNvPr id="81" name="Google Shape;81;p15"/>
          <p:cNvSpPr txBox="1"/>
          <p:nvPr/>
        </p:nvSpPr>
        <p:spPr>
          <a:xfrm>
            <a:off x="2706150" y="3048850"/>
            <a:ext cx="1030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1C232"/>
                </a:solidFill>
              </a:rPr>
              <a:t>Joints</a:t>
            </a:r>
            <a:endParaRPr b="1" sz="2000">
              <a:solidFill>
                <a:srgbClr val="F1C232"/>
              </a:solidFill>
            </a:endParaRPr>
          </a:p>
        </p:txBody>
      </p:sp>
      <p:cxnSp>
        <p:nvCxnSpPr>
          <p:cNvPr id="82" name="Google Shape;82;p15"/>
          <p:cNvCxnSpPr>
            <a:stCxn id="81" idx="1"/>
            <a:endCxn id="83" idx="3"/>
          </p:cNvCxnSpPr>
          <p:nvPr/>
        </p:nvCxnSpPr>
        <p:spPr>
          <a:xfrm rot="10800000">
            <a:off x="1942050" y="2980150"/>
            <a:ext cx="764100" cy="315000"/>
          </a:xfrm>
          <a:prstGeom prst="straightConnector1">
            <a:avLst/>
          </a:prstGeom>
          <a:noFill/>
          <a:ln cap="flat" cmpd="sng" w="38100">
            <a:solidFill>
              <a:srgbClr val="FFD966"/>
            </a:solidFill>
            <a:prstDash val="solid"/>
            <a:round/>
            <a:headEnd len="med" w="med" type="none"/>
            <a:tailEnd len="med" w="med" type="triangle"/>
          </a:ln>
        </p:spPr>
      </p:cxnSp>
      <p:pic>
        <p:nvPicPr>
          <p:cNvPr id="84" name="Google Shape;84;p15"/>
          <p:cNvPicPr preferRelativeResize="0"/>
          <p:nvPr/>
        </p:nvPicPr>
        <p:blipFill>
          <a:blip r:embed="rId6">
            <a:alphaModFix/>
          </a:blip>
          <a:stretch>
            <a:fillRect/>
          </a:stretch>
        </p:blipFill>
        <p:spPr>
          <a:xfrm>
            <a:off x="163588" y="1810688"/>
            <a:ext cx="487175" cy="487175"/>
          </a:xfrm>
          <a:prstGeom prst="rect">
            <a:avLst/>
          </a:prstGeom>
          <a:noFill/>
          <a:ln>
            <a:noFill/>
          </a:ln>
        </p:spPr>
      </p:pic>
      <p:sp>
        <p:nvSpPr>
          <p:cNvPr id="85" name="Google Shape;85;p15"/>
          <p:cNvSpPr/>
          <p:nvPr/>
        </p:nvSpPr>
        <p:spPr>
          <a:xfrm>
            <a:off x="338625" y="1985725"/>
            <a:ext cx="137100" cy="137100"/>
          </a:xfrm>
          <a:prstGeom prst="ellipse">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3" name="Google Shape;83;p15"/>
          <p:cNvPicPr preferRelativeResize="0"/>
          <p:nvPr/>
        </p:nvPicPr>
        <p:blipFill>
          <a:blip r:embed="rId6">
            <a:alphaModFix/>
          </a:blip>
          <a:stretch>
            <a:fillRect/>
          </a:stretch>
        </p:blipFill>
        <p:spPr>
          <a:xfrm>
            <a:off x="1454788" y="2736713"/>
            <a:ext cx="487175" cy="487175"/>
          </a:xfrm>
          <a:prstGeom prst="rect">
            <a:avLst/>
          </a:prstGeom>
          <a:noFill/>
          <a:ln>
            <a:noFill/>
          </a:ln>
        </p:spPr>
      </p:pic>
      <p:sp>
        <p:nvSpPr>
          <p:cNvPr id="86" name="Google Shape;86;p15"/>
          <p:cNvSpPr/>
          <p:nvPr/>
        </p:nvSpPr>
        <p:spPr>
          <a:xfrm>
            <a:off x="1629825" y="2911750"/>
            <a:ext cx="137100" cy="137100"/>
          </a:xfrm>
          <a:prstGeom prst="ellipse">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7" name="Google Shape;87;p15"/>
          <p:cNvPicPr preferRelativeResize="0"/>
          <p:nvPr/>
        </p:nvPicPr>
        <p:blipFill>
          <a:blip r:embed="rId6">
            <a:alphaModFix/>
          </a:blip>
          <a:stretch>
            <a:fillRect/>
          </a:stretch>
        </p:blipFill>
        <p:spPr>
          <a:xfrm>
            <a:off x="1296563" y="1080013"/>
            <a:ext cx="487175" cy="487175"/>
          </a:xfrm>
          <a:prstGeom prst="rect">
            <a:avLst/>
          </a:prstGeom>
          <a:noFill/>
          <a:ln>
            <a:noFill/>
          </a:ln>
        </p:spPr>
      </p:pic>
      <p:sp>
        <p:nvSpPr>
          <p:cNvPr id="88" name="Google Shape;88;p15"/>
          <p:cNvSpPr/>
          <p:nvPr/>
        </p:nvSpPr>
        <p:spPr>
          <a:xfrm>
            <a:off x="1471600" y="1255050"/>
            <a:ext cx="137100" cy="137100"/>
          </a:xfrm>
          <a:prstGeom prst="ellipse">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5"/>
          <p:cNvSpPr txBox="1"/>
          <p:nvPr/>
        </p:nvSpPr>
        <p:spPr>
          <a:xfrm>
            <a:off x="2994025" y="687925"/>
            <a:ext cx="615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Joints are the rotating connections between segments of the arm. Joints are powered by actuators.</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6"/>
          <p:cNvPicPr preferRelativeResize="0"/>
          <p:nvPr/>
        </p:nvPicPr>
        <p:blipFill rotWithShape="1">
          <a:blip r:embed="rId3">
            <a:alphaModFix/>
          </a:blip>
          <a:srcRect b="0" l="19452" r="0" t="0"/>
          <a:stretch/>
        </p:blipFill>
        <p:spPr>
          <a:xfrm>
            <a:off x="0" y="764125"/>
            <a:ext cx="3591325" cy="3508985"/>
          </a:xfrm>
          <a:prstGeom prst="rect">
            <a:avLst/>
          </a:prstGeom>
          <a:noFill/>
          <a:ln>
            <a:noFill/>
          </a:ln>
        </p:spPr>
      </p:pic>
      <p:sp>
        <p:nvSpPr>
          <p:cNvPr id="95" name="Google Shape;95;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85200C"/>
                </a:solidFill>
              </a:rPr>
              <a:t>Actuators</a:t>
            </a:r>
            <a:endParaRPr b="1">
              <a:solidFill>
                <a:srgbClr val="85200C"/>
              </a:solidFill>
            </a:endParaRPr>
          </a:p>
        </p:txBody>
      </p:sp>
      <p:sp>
        <p:nvSpPr>
          <p:cNvPr id="96" name="Google Shape;96;p16">
            <a:hlinkClick r:id="rId4"/>
          </p:cNvPr>
          <p:cNvSpPr txBox="1"/>
          <p:nvPr/>
        </p:nvSpPr>
        <p:spPr>
          <a:xfrm>
            <a:off x="0" y="4758600"/>
            <a:ext cx="4896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hlink"/>
                </a:solidFill>
                <a:hlinkClick r:id="rId5"/>
              </a:rPr>
              <a:t>Image Credit: CubeMars</a:t>
            </a:r>
            <a:endParaRPr sz="1300">
              <a:solidFill>
                <a:schemeClr val="dk2"/>
              </a:solidFill>
            </a:endParaRPr>
          </a:p>
        </p:txBody>
      </p:sp>
      <p:sp>
        <p:nvSpPr>
          <p:cNvPr id="97" name="Google Shape;97;p16"/>
          <p:cNvSpPr txBox="1"/>
          <p:nvPr/>
        </p:nvSpPr>
        <p:spPr>
          <a:xfrm>
            <a:off x="2994025" y="687925"/>
            <a:ext cx="6150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Actuators are the components that drive rotation of joints.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They are most often composed of a motor and a gearbox.</a:t>
            </a:r>
            <a:br>
              <a:rPr lang="en" sz="2000"/>
            </a:br>
            <a:br>
              <a:rPr lang="en" sz="2000"/>
            </a:br>
            <a:r>
              <a:rPr lang="en" sz="2000"/>
              <a:t>Gearboxes are sets of gears that reduce speed in exchange for increasing torque.</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7"/>
          <p:cNvPicPr preferRelativeResize="0"/>
          <p:nvPr/>
        </p:nvPicPr>
        <p:blipFill>
          <a:blip r:embed="rId3">
            <a:alphaModFix/>
          </a:blip>
          <a:stretch>
            <a:fillRect/>
          </a:stretch>
        </p:blipFill>
        <p:spPr>
          <a:xfrm>
            <a:off x="0" y="1143900"/>
            <a:ext cx="4572000" cy="3428993"/>
          </a:xfrm>
          <a:prstGeom prst="rect">
            <a:avLst/>
          </a:prstGeom>
          <a:noFill/>
          <a:ln>
            <a:noFill/>
          </a:ln>
        </p:spPr>
      </p:pic>
      <p:sp>
        <p:nvSpPr>
          <p:cNvPr id="103" name="Google Shape;103;p1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85200C"/>
                </a:solidFill>
              </a:rPr>
              <a:t>Encoders</a:t>
            </a:r>
            <a:endParaRPr b="1">
              <a:solidFill>
                <a:srgbClr val="85200C"/>
              </a:solidFill>
            </a:endParaRPr>
          </a:p>
        </p:txBody>
      </p:sp>
      <p:sp>
        <p:nvSpPr>
          <p:cNvPr id="104" name="Google Shape;104;p17"/>
          <p:cNvSpPr txBox="1"/>
          <p:nvPr/>
        </p:nvSpPr>
        <p:spPr>
          <a:xfrm>
            <a:off x="3659125" y="687925"/>
            <a:ext cx="54849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Encoders measure the rotation of an actuator.</a:t>
            </a:r>
            <a:br>
              <a:rPr lang="en" sz="2000"/>
            </a:br>
            <a:br>
              <a:rPr lang="en" sz="2000"/>
            </a:br>
            <a:r>
              <a:rPr lang="en" sz="2000"/>
              <a:t>They measure rotation by measuring the strength of a magnetic field of a magnet attached to the actuator’s rotation.</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8"/>
          <p:cNvPicPr preferRelativeResize="0"/>
          <p:nvPr/>
        </p:nvPicPr>
        <p:blipFill>
          <a:blip r:embed="rId3">
            <a:alphaModFix/>
          </a:blip>
          <a:stretch>
            <a:fillRect/>
          </a:stretch>
        </p:blipFill>
        <p:spPr>
          <a:xfrm>
            <a:off x="0" y="572700"/>
            <a:ext cx="2811002" cy="3748003"/>
          </a:xfrm>
          <a:prstGeom prst="rect">
            <a:avLst/>
          </a:prstGeom>
          <a:noFill/>
          <a:ln>
            <a:noFill/>
          </a:ln>
        </p:spPr>
      </p:pic>
      <p:sp>
        <p:nvSpPr>
          <p:cNvPr id="110" name="Google Shape;110;p1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6AA84F"/>
                </a:solidFill>
              </a:rPr>
              <a:t>Rigid Links</a:t>
            </a:r>
            <a:endParaRPr b="1">
              <a:solidFill>
                <a:srgbClr val="6AA84F"/>
              </a:solidFill>
            </a:endParaRPr>
          </a:p>
        </p:txBody>
      </p:sp>
      <p:sp>
        <p:nvSpPr>
          <p:cNvPr id="111" name="Google Shape;111;p18">
            <a:hlinkClick r:id="rId4"/>
          </p:cNvPr>
          <p:cNvSpPr txBox="1"/>
          <p:nvPr/>
        </p:nvSpPr>
        <p:spPr>
          <a:xfrm>
            <a:off x="0" y="4758600"/>
            <a:ext cx="4896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hlink"/>
                </a:solidFill>
                <a:hlinkClick r:id="rId5"/>
              </a:rPr>
              <a:t>Image Credit: Universal Robots</a:t>
            </a:r>
            <a:endParaRPr sz="1300">
              <a:solidFill>
                <a:schemeClr val="dk2"/>
              </a:solidFill>
            </a:endParaRPr>
          </a:p>
        </p:txBody>
      </p:sp>
      <p:cxnSp>
        <p:nvCxnSpPr>
          <p:cNvPr id="112" name="Google Shape;112;p18"/>
          <p:cNvCxnSpPr>
            <a:stCxn id="113" idx="1"/>
          </p:cNvCxnSpPr>
          <p:nvPr/>
        </p:nvCxnSpPr>
        <p:spPr>
          <a:xfrm rot="10800000">
            <a:off x="1791825" y="2846400"/>
            <a:ext cx="1189500" cy="505500"/>
          </a:xfrm>
          <a:prstGeom prst="straightConnector1">
            <a:avLst/>
          </a:prstGeom>
          <a:noFill/>
          <a:ln cap="flat" cmpd="sng" w="38100">
            <a:solidFill>
              <a:srgbClr val="6AA84F"/>
            </a:solidFill>
            <a:prstDash val="solid"/>
            <a:round/>
            <a:headEnd len="med" w="med" type="none"/>
            <a:tailEnd len="med" w="med" type="triangle"/>
          </a:ln>
        </p:spPr>
      </p:cxnSp>
      <p:sp>
        <p:nvSpPr>
          <p:cNvPr id="113" name="Google Shape;113;p18"/>
          <p:cNvSpPr txBox="1"/>
          <p:nvPr/>
        </p:nvSpPr>
        <p:spPr>
          <a:xfrm>
            <a:off x="2981325" y="3105600"/>
            <a:ext cx="1670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38761D"/>
                </a:solidFill>
              </a:rPr>
              <a:t>Rigid Links</a:t>
            </a:r>
            <a:endParaRPr b="1" sz="2000">
              <a:solidFill>
                <a:srgbClr val="38761D"/>
              </a:solidFill>
            </a:endParaRPr>
          </a:p>
        </p:txBody>
      </p:sp>
      <p:cxnSp>
        <p:nvCxnSpPr>
          <p:cNvPr id="114" name="Google Shape;114;p18"/>
          <p:cNvCxnSpPr/>
          <p:nvPr/>
        </p:nvCxnSpPr>
        <p:spPr>
          <a:xfrm flipH="1">
            <a:off x="1353268" y="2338459"/>
            <a:ext cx="552300" cy="952500"/>
          </a:xfrm>
          <a:prstGeom prst="straightConnector1">
            <a:avLst/>
          </a:prstGeom>
          <a:noFill/>
          <a:ln cap="flat" cmpd="sng" w="19050">
            <a:solidFill>
              <a:srgbClr val="93C47D"/>
            </a:solidFill>
            <a:prstDash val="solid"/>
            <a:round/>
            <a:headEnd len="med" w="med" type="triangle"/>
            <a:tailEnd len="med" w="med" type="triangle"/>
          </a:ln>
        </p:spPr>
      </p:cxnSp>
      <p:cxnSp>
        <p:nvCxnSpPr>
          <p:cNvPr id="115" name="Google Shape;115;p18"/>
          <p:cNvCxnSpPr/>
          <p:nvPr/>
        </p:nvCxnSpPr>
        <p:spPr>
          <a:xfrm flipH="1">
            <a:off x="968157" y="3306159"/>
            <a:ext cx="288900" cy="60600"/>
          </a:xfrm>
          <a:prstGeom prst="straightConnector1">
            <a:avLst/>
          </a:prstGeom>
          <a:noFill/>
          <a:ln cap="flat" cmpd="sng" w="19050">
            <a:solidFill>
              <a:srgbClr val="93C47D"/>
            </a:solidFill>
            <a:prstDash val="solid"/>
            <a:round/>
            <a:headEnd len="med" w="med" type="triangle"/>
            <a:tailEnd len="med" w="med" type="triangle"/>
          </a:ln>
        </p:spPr>
      </p:cxnSp>
      <p:cxnSp>
        <p:nvCxnSpPr>
          <p:cNvPr id="116" name="Google Shape;116;p18"/>
          <p:cNvCxnSpPr>
            <a:stCxn id="109" idx="2"/>
          </p:cNvCxnSpPr>
          <p:nvPr/>
        </p:nvCxnSpPr>
        <p:spPr>
          <a:xfrm rot="10800000">
            <a:off x="841501" y="3554503"/>
            <a:ext cx="564000" cy="766200"/>
          </a:xfrm>
          <a:prstGeom prst="straightConnector1">
            <a:avLst/>
          </a:prstGeom>
          <a:noFill/>
          <a:ln cap="flat" cmpd="sng" w="19050">
            <a:solidFill>
              <a:srgbClr val="93C47D"/>
            </a:solidFill>
            <a:prstDash val="solid"/>
            <a:round/>
            <a:headEnd len="med" w="med" type="triangle"/>
            <a:tailEnd len="med" w="med" type="triangle"/>
          </a:ln>
        </p:spPr>
      </p:cxnSp>
      <p:cxnSp>
        <p:nvCxnSpPr>
          <p:cNvPr id="117" name="Google Shape;117;p18"/>
          <p:cNvCxnSpPr/>
          <p:nvPr/>
        </p:nvCxnSpPr>
        <p:spPr>
          <a:xfrm flipH="1" rot="10800000">
            <a:off x="1718108" y="1968542"/>
            <a:ext cx="312000" cy="60300"/>
          </a:xfrm>
          <a:prstGeom prst="straightConnector1">
            <a:avLst/>
          </a:prstGeom>
          <a:noFill/>
          <a:ln cap="flat" cmpd="sng" w="19050">
            <a:solidFill>
              <a:srgbClr val="93C47D"/>
            </a:solidFill>
            <a:prstDash val="solid"/>
            <a:round/>
            <a:headEnd len="med" w="med" type="triangle"/>
            <a:tailEnd len="med" w="med" type="triangle"/>
          </a:ln>
        </p:spPr>
      </p:cxnSp>
      <p:cxnSp>
        <p:nvCxnSpPr>
          <p:cNvPr id="118" name="Google Shape;118;p18"/>
          <p:cNvCxnSpPr/>
          <p:nvPr/>
        </p:nvCxnSpPr>
        <p:spPr>
          <a:xfrm rot="10800000">
            <a:off x="1525550" y="1745650"/>
            <a:ext cx="5100" cy="233100"/>
          </a:xfrm>
          <a:prstGeom prst="straightConnector1">
            <a:avLst/>
          </a:prstGeom>
          <a:noFill/>
          <a:ln cap="flat" cmpd="sng" w="19050">
            <a:solidFill>
              <a:srgbClr val="93C47D"/>
            </a:solidFill>
            <a:prstDash val="solid"/>
            <a:round/>
            <a:headEnd len="med" w="med" type="triangle"/>
            <a:tailEnd len="med" w="med" type="triangle"/>
          </a:ln>
        </p:spPr>
      </p:cxnSp>
      <p:sp>
        <p:nvSpPr>
          <p:cNvPr id="119" name="Google Shape;119;p18"/>
          <p:cNvSpPr txBox="1"/>
          <p:nvPr/>
        </p:nvSpPr>
        <p:spPr>
          <a:xfrm>
            <a:off x="3391950" y="718600"/>
            <a:ext cx="57522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Rigid Links are the solid connections between joints.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They can take many forms, such as solid tubes or flat plates.</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19"/>
          <p:cNvPicPr preferRelativeResize="0"/>
          <p:nvPr/>
        </p:nvPicPr>
        <p:blipFill>
          <a:blip r:embed="rId3">
            <a:alphaModFix/>
          </a:blip>
          <a:stretch>
            <a:fillRect/>
          </a:stretch>
        </p:blipFill>
        <p:spPr>
          <a:xfrm>
            <a:off x="0" y="572700"/>
            <a:ext cx="3557216" cy="3853650"/>
          </a:xfrm>
          <a:prstGeom prst="rect">
            <a:avLst/>
          </a:prstGeom>
          <a:noFill/>
          <a:ln>
            <a:noFill/>
          </a:ln>
        </p:spPr>
      </p:pic>
      <p:sp>
        <p:nvSpPr>
          <p:cNvPr id="125" name="Google Shape;125;p1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00FF"/>
                </a:solidFill>
              </a:rPr>
              <a:t>End Effectors</a:t>
            </a:r>
            <a:endParaRPr b="1">
              <a:solidFill>
                <a:srgbClr val="0000FF"/>
              </a:solidFill>
            </a:endParaRPr>
          </a:p>
        </p:txBody>
      </p:sp>
      <p:sp>
        <p:nvSpPr>
          <p:cNvPr id="126" name="Google Shape;126;p19">
            <a:hlinkClick r:id="rId4"/>
          </p:cNvPr>
          <p:cNvSpPr txBox="1"/>
          <p:nvPr/>
        </p:nvSpPr>
        <p:spPr>
          <a:xfrm>
            <a:off x="0" y="4758600"/>
            <a:ext cx="4896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hlink"/>
                </a:solidFill>
                <a:hlinkClick r:id="rId5"/>
              </a:rPr>
              <a:t>Image Credit: Universal Robots</a:t>
            </a:r>
            <a:endParaRPr sz="1300">
              <a:solidFill>
                <a:schemeClr val="dk2"/>
              </a:solidFill>
            </a:endParaRPr>
          </a:p>
        </p:txBody>
      </p:sp>
      <p:cxnSp>
        <p:nvCxnSpPr>
          <p:cNvPr id="127" name="Google Shape;127;p19"/>
          <p:cNvCxnSpPr>
            <a:stCxn id="128" idx="1"/>
          </p:cNvCxnSpPr>
          <p:nvPr/>
        </p:nvCxnSpPr>
        <p:spPr>
          <a:xfrm rot="10800000">
            <a:off x="3197825" y="3141900"/>
            <a:ext cx="1150500" cy="694800"/>
          </a:xfrm>
          <a:prstGeom prst="straightConnector1">
            <a:avLst/>
          </a:prstGeom>
          <a:noFill/>
          <a:ln cap="flat" cmpd="sng" w="38100">
            <a:solidFill>
              <a:srgbClr val="1155CC"/>
            </a:solidFill>
            <a:prstDash val="solid"/>
            <a:round/>
            <a:headEnd len="med" w="med" type="none"/>
            <a:tailEnd len="med" w="med" type="triangle"/>
          </a:ln>
        </p:spPr>
      </p:cxnSp>
      <p:sp>
        <p:nvSpPr>
          <p:cNvPr id="128" name="Google Shape;128;p19"/>
          <p:cNvSpPr txBox="1"/>
          <p:nvPr/>
        </p:nvSpPr>
        <p:spPr>
          <a:xfrm>
            <a:off x="4348325" y="3590400"/>
            <a:ext cx="400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0000FF"/>
                </a:solidFill>
              </a:rPr>
              <a:t>End Effector</a:t>
            </a:r>
            <a:endParaRPr b="1" sz="2000">
              <a:solidFill>
                <a:srgbClr val="0000FF"/>
              </a:solidFill>
            </a:endParaRPr>
          </a:p>
        </p:txBody>
      </p:sp>
      <p:sp>
        <p:nvSpPr>
          <p:cNvPr id="129" name="Google Shape;129;p19"/>
          <p:cNvSpPr txBox="1"/>
          <p:nvPr/>
        </p:nvSpPr>
        <p:spPr>
          <a:xfrm>
            <a:off x="3557225" y="687925"/>
            <a:ext cx="5586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End effectors are the tool at the end of the robotic arm.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End effectors are the part that allows a robotic arm to achieve a specific task. They have multiple forms as hands, sensors, scissors, and many other tools.</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0"/>
          <p:cNvPicPr preferRelativeResize="0"/>
          <p:nvPr/>
        </p:nvPicPr>
        <p:blipFill>
          <a:blip r:embed="rId3">
            <a:alphaModFix/>
          </a:blip>
          <a:stretch>
            <a:fillRect/>
          </a:stretch>
        </p:blipFill>
        <p:spPr>
          <a:xfrm flipH="1" rot="10800000">
            <a:off x="0" y="687926"/>
            <a:ext cx="3336926" cy="3614999"/>
          </a:xfrm>
          <a:prstGeom prst="rect">
            <a:avLst/>
          </a:prstGeom>
          <a:noFill/>
          <a:ln>
            <a:noFill/>
          </a:ln>
        </p:spPr>
      </p:pic>
      <p:sp>
        <p:nvSpPr>
          <p:cNvPr id="135" name="Google Shape;135;p2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00FF"/>
                </a:solidFill>
              </a:rPr>
              <a:t>Gripper</a:t>
            </a:r>
            <a:endParaRPr b="1">
              <a:solidFill>
                <a:srgbClr val="0000FF"/>
              </a:solidFill>
            </a:endParaRPr>
          </a:p>
        </p:txBody>
      </p:sp>
      <p:sp>
        <p:nvSpPr>
          <p:cNvPr id="136" name="Google Shape;136;p20">
            <a:hlinkClick r:id="rId4"/>
          </p:cNvPr>
          <p:cNvSpPr txBox="1"/>
          <p:nvPr/>
        </p:nvSpPr>
        <p:spPr>
          <a:xfrm>
            <a:off x="0" y="4758600"/>
            <a:ext cx="4896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hlink"/>
                </a:solidFill>
                <a:hlinkClick r:id="rId5"/>
              </a:rPr>
              <a:t>Image Credit: Universal Robots</a:t>
            </a:r>
            <a:endParaRPr sz="1300">
              <a:solidFill>
                <a:schemeClr val="dk2"/>
              </a:solidFill>
            </a:endParaRPr>
          </a:p>
        </p:txBody>
      </p:sp>
      <p:cxnSp>
        <p:nvCxnSpPr>
          <p:cNvPr id="137" name="Google Shape;137;p20"/>
          <p:cNvCxnSpPr>
            <a:stCxn id="138" idx="1"/>
          </p:cNvCxnSpPr>
          <p:nvPr/>
        </p:nvCxnSpPr>
        <p:spPr>
          <a:xfrm rot="10800000">
            <a:off x="2489225" y="3021525"/>
            <a:ext cx="1068000" cy="862800"/>
          </a:xfrm>
          <a:prstGeom prst="straightConnector1">
            <a:avLst/>
          </a:prstGeom>
          <a:noFill/>
          <a:ln cap="flat" cmpd="sng" w="38100">
            <a:solidFill>
              <a:srgbClr val="1155CC"/>
            </a:solidFill>
            <a:prstDash val="solid"/>
            <a:round/>
            <a:headEnd len="med" w="med" type="none"/>
            <a:tailEnd len="med" w="med" type="triangle"/>
          </a:ln>
        </p:spPr>
      </p:cxnSp>
      <p:sp>
        <p:nvSpPr>
          <p:cNvPr id="138" name="Google Shape;138;p20"/>
          <p:cNvSpPr txBox="1"/>
          <p:nvPr/>
        </p:nvSpPr>
        <p:spPr>
          <a:xfrm>
            <a:off x="3557225" y="3638025"/>
            <a:ext cx="400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0000FF"/>
                </a:solidFill>
              </a:rPr>
              <a:t>Gripper</a:t>
            </a:r>
            <a:endParaRPr b="1" sz="2000">
              <a:solidFill>
                <a:srgbClr val="0000FF"/>
              </a:solidFill>
            </a:endParaRPr>
          </a:p>
        </p:txBody>
      </p:sp>
      <p:sp>
        <p:nvSpPr>
          <p:cNvPr id="139" name="Google Shape;139;p20"/>
          <p:cNvSpPr txBox="1"/>
          <p:nvPr/>
        </p:nvSpPr>
        <p:spPr>
          <a:xfrm>
            <a:off x="3557225" y="687925"/>
            <a:ext cx="5586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One of the most common types of end effectors are grippers. They are used to hold or manipulate objects.</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7F6000"/>
                </a:solidFill>
              </a:rPr>
              <a:t>Degrees</a:t>
            </a:r>
            <a:r>
              <a:rPr b="1" lang="en">
                <a:solidFill>
                  <a:srgbClr val="7F6000"/>
                </a:solidFill>
              </a:rPr>
              <a:t> of Freedom</a:t>
            </a:r>
            <a:endParaRPr b="1">
              <a:solidFill>
                <a:srgbClr val="7F6000"/>
              </a:solidFill>
            </a:endParaRPr>
          </a:p>
        </p:txBody>
      </p:sp>
      <p:sp>
        <p:nvSpPr>
          <p:cNvPr id="145" name="Google Shape;145;p21">
            <a:hlinkClick r:id="rId3"/>
          </p:cNvPr>
          <p:cNvSpPr txBox="1"/>
          <p:nvPr/>
        </p:nvSpPr>
        <p:spPr>
          <a:xfrm>
            <a:off x="0" y="4758600"/>
            <a:ext cx="4896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hlink"/>
                </a:solidFill>
                <a:hlinkClick r:id="rId4"/>
              </a:rPr>
              <a:t>Image Credit: Universal Robots</a:t>
            </a:r>
            <a:endParaRPr sz="1300">
              <a:solidFill>
                <a:schemeClr val="dk2"/>
              </a:solidFill>
            </a:endParaRPr>
          </a:p>
        </p:txBody>
      </p:sp>
      <p:sp>
        <p:nvSpPr>
          <p:cNvPr id="146" name="Google Shape;146;p21"/>
          <p:cNvSpPr txBox="1"/>
          <p:nvPr/>
        </p:nvSpPr>
        <p:spPr>
          <a:xfrm>
            <a:off x="3557225" y="687925"/>
            <a:ext cx="55869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Degrees of Freedom (DOF) refer to the number of axes of rotation that determine the position of the end effector.</a:t>
            </a:r>
            <a:br>
              <a:rPr lang="en" sz="2000"/>
            </a:br>
            <a:br>
              <a:rPr lang="en" sz="2000"/>
            </a:br>
            <a:r>
              <a:rPr lang="en" sz="2000"/>
              <a:t>More degrees of freedom enables more positions for the robotic arm to use. </a:t>
            </a:r>
            <a:br>
              <a:rPr lang="en" sz="2000"/>
            </a:br>
            <a:br>
              <a:rPr lang="en" sz="2000"/>
            </a:br>
            <a:r>
              <a:rPr lang="en" sz="2000"/>
              <a:t>Robotic arms typically do not exceed 6 DOF because 6 DOF robotic arms are able to reach most useful positions.</a:t>
            </a:r>
            <a:endParaRPr sz="2000"/>
          </a:p>
        </p:txBody>
      </p:sp>
      <p:pic>
        <p:nvPicPr>
          <p:cNvPr id="147" name="Google Shape;147;p21"/>
          <p:cNvPicPr preferRelativeResize="0"/>
          <p:nvPr/>
        </p:nvPicPr>
        <p:blipFill>
          <a:blip r:embed="rId5">
            <a:alphaModFix/>
          </a:blip>
          <a:stretch>
            <a:fillRect/>
          </a:stretch>
        </p:blipFill>
        <p:spPr>
          <a:xfrm>
            <a:off x="0" y="572700"/>
            <a:ext cx="3557225" cy="3557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000000"/>
                </a:solidFill>
              </a:rPr>
              <a:t>In This Course</a:t>
            </a:r>
            <a:endParaRPr b="1">
              <a:solidFill>
                <a:srgbClr val="000000"/>
              </a:solidFill>
            </a:endParaRPr>
          </a:p>
        </p:txBody>
      </p:sp>
      <p:pic>
        <p:nvPicPr>
          <p:cNvPr id="153" name="Google Shape;153;p22" title="Main ASM (1).png"/>
          <p:cNvPicPr preferRelativeResize="0"/>
          <p:nvPr/>
        </p:nvPicPr>
        <p:blipFill rotWithShape="1">
          <a:blip r:embed="rId3">
            <a:alphaModFix/>
          </a:blip>
          <a:srcRect b="4707" l="3590" r="2926" t="0"/>
          <a:stretch/>
        </p:blipFill>
        <p:spPr>
          <a:xfrm>
            <a:off x="982087" y="829775"/>
            <a:ext cx="5565251" cy="4384649"/>
          </a:xfrm>
          <a:prstGeom prst="rect">
            <a:avLst/>
          </a:prstGeom>
          <a:noFill/>
          <a:ln>
            <a:noFill/>
          </a:ln>
        </p:spPr>
      </p:pic>
      <p:cxnSp>
        <p:nvCxnSpPr>
          <p:cNvPr id="154" name="Google Shape;154;p22"/>
          <p:cNvCxnSpPr>
            <a:stCxn id="155" idx="0"/>
          </p:cNvCxnSpPr>
          <p:nvPr/>
        </p:nvCxnSpPr>
        <p:spPr>
          <a:xfrm flipH="1" rot="10800000">
            <a:off x="1654538" y="2390375"/>
            <a:ext cx="483900" cy="868800"/>
          </a:xfrm>
          <a:prstGeom prst="straightConnector1">
            <a:avLst/>
          </a:prstGeom>
          <a:noFill/>
          <a:ln cap="flat" cmpd="sng" w="38100">
            <a:solidFill>
              <a:srgbClr val="1155CC"/>
            </a:solidFill>
            <a:prstDash val="solid"/>
            <a:round/>
            <a:headEnd len="med" w="med" type="none"/>
            <a:tailEnd len="med" w="med" type="triangle"/>
          </a:ln>
        </p:spPr>
      </p:cxnSp>
      <p:sp>
        <p:nvSpPr>
          <p:cNvPr id="155" name="Google Shape;155;p22"/>
          <p:cNvSpPr txBox="1"/>
          <p:nvPr/>
        </p:nvSpPr>
        <p:spPr>
          <a:xfrm>
            <a:off x="982088" y="3259175"/>
            <a:ext cx="1344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0000FF"/>
                </a:solidFill>
              </a:rPr>
              <a:t>Gripper</a:t>
            </a:r>
            <a:endParaRPr b="1" sz="2000">
              <a:solidFill>
                <a:srgbClr val="0000FF"/>
              </a:solidFill>
            </a:endParaRPr>
          </a:p>
        </p:txBody>
      </p:sp>
      <p:cxnSp>
        <p:nvCxnSpPr>
          <p:cNvPr id="156" name="Google Shape;156;p22"/>
          <p:cNvCxnSpPr>
            <a:stCxn id="157" idx="1"/>
          </p:cNvCxnSpPr>
          <p:nvPr/>
        </p:nvCxnSpPr>
        <p:spPr>
          <a:xfrm rot="10800000">
            <a:off x="4671713" y="2258550"/>
            <a:ext cx="1196700" cy="252300"/>
          </a:xfrm>
          <a:prstGeom prst="straightConnector1">
            <a:avLst/>
          </a:prstGeom>
          <a:noFill/>
          <a:ln cap="flat" cmpd="sng" w="38100">
            <a:solidFill>
              <a:srgbClr val="6AA84F"/>
            </a:solidFill>
            <a:prstDash val="solid"/>
            <a:round/>
            <a:headEnd len="med" w="med" type="none"/>
            <a:tailEnd len="med" w="med" type="triangle"/>
          </a:ln>
        </p:spPr>
      </p:cxnSp>
      <p:sp>
        <p:nvSpPr>
          <p:cNvPr id="157" name="Google Shape;157;p22"/>
          <p:cNvSpPr txBox="1"/>
          <p:nvPr/>
        </p:nvSpPr>
        <p:spPr>
          <a:xfrm>
            <a:off x="5868413" y="2264550"/>
            <a:ext cx="1670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38761D"/>
                </a:solidFill>
              </a:rPr>
              <a:t>Rigid Links</a:t>
            </a:r>
            <a:endParaRPr b="1" sz="2000">
              <a:solidFill>
                <a:srgbClr val="38761D"/>
              </a:solidFill>
            </a:endParaRPr>
          </a:p>
        </p:txBody>
      </p:sp>
      <p:sp>
        <p:nvSpPr>
          <p:cNvPr id="158" name="Google Shape;158;p22"/>
          <p:cNvSpPr txBox="1"/>
          <p:nvPr/>
        </p:nvSpPr>
        <p:spPr>
          <a:xfrm>
            <a:off x="6099913" y="3616300"/>
            <a:ext cx="1030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1C232"/>
                </a:solidFill>
              </a:rPr>
              <a:t>Joints</a:t>
            </a:r>
            <a:endParaRPr b="1" sz="2000">
              <a:solidFill>
                <a:srgbClr val="F1C232"/>
              </a:solidFill>
            </a:endParaRPr>
          </a:p>
        </p:txBody>
      </p:sp>
      <p:cxnSp>
        <p:nvCxnSpPr>
          <p:cNvPr id="159" name="Google Shape;159;p22"/>
          <p:cNvCxnSpPr>
            <a:stCxn id="158" idx="1"/>
          </p:cNvCxnSpPr>
          <p:nvPr/>
        </p:nvCxnSpPr>
        <p:spPr>
          <a:xfrm rot="10800000">
            <a:off x="4833613" y="3565600"/>
            <a:ext cx="1266300" cy="297000"/>
          </a:xfrm>
          <a:prstGeom prst="straightConnector1">
            <a:avLst/>
          </a:prstGeom>
          <a:noFill/>
          <a:ln cap="flat" cmpd="sng" w="38100">
            <a:solidFill>
              <a:srgbClr val="FFD966"/>
            </a:solidFill>
            <a:prstDash val="solid"/>
            <a:round/>
            <a:headEnd len="med" w="med" type="none"/>
            <a:tailEnd len="med" w="med" type="triangle"/>
          </a:ln>
        </p:spPr>
      </p:cxnSp>
      <p:sp>
        <p:nvSpPr>
          <p:cNvPr id="160" name="Google Shape;160;p22"/>
          <p:cNvSpPr txBox="1"/>
          <p:nvPr/>
        </p:nvSpPr>
        <p:spPr>
          <a:xfrm>
            <a:off x="6556425" y="572700"/>
            <a:ext cx="16701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000">
                <a:solidFill>
                  <a:srgbClr val="7F6000"/>
                </a:solidFill>
              </a:rPr>
              <a:t>4 DOF</a:t>
            </a:r>
            <a:endParaRPr b="1" sz="2000">
              <a:solidFill>
                <a:srgbClr val="7F6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3" title="Main ASM (2).png"/>
          <p:cNvPicPr preferRelativeResize="0"/>
          <p:nvPr/>
        </p:nvPicPr>
        <p:blipFill rotWithShape="1">
          <a:blip r:embed="rId3">
            <a:alphaModFix/>
          </a:blip>
          <a:srcRect b="2172" l="16942" r="6809" t="0"/>
          <a:stretch/>
        </p:blipFill>
        <p:spPr>
          <a:xfrm>
            <a:off x="0" y="572700"/>
            <a:ext cx="4641500" cy="4602774"/>
          </a:xfrm>
          <a:prstGeom prst="rect">
            <a:avLst/>
          </a:prstGeom>
          <a:noFill/>
          <a:ln>
            <a:noFill/>
          </a:ln>
        </p:spPr>
      </p:pic>
      <p:cxnSp>
        <p:nvCxnSpPr>
          <p:cNvPr id="166" name="Google Shape;166;p23"/>
          <p:cNvCxnSpPr/>
          <p:nvPr/>
        </p:nvCxnSpPr>
        <p:spPr>
          <a:xfrm>
            <a:off x="1649150" y="2510425"/>
            <a:ext cx="1314300" cy="724200"/>
          </a:xfrm>
          <a:prstGeom prst="straightConnector1">
            <a:avLst/>
          </a:prstGeom>
          <a:noFill/>
          <a:ln cap="flat" cmpd="sng" w="9125">
            <a:solidFill>
              <a:srgbClr val="F1C232"/>
            </a:solidFill>
            <a:prstDash val="solid"/>
            <a:round/>
            <a:headEnd len="med" w="med" type="none"/>
            <a:tailEnd len="med" w="med" type="none"/>
          </a:ln>
        </p:spPr>
      </p:cxnSp>
      <p:cxnSp>
        <p:nvCxnSpPr>
          <p:cNvPr id="167" name="Google Shape;167;p23"/>
          <p:cNvCxnSpPr/>
          <p:nvPr/>
        </p:nvCxnSpPr>
        <p:spPr>
          <a:xfrm>
            <a:off x="2316425" y="2873375"/>
            <a:ext cx="1200" cy="714000"/>
          </a:xfrm>
          <a:prstGeom prst="straightConnector1">
            <a:avLst/>
          </a:prstGeom>
          <a:noFill/>
          <a:ln cap="flat" cmpd="sng" w="9125">
            <a:solidFill>
              <a:srgbClr val="F1C232"/>
            </a:solidFill>
            <a:prstDash val="solid"/>
            <a:round/>
            <a:headEnd len="med" w="med" type="none"/>
            <a:tailEnd len="med" w="med" type="none"/>
          </a:ln>
        </p:spPr>
      </p:cxnSp>
      <p:sp>
        <p:nvSpPr>
          <p:cNvPr id="168" name="Google Shape;168;p23"/>
          <p:cNvSpPr/>
          <p:nvPr/>
        </p:nvSpPr>
        <p:spPr>
          <a:xfrm>
            <a:off x="2142548" y="3071044"/>
            <a:ext cx="355800" cy="495300"/>
          </a:xfrm>
          <a:prstGeom prst="curvedRightArrow">
            <a:avLst>
              <a:gd fmla="val 21800" name="adj1"/>
              <a:gd fmla="val 43213" name="adj2"/>
              <a:gd fmla="val 25000" name="adj3"/>
            </a:avLst>
          </a:prstGeom>
          <a:solidFill>
            <a:srgbClr val="7F6000"/>
          </a:solidFill>
          <a:ln>
            <a:noFill/>
          </a:ln>
        </p:spPr>
        <p:txBody>
          <a:bodyPr anchorCtr="0" anchor="ctr" bIns="87775" lIns="87775" spcFirstLastPara="1" rIns="87775" wrap="square" tIns="87775">
            <a:noAutofit/>
          </a:bodyPr>
          <a:lstStyle/>
          <a:p>
            <a:pPr indent="0" lvl="0" marL="0" rtl="0" algn="ctr">
              <a:spcBef>
                <a:spcPts val="0"/>
              </a:spcBef>
              <a:spcAft>
                <a:spcPts val="0"/>
              </a:spcAft>
              <a:buNone/>
            </a:pPr>
            <a:r>
              <a:t/>
            </a:r>
            <a:endParaRPr sz="1344"/>
          </a:p>
        </p:txBody>
      </p:sp>
      <p:cxnSp>
        <p:nvCxnSpPr>
          <p:cNvPr id="169" name="Google Shape;169;p23"/>
          <p:cNvCxnSpPr/>
          <p:nvPr/>
        </p:nvCxnSpPr>
        <p:spPr>
          <a:xfrm>
            <a:off x="2317625" y="2873975"/>
            <a:ext cx="3300" cy="487500"/>
          </a:xfrm>
          <a:prstGeom prst="straightConnector1">
            <a:avLst/>
          </a:prstGeom>
          <a:noFill/>
          <a:ln cap="flat" cmpd="sng" w="9125">
            <a:solidFill>
              <a:srgbClr val="F1C232"/>
            </a:solidFill>
            <a:prstDash val="solid"/>
            <a:round/>
            <a:headEnd len="med" w="med" type="none"/>
            <a:tailEnd len="med" w="med" type="none"/>
          </a:ln>
        </p:spPr>
      </p:cxnSp>
      <p:sp>
        <p:nvSpPr>
          <p:cNvPr id="170" name="Google Shape;170;p23"/>
          <p:cNvSpPr/>
          <p:nvPr/>
        </p:nvSpPr>
        <p:spPr>
          <a:xfrm flipH="1" rot="-6989174">
            <a:off x="1506779" y="2285422"/>
            <a:ext cx="292612" cy="453475"/>
          </a:xfrm>
          <a:prstGeom prst="curvedUpArrow">
            <a:avLst>
              <a:gd fmla="val 25000" name="adj1"/>
              <a:gd fmla="val 50000" name="adj2"/>
              <a:gd fmla="val 24682" name="adj3"/>
            </a:avLst>
          </a:prstGeom>
          <a:solidFill>
            <a:srgbClr val="7F6000"/>
          </a:solidFill>
          <a:ln>
            <a:noFill/>
          </a:ln>
        </p:spPr>
        <p:txBody>
          <a:bodyPr anchorCtr="0" anchor="ctr" bIns="87775" lIns="87775" spcFirstLastPara="1" rIns="87775" wrap="square" tIns="87775">
            <a:noAutofit/>
          </a:bodyPr>
          <a:lstStyle/>
          <a:p>
            <a:pPr indent="0" lvl="0" marL="0" rtl="0" algn="ctr">
              <a:spcBef>
                <a:spcPts val="0"/>
              </a:spcBef>
              <a:spcAft>
                <a:spcPts val="0"/>
              </a:spcAft>
              <a:buNone/>
            </a:pPr>
            <a:r>
              <a:t/>
            </a:r>
            <a:endParaRPr sz="1344"/>
          </a:p>
        </p:txBody>
      </p:sp>
      <p:cxnSp>
        <p:nvCxnSpPr>
          <p:cNvPr id="171" name="Google Shape;171;p23"/>
          <p:cNvCxnSpPr/>
          <p:nvPr/>
        </p:nvCxnSpPr>
        <p:spPr>
          <a:xfrm>
            <a:off x="1650525" y="2511350"/>
            <a:ext cx="670500" cy="369000"/>
          </a:xfrm>
          <a:prstGeom prst="straightConnector1">
            <a:avLst/>
          </a:prstGeom>
          <a:noFill/>
          <a:ln cap="flat" cmpd="sng" w="9125">
            <a:solidFill>
              <a:srgbClr val="F1C232"/>
            </a:solidFill>
            <a:prstDash val="solid"/>
            <a:round/>
            <a:headEnd len="med" w="med" type="none"/>
            <a:tailEnd len="med" w="med" type="none"/>
          </a:ln>
        </p:spPr>
      </p:cxnSp>
      <p:cxnSp>
        <p:nvCxnSpPr>
          <p:cNvPr id="172" name="Google Shape;172;p23"/>
          <p:cNvCxnSpPr/>
          <p:nvPr/>
        </p:nvCxnSpPr>
        <p:spPr>
          <a:xfrm>
            <a:off x="2039507" y="824713"/>
            <a:ext cx="561900" cy="328200"/>
          </a:xfrm>
          <a:prstGeom prst="straightConnector1">
            <a:avLst/>
          </a:prstGeom>
          <a:noFill/>
          <a:ln cap="flat" cmpd="sng" w="9125">
            <a:solidFill>
              <a:srgbClr val="F1C232"/>
            </a:solidFill>
            <a:prstDash val="solid"/>
            <a:round/>
            <a:headEnd len="med" w="med" type="none"/>
            <a:tailEnd len="med" w="med" type="none"/>
          </a:ln>
        </p:spPr>
      </p:cxnSp>
      <p:sp>
        <p:nvSpPr>
          <p:cNvPr id="173" name="Google Shape;173;p23"/>
          <p:cNvSpPr/>
          <p:nvPr/>
        </p:nvSpPr>
        <p:spPr>
          <a:xfrm flipH="1" rot="-6989174">
            <a:off x="2413333" y="926777"/>
            <a:ext cx="292612" cy="453475"/>
          </a:xfrm>
          <a:prstGeom prst="curvedUpArrow">
            <a:avLst>
              <a:gd fmla="val 25000" name="adj1"/>
              <a:gd fmla="val 50000" name="adj2"/>
              <a:gd fmla="val 24682" name="adj3"/>
            </a:avLst>
          </a:prstGeom>
          <a:solidFill>
            <a:srgbClr val="7F6000"/>
          </a:solidFill>
          <a:ln>
            <a:noFill/>
          </a:ln>
        </p:spPr>
        <p:txBody>
          <a:bodyPr anchorCtr="0" anchor="ctr" bIns="87775" lIns="87775" spcFirstLastPara="1" rIns="87775" wrap="square" tIns="87775">
            <a:noAutofit/>
          </a:bodyPr>
          <a:lstStyle/>
          <a:p>
            <a:pPr indent="0" lvl="0" marL="0" rtl="0" algn="ctr">
              <a:spcBef>
                <a:spcPts val="0"/>
              </a:spcBef>
              <a:spcAft>
                <a:spcPts val="0"/>
              </a:spcAft>
              <a:buNone/>
            </a:pPr>
            <a:r>
              <a:t/>
            </a:r>
            <a:endParaRPr sz="1344"/>
          </a:p>
        </p:txBody>
      </p:sp>
      <p:cxnSp>
        <p:nvCxnSpPr>
          <p:cNvPr id="174" name="Google Shape;174;p23"/>
          <p:cNvCxnSpPr/>
          <p:nvPr/>
        </p:nvCxnSpPr>
        <p:spPr>
          <a:xfrm>
            <a:off x="2533221" y="1113295"/>
            <a:ext cx="226200" cy="133800"/>
          </a:xfrm>
          <a:prstGeom prst="straightConnector1">
            <a:avLst/>
          </a:prstGeom>
          <a:noFill/>
          <a:ln cap="flat" cmpd="sng" w="9125">
            <a:solidFill>
              <a:srgbClr val="F1C232"/>
            </a:solidFill>
            <a:prstDash val="solid"/>
            <a:round/>
            <a:headEnd len="med" w="med" type="none"/>
            <a:tailEnd len="med" w="med" type="none"/>
          </a:ln>
        </p:spPr>
      </p:cxnSp>
      <p:sp>
        <p:nvSpPr>
          <p:cNvPr id="175" name="Google Shape;175;p23"/>
          <p:cNvSpPr/>
          <p:nvPr/>
        </p:nvSpPr>
        <p:spPr>
          <a:xfrm rot="-5400000">
            <a:off x="472610" y="1625528"/>
            <a:ext cx="355800" cy="495300"/>
          </a:xfrm>
          <a:prstGeom prst="curvedRightArrow">
            <a:avLst>
              <a:gd fmla="val 25014" name="adj1"/>
              <a:gd fmla="val 43213" name="adj2"/>
              <a:gd fmla="val 25000" name="adj3"/>
            </a:avLst>
          </a:prstGeom>
          <a:solidFill>
            <a:srgbClr val="7F6000"/>
          </a:solidFill>
          <a:ln>
            <a:noFill/>
          </a:ln>
        </p:spPr>
        <p:txBody>
          <a:bodyPr anchorCtr="0" anchor="ctr" bIns="87775" lIns="87775" spcFirstLastPara="1" rIns="87775" wrap="square" tIns="87775">
            <a:noAutofit/>
          </a:bodyPr>
          <a:lstStyle/>
          <a:p>
            <a:pPr indent="0" lvl="0" marL="0" rtl="0" algn="ctr">
              <a:spcBef>
                <a:spcPts val="0"/>
              </a:spcBef>
              <a:spcAft>
                <a:spcPts val="0"/>
              </a:spcAft>
              <a:buNone/>
            </a:pPr>
            <a:r>
              <a:t/>
            </a:r>
            <a:endParaRPr sz="1344"/>
          </a:p>
        </p:txBody>
      </p:sp>
      <p:cxnSp>
        <p:nvCxnSpPr>
          <p:cNvPr id="176" name="Google Shape;176;p23"/>
          <p:cNvCxnSpPr/>
          <p:nvPr/>
        </p:nvCxnSpPr>
        <p:spPr>
          <a:xfrm flipH="1">
            <a:off x="439483" y="1831106"/>
            <a:ext cx="249300" cy="153600"/>
          </a:xfrm>
          <a:prstGeom prst="straightConnector1">
            <a:avLst/>
          </a:prstGeom>
          <a:noFill/>
          <a:ln cap="flat" cmpd="sng" w="9125">
            <a:solidFill>
              <a:srgbClr val="F1C232"/>
            </a:solidFill>
            <a:prstDash val="solid"/>
            <a:round/>
            <a:headEnd len="med" w="med" type="none"/>
            <a:tailEnd len="med" w="med" type="none"/>
          </a:ln>
        </p:spPr>
      </p:cxnSp>
      <p:sp>
        <p:nvSpPr>
          <p:cNvPr id="177" name="Google Shape;177;p23"/>
          <p:cNvSpPr txBox="1"/>
          <p:nvPr/>
        </p:nvSpPr>
        <p:spPr>
          <a:xfrm>
            <a:off x="1826978" y="3162444"/>
            <a:ext cx="402600" cy="441300"/>
          </a:xfrm>
          <a:prstGeom prst="rect">
            <a:avLst/>
          </a:prstGeom>
          <a:noFill/>
          <a:ln>
            <a:noFill/>
          </a:ln>
        </p:spPr>
        <p:txBody>
          <a:bodyPr anchorCtr="0" anchor="t" bIns="81250" lIns="81250" spcFirstLastPara="1" rIns="81250" wrap="square" tIns="81250">
            <a:spAutoFit/>
          </a:bodyPr>
          <a:lstStyle/>
          <a:p>
            <a:pPr indent="0" lvl="0" marL="0" rtl="0" algn="l">
              <a:spcBef>
                <a:spcPts val="0"/>
              </a:spcBef>
              <a:spcAft>
                <a:spcPts val="0"/>
              </a:spcAft>
              <a:buNone/>
            </a:pPr>
            <a:r>
              <a:rPr lang="en" sz="1800">
                <a:solidFill>
                  <a:srgbClr val="BF9000"/>
                </a:solidFill>
              </a:rPr>
              <a:t>1.</a:t>
            </a:r>
            <a:endParaRPr sz="1800">
              <a:solidFill>
                <a:srgbClr val="BF9000"/>
              </a:solidFill>
            </a:endParaRPr>
          </a:p>
        </p:txBody>
      </p:sp>
      <p:sp>
        <p:nvSpPr>
          <p:cNvPr id="178" name="Google Shape;178;p23"/>
          <p:cNvSpPr txBox="1"/>
          <p:nvPr/>
        </p:nvSpPr>
        <p:spPr>
          <a:xfrm>
            <a:off x="1161065" y="2109270"/>
            <a:ext cx="402600" cy="441300"/>
          </a:xfrm>
          <a:prstGeom prst="rect">
            <a:avLst/>
          </a:prstGeom>
          <a:noFill/>
          <a:ln>
            <a:noFill/>
          </a:ln>
        </p:spPr>
        <p:txBody>
          <a:bodyPr anchorCtr="0" anchor="t" bIns="81250" lIns="81250" spcFirstLastPara="1" rIns="81250" wrap="square" tIns="81250">
            <a:spAutoFit/>
          </a:bodyPr>
          <a:lstStyle/>
          <a:p>
            <a:pPr indent="0" lvl="0" marL="0" rtl="0" algn="l">
              <a:spcBef>
                <a:spcPts val="0"/>
              </a:spcBef>
              <a:spcAft>
                <a:spcPts val="0"/>
              </a:spcAft>
              <a:buNone/>
            </a:pPr>
            <a:r>
              <a:rPr lang="en" sz="1800">
                <a:solidFill>
                  <a:srgbClr val="BF9000"/>
                </a:solidFill>
              </a:rPr>
              <a:t>2.</a:t>
            </a:r>
            <a:endParaRPr sz="1800">
              <a:solidFill>
                <a:srgbClr val="BF9000"/>
              </a:solidFill>
            </a:endParaRPr>
          </a:p>
        </p:txBody>
      </p:sp>
      <p:sp>
        <p:nvSpPr>
          <p:cNvPr id="179" name="Google Shape;179;p23"/>
          <p:cNvSpPr txBox="1"/>
          <p:nvPr/>
        </p:nvSpPr>
        <p:spPr>
          <a:xfrm>
            <a:off x="2759416" y="959553"/>
            <a:ext cx="402600" cy="441300"/>
          </a:xfrm>
          <a:prstGeom prst="rect">
            <a:avLst/>
          </a:prstGeom>
          <a:noFill/>
          <a:ln>
            <a:noFill/>
          </a:ln>
        </p:spPr>
        <p:txBody>
          <a:bodyPr anchorCtr="0" anchor="t" bIns="81250" lIns="81250" spcFirstLastPara="1" rIns="81250" wrap="square" tIns="81250">
            <a:spAutoFit/>
          </a:bodyPr>
          <a:lstStyle/>
          <a:p>
            <a:pPr indent="0" lvl="0" marL="0" rtl="0" algn="l">
              <a:spcBef>
                <a:spcPts val="0"/>
              </a:spcBef>
              <a:spcAft>
                <a:spcPts val="0"/>
              </a:spcAft>
              <a:buNone/>
            </a:pPr>
            <a:r>
              <a:rPr lang="en" sz="1800">
                <a:solidFill>
                  <a:srgbClr val="BF9000"/>
                </a:solidFill>
              </a:rPr>
              <a:t>3.</a:t>
            </a:r>
            <a:endParaRPr sz="1800">
              <a:solidFill>
                <a:srgbClr val="BF9000"/>
              </a:solidFill>
            </a:endParaRPr>
          </a:p>
        </p:txBody>
      </p:sp>
      <p:sp>
        <p:nvSpPr>
          <p:cNvPr id="180" name="Google Shape;180;p23"/>
          <p:cNvSpPr txBox="1"/>
          <p:nvPr/>
        </p:nvSpPr>
        <p:spPr>
          <a:xfrm>
            <a:off x="63000" y="1743325"/>
            <a:ext cx="402600" cy="441300"/>
          </a:xfrm>
          <a:prstGeom prst="rect">
            <a:avLst/>
          </a:prstGeom>
          <a:noFill/>
          <a:ln>
            <a:noFill/>
          </a:ln>
        </p:spPr>
        <p:txBody>
          <a:bodyPr anchorCtr="0" anchor="t" bIns="81250" lIns="81250" spcFirstLastPara="1" rIns="81250" wrap="square" tIns="81250">
            <a:spAutoFit/>
          </a:bodyPr>
          <a:lstStyle/>
          <a:p>
            <a:pPr indent="0" lvl="0" marL="0" rtl="0" algn="l">
              <a:spcBef>
                <a:spcPts val="0"/>
              </a:spcBef>
              <a:spcAft>
                <a:spcPts val="0"/>
              </a:spcAft>
              <a:buNone/>
            </a:pPr>
            <a:r>
              <a:rPr lang="en" sz="1800">
                <a:solidFill>
                  <a:srgbClr val="BF9000"/>
                </a:solidFill>
              </a:rPr>
              <a:t>4.</a:t>
            </a:r>
            <a:endParaRPr sz="1800">
              <a:solidFill>
                <a:srgbClr val="BF9000"/>
              </a:solidFill>
            </a:endParaRPr>
          </a:p>
        </p:txBody>
      </p:sp>
      <p:sp>
        <p:nvSpPr>
          <p:cNvPr id="181" name="Google Shape;181;p2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1C232"/>
                </a:solidFill>
              </a:rPr>
              <a:t>In This Course: Joints &amp; Degrees of Freedom</a:t>
            </a:r>
            <a:endParaRPr b="1">
              <a:solidFill>
                <a:srgbClr val="F1C232"/>
              </a:solidFill>
            </a:endParaRPr>
          </a:p>
        </p:txBody>
      </p:sp>
      <p:sp>
        <p:nvSpPr>
          <p:cNvPr id="182" name="Google Shape;182;p23"/>
          <p:cNvSpPr txBox="1"/>
          <p:nvPr/>
        </p:nvSpPr>
        <p:spPr>
          <a:xfrm>
            <a:off x="4641500" y="3850500"/>
            <a:ext cx="1466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BF9000"/>
                </a:solidFill>
              </a:rPr>
              <a:t>1.</a:t>
            </a:r>
            <a:r>
              <a:rPr b="1" lang="en" sz="1800">
                <a:solidFill>
                  <a:srgbClr val="F1C232"/>
                </a:solidFill>
              </a:rPr>
              <a:t> Base</a:t>
            </a:r>
            <a:endParaRPr b="1" sz="1800">
              <a:solidFill>
                <a:srgbClr val="F1C232"/>
              </a:solidFill>
            </a:endParaRPr>
          </a:p>
          <a:p>
            <a:pPr indent="0" lvl="0" marL="0" rtl="0" algn="l">
              <a:spcBef>
                <a:spcPts val="0"/>
              </a:spcBef>
              <a:spcAft>
                <a:spcPts val="0"/>
              </a:spcAft>
              <a:buNone/>
            </a:pPr>
            <a:r>
              <a:rPr b="1" lang="en" sz="1800">
                <a:solidFill>
                  <a:srgbClr val="BF9000"/>
                </a:solidFill>
              </a:rPr>
              <a:t>2.</a:t>
            </a:r>
            <a:r>
              <a:rPr b="1" lang="en" sz="1800">
                <a:solidFill>
                  <a:srgbClr val="F1C232"/>
                </a:solidFill>
              </a:rPr>
              <a:t> Shoulder</a:t>
            </a:r>
            <a:endParaRPr b="1" sz="1800">
              <a:solidFill>
                <a:srgbClr val="F1C232"/>
              </a:solidFill>
            </a:endParaRPr>
          </a:p>
          <a:p>
            <a:pPr indent="0" lvl="0" marL="0" rtl="0" algn="l">
              <a:spcBef>
                <a:spcPts val="0"/>
              </a:spcBef>
              <a:spcAft>
                <a:spcPts val="0"/>
              </a:spcAft>
              <a:buNone/>
            </a:pPr>
            <a:r>
              <a:rPr b="1" lang="en" sz="1800">
                <a:solidFill>
                  <a:srgbClr val="BF9000"/>
                </a:solidFill>
              </a:rPr>
              <a:t>3.</a:t>
            </a:r>
            <a:r>
              <a:rPr b="1" lang="en" sz="1800">
                <a:solidFill>
                  <a:srgbClr val="F1C232"/>
                </a:solidFill>
              </a:rPr>
              <a:t> Elbow</a:t>
            </a:r>
            <a:endParaRPr b="1" sz="1800">
              <a:solidFill>
                <a:srgbClr val="F1C232"/>
              </a:solidFill>
            </a:endParaRPr>
          </a:p>
          <a:p>
            <a:pPr indent="0" lvl="0" marL="0" rtl="0" algn="l">
              <a:spcBef>
                <a:spcPts val="0"/>
              </a:spcBef>
              <a:spcAft>
                <a:spcPts val="0"/>
              </a:spcAft>
              <a:buNone/>
            </a:pPr>
            <a:r>
              <a:rPr b="1" lang="en" sz="1800">
                <a:solidFill>
                  <a:srgbClr val="BF9000"/>
                </a:solidFill>
              </a:rPr>
              <a:t>4.</a:t>
            </a:r>
            <a:r>
              <a:rPr b="1" lang="en" sz="1800">
                <a:solidFill>
                  <a:srgbClr val="F1C232"/>
                </a:solidFill>
              </a:rPr>
              <a:t> Wrist</a:t>
            </a:r>
            <a:endParaRPr b="1" sz="1800">
              <a:solidFill>
                <a:srgbClr val="F1C232"/>
              </a:solidFill>
            </a:endParaRPr>
          </a:p>
        </p:txBody>
      </p:sp>
      <p:sp>
        <p:nvSpPr>
          <p:cNvPr id="183" name="Google Shape;183;p23"/>
          <p:cNvSpPr txBox="1"/>
          <p:nvPr/>
        </p:nvSpPr>
        <p:spPr>
          <a:xfrm>
            <a:off x="4327900" y="572700"/>
            <a:ext cx="48162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Each joint in this arm corresponds to a DOF.</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This course will use a 4 DOF robotic arm.</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A 4 DOF robotic arm is able to provide valuable experience in control while not being as complex as a 6 DOF arm.</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85200C"/>
                </a:solidFill>
              </a:rPr>
              <a:t>In This Course: Actuators</a:t>
            </a:r>
            <a:endParaRPr b="1">
              <a:solidFill>
                <a:srgbClr val="85200C"/>
              </a:solidFill>
            </a:endParaRPr>
          </a:p>
        </p:txBody>
      </p:sp>
      <p:sp>
        <p:nvSpPr>
          <p:cNvPr id="189" name="Google Shape;189;p24"/>
          <p:cNvSpPr txBox="1"/>
          <p:nvPr/>
        </p:nvSpPr>
        <p:spPr>
          <a:xfrm>
            <a:off x="4327900" y="572700"/>
            <a:ext cx="4816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This arm uses Robotis Dynamixel XM54-W270-T actuators.</a:t>
            </a:r>
            <a:br>
              <a:rPr lang="en" sz="2000"/>
            </a:br>
            <a:br>
              <a:rPr lang="en" sz="2000"/>
            </a:br>
            <a:r>
              <a:rPr lang="en" sz="2000"/>
              <a:t>They contain a motor, gearbox, encoder, among other components necessary for actuator control.</a:t>
            </a:r>
            <a:endParaRPr sz="2000"/>
          </a:p>
        </p:txBody>
      </p:sp>
      <p:pic>
        <p:nvPicPr>
          <p:cNvPr id="190" name="Google Shape;190;p24"/>
          <p:cNvPicPr preferRelativeResize="0"/>
          <p:nvPr/>
        </p:nvPicPr>
        <p:blipFill>
          <a:blip r:embed="rId3">
            <a:alphaModFix/>
          </a:blip>
          <a:stretch>
            <a:fillRect/>
          </a:stretch>
        </p:blipFill>
        <p:spPr>
          <a:xfrm>
            <a:off x="0" y="1006588"/>
            <a:ext cx="4023100" cy="284391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38761D"/>
                </a:solidFill>
              </a:rPr>
              <a:t>In This Course: Rigid Links</a:t>
            </a:r>
            <a:endParaRPr b="1">
              <a:solidFill>
                <a:srgbClr val="38761D"/>
              </a:solidFill>
            </a:endParaRPr>
          </a:p>
        </p:txBody>
      </p:sp>
      <p:sp>
        <p:nvSpPr>
          <p:cNvPr id="196" name="Google Shape;196;p25"/>
          <p:cNvSpPr txBox="1"/>
          <p:nvPr/>
        </p:nvSpPr>
        <p:spPr>
          <a:xfrm>
            <a:off x="4327800" y="1188450"/>
            <a:ext cx="4816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This arm uses 3D printed segments to join the actuators together.</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These are named corresponding to a portion of a human arm relative to the position of the shoulder (the bottom joint)</a:t>
            </a:r>
            <a:endParaRPr sz="2000"/>
          </a:p>
        </p:txBody>
      </p:sp>
      <p:pic>
        <p:nvPicPr>
          <p:cNvPr id="197" name="Google Shape;197;p25" title="One Piece Forearm (1).png"/>
          <p:cNvPicPr preferRelativeResize="0"/>
          <p:nvPr/>
        </p:nvPicPr>
        <p:blipFill>
          <a:blip r:embed="rId3">
            <a:alphaModFix/>
          </a:blip>
          <a:stretch>
            <a:fillRect/>
          </a:stretch>
        </p:blipFill>
        <p:spPr>
          <a:xfrm>
            <a:off x="0" y="456450"/>
            <a:ext cx="2929551" cy="2264398"/>
          </a:xfrm>
          <a:prstGeom prst="rect">
            <a:avLst/>
          </a:prstGeom>
          <a:noFill/>
          <a:ln>
            <a:noFill/>
          </a:ln>
        </p:spPr>
      </p:pic>
      <p:pic>
        <p:nvPicPr>
          <p:cNvPr id="198" name="Google Shape;198;p25" title="One Piece Shoulder.png"/>
          <p:cNvPicPr preferRelativeResize="0"/>
          <p:nvPr/>
        </p:nvPicPr>
        <p:blipFill>
          <a:blip r:embed="rId4">
            <a:alphaModFix/>
          </a:blip>
          <a:stretch>
            <a:fillRect/>
          </a:stretch>
        </p:blipFill>
        <p:spPr>
          <a:xfrm>
            <a:off x="972750" y="1733574"/>
            <a:ext cx="2635699" cy="3409925"/>
          </a:xfrm>
          <a:prstGeom prst="rect">
            <a:avLst/>
          </a:prstGeom>
          <a:noFill/>
          <a:ln>
            <a:noFill/>
          </a:ln>
        </p:spPr>
      </p:pic>
      <p:cxnSp>
        <p:nvCxnSpPr>
          <p:cNvPr id="199" name="Google Shape;199;p25"/>
          <p:cNvCxnSpPr>
            <a:stCxn id="200" idx="1"/>
          </p:cNvCxnSpPr>
          <p:nvPr/>
        </p:nvCxnSpPr>
        <p:spPr>
          <a:xfrm rot="10800000">
            <a:off x="2493925" y="4194075"/>
            <a:ext cx="973800" cy="267900"/>
          </a:xfrm>
          <a:prstGeom prst="straightConnector1">
            <a:avLst/>
          </a:prstGeom>
          <a:noFill/>
          <a:ln cap="flat" cmpd="sng" w="38100">
            <a:solidFill>
              <a:srgbClr val="6AA84F"/>
            </a:solidFill>
            <a:prstDash val="solid"/>
            <a:round/>
            <a:headEnd len="med" w="med" type="none"/>
            <a:tailEnd len="med" w="med" type="triangle"/>
          </a:ln>
        </p:spPr>
      </p:cxnSp>
      <p:sp>
        <p:nvSpPr>
          <p:cNvPr id="200" name="Google Shape;200;p25"/>
          <p:cNvSpPr txBox="1"/>
          <p:nvPr/>
        </p:nvSpPr>
        <p:spPr>
          <a:xfrm>
            <a:off x="3467725" y="4215675"/>
            <a:ext cx="1670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38761D"/>
                </a:solidFill>
              </a:rPr>
              <a:t>Upper Arm</a:t>
            </a:r>
            <a:endParaRPr b="1" sz="2000">
              <a:solidFill>
                <a:srgbClr val="38761D"/>
              </a:solidFill>
            </a:endParaRPr>
          </a:p>
        </p:txBody>
      </p:sp>
      <p:cxnSp>
        <p:nvCxnSpPr>
          <p:cNvPr id="201" name="Google Shape;201;p25"/>
          <p:cNvCxnSpPr>
            <a:stCxn id="202" idx="1"/>
          </p:cNvCxnSpPr>
          <p:nvPr/>
        </p:nvCxnSpPr>
        <p:spPr>
          <a:xfrm flipH="1">
            <a:off x="2524250" y="1002450"/>
            <a:ext cx="405300" cy="100800"/>
          </a:xfrm>
          <a:prstGeom prst="straightConnector1">
            <a:avLst/>
          </a:prstGeom>
          <a:noFill/>
          <a:ln cap="flat" cmpd="sng" w="38100">
            <a:solidFill>
              <a:srgbClr val="6AA84F"/>
            </a:solidFill>
            <a:prstDash val="solid"/>
            <a:round/>
            <a:headEnd len="med" w="med" type="none"/>
            <a:tailEnd len="med" w="med" type="triangle"/>
          </a:ln>
        </p:spPr>
      </p:cxnSp>
      <p:sp>
        <p:nvSpPr>
          <p:cNvPr id="202" name="Google Shape;202;p25"/>
          <p:cNvSpPr txBox="1"/>
          <p:nvPr/>
        </p:nvSpPr>
        <p:spPr>
          <a:xfrm>
            <a:off x="2929550" y="756150"/>
            <a:ext cx="1670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38761D"/>
                </a:solidFill>
              </a:rPr>
              <a:t>Lower Arm</a:t>
            </a:r>
            <a:endParaRPr b="1" sz="2000">
              <a:solidFill>
                <a:srgbClr val="38761D"/>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38761D"/>
                </a:solidFill>
              </a:rPr>
              <a:t>In This Course: End Effectors</a:t>
            </a:r>
            <a:endParaRPr b="1">
              <a:solidFill>
                <a:srgbClr val="38761D"/>
              </a:solidFill>
            </a:endParaRPr>
          </a:p>
        </p:txBody>
      </p:sp>
      <p:sp>
        <p:nvSpPr>
          <p:cNvPr id="208" name="Google Shape;208;p26"/>
          <p:cNvSpPr txBox="1"/>
          <p:nvPr/>
        </p:nvSpPr>
        <p:spPr>
          <a:xfrm>
            <a:off x="4327800" y="1188450"/>
            <a:ext cx="48162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This arm uses a gripper design.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This arm’s gripper uses two fingers to hold objects.</a:t>
            </a:r>
            <a:endParaRPr sz="2000"/>
          </a:p>
        </p:txBody>
      </p:sp>
      <p:pic>
        <p:nvPicPr>
          <p:cNvPr id="209" name="Google Shape;209;p26" title="V5 Gripper ASM.png"/>
          <p:cNvPicPr preferRelativeResize="0"/>
          <p:nvPr/>
        </p:nvPicPr>
        <p:blipFill>
          <a:blip r:embed="rId3">
            <a:alphaModFix/>
          </a:blip>
          <a:stretch>
            <a:fillRect/>
          </a:stretch>
        </p:blipFill>
        <p:spPr>
          <a:xfrm>
            <a:off x="595800" y="572700"/>
            <a:ext cx="3333350" cy="2576526"/>
          </a:xfrm>
          <a:prstGeom prst="rect">
            <a:avLst/>
          </a:prstGeom>
          <a:noFill/>
          <a:ln>
            <a:noFill/>
          </a:ln>
        </p:spPr>
      </p:pic>
      <p:pic>
        <p:nvPicPr>
          <p:cNvPr id="210" name="Google Shape;210;p26" title="V5 Gripper ASM (1).png"/>
          <p:cNvPicPr preferRelativeResize="0"/>
          <p:nvPr/>
        </p:nvPicPr>
        <p:blipFill rotWithShape="1">
          <a:blip r:embed="rId4">
            <a:alphaModFix/>
          </a:blip>
          <a:srcRect b="0" l="8859" r="0" t="0"/>
          <a:stretch/>
        </p:blipFill>
        <p:spPr>
          <a:xfrm>
            <a:off x="0" y="2480625"/>
            <a:ext cx="3751398" cy="26628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38761D"/>
                </a:solidFill>
              </a:rPr>
              <a:t>In This Course: </a:t>
            </a:r>
            <a:r>
              <a:rPr b="1" lang="en">
                <a:solidFill>
                  <a:srgbClr val="38761D"/>
                </a:solidFill>
              </a:rPr>
              <a:t>Workspace</a:t>
            </a:r>
            <a:endParaRPr b="1">
              <a:solidFill>
                <a:srgbClr val="38761D"/>
              </a:solidFill>
            </a:endParaRPr>
          </a:p>
        </p:txBody>
      </p:sp>
      <p:pic>
        <p:nvPicPr>
          <p:cNvPr id="216" name="Google Shape;216;p27"/>
          <p:cNvPicPr preferRelativeResize="0"/>
          <p:nvPr/>
        </p:nvPicPr>
        <p:blipFill rotWithShape="1">
          <a:blip r:embed="rId3">
            <a:alphaModFix/>
          </a:blip>
          <a:srcRect b="2671" l="7390" r="0" t="30400"/>
          <a:stretch/>
        </p:blipFill>
        <p:spPr>
          <a:xfrm>
            <a:off x="0" y="702550"/>
            <a:ext cx="4768159" cy="2229574"/>
          </a:xfrm>
          <a:prstGeom prst="rect">
            <a:avLst/>
          </a:prstGeom>
          <a:noFill/>
          <a:ln>
            <a:noFill/>
          </a:ln>
        </p:spPr>
      </p:pic>
      <p:sp>
        <p:nvSpPr>
          <p:cNvPr id="217" name="Google Shape;217;p27"/>
          <p:cNvSpPr txBox="1"/>
          <p:nvPr/>
        </p:nvSpPr>
        <p:spPr>
          <a:xfrm>
            <a:off x="4572000" y="2001450"/>
            <a:ext cx="45720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Workspace refers to the volume in which the arm can reach. It is best represented in this case by a hemisphere with the radius of the reach of the arm.</a:t>
            </a:r>
            <a:endParaRPr sz="2000"/>
          </a:p>
        </p:txBody>
      </p:sp>
      <p:pic>
        <p:nvPicPr>
          <p:cNvPr id="218" name="Google Shape;218;p27" title="Main ASM (6).png"/>
          <p:cNvPicPr preferRelativeResize="0"/>
          <p:nvPr/>
        </p:nvPicPr>
        <p:blipFill rotWithShape="1">
          <a:blip r:embed="rId4">
            <a:alphaModFix/>
          </a:blip>
          <a:srcRect b="10687" l="6777" r="0" t="21503"/>
          <a:stretch/>
        </p:blipFill>
        <p:spPr>
          <a:xfrm>
            <a:off x="0" y="2932125"/>
            <a:ext cx="4699044" cy="2211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38761D"/>
                </a:solidFill>
              </a:rPr>
              <a:t>In This Course: Forward Kinematics</a:t>
            </a:r>
            <a:endParaRPr b="1">
              <a:solidFill>
                <a:srgbClr val="38761D"/>
              </a:solidFill>
            </a:endParaRPr>
          </a:p>
        </p:txBody>
      </p:sp>
      <p:pic>
        <p:nvPicPr>
          <p:cNvPr id="224" name="Google Shape;224;p28"/>
          <p:cNvPicPr preferRelativeResize="0"/>
          <p:nvPr/>
        </p:nvPicPr>
        <p:blipFill rotWithShape="1">
          <a:blip r:embed="rId3">
            <a:alphaModFix/>
          </a:blip>
          <a:srcRect b="0" l="0" r="0" t="8517"/>
          <a:stretch/>
        </p:blipFill>
        <p:spPr>
          <a:xfrm>
            <a:off x="0" y="1551096"/>
            <a:ext cx="5164676" cy="2657585"/>
          </a:xfrm>
          <a:prstGeom prst="rect">
            <a:avLst/>
          </a:prstGeom>
          <a:noFill/>
          <a:ln>
            <a:noFill/>
          </a:ln>
        </p:spPr>
      </p:pic>
      <p:sp>
        <p:nvSpPr>
          <p:cNvPr id="225" name="Google Shape;225;p28"/>
          <p:cNvSpPr/>
          <p:nvPr/>
        </p:nvSpPr>
        <p:spPr>
          <a:xfrm flipH="1" rot="2700000">
            <a:off x="3176572" y="2412083"/>
            <a:ext cx="1596930" cy="1596930"/>
          </a:xfrm>
          <a:prstGeom prst="blockArc">
            <a:avLst>
              <a:gd fmla="val 18969520" name="adj1"/>
              <a:gd fmla="val 21574488" name="adj2"/>
              <a:gd fmla="val 4685" name="adj3"/>
            </a:avLst>
          </a:prstGeom>
          <a:solidFill>
            <a:srgbClr val="FF0000"/>
          </a:solidFill>
          <a:ln cap="flat" cmpd="sng" w="6650">
            <a:solidFill>
              <a:srgbClr val="595959"/>
            </a:solidFill>
            <a:prstDash val="solid"/>
            <a:round/>
            <a:headEnd len="sm" w="sm" type="none"/>
            <a:tailEnd len="sm" w="sm" type="none"/>
          </a:ln>
        </p:spPr>
        <p:txBody>
          <a:bodyPr anchorCtr="0" anchor="ctr" bIns="63875" lIns="63875" spcFirstLastPara="1" rIns="63875" wrap="square" tIns="63875">
            <a:noAutofit/>
          </a:bodyPr>
          <a:lstStyle/>
          <a:p>
            <a:pPr indent="0" lvl="0" marL="0" rtl="0" algn="ctr">
              <a:spcBef>
                <a:spcPts val="0"/>
              </a:spcBef>
              <a:spcAft>
                <a:spcPts val="0"/>
              </a:spcAft>
              <a:buNone/>
            </a:pPr>
            <a:r>
              <a:t/>
            </a:r>
            <a:endParaRPr sz="978"/>
          </a:p>
        </p:txBody>
      </p:sp>
      <p:cxnSp>
        <p:nvCxnSpPr>
          <p:cNvPr id="226" name="Google Shape;226;p28"/>
          <p:cNvCxnSpPr/>
          <p:nvPr/>
        </p:nvCxnSpPr>
        <p:spPr>
          <a:xfrm>
            <a:off x="2870783" y="2127343"/>
            <a:ext cx="1104300" cy="1107300"/>
          </a:xfrm>
          <a:prstGeom prst="straightConnector1">
            <a:avLst/>
          </a:prstGeom>
          <a:noFill/>
          <a:ln cap="flat" cmpd="sng" w="53225">
            <a:solidFill>
              <a:srgbClr val="6AA84F"/>
            </a:solidFill>
            <a:prstDash val="solid"/>
            <a:round/>
            <a:headEnd len="med" w="med" type="none"/>
            <a:tailEnd len="med" w="med" type="none"/>
          </a:ln>
        </p:spPr>
      </p:cxnSp>
      <p:cxnSp>
        <p:nvCxnSpPr>
          <p:cNvPr id="227" name="Google Shape;227;p28"/>
          <p:cNvCxnSpPr/>
          <p:nvPr/>
        </p:nvCxnSpPr>
        <p:spPr>
          <a:xfrm>
            <a:off x="1280762" y="2127343"/>
            <a:ext cx="1616700" cy="0"/>
          </a:xfrm>
          <a:prstGeom prst="straightConnector1">
            <a:avLst/>
          </a:prstGeom>
          <a:noFill/>
          <a:ln cap="flat" cmpd="sng" w="53225">
            <a:solidFill>
              <a:srgbClr val="6AA84F"/>
            </a:solidFill>
            <a:prstDash val="solid"/>
            <a:round/>
            <a:headEnd len="med" w="med" type="none"/>
            <a:tailEnd len="med" w="med" type="none"/>
          </a:ln>
        </p:spPr>
      </p:cxnSp>
      <p:cxnSp>
        <p:nvCxnSpPr>
          <p:cNvPr id="228" name="Google Shape;228;p28"/>
          <p:cNvCxnSpPr/>
          <p:nvPr/>
        </p:nvCxnSpPr>
        <p:spPr>
          <a:xfrm>
            <a:off x="3975253" y="2210180"/>
            <a:ext cx="0" cy="1024800"/>
          </a:xfrm>
          <a:prstGeom prst="straightConnector1">
            <a:avLst/>
          </a:prstGeom>
          <a:noFill/>
          <a:ln cap="flat" cmpd="sng" w="26625">
            <a:solidFill>
              <a:srgbClr val="6AA84F"/>
            </a:solidFill>
            <a:prstDash val="dash"/>
            <a:round/>
            <a:headEnd len="med" w="med" type="none"/>
            <a:tailEnd len="med" w="med" type="none"/>
          </a:ln>
        </p:spPr>
      </p:cxnSp>
      <p:sp>
        <p:nvSpPr>
          <p:cNvPr id="229" name="Google Shape;229;p28"/>
          <p:cNvSpPr/>
          <p:nvPr/>
        </p:nvSpPr>
        <p:spPr>
          <a:xfrm flipH="1">
            <a:off x="2069141" y="1303550"/>
            <a:ext cx="1596600" cy="1596600"/>
          </a:xfrm>
          <a:prstGeom prst="blockArc">
            <a:avLst>
              <a:gd fmla="val 18969520" name="adj1"/>
              <a:gd fmla="val 21574488" name="adj2"/>
              <a:gd fmla="val 4685" name="adj3"/>
            </a:avLst>
          </a:prstGeom>
          <a:solidFill>
            <a:srgbClr val="FF0000"/>
          </a:solidFill>
          <a:ln cap="flat" cmpd="sng" w="6650">
            <a:solidFill>
              <a:srgbClr val="595959"/>
            </a:solidFill>
            <a:prstDash val="solid"/>
            <a:round/>
            <a:headEnd len="sm" w="sm" type="none"/>
            <a:tailEnd len="sm" w="sm" type="none"/>
          </a:ln>
        </p:spPr>
        <p:txBody>
          <a:bodyPr anchorCtr="0" anchor="ctr" bIns="63875" lIns="63875" spcFirstLastPara="1" rIns="63875" wrap="square" tIns="63875">
            <a:noAutofit/>
          </a:bodyPr>
          <a:lstStyle/>
          <a:p>
            <a:pPr indent="0" lvl="0" marL="0" rtl="0" algn="ctr">
              <a:spcBef>
                <a:spcPts val="0"/>
              </a:spcBef>
              <a:spcAft>
                <a:spcPts val="0"/>
              </a:spcAft>
              <a:buNone/>
            </a:pPr>
            <a:r>
              <a:t/>
            </a:r>
            <a:endParaRPr sz="978"/>
          </a:p>
        </p:txBody>
      </p:sp>
      <p:cxnSp>
        <p:nvCxnSpPr>
          <p:cNvPr id="230" name="Google Shape;230;p28"/>
          <p:cNvCxnSpPr/>
          <p:nvPr/>
        </p:nvCxnSpPr>
        <p:spPr>
          <a:xfrm>
            <a:off x="2114091" y="1343881"/>
            <a:ext cx="783300" cy="783300"/>
          </a:xfrm>
          <a:prstGeom prst="straightConnector1">
            <a:avLst/>
          </a:prstGeom>
          <a:noFill/>
          <a:ln cap="flat" cmpd="sng" w="26625">
            <a:solidFill>
              <a:srgbClr val="6AA84F"/>
            </a:solidFill>
            <a:prstDash val="dash"/>
            <a:round/>
            <a:headEnd len="med" w="med" type="none"/>
            <a:tailEnd len="med" w="med" type="none"/>
          </a:ln>
        </p:spPr>
      </p:cxnSp>
      <p:sp>
        <p:nvSpPr>
          <p:cNvPr id="231" name="Google Shape;231;p28"/>
          <p:cNvSpPr txBox="1"/>
          <p:nvPr/>
        </p:nvSpPr>
        <p:spPr>
          <a:xfrm>
            <a:off x="3698210" y="2519807"/>
            <a:ext cx="489600" cy="322500"/>
          </a:xfrm>
          <a:prstGeom prst="rect">
            <a:avLst/>
          </a:prstGeom>
          <a:noFill/>
          <a:ln>
            <a:noFill/>
          </a:ln>
        </p:spPr>
        <p:txBody>
          <a:bodyPr anchorCtr="0" anchor="t" bIns="63875" lIns="63875" spcFirstLastPara="1" rIns="63875" wrap="square" tIns="63875">
            <a:spAutoFit/>
          </a:bodyPr>
          <a:lstStyle/>
          <a:p>
            <a:pPr indent="0" lvl="0" marL="0" rtl="0" algn="l">
              <a:spcBef>
                <a:spcPts val="0"/>
              </a:spcBef>
              <a:spcAft>
                <a:spcPts val="0"/>
              </a:spcAft>
              <a:buNone/>
            </a:pPr>
            <a:r>
              <a:rPr lang="en" sz="1257">
                <a:solidFill>
                  <a:srgbClr val="FF0000"/>
                </a:solidFill>
              </a:rPr>
              <a:t>θ</a:t>
            </a:r>
            <a:r>
              <a:rPr baseline="-25000" lang="en" sz="1257">
                <a:solidFill>
                  <a:srgbClr val="FF0000"/>
                </a:solidFill>
              </a:rPr>
              <a:t>1</a:t>
            </a:r>
            <a:endParaRPr baseline="-25000" sz="1257">
              <a:solidFill>
                <a:srgbClr val="FF0000"/>
              </a:solidFill>
            </a:endParaRPr>
          </a:p>
        </p:txBody>
      </p:sp>
      <p:sp>
        <p:nvSpPr>
          <p:cNvPr id="232" name="Google Shape;232;p28"/>
          <p:cNvSpPr txBox="1"/>
          <p:nvPr/>
        </p:nvSpPr>
        <p:spPr>
          <a:xfrm>
            <a:off x="2221287" y="1690561"/>
            <a:ext cx="489600" cy="322500"/>
          </a:xfrm>
          <a:prstGeom prst="rect">
            <a:avLst/>
          </a:prstGeom>
          <a:noFill/>
          <a:ln>
            <a:noFill/>
          </a:ln>
        </p:spPr>
        <p:txBody>
          <a:bodyPr anchorCtr="0" anchor="t" bIns="63875" lIns="63875" spcFirstLastPara="1" rIns="63875" wrap="square" tIns="63875">
            <a:spAutoFit/>
          </a:bodyPr>
          <a:lstStyle/>
          <a:p>
            <a:pPr indent="0" lvl="0" marL="0" rtl="0" algn="l">
              <a:spcBef>
                <a:spcPts val="0"/>
              </a:spcBef>
              <a:spcAft>
                <a:spcPts val="0"/>
              </a:spcAft>
              <a:buNone/>
            </a:pPr>
            <a:r>
              <a:rPr lang="en" sz="1257">
                <a:solidFill>
                  <a:srgbClr val="FF0000"/>
                </a:solidFill>
              </a:rPr>
              <a:t>θ</a:t>
            </a:r>
            <a:r>
              <a:rPr baseline="-25000" lang="en" sz="1257">
                <a:solidFill>
                  <a:srgbClr val="FF0000"/>
                </a:solidFill>
              </a:rPr>
              <a:t>2</a:t>
            </a:r>
            <a:endParaRPr baseline="-25000" sz="1257">
              <a:solidFill>
                <a:srgbClr val="FF0000"/>
              </a:solidFill>
            </a:endParaRPr>
          </a:p>
        </p:txBody>
      </p:sp>
      <p:sp>
        <p:nvSpPr>
          <p:cNvPr id="233" name="Google Shape;233;p28"/>
          <p:cNvSpPr txBox="1"/>
          <p:nvPr/>
        </p:nvSpPr>
        <p:spPr>
          <a:xfrm>
            <a:off x="4572000" y="796000"/>
            <a:ext cx="4572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Workspace refers to the mathematical approaches to determine the position of the arm using known joint angles.</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38761D"/>
                </a:solidFill>
              </a:rPr>
              <a:t>In This Course: Forward Kinematics</a:t>
            </a:r>
            <a:endParaRPr b="1">
              <a:solidFill>
                <a:srgbClr val="38761D"/>
              </a:solidFill>
            </a:endParaRPr>
          </a:p>
        </p:txBody>
      </p:sp>
      <p:pic>
        <p:nvPicPr>
          <p:cNvPr id="239" name="Google Shape;239;p29"/>
          <p:cNvPicPr preferRelativeResize="0"/>
          <p:nvPr/>
        </p:nvPicPr>
        <p:blipFill rotWithShape="1">
          <a:blip r:embed="rId3">
            <a:alphaModFix/>
          </a:blip>
          <a:srcRect b="0" l="0" r="0" t="8517"/>
          <a:stretch/>
        </p:blipFill>
        <p:spPr>
          <a:xfrm>
            <a:off x="0" y="1551096"/>
            <a:ext cx="5164676" cy="2657585"/>
          </a:xfrm>
          <a:prstGeom prst="rect">
            <a:avLst/>
          </a:prstGeom>
          <a:noFill/>
          <a:ln>
            <a:noFill/>
          </a:ln>
        </p:spPr>
      </p:pic>
      <p:cxnSp>
        <p:nvCxnSpPr>
          <p:cNvPr id="240" name="Google Shape;240;p29"/>
          <p:cNvCxnSpPr/>
          <p:nvPr/>
        </p:nvCxnSpPr>
        <p:spPr>
          <a:xfrm>
            <a:off x="2870783" y="2127343"/>
            <a:ext cx="1104300" cy="1107300"/>
          </a:xfrm>
          <a:prstGeom prst="straightConnector1">
            <a:avLst/>
          </a:prstGeom>
          <a:noFill/>
          <a:ln cap="flat" cmpd="sng" w="53225">
            <a:solidFill>
              <a:srgbClr val="6AA84F"/>
            </a:solidFill>
            <a:prstDash val="solid"/>
            <a:round/>
            <a:headEnd len="med" w="med" type="none"/>
            <a:tailEnd len="med" w="med" type="none"/>
          </a:ln>
        </p:spPr>
      </p:cxnSp>
      <p:cxnSp>
        <p:nvCxnSpPr>
          <p:cNvPr id="241" name="Google Shape;241;p29"/>
          <p:cNvCxnSpPr/>
          <p:nvPr/>
        </p:nvCxnSpPr>
        <p:spPr>
          <a:xfrm>
            <a:off x="1280762" y="2127343"/>
            <a:ext cx="1616700" cy="0"/>
          </a:xfrm>
          <a:prstGeom prst="straightConnector1">
            <a:avLst/>
          </a:prstGeom>
          <a:noFill/>
          <a:ln cap="flat" cmpd="sng" w="53225">
            <a:solidFill>
              <a:srgbClr val="6AA84F"/>
            </a:solidFill>
            <a:prstDash val="solid"/>
            <a:round/>
            <a:headEnd len="med" w="med" type="none"/>
            <a:tailEnd len="med" w="med" type="none"/>
          </a:ln>
        </p:spPr>
      </p:cxnSp>
      <p:sp>
        <p:nvSpPr>
          <p:cNvPr id="242" name="Google Shape;242;p29"/>
          <p:cNvSpPr txBox="1"/>
          <p:nvPr/>
        </p:nvSpPr>
        <p:spPr>
          <a:xfrm>
            <a:off x="4572000" y="796000"/>
            <a:ext cx="4572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Workspace refers to the mathematical approaches to determine the joint angles of the arm given a desired end position.</a:t>
            </a:r>
            <a:endParaRPr sz="2000"/>
          </a:p>
        </p:txBody>
      </p:sp>
      <p:sp>
        <p:nvSpPr>
          <p:cNvPr id="243" name="Google Shape;243;p29"/>
          <p:cNvSpPr txBox="1"/>
          <p:nvPr/>
        </p:nvSpPr>
        <p:spPr>
          <a:xfrm>
            <a:off x="82525" y="3021850"/>
            <a:ext cx="2212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FF0000"/>
                </a:solidFill>
              </a:rPr>
              <a:t>(X,Y)</a:t>
            </a:r>
            <a:endParaRPr sz="1800">
              <a:solidFill>
                <a:srgbClr val="FF0000"/>
              </a:solidFill>
            </a:endParaRPr>
          </a:p>
        </p:txBody>
      </p:sp>
      <p:cxnSp>
        <p:nvCxnSpPr>
          <p:cNvPr id="244" name="Google Shape;244;p29"/>
          <p:cNvCxnSpPr>
            <a:stCxn id="243" idx="0"/>
          </p:cNvCxnSpPr>
          <p:nvPr/>
        </p:nvCxnSpPr>
        <p:spPr>
          <a:xfrm flipH="1" rot="10800000">
            <a:off x="1188925" y="2137750"/>
            <a:ext cx="75600" cy="884100"/>
          </a:xfrm>
          <a:prstGeom prst="straightConnector1">
            <a:avLst/>
          </a:prstGeom>
          <a:noFill/>
          <a:ln cap="flat" cmpd="sng" w="38100">
            <a:solidFill>
              <a:srgbClr val="FF0000"/>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38761D"/>
                </a:solidFill>
              </a:rPr>
              <a:t>Why Robotic Arms? - Industry</a:t>
            </a:r>
            <a:endParaRPr b="1">
              <a:solidFill>
                <a:srgbClr val="38761D"/>
              </a:solidFill>
            </a:endParaRPr>
          </a:p>
        </p:txBody>
      </p:sp>
      <p:sp>
        <p:nvSpPr>
          <p:cNvPr id="250" name="Google Shape;250;p30"/>
          <p:cNvSpPr txBox="1"/>
          <p:nvPr/>
        </p:nvSpPr>
        <p:spPr>
          <a:xfrm>
            <a:off x="4669200" y="341100"/>
            <a:ext cx="44748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Robotic arms provide versatility in movement.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This allows them to complete tasks other machines would not be able to accomplish.</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Stretch (top video) uses the movement of a robotic arm to reach inside boxes and place them in any location</a:t>
            </a:r>
            <a:br>
              <a:rPr lang="en" sz="2000"/>
            </a:br>
            <a:br>
              <a:rPr lang="en" sz="2000"/>
            </a:br>
            <a:r>
              <a:rPr lang="en" sz="2000"/>
              <a:t>The welding robot uses the robotic arm to follow complex and varied paths to most effectively weld.</a:t>
            </a:r>
            <a:endParaRPr sz="2000"/>
          </a:p>
        </p:txBody>
      </p:sp>
      <p:pic>
        <p:nvPicPr>
          <p:cNvPr descr="Meet Stretch, a prototype of our new robot designed to automate box moving tasks in warehouses and distribution centers. Stretch’s mobile base allows it to go to where repetitive box lifting is required - unloading trucks, building pallets of boxes and order building. Stretch makes warehouse operations more efficient and safer for workers.&#10;&#10;Stretch’s technology builds upon our decades of advancements in robotics to create a flexible, easily integrated solution that can be deployed in any warehouse. Learn more at https://www.bostondynamics.com/stretch.&#10;&#10;#WarehouseRobotics #BostonDynamics #WarehouseAutomation" id="251" name="Google Shape;251;p30" title="Introducing Stretch | Boston Dynamics">
            <a:hlinkClick r:id="rId3"/>
          </p:cNvPr>
          <p:cNvPicPr preferRelativeResize="0"/>
          <p:nvPr/>
        </p:nvPicPr>
        <p:blipFill>
          <a:blip r:embed="rId4">
            <a:alphaModFix/>
          </a:blip>
          <a:stretch>
            <a:fillRect/>
          </a:stretch>
        </p:blipFill>
        <p:spPr>
          <a:xfrm>
            <a:off x="0" y="714675"/>
            <a:ext cx="3906317" cy="2194560"/>
          </a:xfrm>
          <a:prstGeom prst="rect">
            <a:avLst/>
          </a:prstGeom>
          <a:noFill/>
          <a:ln>
            <a:noFill/>
          </a:ln>
        </p:spPr>
      </p:pic>
      <p:pic>
        <p:nvPicPr>
          <p:cNvPr descr="Automatic robotic welding for precision and efficiency.&#10;Experience the power of robotic arm welding automation with XT LASER:&#10;✅ Strong and precise welding seams&#10;✅ High-speed, stable performance&#10;✅ Reduced labor costs &amp; improved efficiency&#10;&#10;Ideal for automotive manufacturing, aerospace, construction, and precision parts.&#10;🤖 The future of smart manufacturing starts here.&#10;📩 Message us now for machine specs &amp; quotation!&#10;📞 Book a live demo today!&#10;💬 WhatsApp: 86159 6664 2899&#10;#XTLaser #RoboticWelding #AutomaticWelding #SmartFactory #LaserTechnology #IndustrialRobotics #PrecisionEngineering" id="252" name="Google Shape;252;p30" title="XT LASER | Robotic Arm Automatic Welding Demo | Smart &amp; Precise">
            <a:hlinkClick r:id="rId5"/>
          </p:cNvPr>
          <p:cNvPicPr preferRelativeResize="0"/>
          <p:nvPr/>
        </p:nvPicPr>
        <p:blipFill>
          <a:blip r:embed="rId6">
            <a:alphaModFix/>
          </a:blip>
          <a:stretch>
            <a:fillRect/>
          </a:stretch>
        </p:blipFill>
        <p:spPr>
          <a:xfrm>
            <a:off x="5488" y="2948950"/>
            <a:ext cx="3895344" cy="2194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38761D"/>
                </a:solidFill>
              </a:rPr>
              <a:t>Why Robotic Arms? - Agriculture &amp; Healthcare</a:t>
            </a:r>
            <a:endParaRPr b="1">
              <a:solidFill>
                <a:srgbClr val="38761D"/>
              </a:solidFill>
            </a:endParaRPr>
          </a:p>
        </p:txBody>
      </p:sp>
      <p:sp>
        <p:nvSpPr>
          <p:cNvPr id="258" name="Google Shape;258;p31"/>
          <p:cNvSpPr txBox="1"/>
          <p:nvPr/>
        </p:nvSpPr>
        <p:spPr>
          <a:xfrm>
            <a:off x="4669300" y="796000"/>
            <a:ext cx="44748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The grape picking robot uses the versatility of a robotic arm to adapt to unpredictable locations of grapes. The robotic arm allows the robot to pick grapes at many positions.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The da Vinci Surgical System (bottom image) utilizes four robotic arms to enhance a doctor’s precision. The use of robotic arms enables the system to be versatile and perform complex tasks.</a:t>
            </a:r>
            <a:endParaRPr sz="2000"/>
          </a:p>
        </p:txBody>
      </p:sp>
      <p:pic>
        <p:nvPicPr>
          <p:cNvPr descr="Dobot CR cobot" id="259" name="Google Shape;259;p31" title="Collaborative robotic arm picking grapes - Start the Smart Orchard">
            <a:hlinkClick r:id="rId3"/>
          </p:cNvPr>
          <p:cNvPicPr preferRelativeResize="0"/>
          <p:nvPr/>
        </p:nvPicPr>
        <p:blipFill>
          <a:blip r:embed="rId4">
            <a:alphaModFix/>
          </a:blip>
          <a:stretch>
            <a:fillRect/>
          </a:stretch>
        </p:blipFill>
        <p:spPr>
          <a:xfrm>
            <a:off x="0" y="628100"/>
            <a:ext cx="3455391" cy="1943650"/>
          </a:xfrm>
          <a:prstGeom prst="rect">
            <a:avLst/>
          </a:prstGeom>
          <a:noFill/>
          <a:ln>
            <a:noFill/>
          </a:ln>
        </p:spPr>
      </p:pic>
      <p:pic>
        <p:nvPicPr>
          <p:cNvPr id="260" name="Google Shape;260;p31"/>
          <p:cNvPicPr preferRelativeResize="0"/>
          <p:nvPr/>
        </p:nvPicPr>
        <p:blipFill>
          <a:blip r:embed="rId5">
            <a:alphaModFix/>
          </a:blip>
          <a:stretch>
            <a:fillRect/>
          </a:stretch>
        </p:blipFill>
        <p:spPr>
          <a:xfrm>
            <a:off x="658525" y="2571750"/>
            <a:ext cx="1888688" cy="257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38761D"/>
                </a:solidFill>
              </a:rPr>
              <a:t>Why Robotic Arms? - Service</a:t>
            </a:r>
            <a:endParaRPr b="1">
              <a:solidFill>
                <a:srgbClr val="38761D"/>
              </a:solidFill>
            </a:endParaRPr>
          </a:p>
        </p:txBody>
      </p:sp>
      <p:sp>
        <p:nvSpPr>
          <p:cNvPr id="266" name="Google Shape;266;p32"/>
          <p:cNvSpPr txBox="1"/>
          <p:nvPr/>
        </p:nvSpPr>
        <p:spPr>
          <a:xfrm>
            <a:off x="4669200" y="677275"/>
            <a:ext cx="44748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Bomb defusal robots use robotic arms to interact with dangerous payloads. Robotic arms allow one robot to access many locations and interact with many items.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Humanoid robots use robotic arms as we do. Robotic arms are the most general solution to interaction with the world. Robotic arms allow for the widest variety of movement and greatest versatility.</a:t>
            </a:r>
            <a:endParaRPr sz="2000"/>
          </a:p>
        </p:txBody>
      </p:sp>
      <p:pic>
        <p:nvPicPr>
          <p:cNvPr descr="Northrop Grumman Remotec, a division of one of the largest military contractors in the country, outfits militaries and over 400 US civilian bomb squads with their Andros robot - a machine capable of assessing suspicious packages and diffusing bombs. &#10;&#10;Video by Ali Withers, David Nicholson&#10;&#10;----------&#10;&#10;Like this video? Subscribe to Bloomberg on YouTube: http://www.youtube.com/Bloomberg?sub_confirmation=1&#10;&#10;Bloomberg is the First Word in business news, delivering breaking news &amp; analysis, up-to-the-minute market data, features, profiles and more: http://www.bloomberg.com&#10;Connect with us on...&#10;Twitter: https://twitter.com/business&#10;Facebook: https://www.facebook.com/bloombergbusiness&#10;Instagram: https://www.instagram.com/bloombergbusiness/" id="267" name="Google Shape;267;p32" title="The $200,000 Police Bomb Robot">
            <a:hlinkClick r:id="rId3"/>
          </p:cNvPr>
          <p:cNvPicPr preferRelativeResize="0"/>
          <p:nvPr/>
        </p:nvPicPr>
        <p:blipFill>
          <a:blip r:embed="rId4">
            <a:alphaModFix/>
          </a:blip>
          <a:stretch>
            <a:fillRect/>
          </a:stretch>
        </p:blipFill>
        <p:spPr>
          <a:xfrm>
            <a:off x="0" y="572700"/>
            <a:ext cx="4173025" cy="2347325"/>
          </a:xfrm>
          <a:prstGeom prst="rect">
            <a:avLst/>
          </a:prstGeom>
          <a:noFill/>
          <a:ln>
            <a:noFill/>
          </a:ln>
        </p:spPr>
      </p:pic>
      <p:pic>
        <p:nvPicPr>
          <p:cNvPr descr="A little over a month ago we released Helix 02, a single neural system that controls the full body directly from pixels, enabling dexterous, long horizon autonomy across an entire room. After cleaning up a kitchen, Helix 02 is now taking on another everyday task: tidying up a living room." id="268" name="Google Shape;268;p32" title="Helix 02 Living Room Tidy">
            <a:hlinkClick r:id="rId5"/>
          </p:cNvPr>
          <p:cNvPicPr preferRelativeResize="0"/>
          <p:nvPr/>
        </p:nvPicPr>
        <p:blipFill>
          <a:blip r:embed="rId6">
            <a:alphaModFix/>
          </a:blip>
          <a:stretch>
            <a:fillRect/>
          </a:stretch>
        </p:blipFill>
        <p:spPr>
          <a:xfrm>
            <a:off x="0" y="2920025"/>
            <a:ext cx="3952845" cy="2223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38761D"/>
                </a:solidFill>
              </a:rPr>
              <a:t>Robotic Arm Safety</a:t>
            </a:r>
            <a:endParaRPr b="1">
              <a:solidFill>
                <a:srgbClr val="38761D"/>
              </a:solidFill>
            </a:endParaRPr>
          </a:p>
        </p:txBody>
      </p:sp>
      <p:pic>
        <p:nvPicPr>
          <p:cNvPr id="274" name="Google Shape;274;p33" title="Main ASM (7).png"/>
          <p:cNvPicPr preferRelativeResize="0"/>
          <p:nvPr/>
        </p:nvPicPr>
        <p:blipFill>
          <a:blip r:embed="rId3">
            <a:alphaModFix/>
          </a:blip>
          <a:stretch>
            <a:fillRect/>
          </a:stretch>
        </p:blipFill>
        <p:spPr>
          <a:xfrm>
            <a:off x="3766125" y="832075"/>
            <a:ext cx="5377874" cy="3479351"/>
          </a:xfrm>
          <a:prstGeom prst="rect">
            <a:avLst/>
          </a:prstGeom>
          <a:noFill/>
          <a:ln>
            <a:noFill/>
          </a:ln>
        </p:spPr>
      </p:pic>
      <p:sp>
        <p:nvSpPr>
          <p:cNvPr id="275" name="Google Shape;275;p33"/>
          <p:cNvSpPr/>
          <p:nvPr/>
        </p:nvSpPr>
        <p:spPr>
          <a:xfrm>
            <a:off x="5944950" y="1557275"/>
            <a:ext cx="723300" cy="736800"/>
          </a:xfrm>
          <a:prstGeom prst="mathMultiply">
            <a:avLst>
              <a:gd fmla="val 12041"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33"/>
          <p:cNvSpPr txBox="1"/>
          <p:nvPr/>
        </p:nvSpPr>
        <p:spPr>
          <a:xfrm>
            <a:off x="0" y="832075"/>
            <a:ext cx="36267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Do not put your fingers in between the upper and lower arm segments. You can get pinched by the sharp walls.</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38761D"/>
                </a:solidFill>
              </a:rPr>
              <a:t>Robotic Arm Safety</a:t>
            </a:r>
            <a:endParaRPr b="1">
              <a:solidFill>
                <a:srgbClr val="38761D"/>
              </a:solidFill>
            </a:endParaRPr>
          </a:p>
        </p:txBody>
      </p:sp>
      <p:sp>
        <p:nvSpPr>
          <p:cNvPr id="282" name="Google Shape;282;p34"/>
          <p:cNvSpPr txBox="1"/>
          <p:nvPr/>
        </p:nvSpPr>
        <p:spPr>
          <a:xfrm>
            <a:off x="0" y="832075"/>
            <a:ext cx="36267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While the arm is powered on, do not get too close to it.</a:t>
            </a:r>
            <a:br>
              <a:rPr lang="en" sz="2000"/>
            </a:br>
            <a:br>
              <a:rPr lang="en" sz="2000"/>
            </a:br>
            <a:r>
              <a:rPr lang="en" sz="2000"/>
              <a:t>If the arm acts in an unexpected way, turn the power off immediately.</a:t>
            </a:r>
            <a:endParaRPr sz="2000"/>
          </a:p>
        </p:txBody>
      </p:sp>
      <p:pic>
        <p:nvPicPr>
          <p:cNvPr id="283" name="Google Shape;283;p34"/>
          <p:cNvPicPr preferRelativeResize="0"/>
          <p:nvPr/>
        </p:nvPicPr>
        <p:blipFill rotWithShape="1">
          <a:blip r:embed="rId3">
            <a:alphaModFix/>
          </a:blip>
          <a:srcRect b="0" l="12801" r="0" t="0"/>
          <a:stretch/>
        </p:blipFill>
        <p:spPr>
          <a:xfrm>
            <a:off x="4210575" y="1083575"/>
            <a:ext cx="4545449" cy="3372350"/>
          </a:xfrm>
          <a:prstGeom prst="rect">
            <a:avLst/>
          </a:prstGeom>
          <a:noFill/>
          <a:ln>
            <a:noFill/>
          </a:ln>
        </p:spPr>
      </p:pic>
      <p:sp>
        <p:nvSpPr>
          <p:cNvPr id="284" name="Google Shape;284;p34"/>
          <p:cNvSpPr/>
          <p:nvPr/>
        </p:nvSpPr>
        <p:spPr>
          <a:xfrm>
            <a:off x="4589400" y="945750"/>
            <a:ext cx="3787800" cy="36480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