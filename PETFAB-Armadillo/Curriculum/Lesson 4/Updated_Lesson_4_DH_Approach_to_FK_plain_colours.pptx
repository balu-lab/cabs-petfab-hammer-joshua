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111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111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11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 name="Google Shape;20;p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1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1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1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1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1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1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1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1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1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2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2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2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p2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2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2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2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2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2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2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2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2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2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2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2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p2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2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p2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2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p2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2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2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p2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2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3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2" name="Google Shape;1112;p3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3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3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2" name="Google Shape;1192;p3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3" name="Google Shape;1193;p3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3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4" name="Google Shape;1274;p3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5" name="Google Shape;1275;p3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3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3" name="Google Shape;1313;p3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p3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3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9" name="Google Shape;1379;p3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3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3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p3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6" name="Google Shape;1446;p3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3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4" name="Google Shape;1474;p3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5" name="Google Shape;1475;p3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3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3" name="Google Shape;1513;p3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4" name="Google Shape;1514;p3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_COVER">
  <p:cSld name="LESSON_COVER">
    <p:bg>
      <p:bgPr>
        <a:solidFill>
          <a:srgbClr val="FFFFFF"/>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812800" y="2095499"/>
            <a:ext cx="6141720" cy="1421012"/>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rgbClr val="000000"/>
              </a:buClr>
              <a:buSzPts val="3400"/>
              <a:buFont typeface="Arial"/>
              <a:buNone/>
              <a:defRPr b="1" i="0" sz="3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_CONTENT">
  <p:cSld name="LESSON_CONTENT">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lvl1pPr lvl="0" marR="0" rtl="0" algn="l">
              <a:spcBef>
                <a:spcPts val="0"/>
              </a:spcBef>
              <a:spcAft>
                <a:spcPts val="0"/>
              </a:spcAft>
              <a:buClr>
                <a:srgbClr val="000000"/>
              </a:buClr>
              <a:buSzPts val="2800"/>
              <a:buFont typeface="Arial"/>
              <a:buNone/>
              <a:defRPr b="1" i="0" sz="28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_DIVIDER">
  <p:cSld name="LESSON_DIVIDER">
    <p:bg>
      <p:bgPr>
        <a:solidFill>
          <a:srgbClr val="FFFFFF"/>
        </a:solidFill>
      </p:bgPr>
    </p:bg>
    <p:spTree>
      <p:nvGrpSpPr>
        <p:cNvPr id="14" name="Shape 14"/>
        <p:cNvGrpSpPr/>
        <p:nvPr/>
      </p:nvGrpSpPr>
      <p:grpSpPr>
        <a:xfrm>
          <a:off x="0" y="0"/>
          <a:ext cx="0" cy="0"/>
          <a:chOff x="0" y="0"/>
          <a:chExt cx="0" cy="0"/>
        </a:xfrm>
      </p:grpSpPr>
      <p:sp>
        <p:nvSpPr>
          <p:cNvPr id="15" name="Google Shape;15;p4"/>
          <p:cNvSpPr txBox="1"/>
          <p:nvPr>
            <p:ph type="title"/>
          </p:nvPr>
        </p:nvSpPr>
        <p:spPr>
          <a:xfrm>
            <a:off x="812800" y="2003635"/>
            <a:ext cx="9144000" cy="744220"/>
          </a:xfrm>
          <a:prstGeom prst="rect">
            <a:avLst/>
          </a:prstGeom>
          <a:noFill/>
          <a:ln>
            <a:noFill/>
          </a:ln>
        </p:spPr>
        <p:txBody>
          <a:bodyPr anchorCtr="0" anchor="ctr" bIns="0" lIns="0" spcFirstLastPara="1" rIns="0" wrap="square" tIns="0">
            <a:normAutofit/>
          </a:bodyPr>
          <a:lstStyle>
            <a:lvl1pPr lvl="0" marR="0" rtl="0" algn="l">
              <a:spcBef>
                <a:spcPts val="0"/>
              </a:spcBef>
              <a:spcAft>
                <a:spcPts val="0"/>
              </a:spcAft>
              <a:buClr>
                <a:srgbClr val="000000"/>
              </a:buClr>
              <a:buSzPts val="4800"/>
              <a:buFont typeface="Arial"/>
              <a:buNone/>
              <a:defRPr b="1" i="0" sz="48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3.png"/><Relationship Id="rId8"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4.png"/><Relationship Id="rId4" Type="http://schemas.openxmlformats.org/officeDocument/2006/relationships/image" Target="../media/image13.png"/><Relationship Id="rId5"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6"/>
          <p:cNvSpPr txBox="1"/>
          <p:nvPr/>
        </p:nvSpPr>
        <p:spPr>
          <a:xfrm>
            <a:off x="812800" y="1604915"/>
            <a:ext cx="6082665"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400"/>
              <a:buFont typeface="Arial"/>
              <a:buNone/>
            </a:pPr>
            <a:r>
              <a:rPr b="1" i="0" lang="en-US" sz="1400" u="none" cap="none" strike="noStrike">
                <a:solidFill>
                  <a:srgbClr val="38761D"/>
                </a:solidFill>
                <a:latin typeface="Arial"/>
                <a:ea typeface="Arial"/>
                <a:cs typeface="Arial"/>
                <a:sym typeface="Arial"/>
              </a:rPr>
              <a:t>ROBOTIC ARM COURSE · LESSON 4 OF 12</a:t>
            </a:r>
            <a:endParaRPr b="0" i="0" sz="1400" u="none" cap="none" strike="noStrike">
              <a:solidFill>
                <a:schemeClr val="dk1"/>
              </a:solidFill>
              <a:latin typeface="Arial"/>
              <a:ea typeface="Arial"/>
              <a:cs typeface="Arial"/>
              <a:sym typeface="Arial"/>
            </a:endParaRPr>
          </a:p>
        </p:txBody>
      </p:sp>
      <p:sp>
        <p:nvSpPr>
          <p:cNvPr id="23" name="Google Shape;23;p6"/>
          <p:cNvSpPr txBox="1"/>
          <p:nvPr>
            <p:ph type="title"/>
          </p:nvPr>
        </p:nvSpPr>
        <p:spPr>
          <a:xfrm>
            <a:off x="812800" y="2095499"/>
            <a:ext cx="6141720" cy="14210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00000"/>
              </a:buClr>
              <a:buSzPts val="3400"/>
              <a:buFont typeface="Arial"/>
              <a:buNone/>
            </a:pPr>
            <a:r>
              <a:rPr b="1" lang="en-US" sz="3400">
                <a:solidFill>
                  <a:srgbClr val="000000"/>
                </a:solidFill>
                <a:latin typeface="Arial"/>
                <a:ea typeface="Arial"/>
                <a:cs typeface="Arial"/>
                <a:sym typeface="Arial"/>
              </a:rPr>
              <a:t>The Denavit-Hartenberg Approach to Forward Kinematics</a:t>
            </a:r>
            <a:endParaRPr sz="3400"/>
          </a:p>
        </p:txBody>
      </p:sp>
      <p:sp>
        <p:nvSpPr>
          <p:cNvPr id="24" name="Google Shape;24;p6"/>
          <p:cNvSpPr txBox="1"/>
          <p:nvPr/>
        </p:nvSpPr>
        <p:spPr>
          <a:xfrm>
            <a:off x="812800" y="3716384"/>
            <a:ext cx="5664200" cy="71452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34343"/>
              </a:buClr>
              <a:buSzPts val="2000"/>
              <a:buFont typeface="Arial"/>
              <a:buNone/>
            </a:pPr>
            <a:r>
              <a:rPr b="0" i="0" lang="en-US" sz="2000" u="none" cap="none" strike="noStrike">
                <a:solidFill>
                  <a:srgbClr val="434343"/>
                </a:solidFill>
                <a:latin typeface="Arial"/>
                <a:ea typeface="Arial"/>
                <a:cs typeface="Arial"/>
                <a:sym typeface="Arial"/>
              </a:rPr>
              <a:t>Turning joint angles into the end effector's position, one matrix per joint</a:t>
            </a:r>
            <a:endParaRPr b="0" i="0" sz="2000" u="none" cap="none" strike="noStrike">
              <a:solidFill>
                <a:schemeClr val="dk1"/>
              </a:solidFill>
              <a:latin typeface="Arial"/>
              <a:ea typeface="Arial"/>
              <a:cs typeface="Arial"/>
              <a:sym typeface="Arial"/>
            </a:endParaRPr>
          </a:p>
        </p:txBody>
      </p:sp>
      <p:sp>
        <p:nvSpPr>
          <p:cNvPr id="25" name="Google Shape;25;p6"/>
          <p:cNvSpPr txBox="1"/>
          <p:nvPr/>
        </p:nvSpPr>
        <p:spPr>
          <a:xfrm>
            <a:off x="812800" y="4649078"/>
            <a:ext cx="562483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500"/>
              <a:buFont typeface="Arial"/>
              <a:buNone/>
            </a:pPr>
            <a:r>
              <a:rPr b="0" i="0" lang="en-US" sz="1500" u="none" cap="none" strike="noStrike">
                <a:solidFill>
                  <a:srgbClr val="666666"/>
                </a:solidFill>
                <a:latin typeface="Arial"/>
                <a:ea typeface="Arial"/>
                <a:cs typeface="Arial"/>
                <a:sym typeface="Arial"/>
              </a:rPr>
              <a:t>Day 1 · Rotation and movement matrices</a:t>
            </a:r>
            <a:endParaRPr b="0" i="0" sz="1500" u="none" cap="none" strike="noStrike">
              <a:solidFill>
                <a:schemeClr val="dk1"/>
              </a:solidFill>
              <a:latin typeface="Arial"/>
              <a:ea typeface="Arial"/>
              <a:cs typeface="Arial"/>
              <a:sym typeface="Arial"/>
            </a:endParaRPr>
          </a:p>
        </p:txBody>
      </p:sp>
      <p:sp>
        <p:nvSpPr>
          <p:cNvPr id="26" name="Google Shape;26;p6"/>
          <p:cNvSpPr txBox="1"/>
          <p:nvPr/>
        </p:nvSpPr>
        <p:spPr>
          <a:xfrm>
            <a:off x="812800" y="4966578"/>
            <a:ext cx="562483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500"/>
              <a:buFont typeface="Arial"/>
              <a:buNone/>
            </a:pPr>
            <a:r>
              <a:rPr b="0" i="0" lang="en-US" sz="1500" u="none" cap="none" strike="noStrike">
                <a:solidFill>
                  <a:srgbClr val="666666"/>
                </a:solidFill>
                <a:latin typeface="Arial"/>
                <a:ea typeface="Arial"/>
                <a:cs typeface="Arial"/>
                <a:sym typeface="Arial"/>
              </a:rPr>
              <a:t>Day 2 · Extending to 3D</a:t>
            </a:r>
            <a:endParaRPr b="0" i="0" sz="1500" u="none" cap="none" strike="noStrike">
              <a:solidFill>
                <a:schemeClr val="dk1"/>
              </a:solidFill>
              <a:latin typeface="Arial"/>
              <a:ea typeface="Arial"/>
              <a:cs typeface="Arial"/>
              <a:sym typeface="Arial"/>
            </a:endParaRPr>
          </a:p>
        </p:txBody>
      </p:sp>
      <p:sp>
        <p:nvSpPr>
          <p:cNvPr id="27" name="Google Shape;27;p6"/>
          <p:cNvSpPr/>
          <p:nvPr/>
        </p:nvSpPr>
        <p:spPr>
          <a:xfrm>
            <a:off x="6477000" y="1206500"/>
            <a:ext cx="4902200" cy="4445000"/>
          </a:xfrm>
          <a:prstGeom prst="roundRect">
            <a:avLst>
              <a:gd fmla="val 4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ree-quarter view of the robotic arm on its base, upper arm vertical and forearm horizontal" id="28" name="Google Shape;28;p6"/>
          <p:cNvPicPr preferRelativeResize="0"/>
          <p:nvPr/>
        </p:nvPicPr>
        <p:blipFill rotWithShape="1">
          <a:blip r:embed="rId3">
            <a:alphaModFix/>
          </a:blip>
          <a:srcRect b="0" l="0" r="0" t="0"/>
          <a:stretch/>
        </p:blipFill>
        <p:spPr>
          <a:xfrm>
            <a:off x="6731000" y="1739900"/>
            <a:ext cx="4394200" cy="3419475"/>
          </a:xfrm>
          <a:prstGeom prst="rect">
            <a:avLst/>
          </a:prstGeom>
          <a:noFill/>
          <a:ln>
            <a:noFill/>
          </a:ln>
        </p:spPr>
      </p:pic>
      <p:pic>
        <p:nvPicPr>
          <p:cNvPr descr="Three-quarter view of the real arm on its base, with the base, shoulder, elbow and tip marked and the joint angles named" id="29" name="Google Shape;29;p6"/>
          <p:cNvPicPr preferRelativeResize="0"/>
          <p:nvPr/>
        </p:nvPicPr>
        <p:blipFill rotWithShape="1">
          <a:blip r:embed="rId4">
            <a:alphaModFix/>
          </a:blip>
          <a:srcRect b="0" l="0" r="0" t="0"/>
          <a:stretch/>
        </p:blipFill>
        <p:spPr>
          <a:xfrm>
            <a:off x="6477000" y="1206500"/>
            <a:ext cx="4902200" cy="4445000"/>
          </a:xfrm>
          <a:prstGeom prst="rect">
            <a:avLst/>
          </a:prstGeom>
          <a:noFill/>
          <a:ln>
            <a:noFill/>
          </a:ln>
        </p:spPr>
      </p:pic>
      <p:sp>
        <p:nvSpPr>
          <p:cNvPr id="30" name="Google Shape;30;p6"/>
          <p:cNvSpPr/>
          <p:nvPr/>
        </p:nvSpPr>
        <p:spPr>
          <a:xfrm>
            <a:off x="8372475" y="3990280"/>
            <a:ext cx="222250" cy="2222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nvSpPr>
        <p:spPr>
          <a:xfrm>
            <a:off x="8378952" y="3989070"/>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32" name="Google Shape;32;p6"/>
          <p:cNvSpPr/>
          <p:nvPr/>
        </p:nvSpPr>
        <p:spPr>
          <a:xfrm>
            <a:off x="8500666" y="3585766"/>
            <a:ext cx="222250" cy="2222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nvSpPr>
        <p:spPr>
          <a:xfrm>
            <a:off x="8507143" y="3584555"/>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34" name="Google Shape;34;p6"/>
          <p:cNvSpPr/>
          <p:nvPr/>
        </p:nvSpPr>
        <p:spPr>
          <a:xfrm>
            <a:off x="8500666" y="1874441"/>
            <a:ext cx="222250" cy="2222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nvSpPr>
        <p:spPr>
          <a:xfrm>
            <a:off x="8507143" y="1873230"/>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36" name="Google Shape;36;p6"/>
          <p:cNvSpPr/>
          <p:nvPr/>
        </p:nvSpPr>
        <p:spPr>
          <a:xfrm>
            <a:off x="7927975" y="4272855"/>
            <a:ext cx="400050" cy="2667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7927925" y="4261001"/>
            <a:ext cx="40005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θB</a:t>
            </a:r>
            <a:endParaRPr b="0" i="0" sz="1400" u="none" cap="none" strike="noStrike">
              <a:solidFill>
                <a:schemeClr val="dk1"/>
              </a:solidFill>
              <a:latin typeface="Arial"/>
              <a:ea typeface="Arial"/>
              <a:cs typeface="Arial"/>
              <a:sym typeface="Arial"/>
            </a:endParaRPr>
          </a:p>
        </p:txBody>
      </p:sp>
      <p:sp>
        <p:nvSpPr>
          <p:cNvPr id="38" name="Google Shape;38;p6"/>
          <p:cNvSpPr/>
          <p:nvPr/>
        </p:nvSpPr>
        <p:spPr>
          <a:xfrm>
            <a:off x="8862616" y="3588941"/>
            <a:ext cx="387350" cy="2667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nvSpPr>
        <p:spPr>
          <a:xfrm>
            <a:off x="8862616" y="3577086"/>
            <a:ext cx="38735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θS</a:t>
            </a:r>
            <a:endParaRPr b="0" i="0" sz="1400" u="none" cap="none" strike="noStrike">
              <a:solidFill>
                <a:schemeClr val="dk1"/>
              </a:solidFill>
              <a:latin typeface="Arial"/>
              <a:ea typeface="Arial"/>
              <a:cs typeface="Arial"/>
              <a:sym typeface="Arial"/>
            </a:endParaRPr>
          </a:p>
        </p:txBody>
      </p:sp>
      <p:sp>
        <p:nvSpPr>
          <p:cNvPr id="40" name="Google Shape;40;p6"/>
          <p:cNvSpPr/>
          <p:nvPr/>
        </p:nvSpPr>
        <p:spPr>
          <a:xfrm>
            <a:off x="7973616" y="1814116"/>
            <a:ext cx="387350" cy="2667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nvSpPr>
        <p:spPr>
          <a:xfrm>
            <a:off x="7973616" y="1802261"/>
            <a:ext cx="38735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θE</a:t>
            </a:r>
            <a:endParaRPr b="0" i="0" sz="1400" u="none" cap="none" strike="noStrike">
              <a:solidFill>
                <a:schemeClr val="dk1"/>
              </a:solidFill>
              <a:latin typeface="Arial"/>
              <a:ea typeface="Arial"/>
              <a:cs typeface="Arial"/>
              <a:sym typeface="Arial"/>
            </a:endParaRPr>
          </a:p>
        </p:txBody>
      </p:sp>
      <p:sp>
        <p:nvSpPr>
          <p:cNvPr id="42" name="Google Shape;42;p6"/>
          <p:cNvSpPr txBox="1"/>
          <p:nvPr/>
        </p:nvSpPr>
        <p:spPr>
          <a:xfrm>
            <a:off x="10098336" y="2052925"/>
            <a:ext cx="88900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(X, Y, Z)</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7"/>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RECAP · LESSON 3</a:t>
            </a:r>
            <a:endParaRPr b="0" i="0" sz="1200" u="none" cap="none" strike="noStrike">
              <a:solidFill>
                <a:schemeClr val="dk1"/>
              </a:solidFill>
              <a:latin typeface="Arial"/>
              <a:ea typeface="Arial"/>
              <a:cs typeface="Arial"/>
              <a:sym typeface="Arial"/>
            </a:endParaRPr>
          </a:p>
        </p:txBody>
      </p:sp>
      <p:sp>
        <p:nvSpPr>
          <p:cNvPr id="49" name="Google Shape;49;p7"/>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Where Lesson 3 Left Off</a:t>
            </a:r>
            <a:endParaRPr sz="2800"/>
          </a:p>
        </p:txBody>
      </p:sp>
      <p:sp>
        <p:nvSpPr>
          <p:cNvPr id="50" name="Google Shape;50;p7"/>
          <p:cNvSpPr txBox="1"/>
          <p:nvPr/>
        </p:nvSpPr>
        <p:spPr>
          <a:xfrm>
            <a:off x="812800" y="1511784"/>
            <a:ext cx="45783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GIVEN</a:t>
            </a:r>
            <a:endParaRPr b="0" i="0" sz="1200" u="none" cap="none" strike="noStrike">
              <a:solidFill>
                <a:schemeClr val="dk1"/>
              </a:solidFill>
              <a:latin typeface="Arial"/>
              <a:ea typeface="Arial"/>
              <a:cs typeface="Arial"/>
              <a:sym typeface="Arial"/>
            </a:endParaRPr>
          </a:p>
        </p:txBody>
      </p:sp>
      <p:sp>
        <p:nvSpPr>
          <p:cNvPr id="51" name="Google Shape;51;p7"/>
          <p:cNvSpPr txBox="1"/>
          <p:nvPr/>
        </p:nvSpPr>
        <p:spPr>
          <a:xfrm>
            <a:off x="812800" y="1849484"/>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L₁ = L₂ = 250 mm</a:t>
            </a:r>
            <a:endParaRPr b="0" i="0" sz="2000" u="none" cap="none" strike="noStrike">
              <a:solidFill>
                <a:schemeClr val="dk1"/>
              </a:solidFill>
              <a:latin typeface="Arial"/>
              <a:ea typeface="Arial"/>
              <a:cs typeface="Arial"/>
              <a:sym typeface="Arial"/>
            </a:endParaRPr>
          </a:p>
        </p:txBody>
      </p:sp>
      <p:sp>
        <p:nvSpPr>
          <p:cNvPr id="52" name="Google Shape;52;p7"/>
          <p:cNvSpPr txBox="1"/>
          <p:nvPr/>
        </p:nvSpPr>
        <p:spPr>
          <a:xfrm>
            <a:off x="812800" y="2332084"/>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θS = 45°, θE = 45°</a:t>
            </a:r>
            <a:endParaRPr b="0" i="0" sz="2000" u="none" cap="none" strike="noStrike">
              <a:solidFill>
                <a:schemeClr val="dk1"/>
              </a:solidFill>
              <a:latin typeface="Arial"/>
              <a:ea typeface="Arial"/>
              <a:cs typeface="Arial"/>
              <a:sym typeface="Arial"/>
            </a:endParaRPr>
          </a:p>
        </p:txBody>
      </p:sp>
      <p:sp>
        <p:nvSpPr>
          <p:cNvPr id="53" name="Google Shape;53;p7"/>
          <p:cNvSpPr txBox="1"/>
          <p:nvPr/>
        </p:nvSpPr>
        <p:spPr>
          <a:xfrm>
            <a:off x="812800" y="2817304"/>
            <a:ext cx="45783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THE TRIANGLES GAVE</a:t>
            </a:r>
            <a:endParaRPr b="0" i="0" sz="1200" u="none" cap="none" strike="noStrike">
              <a:solidFill>
                <a:schemeClr val="dk1"/>
              </a:solidFill>
              <a:latin typeface="Arial"/>
              <a:ea typeface="Arial"/>
              <a:cs typeface="Arial"/>
              <a:sym typeface="Arial"/>
            </a:endParaRPr>
          </a:p>
        </p:txBody>
      </p:sp>
      <p:sp>
        <p:nvSpPr>
          <p:cNvPr id="54" name="Google Shape;54;p7"/>
          <p:cNvSpPr txBox="1"/>
          <p:nvPr/>
        </p:nvSpPr>
        <p:spPr>
          <a:xfrm>
            <a:off x="812800" y="3155004"/>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ΔX₁ = ΔY₁ = 176.78 mm</a:t>
            </a:r>
            <a:endParaRPr b="0" i="0" sz="2000" u="none" cap="none" strike="noStrike">
              <a:solidFill>
                <a:schemeClr val="dk1"/>
              </a:solidFill>
              <a:latin typeface="Arial"/>
              <a:ea typeface="Arial"/>
              <a:cs typeface="Arial"/>
              <a:sym typeface="Arial"/>
            </a:endParaRPr>
          </a:p>
        </p:txBody>
      </p:sp>
      <p:sp>
        <p:nvSpPr>
          <p:cNvPr id="55" name="Google Shape;55;p7"/>
          <p:cNvSpPr txBox="1"/>
          <p:nvPr/>
        </p:nvSpPr>
        <p:spPr>
          <a:xfrm>
            <a:off x="812800" y="3637604"/>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ΔX₂ = 250 mm, ΔY₂ = 0 mm</a:t>
            </a:r>
            <a:endParaRPr b="0" i="0" sz="2000" u="none" cap="none" strike="noStrike">
              <a:solidFill>
                <a:schemeClr val="dk1"/>
              </a:solidFill>
              <a:latin typeface="Arial"/>
              <a:ea typeface="Arial"/>
              <a:cs typeface="Arial"/>
              <a:sym typeface="Arial"/>
            </a:endParaRPr>
          </a:p>
        </p:txBody>
      </p:sp>
      <p:sp>
        <p:nvSpPr>
          <p:cNvPr id="56" name="Google Shape;56;p7"/>
          <p:cNvSpPr txBox="1"/>
          <p:nvPr/>
        </p:nvSpPr>
        <p:spPr>
          <a:xfrm>
            <a:off x="812800" y="4117986"/>
            <a:ext cx="4578350"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(X, Y) = (426.78, 176.78)</a:t>
            </a:r>
            <a:endParaRPr b="0" i="0" sz="2200" u="none" cap="none" strike="noStrike">
              <a:solidFill>
                <a:schemeClr val="dk1"/>
              </a:solidFill>
              <a:latin typeface="Arial"/>
              <a:ea typeface="Arial"/>
              <a:cs typeface="Arial"/>
              <a:sym typeface="Arial"/>
            </a:endParaRPr>
          </a:p>
        </p:txBody>
      </p:sp>
      <p:sp>
        <p:nvSpPr>
          <p:cNvPr id="57" name="Google Shape;57;p7"/>
          <p:cNvSpPr/>
          <p:nvPr/>
        </p:nvSpPr>
        <p:spPr>
          <a:xfrm>
            <a:off x="815975" y="4651177"/>
            <a:ext cx="4438650" cy="1111250"/>
          </a:xfrm>
          <a:prstGeom prst="roundRect">
            <a:avLst>
              <a:gd fmla="val 8857"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txBox="1"/>
          <p:nvPr/>
        </p:nvSpPr>
        <p:spPr>
          <a:xfrm>
            <a:off x="1022350" y="4777269"/>
            <a:ext cx="4186936" cy="829583"/>
          </a:xfrm>
          <a:prstGeom prst="rect">
            <a:avLst/>
          </a:prstGeom>
          <a:noFill/>
          <a:ln>
            <a:noFill/>
          </a:ln>
        </p:spPr>
        <p:txBody>
          <a:bodyPr anchorCtr="0" anchor="t" bIns="0" lIns="0" spcFirstLastPara="1" rIns="0" wrap="square" tIns="0">
            <a:noAutofit/>
          </a:bodyPr>
          <a:lstStyle/>
          <a:p>
            <a:pPr indent="0" lvl="0" marL="0" marR="0" rtl="0" algn="l">
              <a:lnSpc>
                <a:spcPct val="116666"/>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Lesson 3 called the angles θ₁ and θ₂. From</a:t>
            </a:r>
            <a:br>
              <a:rPr b="0" i="0" lang="en-US" sz="1800" u="none" cap="none" strike="noStrike">
                <a:solidFill>
                  <a:schemeClr val="dk1"/>
                </a:solidFill>
                <a:latin typeface="Arial"/>
                <a:ea typeface="Arial"/>
                <a:cs typeface="Arial"/>
                <a:sym typeface="Arial"/>
              </a:rPr>
            </a:br>
            <a:r>
              <a:rPr b="0" i="0" lang="en-US" sz="1500" u="none" cap="none" strike="noStrike">
                <a:solidFill>
                  <a:srgbClr val="000000"/>
                </a:solidFill>
                <a:latin typeface="Arial"/>
                <a:ea typeface="Arial"/>
                <a:cs typeface="Arial"/>
                <a:sym typeface="Arial"/>
              </a:rPr>
              <a:t>now on: </a:t>
            </a:r>
            <a:r>
              <a:rPr b="1" i="0" lang="en-US" sz="1500" u="none" cap="none" strike="noStrike">
                <a:solidFill>
                  <a:srgbClr val="000000"/>
                </a:solidFill>
                <a:latin typeface="Arial"/>
                <a:ea typeface="Arial"/>
                <a:cs typeface="Arial"/>
                <a:sym typeface="Arial"/>
              </a:rPr>
              <a:t>θS</a:t>
            </a:r>
            <a:r>
              <a:rPr b="0" i="0" lang="en-US" sz="1500" u="none" cap="none" strike="noStrike">
                <a:solidFill>
                  <a:srgbClr val="000000"/>
                </a:solidFill>
                <a:latin typeface="Arial"/>
                <a:ea typeface="Arial"/>
                <a:cs typeface="Arial"/>
                <a:sym typeface="Arial"/>
              </a:rPr>
              <a:t> for the shoulder, </a:t>
            </a:r>
            <a:r>
              <a:rPr b="1" i="0" lang="en-US" sz="1500" u="none" cap="none" strike="noStrike">
                <a:solidFill>
                  <a:srgbClr val="000000"/>
                </a:solidFill>
                <a:latin typeface="Arial"/>
                <a:ea typeface="Arial"/>
                <a:cs typeface="Arial"/>
                <a:sym typeface="Arial"/>
              </a:rPr>
              <a:t>θE</a:t>
            </a:r>
            <a:r>
              <a:rPr b="0" i="0" lang="en-US" sz="1500" u="none" cap="none" strike="noStrike">
                <a:solidFill>
                  <a:srgbClr val="000000"/>
                </a:solidFill>
                <a:latin typeface="Arial"/>
                <a:ea typeface="Arial"/>
                <a:cs typeface="Arial"/>
                <a:sym typeface="Arial"/>
              </a:rPr>
              <a:t> for the elbow</a:t>
            </a:r>
            <a:br>
              <a:rPr b="0" i="0" lang="en-US" sz="1800" u="none" cap="none" strike="noStrike">
                <a:solidFill>
                  <a:schemeClr val="dk1"/>
                </a:solidFill>
                <a:latin typeface="Arial"/>
                <a:ea typeface="Arial"/>
                <a:cs typeface="Arial"/>
                <a:sym typeface="Arial"/>
              </a:rPr>
            </a:br>
            <a:r>
              <a:rPr b="0" i="0" lang="en-US" sz="1500" u="none" cap="none" strike="noStrike">
                <a:solidFill>
                  <a:srgbClr val="000000"/>
                </a:solidFill>
                <a:latin typeface="Arial"/>
                <a:ea typeface="Arial"/>
                <a:cs typeface="Arial"/>
                <a:sym typeface="Arial"/>
              </a:rPr>
              <a:t>and </a:t>
            </a:r>
            <a:r>
              <a:rPr b="1" i="0" lang="en-US" sz="1500" u="none" cap="none" strike="noStrike">
                <a:solidFill>
                  <a:srgbClr val="000000"/>
                </a:solidFill>
                <a:latin typeface="Arial"/>
                <a:ea typeface="Arial"/>
                <a:cs typeface="Arial"/>
                <a:sym typeface="Arial"/>
              </a:rPr>
              <a:t>θB</a:t>
            </a:r>
            <a:r>
              <a:rPr b="0" i="0" lang="en-US" sz="1500" u="none" cap="none" strike="noStrike">
                <a:solidFill>
                  <a:srgbClr val="000000"/>
                </a:solidFill>
                <a:latin typeface="Arial"/>
                <a:ea typeface="Arial"/>
                <a:cs typeface="Arial"/>
                <a:sym typeface="Arial"/>
              </a:rPr>
              <a:t> for the base.</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59" name="Google Shape;59;p7"/>
          <p:cNvPicPr preferRelativeResize="0"/>
          <p:nvPr/>
        </p:nvPicPr>
        <p:blipFill rotWithShape="1">
          <a:blip r:embed="rId3">
            <a:alphaModFix/>
          </a:blip>
          <a:srcRect b="0" l="0" r="0" t="0"/>
          <a:stretch/>
        </p:blipFill>
        <p:spPr>
          <a:xfrm>
            <a:off x="5664200" y="2534841"/>
            <a:ext cx="5715000" cy="2940050"/>
          </a:xfrm>
          <a:prstGeom prst="rect">
            <a:avLst/>
          </a:prstGeom>
          <a:noFill/>
          <a:ln>
            <a:noFill/>
          </a:ln>
        </p:spPr>
      </p:pic>
      <p:pic>
        <p:nvPicPr>
          <p:cNvPr descr="Side view of the real arm with the shoulder at the origin, the elbow at 176.78, 176.78 and the end effector at 426.78, 176.78, with the shoulder and elbow angles and the horizontal and vertical distances marked" id="60" name="Google Shape;60;p7"/>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61" name="Google Shape;61;p7"/>
          <p:cNvSpPr txBox="1"/>
          <p:nvPr/>
        </p:nvSpPr>
        <p:spPr>
          <a:xfrm>
            <a:off x="7088436" y="3398581"/>
            <a:ext cx="38735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θS</a:t>
            </a:r>
            <a:endParaRPr b="0" i="0" sz="1800" u="none" cap="none" strike="noStrike">
              <a:solidFill>
                <a:schemeClr val="dk1"/>
              </a:solidFill>
              <a:latin typeface="Arial"/>
              <a:ea typeface="Arial"/>
              <a:cs typeface="Arial"/>
              <a:sym typeface="Arial"/>
            </a:endParaRPr>
          </a:p>
        </p:txBody>
      </p:sp>
      <p:sp>
        <p:nvSpPr>
          <p:cNvPr id="62" name="Google Shape;62;p7"/>
          <p:cNvSpPr txBox="1"/>
          <p:nvPr/>
        </p:nvSpPr>
        <p:spPr>
          <a:xfrm>
            <a:off x="8923586" y="2601656"/>
            <a:ext cx="38735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θE</a:t>
            </a:r>
            <a:endParaRPr b="0" i="0" sz="1800" u="none" cap="none" strike="noStrike">
              <a:solidFill>
                <a:schemeClr val="dk1"/>
              </a:solidFill>
              <a:latin typeface="Arial"/>
              <a:ea typeface="Arial"/>
              <a:cs typeface="Arial"/>
              <a:sym typeface="Arial"/>
            </a:endParaRPr>
          </a:p>
        </p:txBody>
      </p:sp>
      <p:sp>
        <p:nvSpPr>
          <p:cNvPr id="63" name="Google Shape;63;p7"/>
          <p:cNvSpPr txBox="1"/>
          <p:nvPr/>
        </p:nvSpPr>
        <p:spPr>
          <a:xfrm>
            <a:off x="7349430" y="2136665"/>
            <a:ext cx="50165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ΔX₁</a:t>
            </a:r>
            <a:endParaRPr b="0" i="0" sz="1700" u="none" cap="none" strike="noStrike">
              <a:solidFill>
                <a:schemeClr val="dk1"/>
              </a:solidFill>
              <a:latin typeface="Arial"/>
              <a:ea typeface="Arial"/>
              <a:cs typeface="Arial"/>
              <a:sym typeface="Arial"/>
            </a:endParaRPr>
          </a:p>
        </p:txBody>
      </p:sp>
      <p:sp>
        <p:nvSpPr>
          <p:cNvPr id="64" name="Google Shape;64;p7"/>
          <p:cNvSpPr txBox="1"/>
          <p:nvPr/>
        </p:nvSpPr>
        <p:spPr>
          <a:xfrm>
            <a:off x="8828336" y="3882915"/>
            <a:ext cx="50800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ΔX₂</a:t>
            </a:r>
            <a:endParaRPr b="0" i="0" sz="1700" u="none" cap="none" strike="noStrike">
              <a:solidFill>
                <a:schemeClr val="dk1"/>
              </a:solidFill>
              <a:latin typeface="Arial"/>
              <a:ea typeface="Arial"/>
              <a:cs typeface="Arial"/>
              <a:sym typeface="Arial"/>
            </a:endParaRPr>
          </a:p>
        </p:txBody>
      </p:sp>
      <p:sp>
        <p:nvSpPr>
          <p:cNvPr id="65" name="Google Shape;65;p7"/>
          <p:cNvSpPr txBox="1"/>
          <p:nvPr/>
        </p:nvSpPr>
        <p:spPr>
          <a:xfrm>
            <a:off x="5899150" y="3627625"/>
            <a:ext cx="501650" cy="2717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ΔY₁</a:t>
            </a:r>
            <a:endParaRPr b="0" i="0" sz="1700" u="none" cap="none" strike="noStrike">
              <a:solidFill>
                <a:schemeClr val="dk1"/>
              </a:solidFill>
              <a:latin typeface="Arial"/>
              <a:ea typeface="Arial"/>
              <a:cs typeface="Arial"/>
              <a:sym typeface="Arial"/>
            </a:endParaRPr>
          </a:p>
        </p:txBody>
      </p:sp>
      <p:sp>
        <p:nvSpPr>
          <p:cNvPr id="66" name="Google Shape;66;p7"/>
          <p:cNvSpPr txBox="1"/>
          <p:nvPr/>
        </p:nvSpPr>
        <p:spPr>
          <a:xfrm>
            <a:off x="10227866" y="2432091"/>
            <a:ext cx="692150" cy="287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(X, Y)</a:t>
            </a:r>
            <a:endParaRPr b="0" i="0" sz="1800" u="none" cap="none" strike="noStrike">
              <a:solidFill>
                <a:schemeClr val="dk1"/>
              </a:solidFill>
              <a:latin typeface="Arial"/>
              <a:ea typeface="Arial"/>
              <a:cs typeface="Arial"/>
              <a:sym typeface="Arial"/>
            </a:endParaRPr>
          </a:p>
        </p:txBody>
      </p:sp>
      <p:sp>
        <p:nvSpPr>
          <p:cNvPr id="67" name="Google Shape;67;p7"/>
          <p:cNvSpPr txBox="1"/>
          <p:nvPr/>
        </p:nvSpPr>
        <p:spPr>
          <a:xfrm>
            <a:off x="10494566" y="4235884"/>
            <a:ext cx="2476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68" name="Google Shape;68;p7"/>
          <p:cNvSpPr txBox="1"/>
          <p:nvPr/>
        </p:nvSpPr>
        <p:spPr>
          <a:xfrm>
            <a:off x="6635750" y="2638164"/>
            <a:ext cx="247650" cy="2565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
        <p:nvSpPr>
          <p:cNvPr id="69" name="Google Shape;69;p7"/>
          <p:cNvSpPr txBox="1"/>
          <p:nvPr/>
        </p:nvSpPr>
        <p:spPr>
          <a:xfrm>
            <a:off x="6229350" y="4441956"/>
            <a:ext cx="5270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(0, 0)</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8"/>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WHY MATRICES</a:t>
            </a:r>
            <a:endParaRPr b="0" i="0" sz="1200" u="none" cap="none" strike="noStrike">
              <a:solidFill>
                <a:schemeClr val="dk1"/>
              </a:solidFill>
              <a:latin typeface="Arial"/>
              <a:ea typeface="Arial"/>
              <a:cs typeface="Arial"/>
              <a:sym typeface="Arial"/>
            </a:endParaRPr>
          </a:p>
        </p:txBody>
      </p:sp>
      <p:sp>
        <p:nvSpPr>
          <p:cNvPr id="76" name="Google Shape;76;p8"/>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One Recipe for Every Joint</a:t>
            </a:r>
            <a:endParaRPr sz="2800"/>
          </a:p>
        </p:txBody>
      </p:sp>
      <p:sp>
        <p:nvSpPr>
          <p:cNvPr id="77" name="Google Shape;77;p8"/>
          <p:cNvSpPr txBox="1"/>
          <p:nvPr/>
        </p:nvSpPr>
        <p:spPr>
          <a:xfrm>
            <a:off x="812800" y="1595825"/>
            <a:ext cx="5811520" cy="111403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Lesson 3 used triangles. Every new joint needed new triangles, and the turning base made the problem 3D.</a:t>
            </a:r>
            <a:endParaRPr b="0" i="0" sz="2200" u="none" cap="none" strike="noStrike">
              <a:solidFill>
                <a:schemeClr val="dk1"/>
              </a:solidFill>
              <a:latin typeface="Arial"/>
              <a:ea typeface="Arial"/>
              <a:cs typeface="Arial"/>
              <a:sym typeface="Arial"/>
            </a:endParaRPr>
          </a:p>
        </p:txBody>
      </p:sp>
      <p:sp>
        <p:nvSpPr>
          <p:cNvPr id="78" name="Google Shape;78;p8"/>
          <p:cNvSpPr/>
          <p:nvPr/>
        </p:nvSpPr>
        <p:spPr>
          <a:xfrm>
            <a:off x="815975" y="3017838"/>
            <a:ext cx="2025650" cy="1540371"/>
          </a:xfrm>
          <a:prstGeom prst="roundRect">
            <a:avLst>
              <a:gd fmla="val 639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txBox="1"/>
          <p:nvPr/>
        </p:nvSpPr>
        <p:spPr>
          <a:xfrm>
            <a:off x="1456134" y="3191756"/>
            <a:ext cx="757932"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1 · BASE</a:t>
            </a:r>
            <a:endParaRPr b="0" i="0" sz="1200" u="none" cap="none" strike="noStrike">
              <a:solidFill>
                <a:schemeClr val="dk1"/>
              </a:solidFill>
              <a:latin typeface="Arial"/>
              <a:ea typeface="Arial"/>
              <a:cs typeface="Arial"/>
              <a:sym typeface="Arial"/>
            </a:endParaRPr>
          </a:p>
        </p:txBody>
      </p:sp>
      <p:sp>
        <p:nvSpPr>
          <p:cNvPr id="80" name="Google Shape;80;p8"/>
          <p:cNvSpPr txBox="1"/>
          <p:nvPr/>
        </p:nvSpPr>
        <p:spPr>
          <a:xfrm>
            <a:off x="1511399" y="3399733"/>
            <a:ext cx="647402" cy="683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4400"/>
              <a:buFont typeface="Arial"/>
              <a:buNone/>
            </a:pPr>
            <a:r>
              <a:rPr b="1" i="0" lang="en-US" sz="4400" u="none" cap="none" strike="noStrike">
                <a:solidFill>
                  <a:srgbClr val="38761D"/>
                </a:solidFill>
                <a:latin typeface="Arial"/>
                <a:ea typeface="Arial"/>
                <a:cs typeface="Arial"/>
                <a:sym typeface="Arial"/>
              </a:rPr>
              <a:t>A₁</a:t>
            </a:r>
            <a:endParaRPr b="0" i="0" sz="4400" u="none" cap="none" strike="noStrike">
              <a:solidFill>
                <a:schemeClr val="dk1"/>
              </a:solidFill>
              <a:latin typeface="Arial"/>
              <a:ea typeface="Arial"/>
              <a:cs typeface="Arial"/>
              <a:sym typeface="Arial"/>
            </a:endParaRPr>
          </a:p>
        </p:txBody>
      </p:sp>
      <p:sp>
        <p:nvSpPr>
          <p:cNvPr id="81" name="Google Shape;81;p8"/>
          <p:cNvSpPr txBox="1"/>
          <p:nvPr/>
        </p:nvSpPr>
        <p:spPr>
          <a:xfrm>
            <a:off x="1413768" y="4119118"/>
            <a:ext cx="842764"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one matrix</a:t>
            </a:r>
            <a:endParaRPr b="0" i="0" sz="1400" u="none" cap="none" strike="noStrike">
              <a:solidFill>
                <a:schemeClr val="dk1"/>
              </a:solidFill>
              <a:latin typeface="Arial"/>
              <a:ea typeface="Arial"/>
              <a:cs typeface="Arial"/>
              <a:sym typeface="Arial"/>
            </a:endParaRPr>
          </a:p>
        </p:txBody>
      </p:sp>
      <p:sp>
        <p:nvSpPr>
          <p:cNvPr id="82" name="Google Shape;82;p8"/>
          <p:cNvSpPr txBox="1"/>
          <p:nvPr/>
        </p:nvSpPr>
        <p:spPr>
          <a:xfrm>
            <a:off x="2971800" y="3480429"/>
            <a:ext cx="250031" cy="568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3200"/>
              <a:buFont typeface="Arial"/>
              <a:buNone/>
            </a:pPr>
            <a:r>
              <a:rPr b="0" i="0" lang="en-US" sz="3200" u="none" cap="none" strike="noStrike">
                <a:solidFill>
                  <a:srgbClr val="666666"/>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83" name="Google Shape;83;p8"/>
          <p:cNvSpPr/>
          <p:nvPr/>
        </p:nvSpPr>
        <p:spPr>
          <a:xfrm>
            <a:off x="3339306" y="3017838"/>
            <a:ext cx="2025650" cy="1540371"/>
          </a:xfrm>
          <a:prstGeom prst="roundRect">
            <a:avLst>
              <a:gd fmla="val 639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txBox="1"/>
          <p:nvPr/>
        </p:nvSpPr>
        <p:spPr>
          <a:xfrm>
            <a:off x="3738166" y="3191756"/>
            <a:ext cx="1240532"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2 · SHOULDER</a:t>
            </a:r>
            <a:endParaRPr b="0" i="0" sz="1200" u="none" cap="none" strike="noStrike">
              <a:solidFill>
                <a:schemeClr val="dk1"/>
              </a:solidFill>
              <a:latin typeface="Arial"/>
              <a:ea typeface="Arial"/>
              <a:cs typeface="Arial"/>
              <a:sym typeface="Arial"/>
            </a:endParaRPr>
          </a:p>
        </p:txBody>
      </p:sp>
      <p:sp>
        <p:nvSpPr>
          <p:cNvPr id="85" name="Google Shape;85;p8"/>
          <p:cNvSpPr txBox="1"/>
          <p:nvPr/>
        </p:nvSpPr>
        <p:spPr>
          <a:xfrm>
            <a:off x="4026198" y="3399733"/>
            <a:ext cx="664567" cy="683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4400"/>
              <a:buFont typeface="Arial"/>
              <a:buNone/>
            </a:pPr>
            <a:r>
              <a:rPr b="1" i="0" lang="en-US" sz="4400" u="none" cap="none" strike="noStrike">
                <a:solidFill>
                  <a:srgbClr val="38761D"/>
                </a:solidFill>
                <a:latin typeface="Arial"/>
                <a:ea typeface="Arial"/>
                <a:cs typeface="Arial"/>
                <a:sym typeface="Arial"/>
              </a:rPr>
              <a:t>A₂</a:t>
            </a:r>
            <a:endParaRPr b="0" i="0" sz="4400" u="none" cap="none" strike="noStrike">
              <a:solidFill>
                <a:schemeClr val="dk1"/>
              </a:solidFill>
              <a:latin typeface="Arial"/>
              <a:ea typeface="Arial"/>
              <a:cs typeface="Arial"/>
              <a:sym typeface="Arial"/>
            </a:endParaRPr>
          </a:p>
        </p:txBody>
      </p:sp>
      <p:sp>
        <p:nvSpPr>
          <p:cNvPr id="86" name="Google Shape;86;p8"/>
          <p:cNvSpPr txBox="1"/>
          <p:nvPr/>
        </p:nvSpPr>
        <p:spPr>
          <a:xfrm>
            <a:off x="3937099" y="4119118"/>
            <a:ext cx="842764"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one matrix</a:t>
            </a:r>
            <a:endParaRPr b="0" i="0" sz="1400" u="none" cap="none" strike="noStrike">
              <a:solidFill>
                <a:schemeClr val="dk1"/>
              </a:solidFill>
              <a:latin typeface="Arial"/>
              <a:ea typeface="Arial"/>
              <a:cs typeface="Arial"/>
              <a:sym typeface="Arial"/>
            </a:endParaRPr>
          </a:p>
        </p:txBody>
      </p:sp>
      <p:sp>
        <p:nvSpPr>
          <p:cNvPr id="87" name="Google Shape;87;p8"/>
          <p:cNvSpPr txBox="1"/>
          <p:nvPr/>
        </p:nvSpPr>
        <p:spPr>
          <a:xfrm>
            <a:off x="5495131" y="3480429"/>
            <a:ext cx="250031" cy="568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3200"/>
              <a:buFont typeface="Arial"/>
              <a:buNone/>
            </a:pPr>
            <a:r>
              <a:rPr b="0" i="0" lang="en-US" sz="3200" u="none" cap="none" strike="noStrike">
                <a:solidFill>
                  <a:srgbClr val="666666"/>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88" name="Google Shape;88;p8"/>
          <p:cNvSpPr/>
          <p:nvPr/>
        </p:nvSpPr>
        <p:spPr>
          <a:xfrm>
            <a:off x="5862638" y="3017838"/>
            <a:ext cx="2025650" cy="1540371"/>
          </a:xfrm>
          <a:prstGeom prst="roundRect">
            <a:avLst>
              <a:gd fmla="val 639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txBox="1"/>
          <p:nvPr/>
        </p:nvSpPr>
        <p:spPr>
          <a:xfrm>
            <a:off x="6424613" y="3191756"/>
            <a:ext cx="914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3 · ELBOW</a:t>
            </a:r>
            <a:endParaRPr b="0" i="0" sz="1200" u="none" cap="none" strike="noStrike">
              <a:solidFill>
                <a:schemeClr val="dk1"/>
              </a:solidFill>
              <a:latin typeface="Arial"/>
              <a:ea typeface="Arial"/>
              <a:cs typeface="Arial"/>
              <a:sym typeface="Arial"/>
            </a:endParaRPr>
          </a:p>
        </p:txBody>
      </p:sp>
      <p:sp>
        <p:nvSpPr>
          <p:cNvPr id="90" name="Google Shape;90;p8"/>
          <p:cNvSpPr txBox="1"/>
          <p:nvPr/>
        </p:nvSpPr>
        <p:spPr>
          <a:xfrm>
            <a:off x="6544469" y="3399733"/>
            <a:ext cx="674688" cy="683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4400"/>
              <a:buFont typeface="Arial"/>
              <a:buNone/>
            </a:pPr>
            <a:r>
              <a:rPr b="1" i="0" lang="en-US" sz="4400" u="none" cap="none" strike="noStrike">
                <a:solidFill>
                  <a:srgbClr val="38761D"/>
                </a:solidFill>
                <a:latin typeface="Arial"/>
                <a:ea typeface="Arial"/>
                <a:cs typeface="Arial"/>
                <a:sym typeface="Arial"/>
              </a:rPr>
              <a:t>A₃</a:t>
            </a:r>
            <a:endParaRPr b="0" i="0" sz="4400" u="none" cap="none" strike="noStrike">
              <a:solidFill>
                <a:schemeClr val="dk1"/>
              </a:solidFill>
              <a:latin typeface="Arial"/>
              <a:ea typeface="Arial"/>
              <a:cs typeface="Arial"/>
              <a:sym typeface="Arial"/>
            </a:endParaRPr>
          </a:p>
        </p:txBody>
      </p:sp>
      <p:sp>
        <p:nvSpPr>
          <p:cNvPr id="91" name="Google Shape;91;p8"/>
          <p:cNvSpPr txBox="1"/>
          <p:nvPr/>
        </p:nvSpPr>
        <p:spPr>
          <a:xfrm>
            <a:off x="6460430" y="4119118"/>
            <a:ext cx="842764"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one matrix</a:t>
            </a:r>
            <a:endParaRPr b="0" i="0" sz="1400" u="none" cap="none" strike="noStrike">
              <a:solidFill>
                <a:schemeClr val="dk1"/>
              </a:solidFill>
              <a:latin typeface="Arial"/>
              <a:ea typeface="Arial"/>
              <a:cs typeface="Arial"/>
              <a:sym typeface="Arial"/>
            </a:endParaRPr>
          </a:p>
        </p:txBody>
      </p:sp>
      <p:sp>
        <p:nvSpPr>
          <p:cNvPr id="92" name="Google Shape;92;p8"/>
          <p:cNvSpPr txBox="1"/>
          <p:nvPr/>
        </p:nvSpPr>
        <p:spPr>
          <a:xfrm>
            <a:off x="8018462" y="3480429"/>
            <a:ext cx="250031" cy="568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3200"/>
              <a:buFont typeface="Arial"/>
              <a:buNone/>
            </a:pPr>
            <a:r>
              <a:rPr b="0" i="0" lang="en-US" sz="3200" u="none" cap="none" strike="noStrike">
                <a:solidFill>
                  <a:srgbClr val="666666"/>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93" name="Google Shape;93;p8"/>
          <p:cNvSpPr/>
          <p:nvPr/>
        </p:nvSpPr>
        <p:spPr>
          <a:xfrm>
            <a:off x="8382794" y="3021013"/>
            <a:ext cx="2159000" cy="1534021"/>
          </a:xfrm>
          <a:prstGeom prst="roundRect">
            <a:avLst>
              <a:gd fmla="val 6623"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txBox="1"/>
          <p:nvPr/>
        </p:nvSpPr>
        <p:spPr>
          <a:xfrm>
            <a:off x="9125049" y="3191756"/>
            <a:ext cx="68718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RESULT</a:t>
            </a:r>
            <a:endParaRPr b="0" i="0" sz="1200" u="none" cap="none" strike="noStrike">
              <a:solidFill>
                <a:schemeClr val="dk1"/>
              </a:solidFill>
              <a:latin typeface="Arial"/>
              <a:ea typeface="Arial"/>
              <a:cs typeface="Arial"/>
              <a:sym typeface="Arial"/>
            </a:endParaRPr>
          </a:p>
        </p:txBody>
      </p:sp>
      <p:sp>
        <p:nvSpPr>
          <p:cNvPr id="95" name="Google Shape;95;p8"/>
          <p:cNvSpPr txBox="1"/>
          <p:nvPr/>
        </p:nvSpPr>
        <p:spPr>
          <a:xfrm>
            <a:off x="9291538" y="3399733"/>
            <a:ext cx="354112" cy="683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T</a:t>
            </a:r>
            <a:endParaRPr b="0" i="0" sz="4400" u="none" cap="none" strike="noStrike">
              <a:solidFill>
                <a:schemeClr val="dk1"/>
              </a:solidFill>
              <a:latin typeface="Arial"/>
              <a:ea typeface="Arial"/>
              <a:cs typeface="Arial"/>
              <a:sym typeface="Arial"/>
            </a:endParaRPr>
          </a:p>
        </p:txBody>
      </p:sp>
      <p:sp>
        <p:nvSpPr>
          <p:cNvPr id="96" name="Google Shape;96;p8"/>
          <p:cNvSpPr txBox="1"/>
          <p:nvPr/>
        </p:nvSpPr>
        <p:spPr>
          <a:xfrm>
            <a:off x="8775303" y="4119118"/>
            <a:ext cx="1386582"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400"/>
              <a:buFont typeface="Arial"/>
              <a:buNone/>
            </a:pPr>
            <a:r>
              <a:rPr b="0" i="0" lang="en-US" sz="1400" u="none" cap="none" strike="noStrike">
                <a:solidFill>
                  <a:srgbClr val="CCCCCC"/>
                </a:solidFill>
                <a:latin typeface="Arial"/>
                <a:ea typeface="Arial"/>
                <a:cs typeface="Arial"/>
                <a:sym typeface="Arial"/>
              </a:rPr>
              <a:t>gives the position</a:t>
            </a:r>
            <a:endParaRPr b="0" i="0" sz="1400" u="none" cap="none" strike="noStrike">
              <a:solidFill>
                <a:schemeClr val="dk1"/>
              </a:solidFill>
              <a:latin typeface="Arial"/>
              <a:ea typeface="Arial"/>
              <a:cs typeface="Arial"/>
              <a:sym typeface="Arial"/>
            </a:endParaRPr>
          </a:p>
        </p:txBody>
      </p:sp>
      <p:sp>
        <p:nvSpPr>
          <p:cNvPr id="97" name="Google Shape;97;p8"/>
          <p:cNvSpPr/>
          <p:nvPr/>
        </p:nvSpPr>
        <p:spPr>
          <a:xfrm>
            <a:off x="815975" y="4869359"/>
            <a:ext cx="5175250" cy="1136452"/>
          </a:xfrm>
          <a:prstGeom prst="roundRect">
            <a:avLst>
              <a:gd fmla="val 8661"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txBox="1"/>
          <p:nvPr/>
        </p:nvSpPr>
        <p:spPr>
          <a:xfrm>
            <a:off x="1022350" y="5017877"/>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a:t>
            </a:r>
            <a:endParaRPr b="0" i="0" sz="1200" u="none" cap="none" strike="noStrike">
              <a:solidFill>
                <a:schemeClr val="dk1"/>
              </a:solidFill>
              <a:latin typeface="Arial"/>
              <a:ea typeface="Arial"/>
              <a:cs typeface="Arial"/>
              <a:sym typeface="Arial"/>
            </a:endParaRPr>
          </a:p>
        </p:txBody>
      </p:sp>
      <p:sp>
        <p:nvSpPr>
          <p:cNvPr id="99" name="Google Shape;99;p8"/>
          <p:cNvSpPr txBox="1"/>
          <p:nvPr/>
        </p:nvSpPr>
        <p:spPr>
          <a:xfrm>
            <a:off x="1022350" y="5270033"/>
            <a:ext cx="4914900" cy="5802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 flat (2D) arm, using rotation and move matrices</a:t>
            </a:r>
            <a:endParaRPr b="0" i="0" sz="1700" u="none" cap="none" strike="noStrike">
              <a:solidFill>
                <a:schemeClr val="dk1"/>
              </a:solidFill>
              <a:latin typeface="Arial"/>
              <a:ea typeface="Arial"/>
              <a:cs typeface="Arial"/>
              <a:sym typeface="Arial"/>
            </a:endParaRPr>
          </a:p>
        </p:txBody>
      </p:sp>
      <p:sp>
        <p:nvSpPr>
          <p:cNvPr id="100" name="Google Shape;100;p8"/>
          <p:cNvSpPr/>
          <p:nvPr/>
        </p:nvSpPr>
        <p:spPr>
          <a:xfrm>
            <a:off x="6200775" y="4869359"/>
            <a:ext cx="5175250" cy="1136452"/>
          </a:xfrm>
          <a:prstGeom prst="roundRect">
            <a:avLst>
              <a:gd fmla="val 8661"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txBox="1"/>
          <p:nvPr/>
        </p:nvSpPr>
        <p:spPr>
          <a:xfrm>
            <a:off x="6407150" y="5017877"/>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a:t>
            </a:r>
            <a:endParaRPr b="0" i="0" sz="1200" u="none" cap="none" strike="noStrike">
              <a:solidFill>
                <a:schemeClr val="dk1"/>
              </a:solidFill>
              <a:latin typeface="Arial"/>
              <a:ea typeface="Arial"/>
              <a:cs typeface="Arial"/>
              <a:sym typeface="Arial"/>
            </a:endParaRPr>
          </a:p>
        </p:txBody>
      </p:sp>
      <p:sp>
        <p:nvSpPr>
          <p:cNvPr id="102" name="Google Shape;102;p8"/>
          <p:cNvSpPr txBox="1"/>
          <p:nvPr/>
        </p:nvSpPr>
        <p:spPr>
          <a:xfrm>
            <a:off x="6407150" y="5270033"/>
            <a:ext cx="4953000" cy="5802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 real (3D) arm, using the Denavit-Hartenberg recipe</a:t>
            </a:r>
            <a:endParaRPr b="0" i="0" sz="1700" u="none" cap="none" strike="noStrike">
              <a:solidFill>
                <a:schemeClr val="dk1"/>
              </a:solidFill>
              <a:latin typeface="Arial"/>
              <a:ea typeface="Arial"/>
              <a:cs typeface="Arial"/>
              <a:sym typeface="Arial"/>
            </a:endParaRPr>
          </a:p>
        </p:txBody>
      </p:sp>
      <p:pic>
        <p:nvPicPr>
          <p:cNvPr descr="Three-quarter view of the robotic arm on its base with the upper arm raised and the forearm horizontal" id="103" name="Google Shape;103;p8"/>
          <p:cNvPicPr preferRelativeResize="0"/>
          <p:nvPr/>
        </p:nvPicPr>
        <p:blipFill rotWithShape="1">
          <a:blip r:embed="rId3">
            <a:alphaModFix/>
          </a:blip>
          <a:srcRect b="0" l="0" r="0" t="0"/>
          <a:stretch/>
        </p:blipFill>
        <p:spPr>
          <a:xfrm>
            <a:off x="6997700" y="355600"/>
            <a:ext cx="4254500" cy="2428180"/>
          </a:xfrm>
          <a:prstGeom prst="rect">
            <a:avLst/>
          </a:prstGeom>
          <a:noFill/>
          <a:ln>
            <a:noFill/>
          </a:ln>
        </p:spPr>
      </p:pic>
      <p:pic>
        <p:nvPicPr>
          <p:cNvPr descr="Three-quarter view of the real arm on its base with the base, shoulder and elbow numbered 1, 2 and 3 and the tip marked T" id="104" name="Google Shape;104;p8"/>
          <p:cNvPicPr preferRelativeResize="0"/>
          <p:nvPr/>
        </p:nvPicPr>
        <p:blipFill rotWithShape="1">
          <a:blip r:embed="rId4">
            <a:alphaModFix/>
          </a:blip>
          <a:srcRect b="0" l="0" r="0" t="0"/>
          <a:stretch/>
        </p:blipFill>
        <p:spPr>
          <a:xfrm>
            <a:off x="6934200" y="228600"/>
            <a:ext cx="4445000" cy="2540000"/>
          </a:xfrm>
          <a:prstGeom prst="rect">
            <a:avLst/>
          </a:prstGeom>
          <a:noFill/>
          <a:ln>
            <a:noFill/>
          </a:ln>
        </p:spPr>
      </p:pic>
      <p:sp>
        <p:nvSpPr>
          <p:cNvPr id="105" name="Google Shape;105;p8"/>
          <p:cNvSpPr/>
          <p:nvPr/>
        </p:nvSpPr>
        <p:spPr>
          <a:xfrm>
            <a:off x="8105775" y="1955800"/>
            <a:ext cx="234950" cy="2349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txBox="1"/>
          <p:nvPr/>
        </p:nvSpPr>
        <p:spPr>
          <a:xfrm>
            <a:off x="8112062" y="1958400"/>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107" name="Google Shape;107;p8"/>
          <p:cNvSpPr/>
          <p:nvPr/>
        </p:nvSpPr>
        <p:spPr>
          <a:xfrm>
            <a:off x="8234660" y="1742380"/>
            <a:ext cx="234950" cy="2349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txBox="1"/>
          <p:nvPr/>
        </p:nvSpPr>
        <p:spPr>
          <a:xfrm>
            <a:off x="8240947" y="1744980"/>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109" name="Google Shape;109;p8"/>
          <p:cNvSpPr/>
          <p:nvPr/>
        </p:nvSpPr>
        <p:spPr>
          <a:xfrm>
            <a:off x="8955385" y="851495"/>
            <a:ext cx="234950" cy="2349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txBox="1"/>
          <p:nvPr/>
        </p:nvSpPr>
        <p:spPr>
          <a:xfrm>
            <a:off x="8961672" y="854095"/>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111" name="Google Shape;111;p8"/>
          <p:cNvSpPr txBox="1"/>
          <p:nvPr/>
        </p:nvSpPr>
        <p:spPr>
          <a:xfrm>
            <a:off x="10057705" y="1029979"/>
            <a:ext cx="24130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T</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ROTATION</a:t>
            </a:r>
            <a:endParaRPr b="0" i="0" sz="1200" u="none" cap="none" strike="noStrike">
              <a:solidFill>
                <a:schemeClr val="dk1"/>
              </a:solidFill>
              <a:latin typeface="Arial"/>
              <a:ea typeface="Arial"/>
              <a:cs typeface="Arial"/>
              <a:sym typeface="Arial"/>
            </a:endParaRPr>
          </a:p>
        </p:txBody>
      </p:sp>
      <p:sp>
        <p:nvSpPr>
          <p:cNvPr id="118" name="Google Shape;118;p9"/>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Rotating a Point</a:t>
            </a:r>
            <a:endParaRPr sz="2800"/>
          </a:p>
        </p:txBody>
      </p:sp>
      <p:sp>
        <p:nvSpPr>
          <p:cNvPr id="119" name="Google Shape;119;p9"/>
          <p:cNvSpPr txBox="1"/>
          <p:nvPr/>
        </p:nvSpPr>
        <p:spPr>
          <a:xfrm>
            <a:off x="812800" y="1496463"/>
            <a:ext cx="4597400" cy="68277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Spin the point </a:t>
            </a:r>
            <a:r>
              <a:rPr b="1" i="0" lang="en-US" sz="2000" u="none" cap="none" strike="noStrike">
                <a:solidFill>
                  <a:srgbClr val="000000"/>
                </a:solidFill>
                <a:latin typeface="Arial"/>
                <a:ea typeface="Arial"/>
                <a:cs typeface="Arial"/>
                <a:sym typeface="Arial"/>
              </a:rPr>
              <a:t>P = (250, 0)</a:t>
            </a:r>
            <a:r>
              <a:rPr b="0" i="0" lang="en-US" sz="2000" u="none" cap="none" strike="noStrike">
                <a:solidFill>
                  <a:srgbClr val="000000"/>
                </a:solidFill>
                <a:latin typeface="Arial"/>
                <a:ea typeface="Arial"/>
                <a:cs typeface="Arial"/>
                <a:sym typeface="Arial"/>
              </a:rPr>
              <a:t> by 45° around the origin.</a:t>
            </a:r>
            <a:endParaRPr b="0" i="0" sz="2000" u="none" cap="none" strike="noStrike">
              <a:solidFill>
                <a:schemeClr val="dk1"/>
              </a:solidFill>
              <a:latin typeface="Arial"/>
              <a:ea typeface="Arial"/>
              <a:cs typeface="Arial"/>
              <a:sym typeface="Arial"/>
            </a:endParaRPr>
          </a:p>
        </p:txBody>
      </p:sp>
      <p:sp>
        <p:nvSpPr>
          <p:cNvPr id="120" name="Google Shape;120;p9"/>
          <p:cNvSpPr txBox="1"/>
          <p:nvPr/>
        </p:nvSpPr>
        <p:spPr>
          <a:xfrm>
            <a:off x="812800" y="23219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Where does it land?</a:t>
            </a:r>
            <a:endParaRPr b="0" i="0" sz="2000" u="none" cap="none" strike="noStrike">
              <a:solidFill>
                <a:schemeClr val="dk1"/>
              </a:solidFill>
              <a:latin typeface="Arial"/>
              <a:ea typeface="Arial"/>
              <a:cs typeface="Arial"/>
              <a:sym typeface="Arial"/>
            </a:endParaRPr>
          </a:p>
        </p:txBody>
      </p:sp>
      <p:sp>
        <p:nvSpPr>
          <p:cNvPr id="121" name="Google Shape;121;p9"/>
          <p:cNvSpPr/>
          <p:nvPr/>
        </p:nvSpPr>
        <p:spPr>
          <a:xfrm>
            <a:off x="815975" y="2842816"/>
            <a:ext cx="4438650" cy="1108670"/>
          </a:xfrm>
          <a:prstGeom prst="roundRect">
            <a:avLst>
              <a:gd fmla="val 887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txBox="1"/>
          <p:nvPr/>
        </p:nvSpPr>
        <p:spPr>
          <a:xfrm>
            <a:off x="1022350" y="2981254"/>
            <a:ext cx="4146677"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x′ = 250 · cos 45° = 176.78</a:t>
            </a:r>
            <a:endParaRPr b="0" i="0" sz="2100" u="none" cap="none" strike="noStrike">
              <a:solidFill>
                <a:schemeClr val="dk1"/>
              </a:solidFill>
              <a:latin typeface="Arial"/>
              <a:ea typeface="Arial"/>
              <a:cs typeface="Arial"/>
              <a:sym typeface="Arial"/>
            </a:endParaRPr>
          </a:p>
        </p:txBody>
      </p:sp>
      <p:sp>
        <p:nvSpPr>
          <p:cNvPr id="123" name="Google Shape;123;p9"/>
          <p:cNvSpPr txBox="1"/>
          <p:nvPr/>
        </p:nvSpPr>
        <p:spPr>
          <a:xfrm>
            <a:off x="1022350" y="3405414"/>
            <a:ext cx="4146677"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y′ = 250 · sin 45° = 176.78</a:t>
            </a:r>
            <a:endParaRPr b="0" i="0" sz="2100" u="none" cap="none" strike="noStrike">
              <a:solidFill>
                <a:schemeClr val="dk1"/>
              </a:solidFill>
              <a:latin typeface="Arial"/>
              <a:ea typeface="Arial"/>
              <a:cs typeface="Arial"/>
              <a:sym typeface="Arial"/>
            </a:endParaRPr>
          </a:p>
        </p:txBody>
      </p:sp>
      <p:sp>
        <p:nvSpPr>
          <p:cNvPr id="124" name="Google Shape;124;p9"/>
          <p:cNvSpPr txBox="1"/>
          <p:nvPr/>
        </p:nvSpPr>
        <p:spPr>
          <a:xfrm>
            <a:off x="812800" y="4095166"/>
            <a:ext cx="4578350"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P′ = (176.78, 176.78)</a:t>
            </a:r>
            <a:endParaRPr b="0" i="0" sz="2200" u="none" cap="none" strike="noStrike">
              <a:solidFill>
                <a:schemeClr val="dk1"/>
              </a:solidFill>
              <a:latin typeface="Arial"/>
              <a:ea typeface="Arial"/>
              <a:cs typeface="Arial"/>
              <a:sym typeface="Arial"/>
            </a:endParaRPr>
          </a:p>
        </p:txBody>
      </p:sp>
      <p:sp>
        <p:nvSpPr>
          <p:cNvPr id="125" name="Google Shape;125;p9"/>
          <p:cNvSpPr/>
          <p:nvPr/>
        </p:nvSpPr>
        <p:spPr>
          <a:xfrm>
            <a:off x="815975" y="4653756"/>
            <a:ext cx="4438650" cy="844550"/>
          </a:xfrm>
          <a:prstGeom prst="roundRect">
            <a:avLst>
              <a:gd fmla="val 11654"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txBox="1"/>
          <p:nvPr/>
        </p:nvSpPr>
        <p:spPr>
          <a:xfrm>
            <a:off x="1022350" y="4779848"/>
            <a:ext cx="4089400" cy="56288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Same numbers as ΔX₁ and ΔY₁ in Lesson 3. The first link is just a point that was rotated.</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27" name="Google Shape;127;p9"/>
          <p:cNvPicPr preferRelativeResize="0"/>
          <p:nvPr/>
        </p:nvPicPr>
        <p:blipFill rotWithShape="1">
          <a:blip r:embed="rId3">
            <a:alphaModFix/>
          </a:blip>
          <a:srcRect b="0" l="0" r="0" t="0"/>
          <a:stretch/>
        </p:blipFill>
        <p:spPr>
          <a:xfrm>
            <a:off x="6045200" y="2636441"/>
            <a:ext cx="5334000" cy="2743795"/>
          </a:xfrm>
          <a:prstGeom prst="rect">
            <a:avLst/>
          </a:prstGeom>
          <a:noFill/>
          <a:ln>
            <a:noFill/>
          </a:ln>
        </p:spPr>
      </p:pic>
      <p:pic>
        <p:nvPicPr>
          <p:cNvPr descr="Side view of the real arm. The shoulder is the origin. The point P at 250, 0 on the x axis turns 45 degrees about the shoulder to P prime at 176.78, 176.78, which is the elbow." id="128" name="Google Shape;128;p9"/>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129" name="Google Shape;129;p9"/>
          <p:cNvSpPr txBox="1"/>
          <p:nvPr/>
        </p:nvSpPr>
        <p:spPr>
          <a:xfrm>
            <a:off x="7956500" y="3951475"/>
            <a:ext cx="43815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45°</a:t>
            </a:r>
            <a:endParaRPr b="0" i="0" sz="1700" u="none" cap="none" strike="noStrike">
              <a:solidFill>
                <a:schemeClr val="dk1"/>
              </a:solidFill>
              <a:latin typeface="Arial"/>
              <a:ea typeface="Arial"/>
              <a:cs typeface="Arial"/>
              <a:sym typeface="Arial"/>
            </a:endParaRPr>
          </a:p>
        </p:txBody>
      </p:sp>
      <p:sp>
        <p:nvSpPr>
          <p:cNvPr id="130" name="Google Shape;130;p9"/>
          <p:cNvSpPr txBox="1"/>
          <p:nvPr/>
        </p:nvSpPr>
        <p:spPr>
          <a:xfrm>
            <a:off x="7353895" y="2154667"/>
            <a:ext cx="996950" cy="226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x′ = 176.78</a:t>
            </a:r>
            <a:endParaRPr b="0" i="0" sz="1400" u="none" cap="none" strike="noStrike">
              <a:solidFill>
                <a:schemeClr val="dk1"/>
              </a:solidFill>
              <a:latin typeface="Arial"/>
              <a:ea typeface="Arial"/>
              <a:cs typeface="Arial"/>
              <a:sym typeface="Arial"/>
            </a:endParaRPr>
          </a:p>
        </p:txBody>
      </p:sp>
      <p:sp>
        <p:nvSpPr>
          <p:cNvPr id="131" name="Google Shape;131;p9"/>
          <p:cNvSpPr txBox="1"/>
          <p:nvPr/>
        </p:nvSpPr>
        <p:spPr>
          <a:xfrm>
            <a:off x="5696545" y="3668447"/>
            <a:ext cx="9969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y′ = 176.78</a:t>
            </a:r>
            <a:endParaRPr b="0" i="0" sz="1400" u="none" cap="none" strike="noStrike">
              <a:solidFill>
                <a:schemeClr val="dk1"/>
              </a:solidFill>
              <a:latin typeface="Arial"/>
              <a:ea typeface="Arial"/>
              <a:cs typeface="Arial"/>
              <a:sym typeface="Arial"/>
            </a:endParaRPr>
          </a:p>
        </p:txBody>
      </p:sp>
      <p:sp>
        <p:nvSpPr>
          <p:cNvPr id="132" name="Google Shape;132;p9"/>
          <p:cNvSpPr txBox="1"/>
          <p:nvPr/>
        </p:nvSpPr>
        <p:spPr>
          <a:xfrm>
            <a:off x="7924800" y="2781048"/>
            <a:ext cx="342900" cy="31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P′</a:t>
            </a:r>
            <a:endParaRPr b="0" i="0" sz="2000" u="none" cap="none" strike="noStrike">
              <a:solidFill>
                <a:schemeClr val="dk1"/>
              </a:solidFill>
              <a:latin typeface="Arial"/>
              <a:ea typeface="Arial"/>
              <a:cs typeface="Arial"/>
              <a:sym typeface="Arial"/>
            </a:endParaRPr>
          </a:p>
        </p:txBody>
      </p:sp>
      <p:sp>
        <p:nvSpPr>
          <p:cNvPr id="133" name="Google Shape;133;p9"/>
          <p:cNvSpPr txBox="1"/>
          <p:nvPr/>
        </p:nvSpPr>
        <p:spPr>
          <a:xfrm>
            <a:off x="8418066" y="4475048"/>
            <a:ext cx="111125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P = (250, 0)</a:t>
            </a:r>
            <a:endParaRPr b="0" i="0" sz="1500" u="none" cap="none" strike="noStrike">
              <a:solidFill>
                <a:schemeClr val="dk1"/>
              </a:solidFill>
              <a:latin typeface="Arial"/>
              <a:ea typeface="Arial"/>
              <a:cs typeface="Arial"/>
              <a:sym typeface="Arial"/>
            </a:endParaRPr>
          </a:p>
        </p:txBody>
      </p:sp>
      <p:sp>
        <p:nvSpPr>
          <p:cNvPr id="134" name="Google Shape;134;p9"/>
          <p:cNvSpPr txBox="1"/>
          <p:nvPr/>
        </p:nvSpPr>
        <p:spPr>
          <a:xfrm>
            <a:off x="7315795" y="1846994"/>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
        <p:nvSpPr>
          <p:cNvPr id="135" name="Google Shape;135;p9"/>
          <p:cNvSpPr txBox="1"/>
          <p:nvPr/>
        </p:nvSpPr>
        <p:spPr>
          <a:xfrm>
            <a:off x="9900841" y="421484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ROTATION</a:t>
            </a:r>
            <a:endParaRPr b="0" i="0" sz="1200" u="none" cap="none" strike="noStrike">
              <a:solidFill>
                <a:schemeClr val="dk1"/>
              </a:solidFill>
              <a:latin typeface="Arial"/>
              <a:ea typeface="Arial"/>
              <a:cs typeface="Arial"/>
              <a:sym typeface="Arial"/>
            </a:endParaRPr>
          </a:p>
        </p:txBody>
      </p:sp>
      <p:sp>
        <p:nvSpPr>
          <p:cNvPr id="142" name="Google Shape;142;p10"/>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The Rotation Matrix</a:t>
            </a:r>
            <a:endParaRPr sz="2800"/>
          </a:p>
        </p:txBody>
      </p:sp>
      <p:sp>
        <p:nvSpPr>
          <p:cNvPr id="143" name="Google Shape;143;p10"/>
          <p:cNvSpPr txBox="1"/>
          <p:nvPr/>
        </p:nvSpPr>
        <p:spPr>
          <a:xfrm>
            <a:off x="812800" y="1509163"/>
            <a:ext cx="91440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 two formulas for rotating a point (x, y) by θ fit inside one matrix.</a:t>
            </a:r>
            <a:endParaRPr b="0" i="0" sz="2000" u="none" cap="none" strike="noStrike">
              <a:solidFill>
                <a:schemeClr val="dk1"/>
              </a:solidFill>
              <a:latin typeface="Arial"/>
              <a:ea typeface="Arial"/>
              <a:cs typeface="Arial"/>
              <a:sym typeface="Arial"/>
            </a:endParaRPr>
          </a:p>
        </p:txBody>
      </p:sp>
      <p:sp>
        <p:nvSpPr>
          <p:cNvPr id="144" name="Google Shape;144;p10"/>
          <p:cNvSpPr/>
          <p:nvPr/>
        </p:nvSpPr>
        <p:spPr>
          <a:xfrm>
            <a:off x="815975" y="2055416"/>
            <a:ext cx="10560050" cy="1644551"/>
          </a:xfrm>
          <a:prstGeom prst="roundRect">
            <a:avLst>
              <a:gd fmla="val 5985"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2854226"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46" name="Google Shape;146;p10"/>
          <p:cNvSpPr txBox="1"/>
          <p:nvPr/>
        </p:nvSpPr>
        <p:spPr>
          <a:xfrm>
            <a:off x="3114576" y="2308154"/>
            <a:ext cx="650180"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cos θ</a:t>
            </a:r>
            <a:endParaRPr b="0" i="0" sz="2100" u="none" cap="none" strike="noStrike">
              <a:solidFill>
                <a:schemeClr val="dk1"/>
              </a:solidFill>
              <a:latin typeface="Arial"/>
              <a:ea typeface="Arial"/>
              <a:cs typeface="Arial"/>
              <a:sym typeface="Arial"/>
            </a:endParaRPr>
          </a:p>
        </p:txBody>
      </p:sp>
      <p:sp>
        <p:nvSpPr>
          <p:cNvPr id="147" name="Google Shape;147;p10"/>
          <p:cNvSpPr txBox="1"/>
          <p:nvPr/>
        </p:nvSpPr>
        <p:spPr>
          <a:xfrm>
            <a:off x="4006056" y="2308154"/>
            <a:ext cx="731838"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−sin θ</a:t>
            </a:r>
            <a:endParaRPr b="0" i="0" sz="2100" u="none" cap="none" strike="noStrike">
              <a:solidFill>
                <a:schemeClr val="dk1"/>
              </a:solidFill>
              <a:latin typeface="Arial"/>
              <a:ea typeface="Arial"/>
              <a:cs typeface="Arial"/>
              <a:sym typeface="Arial"/>
            </a:endParaRPr>
          </a:p>
        </p:txBody>
      </p:sp>
      <p:sp>
        <p:nvSpPr>
          <p:cNvPr id="148" name="Google Shape;148;p10"/>
          <p:cNvSpPr txBox="1"/>
          <p:nvPr/>
        </p:nvSpPr>
        <p:spPr>
          <a:xfrm>
            <a:off x="3111364" y="2732314"/>
            <a:ext cx="656605"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sin θ</a:t>
            </a:r>
            <a:endParaRPr b="0" i="0" sz="2100" u="none" cap="none" strike="noStrike">
              <a:solidFill>
                <a:schemeClr val="dk1"/>
              </a:solidFill>
              <a:latin typeface="Arial"/>
              <a:ea typeface="Arial"/>
              <a:cs typeface="Arial"/>
              <a:sym typeface="Arial"/>
            </a:endParaRPr>
          </a:p>
        </p:txBody>
      </p:sp>
      <p:sp>
        <p:nvSpPr>
          <p:cNvPr id="149" name="Google Shape;149;p10"/>
          <p:cNvSpPr txBox="1"/>
          <p:nvPr/>
        </p:nvSpPr>
        <p:spPr>
          <a:xfrm>
            <a:off x="4001619" y="2732314"/>
            <a:ext cx="740712"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cos θ</a:t>
            </a:r>
            <a:endParaRPr b="0" i="0" sz="2100" u="none" cap="none" strike="noStrike">
              <a:solidFill>
                <a:schemeClr val="dk1"/>
              </a:solidFill>
              <a:latin typeface="Arial"/>
              <a:ea typeface="Arial"/>
              <a:cs typeface="Arial"/>
              <a:sym typeface="Arial"/>
            </a:endParaRPr>
          </a:p>
        </p:txBody>
      </p:sp>
      <p:sp>
        <p:nvSpPr>
          <p:cNvPr id="150" name="Google Shape;150;p10"/>
          <p:cNvSpPr/>
          <p:nvPr/>
        </p:nvSpPr>
        <p:spPr>
          <a:xfrm>
            <a:off x="4883944"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151" name="Google Shape;151;p10"/>
          <p:cNvSpPr txBox="1"/>
          <p:nvPr/>
        </p:nvSpPr>
        <p:spPr>
          <a:xfrm>
            <a:off x="3219748" y="3254345"/>
            <a:ext cx="1425575"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rotation matrix R(θ)</a:t>
            </a:r>
            <a:endParaRPr b="0" i="0" sz="1300" u="none" cap="none" strike="noStrike">
              <a:solidFill>
                <a:schemeClr val="dk1"/>
              </a:solidFill>
              <a:latin typeface="Arial"/>
              <a:ea typeface="Arial"/>
              <a:cs typeface="Arial"/>
              <a:sym typeface="Arial"/>
            </a:endParaRPr>
          </a:p>
        </p:txBody>
      </p:sp>
      <p:sp>
        <p:nvSpPr>
          <p:cNvPr id="152" name="Google Shape;152;p10"/>
          <p:cNvSpPr txBox="1"/>
          <p:nvPr/>
        </p:nvSpPr>
        <p:spPr>
          <a:xfrm>
            <a:off x="5176044" y="247401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53" name="Google Shape;153;p10"/>
          <p:cNvSpPr/>
          <p:nvPr/>
        </p:nvSpPr>
        <p:spPr>
          <a:xfrm>
            <a:off x="5608042"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54" name="Google Shape;154;p10"/>
          <p:cNvSpPr txBox="1"/>
          <p:nvPr/>
        </p:nvSpPr>
        <p:spPr>
          <a:xfrm>
            <a:off x="5868392" y="2308154"/>
            <a:ext cx="146050"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x</a:t>
            </a:r>
            <a:endParaRPr b="0" i="0" sz="2100" u="none" cap="none" strike="noStrike">
              <a:solidFill>
                <a:schemeClr val="dk1"/>
              </a:solidFill>
              <a:latin typeface="Arial"/>
              <a:ea typeface="Arial"/>
              <a:cs typeface="Arial"/>
              <a:sym typeface="Arial"/>
            </a:endParaRPr>
          </a:p>
        </p:txBody>
      </p:sp>
      <p:sp>
        <p:nvSpPr>
          <p:cNvPr id="155" name="Google Shape;155;p10"/>
          <p:cNvSpPr txBox="1"/>
          <p:nvPr/>
        </p:nvSpPr>
        <p:spPr>
          <a:xfrm>
            <a:off x="5868392" y="2732314"/>
            <a:ext cx="146050"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y</a:t>
            </a:r>
            <a:endParaRPr b="0" i="0" sz="2100" u="none" cap="none" strike="noStrike">
              <a:solidFill>
                <a:schemeClr val="dk1"/>
              </a:solidFill>
              <a:latin typeface="Arial"/>
              <a:ea typeface="Arial"/>
              <a:cs typeface="Arial"/>
              <a:sym typeface="Arial"/>
            </a:endParaRPr>
          </a:p>
        </p:txBody>
      </p:sp>
      <p:sp>
        <p:nvSpPr>
          <p:cNvPr id="156" name="Google Shape;156;p10"/>
          <p:cNvSpPr/>
          <p:nvPr/>
        </p:nvSpPr>
        <p:spPr>
          <a:xfrm>
            <a:off x="6160492"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157" name="Google Shape;157;p10"/>
          <p:cNvSpPr txBox="1"/>
          <p:nvPr/>
        </p:nvSpPr>
        <p:spPr>
          <a:xfrm>
            <a:off x="5546725" y="3254345"/>
            <a:ext cx="80208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the point P</a:t>
            </a:r>
            <a:endParaRPr b="0" i="0" sz="1300" u="none" cap="none" strike="noStrike">
              <a:solidFill>
                <a:schemeClr val="dk1"/>
              </a:solidFill>
              <a:latin typeface="Arial"/>
              <a:ea typeface="Arial"/>
              <a:cs typeface="Arial"/>
              <a:sym typeface="Arial"/>
            </a:endParaRPr>
          </a:p>
        </p:txBody>
      </p:sp>
      <p:sp>
        <p:nvSpPr>
          <p:cNvPr id="158" name="Google Shape;158;p10"/>
          <p:cNvSpPr txBox="1"/>
          <p:nvPr/>
        </p:nvSpPr>
        <p:spPr>
          <a:xfrm>
            <a:off x="6513909" y="247401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59" name="Google Shape;159;p10"/>
          <p:cNvSpPr/>
          <p:nvPr/>
        </p:nvSpPr>
        <p:spPr>
          <a:xfrm>
            <a:off x="6884591"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60" name="Google Shape;160;p10"/>
          <p:cNvSpPr txBox="1"/>
          <p:nvPr/>
        </p:nvSpPr>
        <p:spPr>
          <a:xfrm>
            <a:off x="7144941" y="2308154"/>
            <a:ext cx="1932384"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x cos θ − y sin θ</a:t>
            </a:r>
            <a:endParaRPr b="0" i="0" sz="2100" u="none" cap="none" strike="noStrike">
              <a:solidFill>
                <a:schemeClr val="dk1"/>
              </a:solidFill>
              <a:latin typeface="Arial"/>
              <a:ea typeface="Arial"/>
              <a:cs typeface="Arial"/>
              <a:sym typeface="Arial"/>
            </a:endParaRPr>
          </a:p>
        </p:txBody>
      </p:sp>
      <p:sp>
        <p:nvSpPr>
          <p:cNvPr id="161" name="Google Shape;161;p10"/>
          <p:cNvSpPr txBox="1"/>
          <p:nvPr/>
        </p:nvSpPr>
        <p:spPr>
          <a:xfrm>
            <a:off x="7144941" y="2732314"/>
            <a:ext cx="1932384"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x sin θ + y cos θ</a:t>
            </a:r>
            <a:endParaRPr b="0" i="0" sz="2100" u="none" cap="none" strike="noStrike">
              <a:solidFill>
                <a:schemeClr val="dk1"/>
              </a:solidFill>
              <a:latin typeface="Arial"/>
              <a:ea typeface="Arial"/>
              <a:cs typeface="Arial"/>
              <a:sym typeface="Arial"/>
            </a:endParaRPr>
          </a:p>
        </p:txBody>
      </p:sp>
      <p:sp>
        <p:nvSpPr>
          <p:cNvPr id="162" name="Google Shape;162;p10"/>
          <p:cNvSpPr/>
          <p:nvPr/>
        </p:nvSpPr>
        <p:spPr>
          <a:xfrm>
            <a:off x="9223375"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163" name="Google Shape;163;p10"/>
          <p:cNvSpPr txBox="1"/>
          <p:nvPr/>
        </p:nvSpPr>
        <p:spPr>
          <a:xfrm>
            <a:off x="7112496" y="3254345"/>
            <a:ext cx="200987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the rotated point P′ = (x′, y′)</a:t>
            </a:r>
            <a:endParaRPr b="0" i="0" sz="1300" u="none" cap="none" strike="noStrike">
              <a:solidFill>
                <a:schemeClr val="dk1"/>
              </a:solidFill>
              <a:latin typeface="Arial"/>
              <a:ea typeface="Arial"/>
              <a:cs typeface="Arial"/>
              <a:sym typeface="Arial"/>
            </a:endParaRPr>
          </a:p>
        </p:txBody>
      </p:sp>
      <p:sp>
        <p:nvSpPr>
          <p:cNvPr id="164" name="Google Shape;164;p10"/>
          <p:cNvSpPr/>
          <p:nvPr/>
        </p:nvSpPr>
        <p:spPr>
          <a:xfrm>
            <a:off x="815975" y="3909516"/>
            <a:ext cx="5175250" cy="1410692"/>
          </a:xfrm>
          <a:prstGeom prst="roundRect">
            <a:avLst>
              <a:gd fmla="val 697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txBox="1"/>
          <p:nvPr/>
        </p:nvSpPr>
        <p:spPr>
          <a:xfrm>
            <a:off x="1022350" y="4058035"/>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HOW TO MULTIPLY</a:t>
            </a:r>
            <a:endParaRPr b="0" i="0" sz="1200" u="none" cap="none" strike="noStrike">
              <a:solidFill>
                <a:schemeClr val="dk1"/>
              </a:solidFill>
              <a:latin typeface="Arial"/>
              <a:ea typeface="Arial"/>
              <a:cs typeface="Arial"/>
              <a:sym typeface="Arial"/>
            </a:endParaRPr>
          </a:p>
        </p:txBody>
      </p:sp>
      <p:sp>
        <p:nvSpPr>
          <p:cNvPr id="166" name="Google Shape;166;p10"/>
          <p:cNvSpPr txBox="1"/>
          <p:nvPr/>
        </p:nvSpPr>
        <p:spPr>
          <a:xfrm>
            <a:off x="1022350" y="4313850"/>
            <a:ext cx="4953000" cy="8507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Take one row of the matrix. Multiply it entry by entry</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with the point, then add. </a:t>
            </a:r>
            <a:r>
              <a:rPr b="1" i="0" lang="en-US" sz="1600" u="none" cap="none" strike="noStrike">
                <a:solidFill>
                  <a:srgbClr val="FF0000"/>
                </a:solidFill>
                <a:latin typeface="Arial"/>
                <a:ea typeface="Arial"/>
                <a:cs typeface="Arial"/>
                <a:sym typeface="Arial"/>
              </a:rPr>
              <a:t>Row 1</a:t>
            </a:r>
            <a:r>
              <a:rPr b="0" i="0" lang="en-US" sz="1600" u="none" cap="none" strike="noStrike">
                <a:solidFill>
                  <a:srgbClr val="000000"/>
                </a:solidFill>
                <a:latin typeface="Arial"/>
                <a:ea typeface="Arial"/>
                <a:cs typeface="Arial"/>
                <a:sym typeface="Arial"/>
              </a:rPr>
              <a:t> gives x′. </a:t>
            </a:r>
            <a:r>
              <a:rPr b="1" i="0" lang="en-US" sz="1600" u="none" cap="none" strike="noStrike">
                <a:solidFill>
                  <a:srgbClr val="38761D"/>
                </a:solidFill>
                <a:latin typeface="Arial"/>
                <a:ea typeface="Arial"/>
                <a:cs typeface="Arial"/>
                <a:sym typeface="Arial"/>
              </a:rPr>
              <a:t>Row 2</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gives y′.</a:t>
            </a:r>
            <a:endParaRPr b="0" i="0" sz="1600" u="none" cap="none" strike="noStrike">
              <a:solidFill>
                <a:schemeClr val="dk1"/>
              </a:solidFill>
              <a:latin typeface="Arial"/>
              <a:ea typeface="Arial"/>
              <a:cs typeface="Arial"/>
              <a:sym typeface="Arial"/>
            </a:endParaRPr>
          </a:p>
        </p:txBody>
      </p:sp>
      <p:sp>
        <p:nvSpPr>
          <p:cNvPr id="167" name="Google Shape;167;p10"/>
          <p:cNvSpPr/>
          <p:nvPr/>
        </p:nvSpPr>
        <p:spPr>
          <a:xfrm>
            <a:off x="6200775" y="3909516"/>
            <a:ext cx="5175250" cy="1410692"/>
          </a:xfrm>
          <a:prstGeom prst="roundRect">
            <a:avLst>
              <a:gd fmla="val 697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txBox="1"/>
          <p:nvPr/>
        </p:nvSpPr>
        <p:spPr>
          <a:xfrm>
            <a:off x="6407150" y="4058035"/>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WHAT R(θ) DOES</a:t>
            </a:r>
            <a:endParaRPr b="0" i="0" sz="1200" u="none" cap="none" strike="noStrike">
              <a:solidFill>
                <a:schemeClr val="dk1"/>
              </a:solidFill>
              <a:latin typeface="Arial"/>
              <a:ea typeface="Arial"/>
              <a:cs typeface="Arial"/>
              <a:sym typeface="Arial"/>
            </a:endParaRPr>
          </a:p>
        </p:txBody>
      </p:sp>
      <p:sp>
        <p:nvSpPr>
          <p:cNvPr id="169" name="Google Shape;169;p10"/>
          <p:cNvSpPr txBox="1"/>
          <p:nvPr/>
        </p:nvSpPr>
        <p:spPr>
          <a:xfrm>
            <a:off x="6407150" y="4313850"/>
            <a:ext cx="4953000" cy="57654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It spins any point by θ, counter-clockwise, around</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the origin.</a:t>
            </a:r>
            <a:endParaRPr b="0" i="0" sz="16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70" name="Google Shape;170;p10"/>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the upper arm turned about the shoulder from the horizontal x axis; the point P turns into P prime at the elbow" id="171" name="Google Shape;171;p10"/>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172" name="Google Shape;172;p10"/>
          <p:cNvSpPr txBox="1"/>
          <p:nvPr/>
        </p:nvSpPr>
        <p:spPr>
          <a:xfrm>
            <a:off x="9547175" y="913936"/>
            <a:ext cx="209550" cy="226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θ</a:t>
            </a:r>
            <a:endParaRPr b="0" i="0" sz="1400" u="none" cap="none" strike="noStrike">
              <a:solidFill>
                <a:schemeClr val="dk1"/>
              </a:solidFill>
              <a:latin typeface="Arial"/>
              <a:ea typeface="Arial"/>
              <a:cs typeface="Arial"/>
              <a:sym typeface="Arial"/>
            </a:endParaRPr>
          </a:p>
        </p:txBody>
      </p:sp>
      <p:sp>
        <p:nvSpPr>
          <p:cNvPr id="173" name="Google Shape;173;p10"/>
          <p:cNvSpPr txBox="1"/>
          <p:nvPr/>
        </p:nvSpPr>
        <p:spPr>
          <a:xfrm>
            <a:off x="9818291" y="1291015"/>
            <a:ext cx="222250"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174" name="Google Shape;174;p10"/>
          <p:cNvSpPr txBox="1"/>
          <p:nvPr/>
        </p:nvSpPr>
        <p:spPr>
          <a:xfrm>
            <a:off x="9250660" y="260481"/>
            <a:ext cx="2730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P′</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ROTATION</a:t>
            </a:r>
            <a:endParaRPr b="0" i="0" sz="1200" u="none" cap="none" strike="noStrike">
              <a:solidFill>
                <a:schemeClr val="dk1"/>
              </a:solidFill>
              <a:latin typeface="Arial"/>
              <a:ea typeface="Arial"/>
              <a:cs typeface="Arial"/>
              <a:sym typeface="Arial"/>
            </a:endParaRPr>
          </a:p>
        </p:txBody>
      </p:sp>
      <p:sp>
        <p:nvSpPr>
          <p:cNvPr id="181" name="Google Shape;181;p11"/>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Worked Example: Rotation</a:t>
            </a:r>
            <a:endParaRPr sz="2800"/>
          </a:p>
        </p:txBody>
      </p:sp>
      <p:sp>
        <p:nvSpPr>
          <p:cNvPr id="182" name="Google Shape;182;p11"/>
          <p:cNvSpPr txBox="1"/>
          <p:nvPr/>
        </p:nvSpPr>
        <p:spPr>
          <a:xfrm>
            <a:off x="812800" y="1509163"/>
            <a:ext cx="91440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Rotate P = (250, 0) by 45°. At 45°, cos and sin are both 0.7071.</a:t>
            </a:r>
            <a:endParaRPr b="0" i="0" sz="2000" u="none" cap="none" strike="noStrike">
              <a:solidFill>
                <a:schemeClr val="dk1"/>
              </a:solidFill>
              <a:latin typeface="Arial"/>
              <a:ea typeface="Arial"/>
              <a:cs typeface="Arial"/>
              <a:sym typeface="Arial"/>
            </a:endParaRPr>
          </a:p>
        </p:txBody>
      </p:sp>
      <p:sp>
        <p:nvSpPr>
          <p:cNvPr id="183" name="Google Shape;183;p11"/>
          <p:cNvSpPr/>
          <p:nvPr/>
        </p:nvSpPr>
        <p:spPr>
          <a:xfrm>
            <a:off x="815975" y="2055416"/>
            <a:ext cx="10560050" cy="1644551"/>
          </a:xfrm>
          <a:prstGeom prst="roundRect">
            <a:avLst>
              <a:gd fmla="val 5985"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3096320"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85" name="Google Shape;185;p11"/>
          <p:cNvSpPr txBox="1"/>
          <p:nvPr/>
        </p:nvSpPr>
        <p:spPr>
          <a:xfrm>
            <a:off x="3356670" y="2308154"/>
            <a:ext cx="828477"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0.7071</a:t>
            </a:r>
            <a:endParaRPr b="0" i="0" sz="2100" u="none" cap="none" strike="noStrike">
              <a:solidFill>
                <a:schemeClr val="dk1"/>
              </a:solidFill>
              <a:latin typeface="Arial"/>
              <a:ea typeface="Arial"/>
              <a:cs typeface="Arial"/>
              <a:sym typeface="Arial"/>
            </a:endParaRPr>
          </a:p>
        </p:txBody>
      </p:sp>
      <p:sp>
        <p:nvSpPr>
          <p:cNvPr id="186" name="Google Shape;186;p11"/>
          <p:cNvSpPr txBox="1"/>
          <p:nvPr/>
        </p:nvSpPr>
        <p:spPr>
          <a:xfrm>
            <a:off x="4426446" y="2308154"/>
            <a:ext cx="984250"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−0.7071</a:t>
            </a:r>
            <a:endParaRPr b="0" i="0" sz="2100" u="none" cap="none" strike="noStrike">
              <a:solidFill>
                <a:schemeClr val="dk1"/>
              </a:solidFill>
              <a:latin typeface="Arial"/>
              <a:ea typeface="Arial"/>
              <a:cs typeface="Arial"/>
              <a:sym typeface="Arial"/>
            </a:endParaRPr>
          </a:p>
        </p:txBody>
      </p:sp>
      <p:sp>
        <p:nvSpPr>
          <p:cNvPr id="187" name="Google Shape;187;p11"/>
          <p:cNvSpPr txBox="1"/>
          <p:nvPr/>
        </p:nvSpPr>
        <p:spPr>
          <a:xfrm>
            <a:off x="3356670" y="2732314"/>
            <a:ext cx="828477"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0.7071</a:t>
            </a:r>
            <a:endParaRPr b="0" i="0" sz="2100" u="none" cap="none" strike="noStrike">
              <a:solidFill>
                <a:schemeClr val="dk1"/>
              </a:solidFill>
              <a:latin typeface="Arial"/>
              <a:ea typeface="Arial"/>
              <a:cs typeface="Arial"/>
              <a:sym typeface="Arial"/>
            </a:endParaRPr>
          </a:p>
        </p:txBody>
      </p:sp>
      <p:sp>
        <p:nvSpPr>
          <p:cNvPr id="188" name="Google Shape;188;p11"/>
          <p:cNvSpPr txBox="1"/>
          <p:nvPr/>
        </p:nvSpPr>
        <p:spPr>
          <a:xfrm>
            <a:off x="4418223" y="2732314"/>
            <a:ext cx="1000697"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0.7071</a:t>
            </a:r>
            <a:endParaRPr b="0" i="0" sz="2100" u="none" cap="none" strike="noStrike">
              <a:solidFill>
                <a:schemeClr val="dk1"/>
              </a:solidFill>
              <a:latin typeface="Arial"/>
              <a:ea typeface="Arial"/>
              <a:cs typeface="Arial"/>
              <a:sym typeface="Arial"/>
            </a:endParaRPr>
          </a:p>
        </p:txBody>
      </p:sp>
      <p:sp>
        <p:nvSpPr>
          <p:cNvPr id="189" name="Google Shape;189;p11"/>
          <p:cNvSpPr/>
          <p:nvPr/>
        </p:nvSpPr>
        <p:spPr>
          <a:xfrm>
            <a:off x="5556746"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190" name="Google Shape;190;p11"/>
          <p:cNvSpPr txBox="1"/>
          <p:nvPr/>
        </p:nvSpPr>
        <p:spPr>
          <a:xfrm>
            <a:off x="4144169" y="3254345"/>
            <a:ext cx="49162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R(45°)</a:t>
            </a:r>
            <a:endParaRPr b="0" i="0" sz="1300" u="none" cap="none" strike="noStrike">
              <a:solidFill>
                <a:schemeClr val="dk1"/>
              </a:solidFill>
              <a:latin typeface="Arial"/>
              <a:ea typeface="Arial"/>
              <a:cs typeface="Arial"/>
              <a:sym typeface="Arial"/>
            </a:endParaRPr>
          </a:p>
        </p:txBody>
      </p:sp>
      <p:sp>
        <p:nvSpPr>
          <p:cNvPr id="191" name="Google Shape;191;p11"/>
          <p:cNvSpPr txBox="1"/>
          <p:nvPr/>
        </p:nvSpPr>
        <p:spPr>
          <a:xfrm>
            <a:off x="5848846" y="247401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92" name="Google Shape;192;p11"/>
          <p:cNvSpPr/>
          <p:nvPr/>
        </p:nvSpPr>
        <p:spPr>
          <a:xfrm>
            <a:off x="6219527"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93" name="Google Shape;193;p11"/>
          <p:cNvSpPr txBox="1"/>
          <p:nvPr/>
        </p:nvSpPr>
        <p:spPr>
          <a:xfrm>
            <a:off x="6479877" y="2308154"/>
            <a:ext cx="457696"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250</a:t>
            </a:r>
            <a:endParaRPr b="0" i="0" sz="2100" u="none" cap="none" strike="noStrike">
              <a:solidFill>
                <a:schemeClr val="dk1"/>
              </a:solidFill>
              <a:latin typeface="Arial"/>
              <a:ea typeface="Arial"/>
              <a:cs typeface="Arial"/>
              <a:sym typeface="Arial"/>
            </a:endParaRPr>
          </a:p>
        </p:txBody>
      </p:sp>
      <p:sp>
        <p:nvSpPr>
          <p:cNvPr id="194" name="Google Shape;194;p11"/>
          <p:cNvSpPr txBox="1"/>
          <p:nvPr/>
        </p:nvSpPr>
        <p:spPr>
          <a:xfrm>
            <a:off x="6479552" y="2732314"/>
            <a:ext cx="458346"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0</a:t>
            </a:r>
            <a:endParaRPr b="0" i="0" sz="2100" u="none" cap="none" strike="noStrike">
              <a:solidFill>
                <a:schemeClr val="dk1"/>
              </a:solidFill>
              <a:latin typeface="Arial"/>
              <a:ea typeface="Arial"/>
              <a:cs typeface="Arial"/>
              <a:sym typeface="Arial"/>
            </a:endParaRPr>
          </a:p>
        </p:txBody>
      </p:sp>
      <p:sp>
        <p:nvSpPr>
          <p:cNvPr id="195" name="Google Shape;195;p11"/>
          <p:cNvSpPr/>
          <p:nvPr/>
        </p:nvSpPr>
        <p:spPr>
          <a:xfrm>
            <a:off x="7083623"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196" name="Google Shape;196;p11"/>
          <p:cNvSpPr txBox="1"/>
          <p:nvPr/>
        </p:nvSpPr>
        <p:spPr>
          <a:xfrm>
            <a:off x="6653609" y="3254345"/>
            <a:ext cx="122833"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197" name="Google Shape;197;p11"/>
          <p:cNvSpPr txBox="1"/>
          <p:nvPr/>
        </p:nvSpPr>
        <p:spPr>
          <a:xfrm>
            <a:off x="7375723" y="247401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98" name="Google Shape;198;p11"/>
          <p:cNvSpPr/>
          <p:nvPr/>
        </p:nvSpPr>
        <p:spPr>
          <a:xfrm>
            <a:off x="7746405" y="2261791"/>
            <a:ext cx="114300" cy="924520"/>
          </a:xfrm>
          <a:custGeom>
            <a:rect b="b" l="l" r="r" t="t"/>
            <a:pathLst>
              <a:path extrusionOk="0" h="924520" w="114300">
                <a:moveTo>
                  <a:pt x="114300" y="0"/>
                </a:moveTo>
                <a:lnTo>
                  <a:pt x="0" y="0"/>
                </a:lnTo>
                <a:lnTo>
                  <a:pt x="0" y="924520"/>
                </a:lnTo>
                <a:lnTo>
                  <a:pt x="114300" y="924520"/>
                </a:lnTo>
                <a:lnTo>
                  <a:pt x="114300" y="899120"/>
                </a:lnTo>
                <a:lnTo>
                  <a:pt x="25400" y="899120"/>
                </a:lnTo>
                <a:lnTo>
                  <a:pt x="25400" y="25400"/>
                </a:lnTo>
                <a:lnTo>
                  <a:pt x="114300" y="25400"/>
                </a:lnTo>
                <a:close/>
              </a:path>
            </a:pathLst>
          </a:custGeom>
          <a:solidFill>
            <a:srgbClr val="000000"/>
          </a:solidFill>
          <a:ln>
            <a:noFill/>
          </a:ln>
        </p:spPr>
      </p:sp>
      <p:sp>
        <p:nvSpPr>
          <p:cNvPr id="199" name="Google Shape;199;p11"/>
          <p:cNvSpPr txBox="1"/>
          <p:nvPr/>
        </p:nvSpPr>
        <p:spPr>
          <a:xfrm>
            <a:off x="8006755" y="2308154"/>
            <a:ext cx="828477"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100"/>
              <a:buFont typeface="Arial"/>
              <a:buNone/>
            </a:pPr>
            <a:r>
              <a:rPr b="0" i="0" lang="en-US" sz="2100" u="none" cap="none" strike="noStrike">
                <a:solidFill>
                  <a:srgbClr val="FF0000"/>
                </a:solidFill>
                <a:latin typeface="Arial"/>
                <a:ea typeface="Arial"/>
                <a:cs typeface="Arial"/>
                <a:sym typeface="Arial"/>
              </a:rPr>
              <a:t>176.78</a:t>
            </a:r>
            <a:endParaRPr b="0" i="0" sz="2100" u="none" cap="none" strike="noStrike">
              <a:solidFill>
                <a:schemeClr val="dk1"/>
              </a:solidFill>
              <a:latin typeface="Arial"/>
              <a:ea typeface="Arial"/>
              <a:cs typeface="Arial"/>
              <a:sym typeface="Arial"/>
            </a:endParaRPr>
          </a:p>
        </p:txBody>
      </p:sp>
      <p:sp>
        <p:nvSpPr>
          <p:cNvPr id="200" name="Google Shape;200;p11"/>
          <p:cNvSpPr txBox="1"/>
          <p:nvPr/>
        </p:nvSpPr>
        <p:spPr>
          <a:xfrm>
            <a:off x="8006755" y="2732314"/>
            <a:ext cx="828477" cy="373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100"/>
              <a:buFont typeface="Arial"/>
              <a:buNone/>
            </a:pPr>
            <a:r>
              <a:rPr b="0" i="0" lang="en-US" sz="2100" u="none" cap="none" strike="noStrike">
                <a:solidFill>
                  <a:srgbClr val="38761D"/>
                </a:solidFill>
                <a:latin typeface="Arial"/>
                <a:ea typeface="Arial"/>
                <a:cs typeface="Arial"/>
                <a:sym typeface="Arial"/>
              </a:rPr>
              <a:t>176.78</a:t>
            </a:r>
            <a:endParaRPr b="0" i="0" sz="2100" u="none" cap="none" strike="noStrike">
              <a:solidFill>
                <a:schemeClr val="dk1"/>
              </a:solidFill>
              <a:latin typeface="Arial"/>
              <a:ea typeface="Arial"/>
              <a:cs typeface="Arial"/>
              <a:sym typeface="Arial"/>
            </a:endParaRPr>
          </a:p>
        </p:txBody>
      </p:sp>
      <p:sp>
        <p:nvSpPr>
          <p:cNvPr id="201" name="Google Shape;201;p11"/>
          <p:cNvSpPr/>
          <p:nvPr/>
        </p:nvSpPr>
        <p:spPr>
          <a:xfrm>
            <a:off x="8981281" y="2261791"/>
            <a:ext cx="114300" cy="924520"/>
          </a:xfrm>
          <a:custGeom>
            <a:rect b="b" l="l" r="r" t="t"/>
            <a:pathLst>
              <a:path extrusionOk="0" h="924520" w="114300">
                <a:moveTo>
                  <a:pt x="0" y="0"/>
                </a:moveTo>
                <a:lnTo>
                  <a:pt x="114300" y="0"/>
                </a:lnTo>
                <a:lnTo>
                  <a:pt x="114300" y="924520"/>
                </a:lnTo>
                <a:lnTo>
                  <a:pt x="0" y="924520"/>
                </a:lnTo>
                <a:lnTo>
                  <a:pt x="0" y="899120"/>
                </a:lnTo>
                <a:lnTo>
                  <a:pt x="88900" y="899120"/>
                </a:lnTo>
                <a:lnTo>
                  <a:pt x="88900" y="25400"/>
                </a:lnTo>
                <a:lnTo>
                  <a:pt x="0" y="25400"/>
                </a:lnTo>
                <a:close/>
              </a:path>
            </a:pathLst>
          </a:custGeom>
          <a:solidFill>
            <a:srgbClr val="000000"/>
          </a:solidFill>
          <a:ln>
            <a:noFill/>
          </a:ln>
        </p:spPr>
      </p:sp>
      <p:sp>
        <p:nvSpPr>
          <p:cNvPr id="202" name="Google Shape;202;p11"/>
          <p:cNvSpPr txBox="1"/>
          <p:nvPr/>
        </p:nvSpPr>
        <p:spPr>
          <a:xfrm>
            <a:off x="8350448" y="3254345"/>
            <a:ext cx="15378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203" name="Google Shape;203;p11"/>
          <p:cNvSpPr/>
          <p:nvPr/>
        </p:nvSpPr>
        <p:spPr>
          <a:xfrm>
            <a:off x="815975" y="3909516"/>
            <a:ext cx="5175250" cy="890191"/>
          </a:xfrm>
          <a:prstGeom prst="roundRect">
            <a:avLst>
              <a:gd fmla="val 11057"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txBox="1"/>
          <p:nvPr/>
        </p:nvSpPr>
        <p:spPr>
          <a:xfrm>
            <a:off x="1022350" y="4058035"/>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ROW 1 GIVES x′</a:t>
            </a:r>
            <a:endParaRPr b="0" i="0" sz="1200" u="none" cap="none" strike="noStrike">
              <a:solidFill>
                <a:schemeClr val="dk1"/>
              </a:solidFill>
              <a:latin typeface="Arial"/>
              <a:ea typeface="Arial"/>
              <a:cs typeface="Arial"/>
              <a:sym typeface="Arial"/>
            </a:endParaRPr>
          </a:p>
        </p:txBody>
      </p:sp>
      <p:sp>
        <p:nvSpPr>
          <p:cNvPr id="205" name="Google Shape;205;p11"/>
          <p:cNvSpPr txBox="1"/>
          <p:nvPr/>
        </p:nvSpPr>
        <p:spPr>
          <a:xfrm>
            <a:off x="1022350" y="4329261"/>
            <a:ext cx="4905375"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0.7071 × 250 + (−0.7071) × 0 = 176.78</a:t>
            </a:r>
            <a:endParaRPr b="0" i="0" sz="1700" u="none" cap="none" strike="noStrike">
              <a:solidFill>
                <a:schemeClr val="dk1"/>
              </a:solidFill>
              <a:latin typeface="Arial"/>
              <a:ea typeface="Arial"/>
              <a:cs typeface="Arial"/>
              <a:sym typeface="Arial"/>
            </a:endParaRPr>
          </a:p>
        </p:txBody>
      </p:sp>
      <p:sp>
        <p:nvSpPr>
          <p:cNvPr id="206" name="Google Shape;206;p11"/>
          <p:cNvSpPr/>
          <p:nvPr/>
        </p:nvSpPr>
        <p:spPr>
          <a:xfrm>
            <a:off x="6200775" y="3909516"/>
            <a:ext cx="5175250" cy="890191"/>
          </a:xfrm>
          <a:prstGeom prst="roundRect">
            <a:avLst>
              <a:gd fmla="val 11057"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txBox="1"/>
          <p:nvPr/>
        </p:nvSpPr>
        <p:spPr>
          <a:xfrm>
            <a:off x="6407150" y="4058035"/>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ROW 2 GIVES y′</a:t>
            </a:r>
            <a:endParaRPr b="0" i="0" sz="1200" u="none" cap="none" strike="noStrike">
              <a:solidFill>
                <a:schemeClr val="dk1"/>
              </a:solidFill>
              <a:latin typeface="Arial"/>
              <a:ea typeface="Arial"/>
              <a:cs typeface="Arial"/>
              <a:sym typeface="Arial"/>
            </a:endParaRPr>
          </a:p>
        </p:txBody>
      </p:sp>
      <p:sp>
        <p:nvSpPr>
          <p:cNvPr id="208" name="Google Shape;208;p11"/>
          <p:cNvSpPr txBox="1"/>
          <p:nvPr/>
        </p:nvSpPr>
        <p:spPr>
          <a:xfrm>
            <a:off x="6407150" y="4329261"/>
            <a:ext cx="4905375"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0.7071 × 250 + 0.7071 × 0 = 176.78</a:t>
            </a:r>
            <a:endParaRPr b="0" i="0" sz="1700" u="none" cap="none" strike="noStrike">
              <a:solidFill>
                <a:schemeClr val="dk1"/>
              </a:solidFill>
              <a:latin typeface="Arial"/>
              <a:ea typeface="Arial"/>
              <a:cs typeface="Arial"/>
              <a:sym typeface="Arial"/>
            </a:endParaRPr>
          </a:p>
        </p:txBody>
      </p:sp>
      <p:sp>
        <p:nvSpPr>
          <p:cNvPr id="209" name="Google Shape;209;p11"/>
          <p:cNvSpPr txBox="1"/>
          <p:nvPr/>
        </p:nvSpPr>
        <p:spPr>
          <a:xfrm>
            <a:off x="812800" y="4992322"/>
            <a:ext cx="10820400"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P′ = (176.78, 176.78)</a:t>
            </a:r>
            <a:r>
              <a:rPr b="0" i="0" lang="en-US" sz="1800" u="none" cap="none" strike="noStrike">
                <a:solidFill>
                  <a:srgbClr val="000000"/>
                </a:solidFill>
                <a:latin typeface="Arial"/>
                <a:ea typeface="Arial"/>
                <a:cs typeface="Arial"/>
                <a:sym typeface="Arial"/>
              </a:rPr>
              <a:t>, the same answer as the cos and sin formulas.</a:t>
            </a:r>
            <a:endParaRPr b="0" i="0" sz="18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210" name="Google Shape;210;p11"/>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the upper arm turned about the shoulder from the horizontal x axis; the point P turns into P prime at the elbow" id="211" name="Google Shape;211;p11"/>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212" name="Google Shape;212;p11"/>
          <p:cNvSpPr txBox="1"/>
          <p:nvPr/>
        </p:nvSpPr>
        <p:spPr>
          <a:xfrm>
            <a:off x="9461500" y="913936"/>
            <a:ext cx="381000" cy="226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45°</a:t>
            </a:r>
            <a:endParaRPr b="0" i="0" sz="1400" u="none" cap="none" strike="noStrike">
              <a:solidFill>
                <a:schemeClr val="dk1"/>
              </a:solidFill>
              <a:latin typeface="Arial"/>
              <a:ea typeface="Arial"/>
              <a:cs typeface="Arial"/>
              <a:sym typeface="Arial"/>
            </a:endParaRPr>
          </a:p>
        </p:txBody>
      </p:sp>
      <p:sp>
        <p:nvSpPr>
          <p:cNvPr id="213" name="Google Shape;213;p11"/>
          <p:cNvSpPr txBox="1"/>
          <p:nvPr/>
        </p:nvSpPr>
        <p:spPr>
          <a:xfrm>
            <a:off x="9818291" y="1291015"/>
            <a:ext cx="222250"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214" name="Google Shape;214;p11"/>
          <p:cNvSpPr txBox="1"/>
          <p:nvPr/>
        </p:nvSpPr>
        <p:spPr>
          <a:xfrm>
            <a:off x="9250660" y="260481"/>
            <a:ext cx="2730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P′</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TRY IT YOURSELF</a:t>
            </a:r>
            <a:endParaRPr b="0" i="0" sz="1200" u="none" cap="none" strike="noStrike">
              <a:solidFill>
                <a:schemeClr val="dk1"/>
              </a:solidFill>
              <a:latin typeface="Arial"/>
              <a:ea typeface="Arial"/>
              <a:cs typeface="Arial"/>
              <a:sym typeface="Arial"/>
            </a:endParaRPr>
          </a:p>
        </p:txBody>
      </p:sp>
      <p:sp>
        <p:nvSpPr>
          <p:cNvPr id="221" name="Google Shape;221;p12"/>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Try It Yourself #1</a:t>
            </a:r>
            <a:endParaRPr sz="2800"/>
          </a:p>
        </p:txBody>
      </p:sp>
      <p:sp>
        <p:nvSpPr>
          <p:cNvPr id="222" name="Google Shape;222;p12"/>
          <p:cNvSpPr txBox="1"/>
          <p:nvPr/>
        </p:nvSpPr>
        <p:spPr>
          <a:xfrm>
            <a:off x="812800" y="1496463"/>
            <a:ext cx="4622800" cy="68277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Rotate </a:t>
            </a:r>
            <a:r>
              <a:rPr b="1" i="0" lang="en-US" sz="2000" u="none" cap="none" strike="noStrike">
                <a:solidFill>
                  <a:srgbClr val="000000"/>
                </a:solidFill>
                <a:latin typeface="Arial"/>
                <a:ea typeface="Arial"/>
                <a:cs typeface="Arial"/>
                <a:sym typeface="Arial"/>
              </a:rPr>
              <a:t>P = (250, 0)</a:t>
            </a:r>
            <a:r>
              <a:rPr b="0" i="0" lang="en-US" sz="2000" u="none" cap="none" strike="noStrike">
                <a:solidFill>
                  <a:srgbClr val="000000"/>
                </a:solidFill>
                <a:latin typeface="Arial"/>
                <a:ea typeface="Arial"/>
                <a:cs typeface="Arial"/>
                <a:sym typeface="Arial"/>
              </a:rPr>
              <a:t> by each angle. Find P′ = (x′, y′).</a:t>
            </a:r>
            <a:endParaRPr b="0" i="0" sz="2000" u="none" cap="none" strike="noStrike">
              <a:solidFill>
                <a:schemeClr val="dk1"/>
              </a:solidFill>
              <a:latin typeface="Arial"/>
              <a:ea typeface="Arial"/>
              <a:cs typeface="Arial"/>
              <a:sym typeface="Arial"/>
            </a:endParaRPr>
          </a:p>
        </p:txBody>
      </p:sp>
      <p:sp>
        <p:nvSpPr>
          <p:cNvPr id="223" name="Google Shape;223;p12"/>
          <p:cNvSpPr/>
          <p:nvPr/>
        </p:nvSpPr>
        <p:spPr>
          <a:xfrm>
            <a:off x="815975" y="2334816"/>
            <a:ext cx="1673027" cy="549870"/>
          </a:xfrm>
          <a:prstGeom prst="roundRect">
            <a:avLst>
              <a:gd fmla="val 17900"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txBox="1"/>
          <p:nvPr/>
        </p:nvSpPr>
        <p:spPr>
          <a:xfrm>
            <a:off x="996950" y="2402295"/>
            <a:ext cx="1323777"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(a) θ = 90°</a:t>
            </a:r>
            <a:endParaRPr b="0" i="0" sz="2200" u="none" cap="none" strike="noStrike">
              <a:solidFill>
                <a:schemeClr val="dk1"/>
              </a:solidFill>
              <a:latin typeface="Arial"/>
              <a:ea typeface="Arial"/>
              <a:cs typeface="Arial"/>
              <a:sym typeface="Arial"/>
            </a:endParaRPr>
          </a:p>
        </p:txBody>
      </p:sp>
      <p:sp>
        <p:nvSpPr>
          <p:cNvPr id="225" name="Google Shape;225;p12"/>
          <p:cNvSpPr/>
          <p:nvPr/>
        </p:nvSpPr>
        <p:spPr>
          <a:xfrm>
            <a:off x="2647752" y="2334816"/>
            <a:ext cx="1688306" cy="549870"/>
          </a:xfrm>
          <a:prstGeom prst="roundRect">
            <a:avLst>
              <a:gd fmla="val 17900"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txBox="1"/>
          <p:nvPr/>
        </p:nvSpPr>
        <p:spPr>
          <a:xfrm>
            <a:off x="2828727" y="2402295"/>
            <a:ext cx="1339056"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(b) θ = 30°</a:t>
            </a:r>
            <a:endParaRPr b="0" i="0" sz="2200" u="none" cap="none" strike="noStrike">
              <a:solidFill>
                <a:schemeClr val="dk1"/>
              </a:solidFill>
              <a:latin typeface="Arial"/>
              <a:ea typeface="Arial"/>
              <a:cs typeface="Arial"/>
              <a:sym typeface="Arial"/>
            </a:endParaRPr>
          </a:p>
        </p:txBody>
      </p:sp>
      <p:pic>
        <p:nvPicPr>
          <p:cNvPr descr="Side view of the robotic arm: the upper arm is vertical and the forearm is horizontal" id="227" name="Google Shape;227;p12"/>
          <p:cNvPicPr preferRelativeResize="0"/>
          <p:nvPr/>
        </p:nvPicPr>
        <p:blipFill rotWithShape="1">
          <a:blip r:embed="rId3">
            <a:alphaModFix/>
          </a:blip>
          <a:srcRect b="0" l="0" r="0" t="0"/>
          <a:stretch/>
        </p:blipFill>
        <p:spPr>
          <a:xfrm>
            <a:off x="5791200" y="2725341"/>
            <a:ext cx="2303066" cy="1431925"/>
          </a:xfrm>
          <a:prstGeom prst="rect">
            <a:avLst/>
          </a:prstGeom>
          <a:noFill/>
          <a:ln>
            <a:noFill/>
          </a:ln>
        </p:spPr>
      </p:pic>
      <p:pic>
        <p:nvPicPr>
          <p:cNvPr descr="Side view of the robotic arm: the upper arm leans 60 degrees from vertical and the forearm is straight in line with it" id="228" name="Google Shape;228;p12"/>
          <p:cNvPicPr preferRelativeResize="0"/>
          <p:nvPr/>
        </p:nvPicPr>
        <p:blipFill rotWithShape="1">
          <a:blip r:embed="rId4">
            <a:alphaModFix/>
          </a:blip>
          <a:srcRect b="0" l="0" r="0" t="0"/>
          <a:stretch/>
        </p:blipFill>
        <p:spPr>
          <a:xfrm>
            <a:off x="8382000" y="2763441"/>
            <a:ext cx="2943820" cy="1586210"/>
          </a:xfrm>
          <a:prstGeom prst="rect">
            <a:avLst/>
          </a:prstGeom>
          <a:noFill/>
          <a:ln>
            <a:noFill/>
          </a:ln>
        </p:spPr>
      </p:pic>
      <p:pic>
        <p:nvPicPr>
          <p:cNvPr descr="Two side views of the real arm. In the first the upper arm is rotated 90 degrees from the x axis, in the second 30 degrees. The elbow position of each is the unknown point." id="229" name="Google Shape;229;p12"/>
          <p:cNvPicPr preferRelativeResize="0"/>
          <p:nvPr/>
        </p:nvPicPr>
        <p:blipFill rotWithShape="1">
          <a:blip r:embed="rId5">
            <a:alphaModFix/>
          </a:blip>
          <a:srcRect b="0" l="0" r="0" t="0"/>
          <a:stretch/>
        </p:blipFill>
        <p:spPr>
          <a:xfrm>
            <a:off x="5664200" y="1517650"/>
            <a:ext cx="5715000" cy="4451350"/>
          </a:xfrm>
          <a:prstGeom prst="rect">
            <a:avLst/>
          </a:prstGeom>
          <a:noFill/>
          <a:ln>
            <a:noFill/>
          </a:ln>
        </p:spPr>
      </p:pic>
      <p:sp>
        <p:nvSpPr>
          <p:cNvPr id="230" name="Google Shape;230;p12"/>
          <p:cNvSpPr txBox="1"/>
          <p:nvPr/>
        </p:nvSpPr>
        <p:spPr>
          <a:xfrm>
            <a:off x="7283996" y="4025488"/>
            <a:ext cx="2413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P</a:t>
            </a:r>
            <a:endParaRPr b="0" i="0" sz="1500" u="none" cap="none" strike="noStrike">
              <a:solidFill>
                <a:schemeClr val="dk1"/>
              </a:solidFill>
              <a:latin typeface="Arial"/>
              <a:ea typeface="Arial"/>
              <a:cs typeface="Arial"/>
              <a:sym typeface="Arial"/>
            </a:endParaRPr>
          </a:p>
        </p:txBody>
      </p:sp>
      <p:sp>
        <p:nvSpPr>
          <p:cNvPr id="231" name="Google Shape;231;p12"/>
          <p:cNvSpPr txBox="1"/>
          <p:nvPr/>
        </p:nvSpPr>
        <p:spPr>
          <a:xfrm>
            <a:off x="5721945" y="2666890"/>
            <a:ext cx="641350" cy="2717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232" name="Google Shape;232;p12"/>
          <p:cNvSpPr/>
          <p:nvPr/>
        </p:nvSpPr>
        <p:spPr>
          <a:xfrm>
            <a:off x="5791200" y="2144316"/>
            <a:ext cx="1143000" cy="285750"/>
          </a:xfrm>
          <a:prstGeom prst="roundRect">
            <a:avLst>
              <a:gd fmla="val 47778"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txBox="1"/>
          <p:nvPr/>
        </p:nvSpPr>
        <p:spPr>
          <a:xfrm>
            <a:off x="5794375" y="2137058"/>
            <a:ext cx="1136650" cy="27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(a) θ = 90°</a:t>
            </a:r>
            <a:endParaRPr b="0" i="0" sz="1500" u="none" cap="none" strike="noStrike">
              <a:solidFill>
                <a:schemeClr val="dk1"/>
              </a:solidFill>
              <a:latin typeface="Arial"/>
              <a:ea typeface="Arial"/>
              <a:cs typeface="Arial"/>
              <a:sym typeface="Arial"/>
            </a:endParaRPr>
          </a:p>
        </p:txBody>
      </p:sp>
      <p:sp>
        <p:nvSpPr>
          <p:cNvPr id="234" name="Google Shape;234;p12"/>
          <p:cNvSpPr txBox="1"/>
          <p:nvPr/>
        </p:nvSpPr>
        <p:spPr>
          <a:xfrm>
            <a:off x="9895136" y="4202693"/>
            <a:ext cx="2413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P</a:t>
            </a:r>
            <a:endParaRPr b="0" i="0" sz="1500" u="none" cap="none" strike="noStrike">
              <a:solidFill>
                <a:schemeClr val="dk1"/>
              </a:solidFill>
              <a:latin typeface="Arial"/>
              <a:ea typeface="Arial"/>
              <a:cs typeface="Arial"/>
              <a:sym typeface="Arial"/>
            </a:endParaRPr>
          </a:p>
        </p:txBody>
      </p:sp>
      <p:sp>
        <p:nvSpPr>
          <p:cNvPr id="235" name="Google Shape;235;p12"/>
          <p:cNvSpPr txBox="1"/>
          <p:nvPr/>
        </p:nvSpPr>
        <p:spPr>
          <a:xfrm>
            <a:off x="9073455" y="3230750"/>
            <a:ext cx="641350" cy="2717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 ?)</a:t>
            </a:r>
            <a:endParaRPr b="0" i="0" sz="1700" u="none" cap="none" strike="noStrike">
              <a:solidFill>
                <a:schemeClr val="dk1"/>
              </a:solidFill>
              <a:latin typeface="Arial"/>
              <a:ea typeface="Arial"/>
              <a:cs typeface="Arial"/>
              <a:sym typeface="Arial"/>
            </a:endParaRPr>
          </a:p>
        </p:txBody>
      </p:sp>
      <p:sp>
        <p:nvSpPr>
          <p:cNvPr id="236" name="Google Shape;236;p12"/>
          <p:cNvSpPr/>
          <p:nvPr/>
        </p:nvSpPr>
        <p:spPr>
          <a:xfrm>
            <a:off x="8378825" y="2144316"/>
            <a:ext cx="1149350" cy="285750"/>
          </a:xfrm>
          <a:prstGeom prst="roundRect">
            <a:avLst>
              <a:gd fmla="val 47778"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txBox="1"/>
          <p:nvPr/>
        </p:nvSpPr>
        <p:spPr>
          <a:xfrm>
            <a:off x="8381950" y="2137058"/>
            <a:ext cx="1143000" cy="27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(b) θ = 30°</a:t>
            </a:r>
            <a:endParaRPr b="0" i="0" sz="1500" u="none" cap="none" strike="noStrike">
              <a:solidFill>
                <a:schemeClr val="dk1"/>
              </a:solidFill>
              <a:latin typeface="Arial"/>
              <a:ea typeface="Arial"/>
              <a:cs typeface="Arial"/>
              <a:sym typeface="Arial"/>
            </a:endParaRPr>
          </a:p>
        </p:txBody>
      </p:sp>
      <p:grpSp>
        <p:nvGrpSpPr>
          <p:cNvPr id="238" name="Google Shape;238;p12"/>
          <p:cNvGrpSpPr/>
          <p:nvPr/>
        </p:nvGrpSpPr>
        <p:grpSpPr>
          <a:xfrm>
            <a:off x="812800" y="3302000"/>
            <a:ext cx="4445000" cy="2057202"/>
            <a:chOff x="812800" y="3302000"/>
            <a:chExt cx="4445000" cy="2057202"/>
          </a:xfrm>
        </p:grpSpPr>
        <p:sp>
          <p:nvSpPr>
            <p:cNvPr id="239" name="Google Shape;239;p12"/>
            <p:cNvSpPr/>
            <p:nvPr/>
          </p:nvSpPr>
          <p:spPr>
            <a:xfrm>
              <a:off x="812800" y="3302000"/>
              <a:ext cx="4445000" cy="2057202"/>
            </a:xfrm>
            <a:prstGeom prst="roundRect">
              <a:avLst>
                <a:gd fmla="val 49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txBox="1"/>
            <p:nvPr/>
          </p:nvSpPr>
          <p:spPr>
            <a:xfrm>
              <a:off x="1016000" y="3472743"/>
              <a:ext cx="4159758"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241" name="Google Shape;241;p12"/>
            <p:cNvSpPr txBox="1"/>
            <p:nvPr/>
          </p:nvSpPr>
          <p:spPr>
            <a:xfrm>
              <a:off x="1016000" y="3785446"/>
              <a:ext cx="4159758"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9999"/>
                </a:buClr>
                <a:buSzPts val="1400"/>
                <a:buFont typeface="Arial"/>
                <a:buNone/>
              </a:pPr>
              <a:r>
                <a:rPr b="1" i="0" lang="en-US" sz="1400" u="none" cap="none" strike="noStrike">
                  <a:solidFill>
                    <a:srgbClr val="EA9999"/>
                  </a:solidFill>
                  <a:latin typeface="Arial"/>
                  <a:ea typeface="Arial"/>
                  <a:cs typeface="Arial"/>
                  <a:sym typeface="Arial"/>
                </a:rPr>
                <a:t>(a) 90°:</a:t>
              </a:r>
              <a:r>
                <a:rPr b="0" i="0" lang="en-US" sz="1400" u="none" cap="none" strike="noStrike">
                  <a:solidFill>
                    <a:srgbClr val="CCCCCC"/>
                  </a:solidFill>
                  <a:latin typeface="Arial"/>
                  <a:ea typeface="Arial"/>
                  <a:cs typeface="Arial"/>
                  <a:sym typeface="Arial"/>
                </a:rPr>
                <a:t> cos 90° = 0, sin 90° = 1</a:t>
              </a:r>
              <a:endParaRPr b="0" i="0" sz="1400" u="none" cap="none" strike="noStrike">
                <a:solidFill>
                  <a:schemeClr val="dk1"/>
                </a:solidFill>
                <a:latin typeface="Arial"/>
                <a:ea typeface="Arial"/>
                <a:cs typeface="Arial"/>
                <a:sym typeface="Arial"/>
              </a:endParaRPr>
            </a:p>
          </p:txBody>
        </p:sp>
        <p:sp>
          <p:nvSpPr>
            <p:cNvPr id="242" name="Google Shape;242;p12"/>
            <p:cNvSpPr txBox="1"/>
            <p:nvPr/>
          </p:nvSpPr>
          <p:spPr>
            <a:xfrm>
              <a:off x="1016000" y="4071984"/>
              <a:ext cx="4159758"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 = (0, 250)</a:t>
              </a:r>
              <a:endParaRPr b="0" i="0" sz="2000" u="none" cap="none" strike="noStrike">
                <a:solidFill>
                  <a:schemeClr val="dk1"/>
                </a:solidFill>
                <a:latin typeface="Arial"/>
                <a:ea typeface="Arial"/>
                <a:cs typeface="Arial"/>
                <a:sym typeface="Arial"/>
              </a:endParaRPr>
            </a:p>
          </p:txBody>
        </p:sp>
        <p:sp>
          <p:nvSpPr>
            <p:cNvPr id="243" name="Google Shape;243;p12"/>
            <p:cNvSpPr txBox="1"/>
            <p:nvPr/>
          </p:nvSpPr>
          <p:spPr>
            <a:xfrm>
              <a:off x="1016000" y="4529586"/>
              <a:ext cx="4159758"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9999"/>
                </a:buClr>
                <a:buSzPts val="1400"/>
                <a:buFont typeface="Arial"/>
                <a:buNone/>
              </a:pPr>
              <a:r>
                <a:rPr b="1" i="0" lang="en-US" sz="1400" u="none" cap="none" strike="noStrike">
                  <a:solidFill>
                    <a:srgbClr val="EA9999"/>
                  </a:solidFill>
                  <a:latin typeface="Arial"/>
                  <a:ea typeface="Arial"/>
                  <a:cs typeface="Arial"/>
                  <a:sym typeface="Arial"/>
                </a:rPr>
                <a:t>(b) 30°:</a:t>
              </a:r>
              <a:r>
                <a:rPr b="0" i="0" lang="en-US" sz="1400" u="none" cap="none" strike="noStrike">
                  <a:solidFill>
                    <a:srgbClr val="CCCCCC"/>
                  </a:solidFill>
                  <a:latin typeface="Arial"/>
                  <a:ea typeface="Arial"/>
                  <a:cs typeface="Arial"/>
                  <a:sym typeface="Arial"/>
                </a:rPr>
                <a:t> cos 30° = 0.8660, sin 30° = 0.5</a:t>
              </a:r>
              <a:endParaRPr b="0" i="0" sz="1400" u="none" cap="none" strike="noStrike">
                <a:solidFill>
                  <a:schemeClr val="dk1"/>
                </a:solidFill>
                <a:latin typeface="Arial"/>
                <a:ea typeface="Arial"/>
                <a:cs typeface="Arial"/>
                <a:sym typeface="Arial"/>
              </a:endParaRPr>
            </a:p>
          </p:txBody>
        </p:sp>
        <p:sp>
          <p:nvSpPr>
            <p:cNvPr id="244" name="Google Shape;244;p12"/>
            <p:cNvSpPr txBox="1"/>
            <p:nvPr/>
          </p:nvSpPr>
          <p:spPr>
            <a:xfrm>
              <a:off x="1016000" y="4816124"/>
              <a:ext cx="4159758"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 = (216.51, 125.00)</a:t>
              </a:r>
              <a:endParaRPr b="0" i="0" sz="20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3"/>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MOVING A POINT</a:t>
            </a:r>
            <a:endParaRPr b="0" i="0" sz="1200" u="none" cap="none" strike="noStrike">
              <a:solidFill>
                <a:schemeClr val="dk1"/>
              </a:solidFill>
              <a:latin typeface="Arial"/>
              <a:ea typeface="Arial"/>
              <a:cs typeface="Arial"/>
              <a:sym typeface="Arial"/>
            </a:endParaRPr>
          </a:p>
        </p:txBody>
      </p:sp>
      <p:sp>
        <p:nvSpPr>
          <p:cNvPr id="251" name="Google Shape;251;p13"/>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Moving a Point</a:t>
            </a:r>
            <a:endParaRPr sz="2800"/>
          </a:p>
        </p:txBody>
      </p:sp>
      <p:sp>
        <p:nvSpPr>
          <p:cNvPr id="252" name="Google Shape;252;p13"/>
          <p:cNvSpPr txBox="1"/>
          <p:nvPr/>
        </p:nvSpPr>
        <p:spPr>
          <a:xfrm>
            <a:off x="812800" y="1496463"/>
            <a:ext cx="4597400" cy="68277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Slide the point </a:t>
            </a:r>
            <a:r>
              <a:rPr b="1" i="0" lang="en-US" sz="2000" u="none" cap="none" strike="noStrike">
                <a:solidFill>
                  <a:srgbClr val="000000"/>
                </a:solidFill>
                <a:latin typeface="Arial"/>
                <a:ea typeface="Arial"/>
                <a:cs typeface="Arial"/>
                <a:sym typeface="Arial"/>
              </a:rPr>
              <a:t>P = (250, 0)</a:t>
            </a:r>
            <a:r>
              <a:rPr b="0" i="0" lang="en-US" sz="2000" u="none" cap="none" strike="noStrike">
                <a:solidFill>
                  <a:srgbClr val="000000"/>
                </a:solidFill>
                <a:latin typeface="Arial"/>
                <a:ea typeface="Arial"/>
                <a:cs typeface="Arial"/>
                <a:sym typeface="Arial"/>
              </a:rPr>
              <a:t> to the right by 100.</a:t>
            </a:r>
            <a:endParaRPr b="0" i="0" sz="2000" u="none" cap="none" strike="noStrike">
              <a:solidFill>
                <a:schemeClr val="dk1"/>
              </a:solidFill>
              <a:latin typeface="Arial"/>
              <a:ea typeface="Arial"/>
              <a:cs typeface="Arial"/>
              <a:sym typeface="Arial"/>
            </a:endParaRPr>
          </a:p>
        </p:txBody>
      </p:sp>
      <p:sp>
        <p:nvSpPr>
          <p:cNvPr id="253" name="Google Shape;253;p13"/>
          <p:cNvSpPr/>
          <p:nvPr/>
        </p:nvSpPr>
        <p:spPr>
          <a:xfrm>
            <a:off x="815975" y="2334816"/>
            <a:ext cx="4438650" cy="1108670"/>
          </a:xfrm>
          <a:prstGeom prst="roundRect">
            <a:avLst>
              <a:gd fmla="val 887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txBox="1"/>
          <p:nvPr/>
        </p:nvSpPr>
        <p:spPr>
          <a:xfrm>
            <a:off x="1022350" y="2473254"/>
            <a:ext cx="4146677"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x′ = x + 100 = 350</a:t>
            </a:r>
            <a:endParaRPr b="0" i="0" sz="2100" u="none" cap="none" strike="noStrike">
              <a:solidFill>
                <a:schemeClr val="dk1"/>
              </a:solidFill>
              <a:latin typeface="Arial"/>
              <a:ea typeface="Arial"/>
              <a:cs typeface="Arial"/>
              <a:sym typeface="Arial"/>
            </a:endParaRPr>
          </a:p>
        </p:txBody>
      </p:sp>
      <p:sp>
        <p:nvSpPr>
          <p:cNvPr id="255" name="Google Shape;255;p13"/>
          <p:cNvSpPr txBox="1"/>
          <p:nvPr/>
        </p:nvSpPr>
        <p:spPr>
          <a:xfrm>
            <a:off x="1022350" y="2897414"/>
            <a:ext cx="4146677"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y′ = y + 0 = 0</a:t>
            </a:r>
            <a:endParaRPr b="0" i="0" sz="2100" u="none" cap="none" strike="noStrike">
              <a:solidFill>
                <a:schemeClr val="dk1"/>
              </a:solidFill>
              <a:latin typeface="Arial"/>
              <a:ea typeface="Arial"/>
              <a:cs typeface="Arial"/>
              <a:sym typeface="Arial"/>
            </a:endParaRPr>
          </a:p>
        </p:txBody>
      </p:sp>
      <p:sp>
        <p:nvSpPr>
          <p:cNvPr id="256" name="Google Shape;256;p13"/>
          <p:cNvSpPr txBox="1"/>
          <p:nvPr/>
        </p:nvSpPr>
        <p:spPr>
          <a:xfrm>
            <a:off x="812800" y="3587166"/>
            <a:ext cx="4578350"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P′ = (350, 0)</a:t>
            </a:r>
            <a:endParaRPr b="0" i="0" sz="2200" u="none" cap="none" strike="noStrike">
              <a:solidFill>
                <a:schemeClr val="dk1"/>
              </a:solidFill>
              <a:latin typeface="Arial"/>
              <a:ea typeface="Arial"/>
              <a:cs typeface="Arial"/>
              <a:sym typeface="Arial"/>
            </a:endParaRPr>
          </a:p>
        </p:txBody>
      </p:sp>
      <p:sp>
        <p:nvSpPr>
          <p:cNvPr id="257" name="Google Shape;257;p13"/>
          <p:cNvSpPr/>
          <p:nvPr/>
        </p:nvSpPr>
        <p:spPr>
          <a:xfrm>
            <a:off x="815975" y="4145756"/>
            <a:ext cx="4438650" cy="1375370"/>
          </a:xfrm>
          <a:prstGeom prst="roundRect">
            <a:avLst>
              <a:gd fmla="val 7156"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txBox="1"/>
          <p:nvPr/>
        </p:nvSpPr>
        <p:spPr>
          <a:xfrm>
            <a:off x="1022350" y="4294275"/>
            <a:ext cx="4146677"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THE PROBLEM</a:t>
            </a:r>
            <a:endParaRPr b="0" i="0" sz="1200" u="none" cap="none" strike="noStrike">
              <a:solidFill>
                <a:schemeClr val="dk1"/>
              </a:solidFill>
              <a:latin typeface="Arial"/>
              <a:ea typeface="Arial"/>
              <a:cs typeface="Arial"/>
              <a:sym typeface="Arial"/>
            </a:endParaRPr>
          </a:p>
        </p:txBody>
      </p:sp>
      <p:sp>
        <p:nvSpPr>
          <p:cNvPr id="259" name="Google Shape;259;p13"/>
          <p:cNvSpPr txBox="1"/>
          <p:nvPr/>
        </p:nvSpPr>
        <p:spPr>
          <a:xfrm>
            <a:off x="1022350" y="4535969"/>
            <a:ext cx="4089400" cy="82958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Rotating is multiplying. Moving is adding. Our 2×2 matrix can only multiply, so it cannot move a point.</a:t>
            </a:r>
            <a:endParaRPr b="0" i="0" sz="1500" u="none" cap="none" strike="noStrike">
              <a:solidFill>
                <a:schemeClr val="dk1"/>
              </a:solidFill>
              <a:latin typeface="Arial"/>
              <a:ea typeface="Arial"/>
              <a:cs typeface="Arial"/>
              <a:sym typeface="Arial"/>
            </a:endParaRPr>
          </a:p>
        </p:txBody>
      </p:sp>
      <p:pic>
        <p:nvPicPr>
          <p:cNvPr descr="The point P at 250, 0 moved 100 units to the right to P prime at 350, 0" id="260" name="Google Shape;260;p13"/>
          <p:cNvPicPr preferRelativeResize="0"/>
          <p:nvPr/>
        </p:nvPicPr>
        <p:blipFill rotWithShape="1">
          <a:blip r:embed="rId3">
            <a:alphaModFix/>
          </a:blip>
          <a:srcRect b="0" l="0" r="0" t="0"/>
          <a:stretch/>
        </p:blipFill>
        <p:spPr>
          <a:xfrm>
            <a:off x="5664200" y="1517650"/>
            <a:ext cx="5715000" cy="4451350"/>
          </a:xfrm>
          <a:prstGeom prst="rect">
            <a:avLst/>
          </a:prstGeom>
          <a:noFill/>
          <a:ln>
            <a:noFill/>
          </a:ln>
        </p:spPr>
      </p:pic>
      <p:sp>
        <p:nvSpPr>
          <p:cNvPr id="261" name="Google Shape;261;p13"/>
          <p:cNvSpPr txBox="1"/>
          <p:nvPr/>
        </p:nvSpPr>
        <p:spPr>
          <a:xfrm>
            <a:off x="10833100" y="5101399"/>
            <a:ext cx="261620"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262" name="Google Shape;262;p13"/>
          <p:cNvSpPr txBox="1"/>
          <p:nvPr/>
        </p:nvSpPr>
        <p:spPr>
          <a:xfrm>
            <a:off x="6413500" y="3069399"/>
            <a:ext cx="261620"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
        <p:nvSpPr>
          <p:cNvPr id="263" name="Google Shape;263;p13"/>
          <p:cNvSpPr txBox="1"/>
          <p:nvPr/>
        </p:nvSpPr>
        <p:spPr>
          <a:xfrm>
            <a:off x="9020175" y="4401790"/>
            <a:ext cx="65405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+100</a:t>
            </a:r>
            <a:endParaRPr b="0" i="0" sz="1700" u="none" cap="none" strike="noStrike">
              <a:solidFill>
                <a:schemeClr val="dk1"/>
              </a:solidFill>
              <a:latin typeface="Arial"/>
              <a:ea typeface="Arial"/>
              <a:cs typeface="Arial"/>
              <a:sym typeface="Arial"/>
            </a:endParaRPr>
          </a:p>
        </p:txBody>
      </p:sp>
      <p:sp>
        <p:nvSpPr>
          <p:cNvPr id="264" name="Google Shape;264;p13"/>
          <p:cNvSpPr txBox="1"/>
          <p:nvPr/>
        </p:nvSpPr>
        <p:spPr>
          <a:xfrm>
            <a:off x="8185150" y="5394608"/>
            <a:ext cx="13081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P = (250, 0)</a:t>
            </a:r>
            <a:endParaRPr b="0" i="0" sz="1500" u="none" cap="none" strike="noStrike">
              <a:solidFill>
                <a:schemeClr val="dk1"/>
              </a:solidFill>
              <a:latin typeface="Arial"/>
              <a:ea typeface="Arial"/>
              <a:cs typeface="Arial"/>
              <a:sym typeface="Arial"/>
            </a:endParaRPr>
          </a:p>
        </p:txBody>
      </p:sp>
      <p:sp>
        <p:nvSpPr>
          <p:cNvPr id="265" name="Google Shape;265;p13"/>
          <p:cNvSpPr txBox="1"/>
          <p:nvPr/>
        </p:nvSpPr>
        <p:spPr>
          <a:xfrm>
            <a:off x="9451340" y="5394608"/>
            <a:ext cx="156972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P′ = (350, 0)</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266" name="Google Shape;266;p13"/>
          <p:cNvPicPr preferRelativeResize="0"/>
          <p:nvPr/>
        </p:nvPicPr>
        <p:blipFill rotWithShape="1">
          <a:blip r:embed="rId4">
            <a:alphaModFix/>
          </a:blip>
          <a:srcRect b="0" l="0" r="0" t="0"/>
          <a:stretch/>
        </p:blipFill>
        <p:spPr>
          <a:xfrm>
            <a:off x="8279110" y="215900"/>
            <a:ext cx="3099991" cy="1244600"/>
          </a:xfrm>
          <a:prstGeom prst="rect">
            <a:avLst/>
          </a:prstGeom>
          <a:noFill/>
          <a:ln>
            <a:noFill/>
          </a:ln>
        </p:spPr>
      </p:pic>
      <p:pic>
        <p:nvPicPr>
          <p:cNvPr descr="The real arm with an arrow along a link: travelling along a link is a move by 250 along x" id="267" name="Google Shape;267;p13"/>
          <p:cNvPicPr preferRelativeResize="0"/>
          <p:nvPr/>
        </p:nvPicPr>
        <p:blipFill rotWithShape="1">
          <a:blip r:embed="rId5">
            <a:alphaModFix/>
          </a:blip>
          <a:srcRect b="0" l="0" r="0" t="0"/>
          <a:stretch/>
        </p:blipFill>
        <p:spPr>
          <a:xfrm>
            <a:off x="8274050" y="215900"/>
            <a:ext cx="3105150" cy="1244600"/>
          </a:xfrm>
          <a:prstGeom prst="rect">
            <a:avLst/>
          </a:prstGeom>
          <a:noFill/>
          <a:ln>
            <a:noFill/>
          </a:ln>
        </p:spPr>
      </p:pic>
      <p:sp>
        <p:nvSpPr>
          <p:cNvPr id="268" name="Google Shape;268;p13"/>
          <p:cNvSpPr/>
          <p:nvPr/>
        </p:nvSpPr>
        <p:spPr>
          <a:xfrm>
            <a:off x="8207375" y="511175"/>
            <a:ext cx="76835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txBox="1"/>
          <p:nvPr/>
        </p:nvSpPr>
        <p:spPr>
          <a:xfrm>
            <a:off x="8207375" y="502829"/>
            <a:ext cx="76835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T(250, 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4"/>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MOVING A POINT</a:t>
            </a:r>
            <a:endParaRPr b="0" i="0" sz="1200" u="none" cap="none" strike="noStrike">
              <a:solidFill>
                <a:schemeClr val="dk1"/>
              </a:solidFill>
              <a:latin typeface="Arial"/>
              <a:ea typeface="Arial"/>
              <a:cs typeface="Arial"/>
              <a:sym typeface="Arial"/>
            </a:endParaRPr>
          </a:p>
        </p:txBody>
      </p:sp>
      <p:sp>
        <p:nvSpPr>
          <p:cNvPr id="276" name="Google Shape;276;p14"/>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The Extra 1</a:t>
            </a:r>
            <a:endParaRPr sz="2800"/>
          </a:p>
        </p:txBody>
      </p:sp>
      <p:sp>
        <p:nvSpPr>
          <p:cNvPr id="277" name="Google Shape;277;p14"/>
          <p:cNvSpPr txBox="1"/>
          <p:nvPr/>
        </p:nvSpPr>
        <p:spPr>
          <a:xfrm>
            <a:off x="812800" y="1496463"/>
            <a:ext cx="9829800" cy="68277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Write every point with an extra 1: (x, y) becomes (x, y, 1). Now moving is a multiplication too, using a 3×3 matrix.</a:t>
            </a:r>
            <a:endParaRPr b="0" i="0" sz="2000" u="none" cap="none" strike="noStrike">
              <a:solidFill>
                <a:schemeClr val="dk1"/>
              </a:solidFill>
              <a:latin typeface="Arial"/>
              <a:ea typeface="Arial"/>
              <a:cs typeface="Arial"/>
              <a:sym typeface="Arial"/>
            </a:endParaRPr>
          </a:p>
        </p:txBody>
      </p:sp>
      <p:sp>
        <p:nvSpPr>
          <p:cNvPr id="278" name="Google Shape;278;p14"/>
          <p:cNvSpPr/>
          <p:nvPr/>
        </p:nvSpPr>
        <p:spPr>
          <a:xfrm>
            <a:off x="815975" y="2385616"/>
            <a:ext cx="5708650" cy="1964630"/>
          </a:xfrm>
          <a:prstGeom prst="roundRect">
            <a:avLst>
              <a:gd fmla="val 5010"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1022350" y="2566591"/>
            <a:ext cx="114300" cy="1295400"/>
          </a:xfrm>
          <a:custGeom>
            <a:rect b="b" l="l" r="r" t="t"/>
            <a:pathLst>
              <a:path extrusionOk="0" h="1295400" w="114300">
                <a:moveTo>
                  <a:pt x="114300" y="0"/>
                </a:moveTo>
                <a:lnTo>
                  <a:pt x="0" y="0"/>
                </a:lnTo>
                <a:lnTo>
                  <a:pt x="0" y="1295400"/>
                </a:lnTo>
                <a:lnTo>
                  <a:pt x="114300" y="1295400"/>
                </a:lnTo>
                <a:lnTo>
                  <a:pt x="114300" y="1270000"/>
                </a:lnTo>
                <a:lnTo>
                  <a:pt x="25400" y="1270000"/>
                </a:lnTo>
                <a:lnTo>
                  <a:pt x="25400" y="25400"/>
                </a:lnTo>
                <a:lnTo>
                  <a:pt x="114300" y="25400"/>
                </a:lnTo>
                <a:close/>
              </a:path>
            </a:pathLst>
          </a:custGeom>
          <a:solidFill>
            <a:srgbClr val="000000"/>
          </a:solidFill>
          <a:ln>
            <a:noFill/>
          </a:ln>
        </p:spPr>
      </p:sp>
      <p:sp>
        <p:nvSpPr>
          <p:cNvPr id="280" name="Google Shape;280;p14"/>
          <p:cNvSpPr txBox="1"/>
          <p:nvPr/>
        </p:nvSpPr>
        <p:spPr>
          <a:xfrm>
            <a:off x="1257300" y="26204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281" name="Google Shape;281;p14"/>
          <p:cNvSpPr txBox="1"/>
          <p:nvPr/>
        </p:nvSpPr>
        <p:spPr>
          <a:xfrm>
            <a:off x="1601788" y="26204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82" name="Google Shape;282;p14"/>
          <p:cNvSpPr txBox="1"/>
          <p:nvPr/>
        </p:nvSpPr>
        <p:spPr>
          <a:xfrm>
            <a:off x="1946275" y="2620413"/>
            <a:ext cx="43656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100</a:t>
            </a:r>
            <a:endParaRPr b="0" i="0" sz="2000" u="none" cap="none" strike="noStrike">
              <a:solidFill>
                <a:schemeClr val="dk1"/>
              </a:solidFill>
              <a:latin typeface="Arial"/>
              <a:ea typeface="Arial"/>
              <a:cs typeface="Arial"/>
              <a:sym typeface="Arial"/>
            </a:endParaRPr>
          </a:p>
        </p:txBody>
      </p:sp>
      <p:sp>
        <p:nvSpPr>
          <p:cNvPr id="283" name="Google Shape;283;p14"/>
          <p:cNvSpPr txBox="1"/>
          <p:nvPr/>
        </p:nvSpPr>
        <p:spPr>
          <a:xfrm>
            <a:off x="1257300" y="30268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84" name="Google Shape;284;p14"/>
          <p:cNvSpPr txBox="1"/>
          <p:nvPr/>
        </p:nvSpPr>
        <p:spPr>
          <a:xfrm>
            <a:off x="1601788" y="30268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285" name="Google Shape;285;p14"/>
          <p:cNvSpPr txBox="1"/>
          <p:nvPr/>
        </p:nvSpPr>
        <p:spPr>
          <a:xfrm>
            <a:off x="1946267" y="30268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86" name="Google Shape;286;p14"/>
          <p:cNvSpPr txBox="1"/>
          <p:nvPr/>
        </p:nvSpPr>
        <p:spPr>
          <a:xfrm>
            <a:off x="1257300" y="34332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87" name="Google Shape;287;p14"/>
          <p:cNvSpPr txBox="1"/>
          <p:nvPr/>
        </p:nvSpPr>
        <p:spPr>
          <a:xfrm>
            <a:off x="1601788" y="3433213"/>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88" name="Google Shape;288;p14"/>
          <p:cNvSpPr txBox="1"/>
          <p:nvPr/>
        </p:nvSpPr>
        <p:spPr>
          <a:xfrm>
            <a:off x="1946267" y="34332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289" name="Google Shape;289;p14"/>
          <p:cNvSpPr/>
          <p:nvPr/>
        </p:nvSpPr>
        <p:spPr>
          <a:xfrm>
            <a:off x="2503488" y="2566591"/>
            <a:ext cx="114300" cy="1295400"/>
          </a:xfrm>
          <a:custGeom>
            <a:rect b="b" l="l" r="r" t="t"/>
            <a:pathLst>
              <a:path extrusionOk="0" h="1295400" w="114300">
                <a:moveTo>
                  <a:pt x="0" y="0"/>
                </a:moveTo>
                <a:lnTo>
                  <a:pt x="114300" y="0"/>
                </a:lnTo>
                <a:lnTo>
                  <a:pt x="114300" y="1295400"/>
                </a:lnTo>
                <a:lnTo>
                  <a:pt x="0" y="1295400"/>
                </a:lnTo>
                <a:lnTo>
                  <a:pt x="0" y="1270000"/>
                </a:lnTo>
                <a:lnTo>
                  <a:pt x="88900" y="1270000"/>
                </a:lnTo>
                <a:lnTo>
                  <a:pt x="88900" y="25400"/>
                </a:lnTo>
                <a:lnTo>
                  <a:pt x="0" y="25400"/>
                </a:lnTo>
                <a:close/>
              </a:path>
            </a:pathLst>
          </a:custGeom>
          <a:solidFill>
            <a:srgbClr val="000000"/>
          </a:solidFill>
          <a:ln>
            <a:noFill/>
          </a:ln>
        </p:spPr>
      </p:sp>
      <p:sp>
        <p:nvSpPr>
          <p:cNvPr id="290" name="Google Shape;290;p14"/>
          <p:cNvSpPr txBox="1"/>
          <p:nvPr/>
        </p:nvSpPr>
        <p:spPr>
          <a:xfrm>
            <a:off x="1485106" y="3930025"/>
            <a:ext cx="682625"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T(100, 0)</a:t>
            </a:r>
            <a:endParaRPr b="0" i="0" sz="1300" u="none" cap="none" strike="noStrike">
              <a:solidFill>
                <a:schemeClr val="dk1"/>
              </a:solidFill>
              <a:latin typeface="Arial"/>
              <a:ea typeface="Arial"/>
              <a:cs typeface="Arial"/>
              <a:sym typeface="Arial"/>
            </a:endParaRPr>
          </a:p>
        </p:txBody>
      </p:sp>
      <p:sp>
        <p:nvSpPr>
          <p:cNvPr id="291" name="Google Shape;291;p14"/>
          <p:cNvSpPr txBox="1"/>
          <p:nvPr/>
        </p:nvSpPr>
        <p:spPr>
          <a:xfrm>
            <a:off x="2744788" y="3035077"/>
            <a:ext cx="190698" cy="4266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400"/>
              <a:buFont typeface="Arial"/>
              <a:buNone/>
            </a:pPr>
            <a:r>
              <a:rPr b="0" i="0" lang="en-US" sz="2400" u="none" cap="none" strike="noStrike">
                <a:solidFill>
                  <a:srgbClr val="666666"/>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292" name="Google Shape;292;p14"/>
          <p:cNvSpPr/>
          <p:nvPr/>
        </p:nvSpPr>
        <p:spPr>
          <a:xfrm>
            <a:off x="3049786" y="2566591"/>
            <a:ext cx="114300" cy="1295400"/>
          </a:xfrm>
          <a:custGeom>
            <a:rect b="b" l="l" r="r" t="t"/>
            <a:pathLst>
              <a:path extrusionOk="0" h="1295400" w="114300">
                <a:moveTo>
                  <a:pt x="114300" y="0"/>
                </a:moveTo>
                <a:lnTo>
                  <a:pt x="0" y="0"/>
                </a:lnTo>
                <a:lnTo>
                  <a:pt x="0" y="1295400"/>
                </a:lnTo>
                <a:lnTo>
                  <a:pt x="114300" y="1295400"/>
                </a:lnTo>
                <a:lnTo>
                  <a:pt x="114300" y="1270000"/>
                </a:lnTo>
                <a:lnTo>
                  <a:pt x="25400" y="1270000"/>
                </a:lnTo>
                <a:lnTo>
                  <a:pt x="25400" y="25400"/>
                </a:lnTo>
                <a:lnTo>
                  <a:pt x="114300" y="25400"/>
                </a:lnTo>
                <a:close/>
              </a:path>
            </a:pathLst>
          </a:custGeom>
          <a:solidFill>
            <a:srgbClr val="000000"/>
          </a:solidFill>
          <a:ln>
            <a:noFill/>
          </a:ln>
        </p:spPr>
      </p:sp>
      <p:sp>
        <p:nvSpPr>
          <p:cNvPr id="293" name="Google Shape;293;p14"/>
          <p:cNvSpPr txBox="1"/>
          <p:nvPr/>
        </p:nvSpPr>
        <p:spPr>
          <a:xfrm>
            <a:off x="3284736" y="2620413"/>
            <a:ext cx="43656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250</a:t>
            </a:r>
            <a:endParaRPr b="0" i="0" sz="2000" u="none" cap="none" strike="noStrike">
              <a:solidFill>
                <a:schemeClr val="dk1"/>
              </a:solidFill>
              <a:latin typeface="Arial"/>
              <a:ea typeface="Arial"/>
              <a:cs typeface="Arial"/>
              <a:sym typeface="Arial"/>
            </a:endParaRPr>
          </a:p>
        </p:txBody>
      </p:sp>
      <p:sp>
        <p:nvSpPr>
          <p:cNvPr id="294" name="Google Shape;294;p14"/>
          <p:cNvSpPr txBox="1"/>
          <p:nvPr/>
        </p:nvSpPr>
        <p:spPr>
          <a:xfrm>
            <a:off x="3284728" y="30268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295" name="Google Shape;295;p14"/>
          <p:cNvSpPr txBox="1"/>
          <p:nvPr/>
        </p:nvSpPr>
        <p:spPr>
          <a:xfrm>
            <a:off x="3284728" y="34332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296" name="Google Shape;296;p14"/>
          <p:cNvSpPr/>
          <p:nvPr/>
        </p:nvSpPr>
        <p:spPr>
          <a:xfrm>
            <a:off x="3841948" y="2566591"/>
            <a:ext cx="114300" cy="1295400"/>
          </a:xfrm>
          <a:custGeom>
            <a:rect b="b" l="l" r="r" t="t"/>
            <a:pathLst>
              <a:path extrusionOk="0" h="1295400" w="114300">
                <a:moveTo>
                  <a:pt x="0" y="0"/>
                </a:moveTo>
                <a:lnTo>
                  <a:pt x="114300" y="0"/>
                </a:lnTo>
                <a:lnTo>
                  <a:pt x="114300" y="1295400"/>
                </a:lnTo>
                <a:lnTo>
                  <a:pt x="0" y="1295400"/>
                </a:lnTo>
                <a:lnTo>
                  <a:pt x="0" y="1270000"/>
                </a:lnTo>
                <a:lnTo>
                  <a:pt x="88900" y="1270000"/>
                </a:lnTo>
                <a:lnTo>
                  <a:pt x="88900" y="25400"/>
                </a:lnTo>
                <a:lnTo>
                  <a:pt x="0" y="25400"/>
                </a:lnTo>
                <a:close/>
              </a:path>
            </a:pathLst>
          </a:custGeom>
          <a:solidFill>
            <a:srgbClr val="000000"/>
          </a:solidFill>
          <a:ln>
            <a:noFill/>
          </a:ln>
        </p:spPr>
      </p:sp>
      <p:sp>
        <p:nvSpPr>
          <p:cNvPr id="297" name="Google Shape;297;p14"/>
          <p:cNvSpPr txBox="1"/>
          <p:nvPr/>
        </p:nvSpPr>
        <p:spPr>
          <a:xfrm>
            <a:off x="3447951" y="3930025"/>
            <a:ext cx="122833"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298" name="Google Shape;298;p14"/>
          <p:cNvSpPr txBox="1"/>
          <p:nvPr/>
        </p:nvSpPr>
        <p:spPr>
          <a:xfrm>
            <a:off x="4083248" y="3035077"/>
            <a:ext cx="190698" cy="4266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400"/>
              <a:buFont typeface="Arial"/>
              <a:buNone/>
            </a:pPr>
            <a:r>
              <a:rPr b="0" i="0" lang="en-US" sz="2400" u="none" cap="none" strike="noStrike">
                <a:solidFill>
                  <a:srgbClr val="666666"/>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
        <p:nvSpPr>
          <p:cNvPr id="299" name="Google Shape;299;p14"/>
          <p:cNvSpPr/>
          <p:nvPr/>
        </p:nvSpPr>
        <p:spPr>
          <a:xfrm>
            <a:off x="4388247" y="2566591"/>
            <a:ext cx="114300" cy="1295400"/>
          </a:xfrm>
          <a:custGeom>
            <a:rect b="b" l="l" r="r" t="t"/>
            <a:pathLst>
              <a:path extrusionOk="0" h="1295400" w="114300">
                <a:moveTo>
                  <a:pt x="114300" y="0"/>
                </a:moveTo>
                <a:lnTo>
                  <a:pt x="0" y="0"/>
                </a:lnTo>
                <a:lnTo>
                  <a:pt x="0" y="1295400"/>
                </a:lnTo>
                <a:lnTo>
                  <a:pt x="114300" y="1295400"/>
                </a:lnTo>
                <a:lnTo>
                  <a:pt x="114300" y="1270000"/>
                </a:lnTo>
                <a:lnTo>
                  <a:pt x="25400" y="1270000"/>
                </a:lnTo>
                <a:lnTo>
                  <a:pt x="25400" y="25400"/>
                </a:lnTo>
                <a:lnTo>
                  <a:pt x="114300" y="25400"/>
                </a:lnTo>
                <a:close/>
              </a:path>
            </a:pathLst>
          </a:custGeom>
          <a:solidFill>
            <a:srgbClr val="000000"/>
          </a:solidFill>
          <a:ln>
            <a:noFill/>
          </a:ln>
        </p:spPr>
      </p:sp>
      <p:sp>
        <p:nvSpPr>
          <p:cNvPr id="300" name="Google Shape;300;p14"/>
          <p:cNvSpPr txBox="1"/>
          <p:nvPr/>
        </p:nvSpPr>
        <p:spPr>
          <a:xfrm>
            <a:off x="4623197" y="2620413"/>
            <a:ext cx="43656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350</a:t>
            </a:r>
            <a:endParaRPr b="0" i="0" sz="2000" u="none" cap="none" strike="noStrike">
              <a:solidFill>
                <a:schemeClr val="dk1"/>
              </a:solidFill>
              <a:latin typeface="Arial"/>
              <a:ea typeface="Arial"/>
              <a:cs typeface="Arial"/>
              <a:sym typeface="Arial"/>
            </a:endParaRPr>
          </a:p>
        </p:txBody>
      </p:sp>
      <p:sp>
        <p:nvSpPr>
          <p:cNvPr id="301" name="Google Shape;301;p14"/>
          <p:cNvSpPr txBox="1"/>
          <p:nvPr/>
        </p:nvSpPr>
        <p:spPr>
          <a:xfrm>
            <a:off x="4623189" y="30268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302" name="Google Shape;302;p14"/>
          <p:cNvSpPr txBox="1"/>
          <p:nvPr/>
        </p:nvSpPr>
        <p:spPr>
          <a:xfrm>
            <a:off x="4623189" y="3433213"/>
            <a:ext cx="4365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303" name="Google Shape;303;p14"/>
          <p:cNvSpPr/>
          <p:nvPr/>
        </p:nvSpPr>
        <p:spPr>
          <a:xfrm>
            <a:off x="5180409" y="2566591"/>
            <a:ext cx="114300" cy="1295400"/>
          </a:xfrm>
          <a:custGeom>
            <a:rect b="b" l="l" r="r" t="t"/>
            <a:pathLst>
              <a:path extrusionOk="0" h="1295400" w="114300">
                <a:moveTo>
                  <a:pt x="0" y="0"/>
                </a:moveTo>
                <a:lnTo>
                  <a:pt x="114300" y="0"/>
                </a:lnTo>
                <a:lnTo>
                  <a:pt x="114300" y="1295400"/>
                </a:lnTo>
                <a:lnTo>
                  <a:pt x="0" y="1295400"/>
                </a:lnTo>
                <a:lnTo>
                  <a:pt x="0" y="1270000"/>
                </a:lnTo>
                <a:lnTo>
                  <a:pt x="88900" y="1270000"/>
                </a:lnTo>
                <a:lnTo>
                  <a:pt x="88900" y="25400"/>
                </a:lnTo>
                <a:lnTo>
                  <a:pt x="0" y="25400"/>
                </a:lnTo>
                <a:close/>
              </a:path>
            </a:pathLst>
          </a:custGeom>
          <a:solidFill>
            <a:srgbClr val="000000"/>
          </a:solidFill>
          <a:ln>
            <a:noFill/>
          </a:ln>
        </p:spPr>
      </p:sp>
      <p:sp>
        <p:nvSpPr>
          <p:cNvPr id="304" name="Google Shape;304;p14"/>
          <p:cNvSpPr txBox="1"/>
          <p:nvPr/>
        </p:nvSpPr>
        <p:spPr>
          <a:xfrm>
            <a:off x="4770934" y="3930025"/>
            <a:ext cx="15378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P′</a:t>
            </a:r>
            <a:endParaRPr b="0" i="0" sz="1300" u="none" cap="none" strike="noStrike">
              <a:solidFill>
                <a:schemeClr val="dk1"/>
              </a:solidFill>
              <a:latin typeface="Arial"/>
              <a:ea typeface="Arial"/>
              <a:cs typeface="Arial"/>
              <a:sym typeface="Arial"/>
            </a:endParaRPr>
          </a:p>
        </p:txBody>
      </p:sp>
      <p:sp>
        <p:nvSpPr>
          <p:cNvPr id="305" name="Google Shape;305;p14"/>
          <p:cNvSpPr txBox="1"/>
          <p:nvPr/>
        </p:nvSpPr>
        <p:spPr>
          <a:xfrm>
            <a:off x="812800" y="4477759"/>
            <a:ext cx="5943600" cy="57654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Row 1: 1 · 250 + 0 · 0 + 100 · </a:t>
            </a:r>
            <a:r>
              <a:rPr b="1" i="0" lang="en-US" sz="1600" u="none" cap="none" strike="noStrike">
                <a:solidFill>
                  <a:srgbClr val="FF0000"/>
                </a:solidFill>
                <a:latin typeface="Arial"/>
                <a:ea typeface="Arial"/>
                <a:cs typeface="Arial"/>
                <a:sym typeface="Arial"/>
              </a:rPr>
              <a:t>1</a:t>
            </a:r>
            <a:r>
              <a:rPr b="0" i="0" lang="en-US" sz="1600" u="none" cap="none" strike="noStrike">
                <a:solidFill>
                  <a:srgbClr val="000000"/>
                </a:solidFill>
                <a:latin typeface="Arial"/>
                <a:ea typeface="Arial"/>
                <a:cs typeface="Arial"/>
                <a:sym typeface="Arial"/>
              </a:rPr>
              <a:t> = 350. The extra 1 is what</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picks up the 100.</a:t>
            </a:r>
            <a:endParaRPr b="0" i="0" sz="1600" u="none" cap="none" strike="noStrike">
              <a:solidFill>
                <a:schemeClr val="dk1"/>
              </a:solidFill>
              <a:latin typeface="Arial"/>
              <a:ea typeface="Arial"/>
              <a:cs typeface="Arial"/>
              <a:sym typeface="Arial"/>
            </a:endParaRPr>
          </a:p>
        </p:txBody>
      </p:sp>
      <p:sp>
        <p:nvSpPr>
          <p:cNvPr id="306" name="Google Shape;306;p14"/>
          <p:cNvSpPr/>
          <p:nvPr/>
        </p:nvSpPr>
        <p:spPr>
          <a:xfrm>
            <a:off x="6835775" y="2385616"/>
            <a:ext cx="4540250" cy="1146572"/>
          </a:xfrm>
          <a:prstGeom prst="roundRect">
            <a:avLst>
              <a:gd fmla="val 8584"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7016750" y="2515791"/>
            <a:ext cx="88900" cy="886222"/>
          </a:xfrm>
          <a:custGeom>
            <a:rect b="b" l="l" r="r" t="t"/>
            <a:pathLst>
              <a:path extrusionOk="0" h="886222" w="88900">
                <a:moveTo>
                  <a:pt x="88900" y="0"/>
                </a:moveTo>
                <a:lnTo>
                  <a:pt x="0" y="0"/>
                </a:lnTo>
                <a:lnTo>
                  <a:pt x="0" y="886222"/>
                </a:lnTo>
                <a:lnTo>
                  <a:pt x="88900" y="886222"/>
                </a:lnTo>
                <a:lnTo>
                  <a:pt x="88900" y="867172"/>
                </a:lnTo>
                <a:lnTo>
                  <a:pt x="19050" y="867172"/>
                </a:lnTo>
                <a:lnTo>
                  <a:pt x="19050" y="19050"/>
                </a:lnTo>
                <a:lnTo>
                  <a:pt x="88900" y="19050"/>
                </a:lnTo>
                <a:close/>
              </a:path>
            </a:pathLst>
          </a:custGeom>
          <a:solidFill>
            <a:srgbClr val="000000"/>
          </a:solidFill>
          <a:ln>
            <a:noFill/>
          </a:ln>
        </p:spPr>
      </p:sp>
      <p:sp>
        <p:nvSpPr>
          <p:cNvPr id="308" name="Google Shape;308;p14"/>
          <p:cNvSpPr txBox="1"/>
          <p:nvPr/>
        </p:nvSpPr>
        <p:spPr>
          <a:xfrm>
            <a:off x="7188200" y="2550966"/>
            <a:ext cx="437753"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cos θ</a:t>
            </a:r>
            <a:endParaRPr b="0" i="0" sz="1400" u="none" cap="none" strike="noStrike">
              <a:solidFill>
                <a:schemeClr val="dk1"/>
              </a:solidFill>
              <a:latin typeface="Arial"/>
              <a:ea typeface="Arial"/>
              <a:cs typeface="Arial"/>
              <a:sym typeface="Arial"/>
            </a:endParaRPr>
          </a:p>
        </p:txBody>
      </p:sp>
      <p:sp>
        <p:nvSpPr>
          <p:cNvPr id="309" name="Google Shape;309;p14"/>
          <p:cNvSpPr txBox="1"/>
          <p:nvPr/>
        </p:nvSpPr>
        <p:spPr>
          <a:xfrm>
            <a:off x="7752953" y="2550966"/>
            <a:ext cx="492125"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−sin θ</a:t>
            </a:r>
            <a:endParaRPr b="0" i="0" sz="1400" u="none" cap="none" strike="noStrike">
              <a:solidFill>
                <a:schemeClr val="dk1"/>
              </a:solidFill>
              <a:latin typeface="Arial"/>
              <a:ea typeface="Arial"/>
              <a:cs typeface="Arial"/>
              <a:sym typeface="Arial"/>
            </a:endParaRPr>
          </a:p>
        </p:txBody>
      </p:sp>
      <p:sp>
        <p:nvSpPr>
          <p:cNvPr id="310" name="Google Shape;310;p14"/>
          <p:cNvSpPr txBox="1"/>
          <p:nvPr/>
        </p:nvSpPr>
        <p:spPr>
          <a:xfrm>
            <a:off x="8372078" y="2550966"/>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11" name="Google Shape;311;p14"/>
          <p:cNvSpPr txBox="1"/>
          <p:nvPr/>
        </p:nvSpPr>
        <p:spPr>
          <a:xfrm>
            <a:off x="7188174" y="2825207"/>
            <a:ext cx="437805"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sin θ</a:t>
            </a:r>
            <a:endParaRPr b="0" i="0" sz="1400" u="none" cap="none" strike="noStrike">
              <a:solidFill>
                <a:schemeClr val="dk1"/>
              </a:solidFill>
              <a:latin typeface="Arial"/>
              <a:ea typeface="Arial"/>
              <a:cs typeface="Arial"/>
              <a:sym typeface="Arial"/>
            </a:endParaRPr>
          </a:p>
        </p:txBody>
      </p:sp>
      <p:sp>
        <p:nvSpPr>
          <p:cNvPr id="312" name="Google Shape;312;p14"/>
          <p:cNvSpPr txBox="1"/>
          <p:nvPr/>
        </p:nvSpPr>
        <p:spPr>
          <a:xfrm>
            <a:off x="7752112" y="2825207"/>
            <a:ext cx="493808"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cos θ</a:t>
            </a:r>
            <a:endParaRPr b="0" i="0" sz="1400" u="none" cap="none" strike="noStrike">
              <a:solidFill>
                <a:schemeClr val="dk1"/>
              </a:solidFill>
              <a:latin typeface="Arial"/>
              <a:ea typeface="Arial"/>
              <a:cs typeface="Arial"/>
              <a:sym typeface="Arial"/>
            </a:endParaRPr>
          </a:p>
        </p:txBody>
      </p:sp>
      <p:sp>
        <p:nvSpPr>
          <p:cNvPr id="313" name="Google Shape;313;p14"/>
          <p:cNvSpPr txBox="1"/>
          <p:nvPr/>
        </p:nvSpPr>
        <p:spPr>
          <a:xfrm>
            <a:off x="8372078" y="2825207"/>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14" name="Google Shape;314;p14"/>
          <p:cNvSpPr txBox="1"/>
          <p:nvPr/>
        </p:nvSpPr>
        <p:spPr>
          <a:xfrm>
            <a:off x="7188174" y="3099447"/>
            <a:ext cx="437805"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15" name="Google Shape;315;p14"/>
          <p:cNvSpPr txBox="1"/>
          <p:nvPr/>
        </p:nvSpPr>
        <p:spPr>
          <a:xfrm>
            <a:off x="7752112" y="3099447"/>
            <a:ext cx="493808"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16" name="Google Shape;316;p14"/>
          <p:cNvSpPr txBox="1"/>
          <p:nvPr/>
        </p:nvSpPr>
        <p:spPr>
          <a:xfrm>
            <a:off x="8372078" y="3099447"/>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17" name="Google Shape;317;p14"/>
          <p:cNvSpPr/>
          <p:nvPr/>
        </p:nvSpPr>
        <p:spPr>
          <a:xfrm>
            <a:off x="8566249" y="2515791"/>
            <a:ext cx="88900" cy="886222"/>
          </a:xfrm>
          <a:custGeom>
            <a:rect b="b" l="l" r="r" t="t"/>
            <a:pathLst>
              <a:path extrusionOk="0" h="886222" w="88900">
                <a:moveTo>
                  <a:pt x="0" y="0"/>
                </a:moveTo>
                <a:lnTo>
                  <a:pt x="88900" y="0"/>
                </a:lnTo>
                <a:lnTo>
                  <a:pt x="88900" y="886222"/>
                </a:lnTo>
                <a:lnTo>
                  <a:pt x="0" y="886222"/>
                </a:lnTo>
                <a:lnTo>
                  <a:pt x="0" y="867172"/>
                </a:lnTo>
                <a:lnTo>
                  <a:pt x="69850" y="867172"/>
                </a:lnTo>
                <a:lnTo>
                  <a:pt x="69850" y="19050"/>
                </a:lnTo>
                <a:lnTo>
                  <a:pt x="0" y="19050"/>
                </a:lnTo>
                <a:close/>
              </a:path>
            </a:pathLst>
          </a:custGeom>
          <a:solidFill>
            <a:srgbClr val="000000"/>
          </a:solidFill>
          <a:ln>
            <a:noFill/>
          </a:ln>
        </p:spPr>
      </p:sp>
      <p:sp>
        <p:nvSpPr>
          <p:cNvPr id="318" name="Google Shape;318;p14"/>
          <p:cNvSpPr txBox="1"/>
          <p:nvPr/>
        </p:nvSpPr>
        <p:spPr>
          <a:xfrm>
            <a:off x="8807549" y="2656911"/>
            <a:ext cx="680723"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800"/>
              <a:buFont typeface="Arial"/>
              <a:buNone/>
            </a:pPr>
            <a:r>
              <a:rPr b="1" i="0" lang="en-US" sz="1800" u="none" cap="none" strike="noStrike">
                <a:solidFill>
                  <a:srgbClr val="38761D"/>
                </a:solidFill>
                <a:latin typeface="Arial"/>
                <a:ea typeface="Arial"/>
                <a:cs typeface="Arial"/>
                <a:sym typeface="Arial"/>
              </a:rPr>
              <a:t>R(θ)</a:t>
            </a:r>
            <a:endParaRPr b="0" i="0" sz="1800" u="none" cap="none" strike="noStrike">
              <a:solidFill>
                <a:schemeClr val="dk1"/>
              </a:solidFill>
              <a:latin typeface="Arial"/>
              <a:ea typeface="Arial"/>
              <a:cs typeface="Arial"/>
              <a:sym typeface="Arial"/>
            </a:endParaRPr>
          </a:p>
        </p:txBody>
      </p:sp>
      <p:sp>
        <p:nvSpPr>
          <p:cNvPr id="319" name="Google Shape;319;p14"/>
          <p:cNvSpPr txBox="1"/>
          <p:nvPr/>
        </p:nvSpPr>
        <p:spPr>
          <a:xfrm>
            <a:off x="8807549" y="3007886"/>
            <a:ext cx="673596"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spin by θ</a:t>
            </a:r>
            <a:endParaRPr b="0" i="0" sz="1300" u="none" cap="none" strike="noStrike">
              <a:solidFill>
                <a:schemeClr val="dk1"/>
              </a:solidFill>
              <a:latin typeface="Arial"/>
              <a:ea typeface="Arial"/>
              <a:cs typeface="Arial"/>
              <a:sym typeface="Arial"/>
            </a:endParaRPr>
          </a:p>
        </p:txBody>
      </p:sp>
      <p:sp>
        <p:nvSpPr>
          <p:cNvPr id="320" name="Google Shape;320;p14"/>
          <p:cNvSpPr/>
          <p:nvPr/>
        </p:nvSpPr>
        <p:spPr>
          <a:xfrm>
            <a:off x="6835775" y="3690937"/>
            <a:ext cx="4540250" cy="1146572"/>
          </a:xfrm>
          <a:prstGeom prst="roundRect">
            <a:avLst>
              <a:gd fmla="val 8584"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7016750" y="3821113"/>
            <a:ext cx="88900" cy="886222"/>
          </a:xfrm>
          <a:custGeom>
            <a:rect b="b" l="l" r="r" t="t"/>
            <a:pathLst>
              <a:path extrusionOk="0" h="886222" w="88900">
                <a:moveTo>
                  <a:pt x="88900" y="0"/>
                </a:moveTo>
                <a:lnTo>
                  <a:pt x="0" y="0"/>
                </a:lnTo>
                <a:lnTo>
                  <a:pt x="0" y="886222"/>
                </a:lnTo>
                <a:lnTo>
                  <a:pt x="88900" y="886222"/>
                </a:lnTo>
                <a:lnTo>
                  <a:pt x="88900" y="867172"/>
                </a:lnTo>
                <a:lnTo>
                  <a:pt x="19050" y="867172"/>
                </a:lnTo>
                <a:lnTo>
                  <a:pt x="19050" y="19050"/>
                </a:lnTo>
                <a:lnTo>
                  <a:pt x="88900" y="19050"/>
                </a:lnTo>
                <a:close/>
              </a:path>
            </a:pathLst>
          </a:custGeom>
          <a:solidFill>
            <a:srgbClr val="000000"/>
          </a:solidFill>
          <a:ln>
            <a:noFill/>
          </a:ln>
        </p:spPr>
      </p:sp>
      <p:sp>
        <p:nvSpPr>
          <p:cNvPr id="322" name="Google Shape;322;p14"/>
          <p:cNvSpPr txBox="1"/>
          <p:nvPr/>
        </p:nvSpPr>
        <p:spPr>
          <a:xfrm>
            <a:off x="7188200" y="3856288"/>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23" name="Google Shape;323;p14"/>
          <p:cNvSpPr txBox="1"/>
          <p:nvPr/>
        </p:nvSpPr>
        <p:spPr>
          <a:xfrm>
            <a:off x="7426821" y="3856288"/>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24" name="Google Shape;324;p14"/>
          <p:cNvSpPr txBox="1"/>
          <p:nvPr/>
        </p:nvSpPr>
        <p:spPr>
          <a:xfrm>
            <a:off x="7665442" y="3856288"/>
            <a:ext cx="2005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dx</a:t>
            </a:r>
            <a:endParaRPr b="0" i="0" sz="1400" u="none" cap="none" strike="noStrike">
              <a:solidFill>
                <a:schemeClr val="dk1"/>
              </a:solidFill>
              <a:latin typeface="Arial"/>
              <a:ea typeface="Arial"/>
              <a:cs typeface="Arial"/>
              <a:sym typeface="Arial"/>
            </a:endParaRPr>
          </a:p>
        </p:txBody>
      </p:sp>
      <p:sp>
        <p:nvSpPr>
          <p:cNvPr id="325" name="Google Shape;325;p14"/>
          <p:cNvSpPr txBox="1"/>
          <p:nvPr/>
        </p:nvSpPr>
        <p:spPr>
          <a:xfrm>
            <a:off x="7188200" y="4130529"/>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26" name="Google Shape;326;p14"/>
          <p:cNvSpPr txBox="1"/>
          <p:nvPr/>
        </p:nvSpPr>
        <p:spPr>
          <a:xfrm>
            <a:off x="7426821" y="4130529"/>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27" name="Google Shape;327;p14"/>
          <p:cNvSpPr txBox="1"/>
          <p:nvPr/>
        </p:nvSpPr>
        <p:spPr>
          <a:xfrm>
            <a:off x="7665442" y="4130529"/>
            <a:ext cx="2005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dy</a:t>
            </a:r>
            <a:endParaRPr b="0" i="0" sz="1400" u="none" cap="none" strike="noStrike">
              <a:solidFill>
                <a:schemeClr val="dk1"/>
              </a:solidFill>
              <a:latin typeface="Arial"/>
              <a:ea typeface="Arial"/>
              <a:cs typeface="Arial"/>
              <a:sym typeface="Arial"/>
            </a:endParaRPr>
          </a:p>
        </p:txBody>
      </p:sp>
      <p:sp>
        <p:nvSpPr>
          <p:cNvPr id="328" name="Google Shape;328;p14"/>
          <p:cNvSpPr txBox="1"/>
          <p:nvPr/>
        </p:nvSpPr>
        <p:spPr>
          <a:xfrm>
            <a:off x="7188200" y="4404769"/>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29" name="Google Shape;329;p14"/>
          <p:cNvSpPr txBox="1"/>
          <p:nvPr/>
        </p:nvSpPr>
        <p:spPr>
          <a:xfrm>
            <a:off x="7426821" y="4404769"/>
            <a:ext cx="111621"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chemeClr val="dk1"/>
              </a:solidFill>
              <a:latin typeface="Arial"/>
              <a:ea typeface="Arial"/>
              <a:cs typeface="Arial"/>
              <a:sym typeface="Arial"/>
            </a:endParaRPr>
          </a:p>
        </p:txBody>
      </p:sp>
      <p:sp>
        <p:nvSpPr>
          <p:cNvPr id="330" name="Google Shape;330;p14"/>
          <p:cNvSpPr txBox="1"/>
          <p:nvPr/>
        </p:nvSpPr>
        <p:spPr>
          <a:xfrm>
            <a:off x="7668975" y="4404769"/>
            <a:ext cx="193456" cy="2488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31" name="Google Shape;331;p14"/>
          <p:cNvSpPr/>
          <p:nvPr/>
        </p:nvSpPr>
        <p:spPr>
          <a:xfrm>
            <a:off x="7948513" y="3821113"/>
            <a:ext cx="88900" cy="886222"/>
          </a:xfrm>
          <a:custGeom>
            <a:rect b="b" l="l" r="r" t="t"/>
            <a:pathLst>
              <a:path extrusionOk="0" h="886222" w="88900">
                <a:moveTo>
                  <a:pt x="0" y="0"/>
                </a:moveTo>
                <a:lnTo>
                  <a:pt x="88900" y="0"/>
                </a:lnTo>
                <a:lnTo>
                  <a:pt x="88900" y="886222"/>
                </a:lnTo>
                <a:lnTo>
                  <a:pt x="0" y="886222"/>
                </a:lnTo>
                <a:lnTo>
                  <a:pt x="0" y="867172"/>
                </a:lnTo>
                <a:lnTo>
                  <a:pt x="69850" y="867172"/>
                </a:lnTo>
                <a:lnTo>
                  <a:pt x="69850" y="19050"/>
                </a:lnTo>
                <a:lnTo>
                  <a:pt x="0" y="19050"/>
                </a:lnTo>
                <a:close/>
              </a:path>
            </a:pathLst>
          </a:custGeom>
          <a:solidFill>
            <a:srgbClr val="000000"/>
          </a:solidFill>
          <a:ln>
            <a:noFill/>
          </a:ln>
        </p:spPr>
      </p:sp>
      <p:sp>
        <p:nvSpPr>
          <p:cNvPr id="332" name="Google Shape;332;p14"/>
          <p:cNvSpPr txBox="1"/>
          <p:nvPr/>
        </p:nvSpPr>
        <p:spPr>
          <a:xfrm>
            <a:off x="8189813" y="3962233"/>
            <a:ext cx="1531295"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800"/>
              <a:buFont typeface="Arial"/>
              <a:buNone/>
            </a:pPr>
            <a:r>
              <a:rPr b="1" i="0" lang="en-US" sz="1800" u="none" cap="none" strike="noStrike">
                <a:solidFill>
                  <a:srgbClr val="38761D"/>
                </a:solidFill>
                <a:latin typeface="Arial"/>
                <a:ea typeface="Arial"/>
                <a:cs typeface="Arial"/>
                <a:sym typeface="Arial"/>
              </a:rPr>
              <a:t>T(dx, dy)</a:t>
            </a:r>
            <a:endParaRPr b="0" i="0" sz="1800" u="none" cap="none" strike="noStrike">
              <a:solidFill>
                <a:schemeClr val="dk1"/>
              </a:solidFill>
              <a:latin typeface="Arial"/>
              <a:ea typeface="Arial"/>
              <a:cs typeface="Arial"/>
              <a:sym typeface="Arial"/>
            </a:endParaRPr>
          </a:p>
        </p:txBody>
      </p:sp>
      <p:sp>
        <p:nvSpPr>
          <p:cNvPr id="333" name="Google Shape;333;p14"/>
          <p:cNvSpPr txBox="1"/>
          <p:nvPr/>
        </p:nvSpPr>
        <p:spPr>
          <a:xfrm>
            <a:off x="8189813" y="4313208"/>
            <a:ext cx="149939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move dx right, dy up</a:t>
            </a:r>
            <a:endParaRPr b="0" i="0" sz="13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334" name="Google Shape;334;p14"/>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an arrow along a link: travelling along a link is a move by 250 along x" id="335" name="Google Shape;335;p14"/>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336" name="Google Shape;336;p14"/>
          <p:cNvSpPr/>
          <p:nvPr/>
        </p:nvSpPr>
        <p:spPr>
          <a:xfrm>
            <a:off x="9755485" y="883841"/>
            <a:ext cx="76835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txBox="1"/>
          <p:nvPr/>
        </p:nvSpPr>
        <p:spPr>
          <a:xfrm>
            <a:off x="9755485" y="875494"/>
            <a:ext cx="76835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T(250, 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5"/>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THE 2D ARM</a:t>
            </a:r>
            <a:endParaRPr b="0" i="0" sz="1200" u="none" cap="none" strike="noStrike">
              <a:solidFill>
                <a:schemeClr val="dk1"/>
              </a:solidFill>
              <a:latin typeface="Arial"/>
              <a:ea typeface="Arial"/>
              <a:cs typeface="Arial"/>
              <a:sym typeface="Arial"/>
            </a:endParaRPr>
          </a:p>
        </p:txBody>
      </p:sp>
      <p:sp>
        <p:nvSpPr>
          <p:cNvPr id="344" name="Google Shape;344;p15"/>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The Arm as a Chain of Matrices</a:t>
            </a:r>
            <a:endParaRPr sz="2800"/>
          </a:p>
        </p:txBody>
      </p:sp>
      <p:sp>
        <p:nvSpPr>
          <p:cNvPr id="345" name="Google Shape;345;p15"/>
          <p:cNvSpPr/>
          <p:nvPr/>
        </p:nvSpPr>
        <p:spPr>
          <a:xfrm>
            <a:off x="815975" y="1522016"/>
            <a:ext cx="5962650" cy="585391"/>
          </a:xfrm>
          <a:prstGeom prst="roundRect">
            <a:avLst>
              <a:gd fmla="val 16814"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971550" y="1662311"/>
            <a:ext cx="304800" cy="3048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txBox="1"/>
          <p:nvPr/>
        </p:nvSpPr>
        <p:spPr>
          <a:xfrm>
            <a:off x="966978" y="1650457"/>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48" name="Google Shape;348;p15"/>
          <p:cNvSpPr txBox="1"/>
          <p:nvPr/>
        </p:nvSpPr>
        <p:spPr>
          <a:xfrm>
            <a:off x="1403350" y="1650950"/>
            <a:ext cx="4353112"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Turn at the shoulder</a:t>
            </a:r>
            <a:endParaRPr b="0" i="0" sz="1700" u="none" cap="none" strike="noStrike">
              <a:solidFill>
                <a:schemeClr val="dk1"/>
              </a:solidFill>
              <a:latin typeface="Arial"/>
              <a:ea typeface="Arial"/>
              <a:cs typeface="Arial"/>
              <a:sym typeface="Arial"/>
            </a:endParaRPr>
          </a:p>
        </p:txBody>
      </p:sp>
      <p:sp>
        <p:nvSpPr>
          <p:cNvPr id="349" name="Google Shape;349;p15"/>
          <p:cNvSpPr/>
          <p:nvPr/>
        </p:nvSpPr>
        <p:spPr>
          <a:xfrm>
            <a:off x="5759847" y="1617266"/>
            <a:ext cx="860028" cy="394891"/>
          </a:xfrm>
          <a:prstGeom prst="roundRect">
            <a:avLst>
              <a:gd fmla="val 1849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txBox="1"/>
          <p:nvPr/>
        </p:nvSpPr>
        <p:spPr>
          <a:xfrm>
            <a:off x="5890022" y="1630972"/>
            <a:ext cx="612378"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R(θa)</a:t>
            </a:r>
            <a:endParaRPr b="0" i="0" sz="1900" u="none" cap="none" strike="noStrike">
              <a:solidFill>
                <a:schemeClr val="dk1"/>
              </a:solidFill>
              <a:latin typeface="Arial"/>
              <a:ea typeface="Arial"/>
              <a:cs typeface="Arial"/>
              <a:sym typeface="Arial"/>
            </a:endParaRPr>
          </a:p>
        </p:txBody>
      </p:sp>
      <p:sp>
        <p:nvSpPr>
          <p:cNvPr id="351" name="Google Shape;351;p15"/>
          <p:cNvSpPr/>
          <p:nvPr/>
        </p:nvSpPr>
        <p:spPr>
          <a:xfrm>
            <a:off x="815975" y="2215356"/>
            <a:ext cx="5962650" cy="585391"/>
          </a:xfrm>
          <a:prstGeom prst="roundRect">
            <a:avLst>
              <a:gd fmla="val 16814"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971550" y="2355652"/>
            <a:ext cx="304800" cy="3048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txBox="1"/>
          <p:nvPr/>
        </p:nvSpPr>
        <p:spPr>
          <a:xfrm>
            <a:off x="966978" y="2343797"/>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354" name="Google Shape;354;p15"/>
          <p:cNvSpPr txBox="1"/>
          <p:nvPr/>
        </p:nvSpPr>
        <p:spPr>
          <a:xfrm>
            <a:off x="1403350" y="2344290"/>
            <a:ext cx="3962419"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Travel along the upper arm</a:t>
            </a:r>
            <a:endParaRPr b="0" i="0" sz="1700" u="none" cap="none" strike="noStrike">
              <a:solidFill>
                <a:schemeClr val="dk1"/>
              </a:solidFill>
              <a:latin typeface="Arial"/>
              <a:ea typeface="Arial"/>
              <a:cs typeface="Arial"/>
              <a:sym typeface="Arial"/>
            </a:endParaRPr>
          </a:p>
        </p:txBody>
      </p:sp>
      <p:sp>
        <p:nvSpPr>
          <p:cNvPr id="355" name="Google Shape;355;p15"/>
          <p:cNvSpPr/>
          <p:nvPr/>
        </p:nvSpPr>
        <p:spPr>
          <a:xfrm>
            <a:off x="5380534" y="2310606"/>
            <a:ext cx="1239341" cy="394891"/>
          </a:xfrm>
          <a:prstGeom prst="roundRect">
            <a:avLst>
              <a:gd fmla="val 1849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txBox="1"/>
          <p:nvPr/>
        </p:nvSpPr>
        <p:spPr>
          <a:xfrm>
            <a:off x="5510709" y="2324312"/>
            <a:ext cx="991691"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T(250, 0)</a:t>
            </a:r>
            <a:endParaRPr b="0" i="0" sz="1900" u="none" cap="none" strike="noStrike">
              <a:solidFill>
                <a:schemeClr val="dk1"/>
              </a:solidFill>
              <a:latin typeface="Arial"/>
              <a:ea typeface="Arial"/>
              <a:cs typeface="Arial"/>
              <a:sym typeface="Arial"/>
            </a:endParaRPr>
          </a:p>
        </p:txBody>
      </p:sp>
      <p:sp>
        <p:nvSpPr>
          <p:cNvPr id="357" name="Google Shape;357;p15"/>
          <p:cNvSpPr/>
          <p:nvPr/>
        </p:nvSpPr>
        <p:spPr>
          <a:xfrm>
            <a:off x="815975" y="2908697"/>
            <a:ext cx="5962650" cy="585391"/>
          </a:xfrm>
          <a:prstGeom prst="roundRect">
            <a:avLst>
              <a:gd fmla="val 16814"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971550" y="3048992"/>
            <a:ext cx="304800" cy="3048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txBox="1"/>
          <p:nvPr/>
        </p:nvSpPr>
        <p:spPr>
          <a:xfrm>
            <a:off x="966978" y="3037138"/>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360" name="Google Shape;360;p15"/>
          <p:cNvSpPr txBox="1"/>
          <p:nvPr/>
        </p:nvSpPr>
        <p:spPr>
          <a:xfrm>
            <a:off x="1403350" y="3037631"/>
            <a:ext cx="4339520"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Turn at the elbow</a:t>
            </a:r>
            <a:endParaRPr b="0" i="0" sz="1700" u="none" cap="none" strike="noStrike">
              <a:solidFill>
                <a:schemeClr val="dk1"/>
              </a:solidFill>
              <a:latin typeface="Arial"/>
              <a:ea typeface="Arial"/>
              <a:cs typeface="Arial"/>
              <a:sym typeface="Arial"/>
            </a:endParaRPr>
          </a:p>
        </p:txBody>
      </p:sp>
      <p:sp>
        <p:nvSpPr>
          <p:cNvPr id="361" name="Google Shape;361;p15"/>
          <p:cNvSpPr/>
          <p:nvPr/>
        </p:nvSpPr>
        <p:spPr>
          <a:xfrm>
            <a:off x="5746651" y="3003947"/>
            <a:ext cx="873224" cy="394891"/>
          </a:xfrm>
          <a:prstGeom prst="roundRect">
            <a:avLst>
              <a:gd fmla="val 1849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txBox="1"/>
          <p:nvPr/>
        </p:nvSpPr>
        <p:spPr>
          <a:xfrm>
            <a:off x="5876826" y="3017653"/>
            <a:ext cx="625574"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R(θb)</a:t>
            </a:r>
            <a:endParaRPr b="0" i="0" sz="1900" u="none" cap="none" strike="noStrike">
              <a:solidFill>
                <a:schemeClr val="dk1"/>
              </a:solidFill>
              <a:latin typeface="Arial"/>
              <a:ea typeface="Arial"/>
              <a:cs typeface="Arial"/>
              <a:sym typeface="Arial"/>
            </a:endParaRPr>
          </a:p>
        </p:txBody>
      </p:sp>
      <p:sp>
        <p:nvSpPr>
          <p:cNvPr id="363" name="Google Shape;363;p15"/>
          <p:cNvSpPr/>
          <p:nvPr/>
        </p:nvSpPr>
        <p:spPr>
          <a:xfrm>
            <a:off x="815975" y="3602038"/>
            <a:ext cx="5962650" cy="585391"/>
          </a:xfrm>
          <a:prstGeom prst="roundRect">
            <a:avLst>
              <a:gd fmla="val 16814"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971550" y="3742333"/>
            <a:ext cx="304800" cy="3048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txBox="1"/>
          <p:nvPr/>
        </p:nvSpPr>
        <p:spPr>
          <a:xfrm>
            <a:off x="966978" y="3730479"/>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366" name="Google Shape;366;p15"/>
          <p:cNvSpPr txBox="1"/>
          <p:nvPr/>
        </p:nvSpPr>
        <p:spPr>
          <a:xfrm>
            <a:off x="1403350" y="3730972"/>
            <a:ext cx="3962419"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Travel along the forearm</a:t>
            </a:r>
            <a:endParaRPr b="0" i="0" sz="1700" u="none" cap="none" strike="noStrike">
              <a:solidFill>
                <a:schemeClr val="dk1"/>
              </a:solidFill>
              <a:latin typeface="Arial"/>
              <a:ea typeface="Arial"/>
              <a:cs typeface="Arial"/>
              <a:sym typeface="Arial"/>
            </a:endParaRPr>
          </a:p>
        </p:txBody>
      </p:sp>
      <p:sp>
        <p:nvSpPr>
          <p:cNvPr id="367" name="Google Shape;367;p15"/>
          <p:cNvSpPr/>
          <p:nvPr/>
        </p:nvSpPr>
        <p:spPr>
          <a:xfrm>
            <a:off x="5380534" y="3697288"/>
            <a:ext cx="1239341" cy="394891"/>
          </a:xfrm>
          <a:prstGeom prst="roundRect">
            <a:avLst>
              <a:gd fmla="val 1849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txBox="1"/>
          <p:nvPr/>
        </p:nvSpPr>
        <p:spPr>
          <a:xfrm>
            <a:off x="5510709" y="3710994"/>
            <a:ext cx="991691"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T(250, 0)</a:t>
            </a:r>
            <a:endParaRPr b="0" i="0" sz="1900" u="none" cap="none" strike="noStrike">
              <a:solidFill>
                <a:schemeClr val="dk1"/>
              </a:solidFill>
              <a:latin typeface="Arial"/>
              <a:ea typeface="Arial"/>
              <a:cs typeface="Arial"/>
              <a:sym typeface="Arial"/>
            </a:endParaRPr>
          </a:p>
        </p:txBody>
      </p:sp>
      <p:sp>
        <p:nvSpPr>
          <p:cNvPr id="369" name="Google Shape;369;p15"/>
          <p:cNvSpPr/>
          <p:nvPr/>
        </p:nvSpPr>
        <p:spPr>
          <a:xfrm>
            <a:off x="812800" y="4292203"/>
            <a:ext cx="5969000" cy="906661"/>
          </a:xfrm>
          <a:prstGeom prst="roundRect">
            <a:avLst>
              <a:gd fmla="val 11206"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txBox="1"/>
          <p:nvPr/>
        </p:nvSpPr>
        <p:spPr>
          <a:xfrm>
            <a:off x="990600" y="4431952"/>
            <a:ext cx="5781802"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M = R(θa) · T(250, 0) · R(θb) · T(250, 0)</a:t>
            </a:r>
            <a:endParaRPr b="0" i="0" sz="1700" u="none" cap="none" strike="noStrike">
              <a:solidFill>
                <a:schemeClr val="dk1"/>
              </a:solidFill>
              <a:latin typeface="Arial"/>
              <a:ea typeface="Arial"/>
              <a:cs typeface="Arial"/>
              <a:sym typeface="Arial"/>
            </a:endParaRPr>
          </a:p>
        </p:txBody>
      </p:sp>
      <p:sp>
        <p:nvSpPr>
          <p:cNvPr id="371" name="Google Shape;371;p15"/>
          <p:cNvSpPr txBox="1"/>
          <p:nvPr/>
        </p:nvSpPr>
        <p:spPr>
          <a:xfrm>
            <a:off x="990600" y="4788349"/>
            <a:ext cx="5781802"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400"/>
              <a:buFont typeface="Arial"/>
              <a:buNone/>
            </a:pPr>
            <a:r>
              <a:rPr b="0" i="0" lang="en-US" sz="1400" u="none" cap="none" strike="noStrike">
                <a:solidFill>
                  <a:srgbClr val="CCCCCC"/>
                </a:solidFill>
                <a:latin typeface="Arial"/>
                <a:ea typeface="Arial"/>
                <a:cs typeface="Arial"/>
                <a:sym typeface="Arial"/>
              </a:rPr>
              <a:t>Read left to right, it is the story of the arm.</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372" name="Google Shape;372;p15"/>
          <p:cNvPicPr preferRelativeResize="0"/>
          <p:nvPr/>
        </p:nvPicPr>
        <p:blipFill rotWithShape="1">
          <a:blip r:embed="rId3">
            <a:alphaModFix/>
          </a:blip>
          <a:srcRect b="0" l="0" r="0" t="0"/>
          <a:stretch/>
        </p:blipFill>
        <p:spPr>
          <a:xfrm>
            <a:off x="6934200" y="2725341"/>
            <a:ext cx="4445000" cy="1784945"/>
          </a:xfrm>
          <a:prstGeom prst="rect">
            <a:avLst/>
          </a:prstGeom>
          <a:noFill/>
          <a:ln>
            <a:noFill/>
          </a:ln>
        </p:spPr>
      </p:pic>
      <p:pic>
        <p:nvPicPr>
          <p:cNvPr descr="Side view of the real arm with the four steps of the chain marked: 1 turn at the shoulder, 2 travel along the upper arm, 3 turn at the elbow, 4 travel along the forearm, with the shoulder angle theta a and the elbow angle theta b." id="373" name="Google Shape;373;p15"/>
          <p:cNvPicPr preferRelativeResize="0"/>
          <p:nvPr/>
        </p:nvPicPr>
        <p:blipFill rotWithShape="1">
          <a:blip r:embed="rId4">
            <a:alphaModFix/>
          </a:blip>
          <a:srcRect b="0" l="0" r="0" t="0"/>
          <a:stretch/>
        </p:blipFill>
        <p:spPr>
          <a:xfrm>
            <a:off x="6934200" y="1517650"/>
            <a:ext cx="4445000" cy="3943350"/>
          </a:xfrm>
          <a:prstGeom prst="rect">
            <a:avLst/>
          </a:prstGeom>
          <a:noFill/>
          <a:ln>
            <a:noFill/>
          </a:ln>
        </p:spPr>
      </p:pic>
      <p:sp>
        <p:nvSpPr>
          <p:cNvPr id="374" name="Google Shape;374;p15"/>
          <p:cNvSpPr txBox="1"/>
          <p:nvPr/>
        </p:nvSpPr>
        <p:spPr>
          <a:xfrm>
            <a:off x="8541296" y="3714045"/>
            <a:ext cx="34925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θa</a:t>
            </a:r>
            <a:endParaRPr b="0" i="0" sz="1700" u="none" cap="none" strike="noStrike">
              <a:solidFill>
                <a:schemeClr val="dk1"/>
              </a:solidFill>
              <a:latin typeface="Arial"/>
              <a:ea typeface="Arial"/>
              <a:cs typeface="Arial"/>
              <a:sym typeface="Arial"/>
            </a:endParaRPr>
          </a:p>
        </p:txBody>
      </p:sp>
      <p:sp>
        <p:nvSpPr>
          <p:cNvPr id="375" name="Google Shape;375;p15"/>
          <p:cNvSpPr txBox="1"/>
          <p:nvPr/>
        </p:nvSpPr>
        <p:spPr>
          <a:xfrm>
            <a:off x="9469735" y="2754500"/>
            <a:ext cx="36195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θb</a:t>
            </a:r>
            <a:endParaRPr b="0" i="0" sz="1700" u="none" cap="none" strike="noStrike">
              <a:solidFill>
                <a:schemeClr val="dk1"/>
              </a:solidFill>
              <a:latin typeface="Arial"/>
              <a:ea typeface="Arial"/>
              <a:cs typeface="Arial"/>
              <a:sym typeface="Arial"/>
            </a:endParaRPr>
          </a:p>
        </p:txBody>
      </p:sp>
      <p:sp>
        <p:nvSpPr>
          <p:cNvPr id="376" name="Google Shape;376;p15"/>
          <p:cNvSpPr/>
          <p:nvPr/>
        </p:nvSpPr>
        <p:spPr>
          <a:xfrm>
            <a:off x="7850485" y="4044156"/>
            <a:ext cx="222250" cy="2222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txBox="1"/>
          <p:nvPr/>
        </p:nvSpPr>
        <p:spPr>
          <a:xfrm>
            <a:off x="7856962" y="4042946"/>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378" name="Google Shape;378;p15"/>
          <p:cNvSpPr/>
          <p:nvPr/>
        </p:nvSpPr>
        <p:spPr>
          <a:xfrm>
            <a:off x="8329216" y="3575546"/>
            <a:ext cx="222250" cy="2222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txBox="1"/>
          <p:nvPr/>
        </p:nvSpPr>
        <p:spPr>
          <a:xfrm>
            <a:off x="8335693" y="3574336"/>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380" name="Google Shape;380;p15"/>
          <p:cNvSpPr/>
          <p:nvPr/>
        </p:nvSpPr>
        <p:spPr>
          <a:xfrm>
            <a:off x="8807450" y="3107531"/>
            <a:ext cx="222250" cy="2222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txBox="1"/>
          <p:nvPr/>
        </p:nvSpPr>
        <p:spPr>
          <a:xfrm>
            <a:off x="8813927" y="3106321"/>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382" name="Google Shape;382;p15"/>
          <p:cNvSpPr/>
          <p:nvPr/>
        </p:nvSpPr>
        <p:spPr>
          <a:xfrm>
            <a:off x="9481741" y="3107531"/>
            <a:ext cx="222250" cy="2222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txBox="1"/>
          <p:nvPr/>
        </p:nvSpPr>
        <p:spPr>
          <a:xfrm>
            <a:off x="9488218" y="3106321"/>
            <a:ext cx="209296"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4</a:t>
            </a:r>
            <a:endParaRPr b="0" i="0" sz="1300" u="none" cap="none" strike="noStrike">
              <a:solidFill>
                <a:schemeClr val="dk1"/>
              </a:solidFill>
              <a:latin typeface="Arial"/>
              <a:ea typeface="Arial"/>
              <a:cs typeface="Arial"/>
              <a:sym typeface="Arial"/>
            </a:endParaRPr>
          </a:p>
        </p:txBody>
      </p:sp>
      <p:sp>
        <p:nvSpPr>
          <p:cNvPr id="384" name="Google Shape;384;p15"/>
          <p:cNvSpPr txBox="1"/>
          <p:nvPr/>
        </p:nvSpPr>
        <p:spPr>
          <a:xfrm>
            <a:off x="9993610" y="401799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385" name="Google Shape;385;p15"/>
          <p:cNvSpPr txBox="1"/>
          <p:nvPr/>
        </p:nvSpPr>
        <p:spPr>
          <a:xfrm>
            <a:off x="7999710" y="226539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6"/>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THE 2D ARM</a:t>
            </a:r>
            <a:endParaRPr b="0" i="0" sz="1200" u="none" cap="none" strike="noStrike">
              <a:solidFill>
                <a:schemeClr val="dk1"/>
              </a:solidFill>
              <a:latin typeface="Arial"/>
              <a:ea typeface="Arial"/>
              <a:cs typeface="Arial"/>
              <a:sym typeface="Arial"/>
            </a:endParaRPr>
          </a:p>
        </p:txBody>
      </p:sp>
      <p:sp>
        <p:nvSpPr>
          <p:cNvPr id="392" name="Google Shape;392;p16"/>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Converting the Arm's Angles</a:t>
            </a:r>
            <a:endParaRPr sz="2800"/>
          </a:p>
        </p:txBody>
      </p:sp>
      <p:sp>
        <p:nvSpPr>
          <p:cNvPr id="393" name="Google Shape;393;p16"/>
          <p:cNvSpPr/>
          <p:nvPr/>
        </p:nvSpPr>
        <p:spPr>
          <a:xfrm>
            <a:off x="815975" y="1522016"/>
            <a:ext cx="5073650" cy="1565672"/>
          </a:xfrm>
          <a:prstGeom prst="roundRect">
            <a:avLst>
              <a:gd fmla="val 628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txBox="1"/>
          <p:nvPr/>
        </p:nvSpPr>
        <p:spPr>
          <a:xfrm>
            <a:off x="1022350" y="1670534"/>
            <a:ext cx="4800727"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SHOULDER</a:t>
            </a:r>
            <a:endParaRPr b="0" i="0" sz="1200" u="none" cap="none" strike="noStrike">
              <a:solidFill>
                <a:schemeClr val="dk1"/>
              </a:solidFill>
              <a:latin typeface="Arial"/>
              <a:ea typeface="Arial"/>
              <a:cs typeface="Arial"/>
              <a:sym typeface="Arial"/>
            </a:endParaRPr>
          </a:p>
        </p:txBody>
      </p:sp>
      <p:sp>
        <p:nvSpPr>
          <p:cNvPr id="395" name="Google Shape;395;p16"/>
          <p:cNvSpPr txBox="1"/>
          <p:nvPr/>
        </p:nvSpPr>
        <p:spPr>
          <a:xfrm>
            <a:off x="1022350" y="1926893"/>
            <a:ext cx="4800727" cy="439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θa = 90° − θS</a:t>
            </a:r>
            <a:endParaRPr b="0" i="0" sz="2800" u="none" cap="none" strike="noStrike">
              <a:solidFill>
                <a:schemeClr val="dk1"/>
              </a:solidFill>
              <a:latin typeface="Arial"/>
              <a:ea typeface="Arial"/>
              <a:cs typeface="Arial"/>
              <a:sym typeface="Arial"/>
            </a:endParaRPr>
          </a:p>
        </p:txBody>
      </p:sp>
      <p:sp>
        <p:nvSpPr>
          <p:cNvPr id="396" name="Google Shape;396;p16"/>
          <p:cNvSpPr txBox="1"/>
          <p:nvPr/>
        </p:nvSpPr>
        <p:spPr>
          <a:xfrm>
            <a:off x="1022350" y="2407337"/>
            <a:ext cx="4762500" cy="524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A matrix counts angles counter-clockwise from the x-axis. θS counts clockwise from the vertical.</a:t>
            </a:r>
            <a:endParaRPr b="0" i="0" sz="1400" u="none" cap="none" strike="noStrike">
              <a:solidFill>
                <a:schemeClr val="dk1"/>
              </a:solidFill>
              <a:latin typeface="Arial"/>
              <a:ea typeface="Arial"/>
              <a:cs typeface="Arial"/>
              <a:sym typeface="Arial"/>
            </a:endParaRPr>
          </a:p>
        </p:txBody>
      </p:sp>
      <p:sp>
        <p:nvSpPr>
          <p:cNvPr id="397" name="Google Shape;397;p16"/>
          <p:cNvSpPr/>
          <p:nvPr/>
        </p:nvSpPr>
        <p:spPr>
          <a:xfrm>
            <a:off x="815975" y="3246438"/>
            <a:ext cx="5073650" cy="1565672"/>
          </a:xfrm>
          <a:prstGeom prst="roundRect">
            <a:avLst>
              <a:gd fmla="val 628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txBox="1"/>
          <p:nvPr/>
        </p:nvSpPr>
        <p:spPr>
          <a:xfrm>
            <a:off x="1022350" y="3394956"/>
            <a:ext cx="4800727"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ELBOW</a:t>
            </a:r>
            <a:endParaRPr b="0" i="0" sz="1200" u="none" cap="none" strike="noStrike">
              <a:solidFill>
                <a:schemeClr val="dk1"/>
              </a:solidFill>
              <a:latin typeface="Arial"/>
              <a:ea typeface="Arial"/>
              <a:cs typeface="Arial"/>
              <a:sym typeface="Arial"/>
            </a:endParaRPr>
          </a:p>
        </p:txBody>
      </p:sp>
      <p:sp>
        <p:nvSpPr>
          <p:cNvPr id="399" name="Google Shape;399;p16"/>
          <p:cNvSpPr txBox="1"/>
          <p:nvPr/>
        </p:nvSpPr>
        <p:spPr>
          <a:xfrm>
            <a:off x="1022350" y="3651314"/>
            <a:ext cx="4800727" cy="439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θb = −θE</a:t>
            </a:r>
            <a:endParaRPr b="0" i="0" sz="2800" u="none" cap="none" strike="noStrike">
              <a:solidFill>
                <a:schemeClr val="dk1"/>
              </a:solidFill>
              <a:latin typeface="Arial"/>
              <a:ea typeface="Arial"/>
              <a:cs typeface="Arial"/>
              <a:sym typeface="Arial"/>
            </a:endParaRPr>
          </a:p>
        </p:txBody>
      </p:sp>
      <p:sp>
        <p:nvSpPr>
          <p:cNvPr id="400" name="Google Shape;400;p16"/>
          <p:cNvSpPr txBox="1"/>
          <p:nvPr/>
        </p:nvSpPr>
        <p:spPr>
          <a:xfrm>
            <a:off x="1022350" y="4131759"/>
            <a:ext cx="4847336" cy="52477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The forearm bends clockwise. A matrix counts counter-clockwise, so the sign flips.</a:t>
            </a:r>
            <a:endParaRPr b="0" i="0" sz="1400" u="none" cap="none" strike="noStrike">
              <a:solidFill>
                <a:schemeClr val="dk1"/>
              </a:solidFill>
              <a:latin typeface="Arial"/>
              <a:ea typeface="Arial"/>
              <a:cs typeface="Arial"/>
              <a:sym typeface="Arial"/>
            </a:endParaRPr>
          </a:p>
        </p:txBody>
      </p:sp>
      <p:sp>
        <p:nvSpPr>
          <p:cNvPr id="401" name="Google Shape;401;p16"/>
          <p:cNvSpPr/>
          <p:nvPr/>
        </p:nvSpPr>
        <p:spPr>
          <a:xfrm>
            <a:off x="815975" y="4970859"/>
            <a:ext cx="5073650" cy="831850"/>
          </a:xfrm>
          <a:prstGeom prst="roundRect">
            <a:avLst>
              <a:gd fmla="val 1183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txBox="1"/>
          <p:nvPr/>
        </p:nvSpPr>
        <p:spPr>
          <a:xfrm>
            <a:off x="1022350" y="5090601"/>
            <a:ext cx="4800727"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θS = 60° gives θa = 30°</a:t>
            </a:r>
            <a:endParaRPr b="0" i="0" sz="1500" u="none" cap="none" strike="noStrike">
              <a:solidFill>
                <a:schemeClr val="dk1"/>
              </a:solidFill>
              <a:latin typeface="Arial"/>
              <a:ea typeface="Arial"/>
              <a:cs typeface="Arial"/>
              <a:sym typeface="Arial"/>
            </a:endParaRPr>
          </a:p>
        </p:txBody>
      </p:sp>
      <p:sp>
        <p:nvSpPr>
          <p:cNvPr id="403" name="Google Shape;403;p16"/>
          <p:cNvSpPr txBox="1"/>
          <p:nvPr/>
        </p:nvSpPr>
        <p:spPr>
          <a:xfrm>
            <a:off x="1022350" y="5395401"/>
            <a:ext cx="4800727"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θE = 45° gives θb = −45°</a:t>
            </a:r>
            <a:endParaRPr b="0" i="0" sz="1500" u="none" cap="none" strike="noStrike">
              <a:solidFill>
                <a:schemeClr val="dk1"/>
              </a:solidFill>
              <a:latin typeface="Arial"/>
              <a:ea typeface="Arial"/>
              <a:cs typeface="Arial"/>
              <a:sym typeface="Arial"/>
            </a:endParaRPr>
          </a:p>
        </p:txBody>
      </p:sp>
      <p:pic>
        <p:nvPicPr>
          <p:cNvPr descr="Side view of the robotic arm: the upper arm leans 60 degrees from vertical and the forearm is straight in line with it" id="404" name="Google Shape;404;p16"/>
          <p:cNvPicPr preferRelativeResize="0"/>
          <p:nvPr/>
        </p:nvPicPr>
        <p:blipFill rotWithShape="1">
          <a:blip r:embed="rId3">
            <a:alphaModFix/>
          </a:blip>
          <a:srcRect b="0" l="0" r="0" t="0"/>
          <a:stretch/>
        </p:blipFill>
        <p:spPr>
          <a:xfrm>
            <a:off x="7124700" y="1709341"/>
            <a:ext cx="3302000" cy="1779191"/>
          </a:xfrm>
          <a:prstGeom prst="rect">
            <a:avLst/>
          </a:prstGeom>
          <a:noFill/>
          <a:ln>
            <a:noFill/>
          </a:ln>
        </p:spPr>
      </p:pic>
      <p:pic>
        <p:nvPicPr>
          <p:cNvPr descr="Side view of the robotic arm: the upper arm leans 45 degrees from vertical and the forearm is horizontal" id="405" name="Google Shape;405;p16"/>
          <p:cNvPicPr preferRelativeResize="0"/>
          <p:nvPr/>
        </p:nvPicPr>
        <p:blipFill rotWithShape="1">
          <a:blip r:embed="rId4">
            <a:alphaModFix/>
          </a:blip>
          <a:srcRect b="0" l="0" r="0" t="0"/>
          <a:stretch/>
        </p:blipFill>
        <p:spPr>
          <a:xfrm>
            <a:off x="7061200" y="3741341"/>
            <a:ext cx="3556000" cy="1427460"/>
          </a:xfrm>
          <a:prstGeom prst="rect">
            <a:avLst/>
          </a:prstGeom>
          <a:noFill/>
          <a:ln>
            <a:noFill/>
          </a:ln>
        </p:spPr>
      </p:pic>
      <p:pic>
        <p:nvPicPr>
          <p:cNvPr descr="Two side views of the real arm. Top: the shoulder angle thetaS of 60 degrees from the vertical is thetaA of 30 degrees from the x axis. Bottom: the elbow bends 45 degrees clockwise, so thetaB is minus 45 degrees." id="406" name="Google Shape;406;p16"/>
          <p:cNvPicPr preferRelativeResize="0"/>
          <p:nvPr/>
        </p:nvPicPr>
        <p:blipFill rotWithShape="1">
          <a:blip r:embed="rId5">
            <a:alphaModFix/>
          </a:blip>
          <a:srcRect b="0" l="0" r="0" t="0"/>
          <a:stretch/>
        </p:blipFill>
        <p:spPr>
          <a:xfrm>
            <a:off x="6299200" y="1517650"/>
            <a:ext cx="5080000" cy="3943350"/>
          </a:xfrm>
          <a:prstGeom prst="rect">
            <a:avLst/>
          </a:prstGeom>
          <a:noFill/>
          <a:ln>
            <a:noFill/>
          </a:ln>
        </p:spPr>
      </p:pic>
      <p:sp>
        <p:nvSpPr>
          <p:cNvPr id="407" name="Google Shape;407;p16"/>
          <p:cNvSpPr txBox="1"/>
          <p:nvPr/>
        </p:nvSpPr>
        <p:spPr>
          <a:xfrm>
            <a:off x="7148810" y="2141574"/>
            <a:ext cx="895350" cy="2565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θS = 60°</a:t>
            </a:r>
            <a:endParaRPr b="0" i="0" sz="1600" u="none" cap="none" strike="noStrike">
              <a:solidFill>
                <a:schemeClr val="dk1"/>
              </a:solidFill>
              <a:latin typeface="Arial"/>
              <a:ea typeface="Arial"/>
              <a:cs typeface="Arial"/>
              <a:sym typeface="Arial"/>
            </a:endParaRPr>
          </a:p>
        </p:txBody>
      </p:sp>
      <p:sp>
        <p:nvSpPr>
          <p:cNvPr id="408" name="Google Shape;408;p16"/>
          <p:cNvSpPr txBox="1"/>
          <p:nvPr/>
        </p:nvSpPr>
        <p:spPr>
          <a:xfrm>
            <a:off x="8844855" y="2926494"/>
            <a:ext cx="8699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600"/>
              <a:buFont typeface="Arial"/>
              <a:buNone/>
            </a:pPr>
            <a:r>
              <a:rPr b="1" i="0" lang="en-US" sz="1600" u="none" cap="none" strike="noStrike">
                <a:solidFill>
                  <a:srgbClr val="38761D"/>
                </a:solidFill>
                <a:latin typeface="Arial"/>
                <a:ea typeface="Arial"/>
                <a:cs typeface="Arial"/>
                <a:sym typeface="Arial"/>
              </a:rPr>
              <a:t>θa = 30°</a:t>
            </a:r>
            <a:endParaRPr b="0" i="0" sz="1600" u="none" cap="none" strike="noStrike">
              <a:solidFill>
                <a:schemeClr val="dk1"/>
              </a:solidFill>
              <a:latin typeface="Arial"/>
              <a:ea typeface="Arial"/>
              <a:cs typeface="Arial"/>
              <a:sym typeface="Arial"/>
            </a:endParaRPr>
          </a:p>
        </p:txBody>
      </p:sp>
      <p:sp>
        <p:nvSpPr>
          <p:cNvPr id="409" name="Google Shape;409;p16"/>
          <p:cNvSpPr txBox="1"/>
          <p:nvPr/>
        </p:nvSpPr>
        <p:spPr>
          <a:xfrm>
            <a:off x="9514780" y="3547504"/>
            <a:ext cx="8953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θE = 45°</a:t>
            </a:r>
            <a:endParaRPr b="0" i="0" sz="1600" u="none" cap="none" strike="noStrike">
              <a:solidFill>
                <a:schemeClr val="dk1"/>
              </a:solidFill>
              <a:latin typeface="Arial"/>
              <a:ea typeface="Arial"/>
              <a:cs typeface="Arial"/>
              <a:sym typeface="Arial"/>
            </a:endParaRPr>
          </a:p>
        </p:txBody>
      </p:sp>
      <p:sp>
        <p:nvSpPr>
          <p:cNvPr id="410" name="Google Shape;410;p16"/>
          <p:cNvSpPr/>
          <p:nvPr/>
        </p:nvSpPr>
        <p:spPr>
          <a:xfrm>
            <a:off x="8512175" y="4612481"/>
            <a:ext cx="2178050" cy="2667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
          <p:cNvSpPr txBox="1"/>
          <p:nvPr/>
        </p:nvSpPr>
        <p:spPr>
          <a:xfrm>
            <a:off x="8512125" y="4600627"/>
            <a:ext cx="217805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clockwise, so θb = −45°</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7"/>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THE 2D ARM</a:t>
            </a:r>
            <a:endParaRPr b="0" i="0" sz="1200" u="none" cap="none" strike="noStrike">
              <a:solidFill>
                <a:schemeClr val="dk1"/>
              </a:solidFill>
              <a:latin typeface="Arial"/>
              <a:ea typeface="Arial"/>
              <a:cs typeface="Arial"/>
              <a:sym typeface="Arial"/>
            </a:endParaRPr>
          </a:p>
        </p:txBody>
      </p:sp>
      <p:sp>
        <p:nvSpPr>
          <p:cNvPr id="418" name="Google Shape;418;p17"/>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Worked Example: Setup</a:t>
            </a:r>
            <a:endParaRPr sz="2800"/>
          </a:p>
        </p:txBody>
      </p:sp>
      <p:sp>
        <p:nvSpPr>
          <p:cNvPr id="419" name="Google Shape;419;p17"/>
          <p:cNvSpPr txBox="1"/>
          <p:nvPr/>
        </p:nvSpPr>
        <p:spPr>
          <a:xfrm>
            <a:off x="812800" y="1509163"/>
            <a:ext cx="97790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Find the end effector for </a:t>
            </a:r>
            <a:r>
              <a:rPr b="1" i="0" lang="en-US" sz="2000" u="none" cap="none" strike="noStrike">
                <a:solidFill>
                  <a:srgbClr val="FF0000"/>
                </a:solidFill>
                <a:latin typeface="Arial"/>
                <a:ea typeface="Arial"/>
                <a:cs typeface="Arial"/>
                <a:sym typeface="Arial"/>
              </a:rPr>
              <a:t>θS = 45°</a:t>
            </a:r>
            <a:r>
              <a:rPr b="0" i="0" lang="en-US" sz="2000" u="none" cap="none" strike="noStrike">
                <a:solidFill>
                  <a:srgbClr val="000000"/>
                </a:solidFill>
                <a:latin typeface="Arial"/>
                <a:ea typeface="Arial"/>
                <a:cs typeface="Arial"/>
                <a:sym typeface="Arial"/>
              </a:rPr>
              <a:t> and </a:t>
            </a:r>
            <a:r>
              <a:rPr b="1" i="0" lang="en-US" sz="2000" u="none" cap="none" strike="noStrike">
                <a:solidFill>
                  <a:srgbClr val="FF0000"/>
                </a:solidFill>
                <a:latin typeface="Arial"/>
                <a:ea typeface="Arial"/>
                <a:cs typeface="Arial"/>
                <a:sym typeface="Arial"/>
              </a:rPr>
              <a:t>θE = 45°</a:t>
            </a:r>
            <a:r>
              <a:rPr b="0" i="0" lang="en-US" sz="2000" u="none" cap="none" strike="noStrike">
                <a:solidFill>
                  <a:srgbClr val="000000"/>
                </a:solidFill>
                <a:latin typeface="Arial"/>
                <a:ea typeface="Arial"/>
                <a:cs typeface="Arial"/>
                <a:sym typeface="Arial"/>
              </a:rPr>
              <a:t>, with </a:t>
            </a:r>
            <a:r>
              <a:rPr b="1" i="0" lang="en-US" sz="2000" u="none" cap="none" strike="noStrike">
                <a:solidFill>
                  <a:srgbClr val="FF0000"/>
                </a:solidFill>
                <a:latin typeface="Arial"/>
                <a:ea typeface="Arial"/>
                <a:cs typeface="Arial"/>
                <a:sym typeface="Arial"/>
              </a:rPr>
              <a:t>L₁ = L₂ = 250 mm</a:t>
            </a:r>
            <a:r>
              <a:rPr b="0" i="0" lang="en-US" sz="2000" u="none" cap="none" strike="noStrike">
                <a:solidFill>
                  <a:srgbClr val="000000"/>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420" name="Google Shape;420;p17"/>
          <p:cNvSpPr/>
          <p:nvPr/>
        </p:nvSpPr>
        <p:spPr>
          <a:xfrm>
            <a:off x="815975" y="2055416"/>
            <a:ext cx="5175250" cy="1398191"/>
          </a:xfrm>
          <a:prstGeom prst="roundRect">
            <a:avLst>
              <a:gd fmla="val 7039"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txBox="1"/>
          <p:nvPr/>
        </p:nvSpPr>
        <p:spPr>
          <a:xfrm>
            <a:off x="1022350" y="2203934"/>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CONVERT THE ANGLES</a:t>
            </a:r>
            <a:endParaRPr b="0" i="0" sz="1200" u="none" cap="none" strike="noStrike">
              <a:solidFill>
                <a:schemeClr val="dk1"/>
              </a:solidFill>
              <a:latin typeface="Arial"/>
              <a:ea typeface="Arial"/>
              <a:cs typeface="Arial"/>
              <a:sym typeface="Arial"/>
            </a:endParaRPr>
          </a:p>
        </p:txBody>
      </p:sp>
      <p:sp>
        <p:nvSpPr>
          <p:cNvPr id="422" name="Google Shape;422;p17"/>
          <p:cNvSpPr txBox="1"/>
          <p:nvPr/>
        </p:nvSpPr>
        <p:spPr>
          <a:xfrm>
            <a:off x="1022350" y="2470675"/>
            <a:ext cx="4905375"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θa = 90° − 45° = 45°</a:t>
            </a:r>
            <a:endParaRPr b="0" i="0" sz="2100" u="none" cap="none" strike="noStrike">
              <a:solidFill>
                <a:schemeClr val="dk1"/>
              </a:solidFill>
              <a:latin typeface="Arial"/>
              <a:ea typeface="Arial"/>
              <a:cs typeface="Arial"/>
              <a:sym typeface="Arial"/>
            </a:endParaRPr>
          </a:p>
        </p:txBody>
      </p:sp>
      <p:sp>
        <p:nvSpPr>
          <p:cNvPr id="423" name="Google Shape;423;p17"/>
          <p:cNvSpPr txBox="1"/>
          <p:nvPr/>
        </p:nvSpPr>
        <p:spPr>
          <a:xfrm>
            <a:off x="1022350" y="2907535"/>
            <a:ext cx="4905375"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θb = −45°</a:t>
            </a:r>
            <a:endParaRPr b="0" i="0" sz="2100" u="none" cap="none" strike="noStrike">
              <a:solidFill>
                <a:schemeClr val="dk1"/>
              </a:solidFill>
              <a:latin typeface="Arial"/>
              <a:ea typeface="Arial"/>
              <a:cs typeface="Arial"/>
              <a:sym typeface="Arial"/>
            </a:endParaRPr>
          </a:p>
        </p:txBody>
      </p:sp>
      <p:sp>
        <p:nvSpPr>
          <p:cNvPr id="424" name="Google Shape;424;p17"/>
          <p:cNvSpPr/>
          <p:nvPr/>
        </p:nvSpPr>
        <p:spPr>
          <a:xfrm>
            <a:off x="6200775" y="2055416"/>
            <a:ext cx="5175250" cy="1398191"/>
          </a:xfrm>
          <a:prstGeom prst="roundRect">
            <a:avLst>
              <a:gd fmla="val 7039"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txBox="1"/>
          <p:nvPr/>
        </p:nvSpPr>
        <p:spPr>
          <a:xfrm>
            <a:off x="6407150" y="2203934"/>
            <a:ext cx="49053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THE MOVES</a:t>
            </a:r>
            <a:endParaRPr b="0" i="0" sz="1200" u="none" cap="none" strike="noStrike">
              <a:solidFill>
                <a:schemeClr val="dk1"/>
              </a:solidFill>
              <a:latin typeface="Arial"/>
              <a:ea typeface="Arial"/>
              <a:cs typeface="Arial"/>
              <a:sym typeface="Arial"/>
            </a:endParaRPr>
          </a:p>
        </p:txBody>
      </p:sp>
      <p:sp>
        <p:nvSpPr>
          <p:cNvPr id="426" name="Google Shape;426;p17"/>
          <p:cNvSpPr txBox="1"/>
          <p:nvPr/>
        </p:nvSpPr>
        <p:spPr>
          <a:xfrm>
            <a:off x="6407150" y="2470675"/>
            <a:ext cx="4905375"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Both links are 250 mm</a:t>
            </a:r>
            <a:endParaRPr b="0" i="0" sz="2100" u="none" cap="none" strike="noStrike">
              <a:solidFill>
                <a:schemeClr val="dk1"/>
              </a:solidFill>
              <a:latin typeface="Arial"/>
              <a:ea typeface="Arial"/>
              <a:cs typeface="Arial"/>
              <a:sym typeface="Arial"/>
            </a:endParaRPr>
          </a:p>
        </p:txBody>
      </p:sp>
      <p:sp>
        <p:nvSpPr>
          <p:cNvPr id="427" name="Google Shape;427;p17"/>
          <p:cNvSpPr txBox="1"/>
          <p:nvPr/>
        </p:nvSpPr>
        <p:spPr>
          <a:xfrm>
            <a:off x="6407150" y="2907535"/>
            <a:ext cx="4905375"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Both moves are T(250, 0)</a:t>
            </a:r>
            <a:endParaRPr b="0" i="0" sz="2100" u="none" cap="none" strike="noStrike">
              <a:solidFill>
                <a:schemeClr val="dk1"/>
              </a:solidFill>
              <a:latin typeface="Arial"/>
              <a:ea typeface="Arial"/>
              <a:cs typeface="Arial"/>
              <a:sym typeface="Arial"/>
            </a:endParaRPr>
          </a:p>
        </p:txBody>
      </p:sp>
      <p:sp>
        <p:nvSpPr>
          <p:cNvPr id="428" name="Google Shape;428;p17"/>
          <p:cNvSpPr/>
          <p:nvPr/>
        </p:nvSpPr>
        <p:spPr>
          <a:xfrm>
            <a:off x="815975" y="3663156"/>
            <a:ext cx="10560050" cy="1919486"/>
          </a:xfrm>
          <a:prstGeom prst="roundRect">
            <a:avLst>
              <a:gd fmla="val 512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txBox="1"/>
          <p:nvPr/>
        </p:nvSpPr>
        <p:spPr>
          <a:xfrm>
            <a:off x="1073150" y="3862475"/>
            <a:ext cx="102997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THE CHAIN, APPLIED TO THE POINT (0, 0, 1)</a:t>
            </a:r>
            <a:endParaRPr b="0" i="0" sz="1200" u="none" cap="none" strike="noStrike">
              <a:solidFill>
                <a:schemeClr val="dk1"/>
              </a:solidFill>
              <a:latin typeface="Arial"/>
              <a:ea typeface="Arial"/>
              <a:cs typeface="Arial"/>
              <a:sym typeface="Arial"/>
            </a:endParaRPr>
          </a:p>
        </p:txBody>
      </p:sp>
      <p:sp>
        <p:nvSpPr>
          <p:cNvPr id="430" name="Google Shape;430;p17"/>
          <p:cNvSpPr/>
          <p:nvPr/>
        </p:nvSpPr>
        <p:spPr>
          <a:xfrm>
            <a:off x="2389684" y="4213027"/>
            <a:ext cx="1059359" cy="481310"/>
          </a:xfrm>
          <a:prstGeom prst="roundRect">
            <a:avLst>
              <a:gd fmla="val 17811"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7"/>
          <p:cNvSpPr txBox="1"/>
          <p:nvPr/>
        </p:nvSpPr>
        <p:spPr>
          <a:xfrm>
            <a:off x="2532559" y="4249865"/>
            <a:ext cx="786309"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R(45°)</a:t>
            </a:r>
            <a:endParaRPr b="0" i="0" sz="2100" u="none" cap="none" strike="noStrike">
              <a:solidFill>
                <a:schemeClr val="dk1"/>
              </a:solidFill>
              <a:latin typeface="Arial"/>
              <a:ea typeface="Arial"/>
              <a:cs typeface="Arial"/>
              <a:sym typeface="Arial"/>
            </a:endParaRPr>
          </a:p>
        </p:txBody>
      </p:sp>
      <p:sp>
        <p:nvSpPr>
          <p:cNvPr id="432" name="Google Shape;432;p17"/>
          <p:cNvSpPr txBox="1"/>
          <p:nvPr/>
        </p:nvSpPr>
        <p:spPr>
          <a:xfrm>
            <a:off x="2694484" y="4752846"/>
            <a:ext cx="46245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step 4</a:t>
            </a:r>
            <a:endParaRPr b="0" i="0" sz="1300" u="none" cap="none" strike="noStrike">
              <a:solidFill>
                <a:schemeClr val="dk1"/>
              </a:solidFill>
              <a:latin typeface="Arial"/>
              <a:ea typeface="Arial"/>
              <a:cs typeface="Arial"/>
              <a:sym typeface="Arial"/>
            </a:endParaRPr>
          </a:p>
        </p:txBody>
      </p:sp>
      <p:sp>
        <p:nvSpPr>
          <p:cNvPr id="433" name="Google Shape;433;p17"/>
          <p:cNvSpPr txBox="1"/>
          <p:nvPr/>
        </p:nvSpPr>
        <p:spPr>
          <a:xfrm>
            <a:off x="3553817" y="4248756"/>
            <a:ext cx="105767"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434" name="Google Shape;434;p17"/>
          <p:cNvSpPr/>
          <p:nvPr/>
        </p:nvSpPr>
        <p:spPr>
          <a:xfrm>
            <a:off x="3751659" y="4213027"/>
            <a:ext cx="1367830" cy="481310"/>
          </a:xfrm>
          <a:prstGeom prst="roundRect">
            <a:avLst>
              <a:gd fmla="val 17811"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txBox="1"/>
          <p:nvPr/>
        </p:nvSpPr>
        <p:spPr>
          <a:xfrm>
            <a:off x="3894534" y="4249865"/>
            <a:ext cx="1094780"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T(250, 0)</a:t>
            </a:r>
            <a:endParaRPr b="0" i="0" sz="2100" u="none" cap="none" strike="noStrike">
              <a:solidFill>
                <a:schemeClr val="dk1"/>
              </a:solidFill>
              <a:latin typeface="Arial"/>
              <a:ea typeface="Arial"/>
              <a:cs typeface="Arial"/>
              <a:sym typeface="Arial"/>
            </a:endParaRPr>
          </a:p>
        </p:txBody>
      </p:sp>
      <p:sp>
        <p:nvSpPr>
          <p:cNvPr id="436" name="Google Shape;436;p17"/>
          <p:cNvSpPr txBox="1"/>
          <p:nvPr/>
        </p:nvSpPr>
        <p:spPr>
          <a:xfrm>
            <a:off x="4210645" y="4752846"/>
            <a:ext cx="46245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step 3</a:t>
            </a:r>
            <a:endParaRPr b="0" i="0" sz="1300" u="none" cap="none" strike="noStrike">
              <a:solidFill>
                <a:schemeClr val="dk1"/>
              </a:solidFill>
              <a:latin typeface="Arial"/>
              <a:ea typeface="Arial"/>
              <a:cs typeface="Arial"/>
              <a:sym typeface="Arial"/>
            </a:endParaRPr>
          </a:p>
        </p:txBody>
      </p:sp>
      <p:sp>
        <p:nvSpPr>
          <p:cNvPr id="437" name="Google Shape;437;p17"/>
          <p:cNvSpPr txBox="1"/>
          <p:nvPr/>
        </p:nvSpPr>
        <p:spPr>
          <a:xfrm>
            <a:off x="5224264" y="4248756"/>
            <a:ext cx="105767"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438" name="Google Shape;438;p17"/>
          <p:cNvSpPr/>
          <p:nvPr/>
        </p:nvSpPr>
        <p:spPr>
          <a:xfrm>
            <a:off x="5422106" y="4213027"/>
            <a:ext cx="1215033" cy="481310"/>
          </a:xfrm>
          <a:prstGeom prst="roundRect">
            <a:avLst>
              <a:gd fmla="val 17811"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txBox="1"/>
          <p:nvPr/>
        </p:nvSpPr>
        <p:spPr>
          <a:xfrm>
            <a:off x="5564981" y="4249865"/>
            <a:ext cx="941983"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R(−45°)</a:t>
            </a:r>
            <a:endParaRPr b="0" i="0" sz="2100" u="none" cap="none" strike="noStrike">
              <a:solidFill>
                <a:schemeClr val="dk1"/>
              </a:solidFill>
              <a:latin typeface="Arial"/>
              <a:ea typeface="Arial"/>
              <a:cs typeface="Arial"/>
              <a:sym typeface="Arial"/>
            </a:endParaRPr>
          </a:p>
        </p:txBody>
      </p:sp>
      <p:sp>
        <p:nvSpPr>
          <p:cNvPr id="440" name="Google Shape;440;p17"/>
          <p:cNvSpPr txBox="1"/>
          <p:nvPr/>
        </p:nvSpPr>
        <p:spPr>
          <a:xfrm>
            <a:off x="5804694" y="4752846"/>
            <a:ext cx="46245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step 2</a:t>
            </a:r>
            <a:endParaRPr b="0" i="0" sz="1300" u="none" cap="none" strike="noStrike">
              <a:solidFill>
                <a:schemeClr val="dk1"/>
              </a:solidFill>
              <a:latin typeface="Arial"/>
              <a:ea typeface="Arial"/>
              <a:cs typeface="Arial"/>
              <a:sym typeface="Arial"/>
            </a:endParaRPr>
          </a:p>
        </p:txBody>
      </p:sp>
      <p:sp>
        <p:nvSpPr>
          <p:cNvPr id="441" name="Google Shape;441;p17"/>
          <p:cNvSpPr txBox="1"/>
          <p:nvPr/>
        </p:nvSpPr>
        <p:spPr>
          <a:xfrm>
            <a:off x="6741914" y="4248756"/>
            <a:ext cx="105767"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442" name="Google Shape;442;p17"/>
          <p:cNvSpPr/>
          <p:nvPr/>
        </p:nvSpPr>
        <p:spPr>
          <a:xfrm>
            <a:off x="6939756" y="4213027"/>
            <a:ext cx="1367830" cy="481310"/>
          </a:xfrm>
          <a:prstGeom prst="roundRect">
            <a:avLst>
              <a:gd fmla="val 17811"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txBox="1"/>
          <p:nvPr/>
        </p:nvSpPr>
        <p:spPr>
          <a:xfrm>
            <a:off x="7082631" y="4249865"/>
            <a:ext cx="1094780"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T(250, 0)</a:t>
            </a:r>
            <a:endParaRPr b="0" i="0" sz="2100" u="none" cap="none" strike="noStrike">
              <a:solidFill>
                <a:schemeClr val="dk1"/>
              </a:solidFill>
              <a:latin typeface="Arial"/>
              <a:ea typeface="Arial"/>
              <a:cs typeface="Arial"/>
              <a:sym typeface="Arial"/>
            </a:endParaRPr>
          </a:p>
        </p:txBody>
      </p:sp>
      <p:sp>
        <p:nvSpPr>
          <p:cNvPr id="444" name="Google Shape;444;p17"/>
          <p:cNvSpPr txBox="1"/>
          <p:nvPr/>
        </p:nvSpPr>
        <p:spPr>
          <a:xfrm>
            <a:off x="7398742" y="4752846"/>
            <a:ext cx="462459"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step 1</a:t>
            </a:r>
            <a:endParaRPr b="0" i="0" sz="1300" u="none" cap="none" strike="noStrike">
              <a:solidFill>
                <a:schemeClr val="dk1"/>
              </a:solidFill>
              <a:latin typeface="Arial"/>
              <a:ea typeface="Arial"/>
              <a:cs typeface="Arial"/>
              <a:sym typeface="Arial"/>
            </a:endParaRPr>
          </a:p>
        </p:txBody>
      </p:sp>
      <p:sp>
        <p:nvSpPr>
          <p:cNvPr id="445" name="Google Shape;445;p17"/>
          <p:cNvSpPr txBox="1"/>
          <p:nvPr/>
        </p:nvSpPr>
        <p:spPr>
          <a:xfrm>
            <a:off x="8412361" y="4248756"/>
            <a:ext cx="105767"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446" name="Google Shape;446;p17"/>
          <p:cNvSpPr/>
          <p:nvPr/>
        </p:nvSpPr>
        <p:spPr>
          <a:xfrm>
            <a:off x="8607028" y="4209852"/>
            <a:ext cx="1198463" cy="474960"/>
          </a:xfrm>
          <a:prstGeom prst="roundRect">
            <a:avLst>
              <a:gd fmla="val 18717"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txBox="1"/>
          <p:nvPr/>
        </p:nvSpPr>
        <p:spPr>
          <a:xfrm>
            <a:off x="8746728" y="4243515"/>
            <a:ext cx="931763"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(0, 0, 1)</a:t>
            </a:r>
            <a:endParaRPr b="0" i="0" sz="2100" u="none" cap="none" strike="noStrike">
              <a:solidFill>
                <a:schemeClr val="dk1"/>
              </a:solidFill>
              <a:latin typeface="Arial"/>
              <a:ea typeface="Arial"/>
              <a:cs typeface="Arial"/>
              <a:sym typeface="Arial"/>
            </a:endParaRPr>
          </a:p>
        </p:txBody>
      </p:sp>
      <p:sp>
        <p:nvSpPr>
          <p:cNvPr id="448" name="Google Shape;448;p17"/>
          <p:cNvSpPr txBox="1"/>
          <p:nvPr/>
        </p:nvSpPr>
        <p:spPr>
          <a:xfrm>
            <a:off x="9045674" y="4740146"/>
            <a:ext cx="333871"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0" i="0" lang="en-US" sz="1300" u="none" cap="none" strike="noStrike">
                <a:solidFill>
                  <a:srgbClr val="666666"/>
                </a:solidFill>
                <a:latin typeface="Arial"/>
                <a:ea typeface="Arial"/>
                <a:cs typeface="Arial"/>
                <a:sym typeface="Arial"/>
              </a:rPr>
              <a:t>start</a:t>
            </a:r>
            <a:endParaRPr b="0" i="0" sz="1300" u="none" cap="none" strike="noStrike">
              <a:solidFill>
                <a:schemeClr val="dk1"/>
              </a:solidFill>
              <a:latin typeface="Arial"/>
              <a:ea typeface="Arial"/>
              <a:cs typeface="Arial"/>
              <a:sym typeface="Arial"/>
            </a:endParaRPr>
          </a:p>
        </p:txBody>
      </p:sp>
      <p:sp>
        <p:nvSpPr>
          <p:cNvPr id="449" name="Google Shape;449;p17"/>
          <p:cNvSpPr txBox="1"/>
          <p:nvPr/>
        </p:nvSpPr>
        <p:spPr>
          <a:xfrm>
            <a:off x="1073150" y="5107072"/>
            <a:ext cx="1029970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500"/>
              <a:buFont typeface="Arial"/>
              <a:buNone/>
            </a:pPr>
            <a:r>
              <a:rPr lang="en-US" sz="1500">
                <a:solidFill>
                  <a:srgbClr val="434343"/>
                </a:solidFill>
              </a:rPr>
              <a:t>The story reads left to right; the arithmetic starts at the right, with the matrix next to the point.</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450" name="Google Shape;450;p17"/>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the angle theta a of the upper arm above the x axis and the elbow angle theta b marked" id="451" name="Google Shape;451;p17"/>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452" name="Google Shape;452;p17"/>
          <p:cNvSpPr txBox="1"/>
          <p:nvPr/>
        </p:nvSpPr>
        <p:spPr>
          <a:xfrm>
            <a:off x="9605566" y="948115"/>
            <a:ext cx="730250" cy="2108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300"/>
              <a:buFont typeface="Arial"/>
              <a:buNone/>
            </a:pPr>
            <a:r>
              <a:rPr b="1" i="0" lang="en-US" sz="1300" u="none" cap="none" strike="noStrike">
                <a:solidFill>
                  <a:srgbClr val="38761D"/>
                </a:solidFill>
                <a:latin typeface="Arial"/>
                <a:ea typeface="Arial"/>
                <a:cs typeface="Arial"/>
                <a:sym typeface="Arial"/>
              </a:rPr>
              <a:t>θa = 45°</a:t>
            </a:r>
            <a:endParaRPr b="0" i="0" sz="1300" u="none" cap="none" strike="noStrike">
              <a:solidFill>
                <a:schemeClr val="dk1"/>
              </a:solidFill>
              <a:latin typeface="Arial"/>
              <a:ea typeface="Arial"/>
              <a:cs typeface="Arial"/>
              <a:sym typeface="Arial"/>
            </a:endParaRPr>
          </a:p>
        </p:txBody>
      </p:sp>
      <p:sp>
        <p:nvSpPr>
          <p:cNvPr id="453" name="Google Shape;453;p17"/>
          <p:cNvSpPr txBox="1"/>
          <p:nvPr/>
        </p:nvSpPr>
        <p:spPr>
          <a:xfrm>
            <a:off x="9015710" y="53955"/>
            <a:ext cx="83820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θb = −45°</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8"/>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THE 2D ARM</a:t>
            </a:r>
            <a:endParaRPr b="0" i="0" sz="1200" u="none" cap="none" strike="noStrike">
              <a:solidFill>
                <a:schemeClr val="dk1"/>
              </a:solidFill>
              <a:latin typeface="Arial"/>
              <a:ea typeface="Arial"/>
              <a:cs typeface="Arial"/>
              <a:sym typeface="Arial"/>
            </a:endParaRPr>
          </a:p>
        </p:txBody>
      </p:sp>
      <p:sp>
        <p:nvSpPr>
          <p:cNvPr id="460" name="Google Shape;460;p18"/>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Worked Example: Right to Left</a:t>
            </a:r>
            <a:endParaRPr sz="2800"/>
          </a:p>
        </p:txBody>
      </p:sp>
      <p:sp>
        <p:nvSpPr>
          <p:cNvPr id="461" name="Google Shape;461;p18"/>
          <p:cNvSpPr txBox="1"/>
          <p:nvPr/>
        </p:nvSpPr>
        <p:spPr>
          <a:xfrm>
            <a:off x="812800" y="1509163"/>
            <a:ext cx="97790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Each step is one matrix times the current point.</a:t>
            </a:r>
            <a:endParaRPr b="0" i="0" sz="2000" u="none" cap="none" strike="noStrike">
              <a:solidFill>
                <a:schemeClr val="dk1"/>
              </a:solidFill>
              <a:latin typeface="Arial"/>
              <a:ea typeface="Arial"/>
              <a:cs typeface="Arial"/>
              <a:sym typeface="Arial"/>
            </a:endParaRPr>
          </a:p>
        </p:txBody>
      </p:sp>
      <p:sp>
        <p:nvSpPr>
          <p:cNvPr id="462" name="Google Shape;462;p18"/>
          <p:cNvSpPr/>
          <p:nvPr/>
        </p:nvSpPr>
        <p:spPr>
          <a:xfrm>
            <a:off x="815975" y="2055416"/>
            <a:ext cx="2571750" cy="3326011"/>
          </a:xfrm>
          <a:prstGeom prst="roundRect">
            <a:avLst>
              <a:gd fmla="val 382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txBox="1"/>
          <p:nvPr/>
        </p:nvSpPr>
        <p:spPr>
          <a:xfrm>
            <a:off x="920750" y="2153134"/>
            <a:ext cx="243306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STEP 1 · T(250, 0)</a:t>
            </a:r>
            <a:endParaRPr b="0" i="0" sz="1200" u="none" cap="none" strike="noStrike">
              <a:solidFill>
                <a:schemeClr val="dk1"/>
              </a:solidFill>
              <a:latin typeface="Arial"/>
              <a:ea typeface="Arial"/>
              <a:cs typeface="Arial"/>
              <a:sym typeface="Arial"/>
            </a:endParaRPr>
          </a:p>
        </p:txBody>
      </p:sp>
      <p:pic>
        <p:nvPicPr>
          <p:cNvPr descr="The start point at the origin moves to 250, 0" id="464" name="Google Shape;464;p18"/>
          <p:cNvPicPr preferRelativeResize="0"/>
          <p:nvPr/>
        </p:nvPicPr>
        <p:blipFill rotWithShape="1">
          <a:blip r:embed="rId3">
            <a:alphaModFix/>
          </a:blip>
          <a:srcRect b="0" l="0" r="0" t="0"/>
          <a:stretch/>
        </p:blipFill>
        <p:spPr>
          <a:xfrm>
            <a:off x="920750" y="2419350"/>
            <a:ext cx="2362200" cy="1974850"/>
          </a:xfrm>
          <a:prstGeom prst="rect">
            <a:avLst/>
          </a:prstGeom>
          <a:noFill/>
          <a:ln>
            <a:noFill/>
          </a:ln>
        </p:spPr>
      </p:pic>
      <p:sp>
        <p:nvSpPr>
          <p:cNvPr id="465" name="Google Shape;465;p18"/>
          <p:cNvSpPr txBox="1"/>
          <p:nvPr/>
        </p:nvSpPr>
        <p:spPr>
          <a:xfrm>
            <a:off x="920750" y="4432402"/>
            <a:ext cx="2433066" cy="2400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Lay the forearm out along x</a:t>
            </a:r>
            <a:endParaRPr b="0" i="0" sz="1400" u="none" cap="none" strike="noStrike">
              <a:solidFill>
                <a:schemeClr val="dk1"/>
              </a:solidFill>
              <a:latin typeface="Arial"/>
              <a:ea typeface="Arial"/>
              <a:cs typeface="Arial"/>
              <a:sym typeface="Arial"/>
            </a:endParaRPr>
          </a:p>
        </p:txBody>
      </p:sp>
      <p:sp>
        <p:nvSpPr>
          <p:cNvPr id="466" name="Google Shape;466;p18"/>
          <p:cNvSpPr txBox="1"/>
          <p:nvPr/>
        </p:nvSpPr>
        <p:spPr>
          <a:xfrm>
            <a:off x="920750" y="4721770"/>
            <a:ext cx="2433066"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(250, 0)</a:t>
            </a:r>
            <a:endParaRPr b="0" i="0" sz="1700" u="none" cap="none" strike="noStrike">
              <a:solidFill>
                <a:schemeClr val="dk1"/>
              </a:solidFill>
              <a:latin typeface="Arial"/>
              <a:ea typeface="Arial"/>
              <a:cs typeface="Arial"/>
              <a:sym typeface="Arial"/>
            </a:endParaRPr>
          </a:p>
        </p:txBody>
      </p:sp>
      <p:sp>
        <p:nvSpPr>
          <p:cNvPr id="467" name="Google Shape;467;p18"/>
          <p:cNvSpPr/>
          <p:nvPr/>
        </p:nvSpPr>
        <p:spPr>
          <a:xfrm>
            <a:off x="3495675" y="2055416"/>
            <a:ext cx="2571750" cy="3326011"/>
          </a:xfrm>
          <a:prstGeom prst="roundRect">
            <a:avLst>
              <a:gd fmla="val 382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txBox="1"/>
          <p:nvPr/>
        </p:nvSpPr>
        <p:spPr>
          <a:xfrm>
            <a:off x="3600450" y="2153134"/>
            <a:ext cx="243306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STEP 2 · R(−45°)</a:t>
            </a:r>
            <a:endParaRPr b="0" i="0" sz="1200" u="none" cap="none" strike="noStrike">
              <a:solidFill>
                <a:schemeClr val="dk1"/>
              </a:solidFill>
              <a:latin typeface="Arial"/>
              <a:ea typeface="Arial"/>
              <a:cs typeface="Arial"/>
              <a:sym typeface="Arial"/>
            </a:endParaRPr>
          </a:p>
        </p:txBody>
      </p:sp>
      <p:pic>
        <p:nvPicPr>
          <p:cNvPr descr="The point swings clockwise by 45 degrees about the origin to 176.78, minus 176.78" id="469" name="Google Shape;469;p18"/>
          <p:cNvPicPr preferRelativeResize="0"/>
          <p:nvPr/>
        </p:nvPicPr>
        <p:blipFill rotWithShape="1">
          <a:blip r:embed="rId4">
            <a:alphaModFix/>
          </a:blip>
          <a:srcRect b="0" l="0" r="0" t="0"/>
          <a:stretch/>
        </p:blipFill>
        <p:spPr>
          <a:xfrm>
            <a:off x="3600450" y="2419350"/>
            <a:ext cx="2362200" cy="1974850"/>
          </a:xfrm>
          <a:prstGeom prst="rect">
            <a:avLst/>
          </a:prstGeom>
          <a:noFill/>
          <a:ln>
            <a:noFill/>
          </a:ln>
        </p:spPr>
      </p:pic>
      <p:sp>
        <p:nvSpPr>
          <p:cNvPr id="470" name="Google Shape;470;p18"/>
          <p:cNvSpPr txBox="1"/>
          <p:nvPr/>
        </p:nvSpPr>
        <p:spPr>
          <a:xfrm>
            <a:off x="3600450" y="4432402"/>
            <a:ext cx="2433066" cy="2400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Bend the elbow</a:t>
            </a:r>
            <a:endParaRPr b="0" i="0" sz="1400" u="none" cap="none" strike="noStrike">
              <a:solidFill>
                <a:schemeClr val="dk1"/>
              </a:solidFill>
              <a:latin typeface="Arial"/>
              <a:ea typeface="Arial"/>
              <a:cs typeface="Arial"/>
              <a:sym typeface="Arial"/>
            </a:endParaRPr>
          </a:p>
        </p:txBody>
      </p:sp>
      <p:sp>
        <p:nvSpPr>
          <p:cNvPr id="471" name="Google Shape;471;p18"/>
          <p:cNvSpPr txBox="1"/>
          <p:nvPr/>
        </p:nvSpPr>
        <p:spPr>
          <a:xfrm>
            <a:off x="3600450" y="4721770"/>
            <a:ext cx="2433066"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(176.78, −176.78)</a:t>
            </a:r>
            <a:endParaRPr b="0" i="0" sz="1700" u="none" cap="none" strike="noStrike">
              <a:solidFill>
                <a:schemeClr val="dk1"/>
              </a:solidFill>
              <a:latin typeface="Arial"/>
              <a:ea typeface="Arial"/>
              <a:cs typeface="Arial"/>
              <a:sym typeface="Arial"/>
            </a:endParaRPr>
          </a:p>
        </p:txBody>
      </p:sp>
      <p:sp>
        <p:nvSpPr>
          <p:cNvPr id="472" name="Google Shape;472;p18"/>
          <p:cNvSpPr/>
          <p:nvPr/>
        </p:nvSpPr>
        <p:spPr>
          <a:xfrm>
            <a:off x="6175375" y="2055416"/>
            <a:ext cx="2571750" cy="3326011"/>
          </a:xfrm>
          <a:prstGeom prst="roundRect">
            <a:avLst>
              <a:gd fmla="val 382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txBox="1"/>
          <p:nvPr/>
        </p:nvSpPr>
        <p:spPr>
          <a:xfrm>
            <a:off x="6280150" y="2153134"/>
            <a:ext cx="243306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STEP 3 · T(250, 0)</a:t>
            </a:r>
            <a:endParaRPr b="0" i="0" sz="1200" u="none" cap="none" strike="noStrike">
              <a:solidFill>
                <a:schemeClr val="dk1"/>
              </a:solidFill>
              <a:latin typeface="Arial"/>
              <a:ea typeface="Arial"/>
              <a:cs typeface="Arial"/>
              <a:sym typeface="Arial"/>
            </a:endParaRPr>
          </a:p>
        </p:txBody>
      </p:sp>
      <p:pic>
        <p:nvPicPr>
          <p:cNvPr descr="The point slides 250 to the right to 426.78, minus 176.78" id="474" name="Google Shape;474;p18"/>
          <p:cNvPicPr preferRelativeResize="0"/>
          <p:nvPr/>
        </p:nvPicPr>
        <p:blipFill rotWithShape="1">
          <a:blip r:embed="rId5">
            <a:alphaModFix/>
          </a:blip>
          <a:srcRect b="0" l="0" r="0" t="0"/>
          <a:stretch/>
        </p:blipFill>
        <p:spPr>
          <a:xfrm>
            <a:off x="6280150" y="2419350"/>
            <a:ext cx="2362200" cy="1974850"/>
          </a:xfrm>
          <a:prstGeom prst="rect">
            <a:avLst/>
          </a:prstGeom>
          <a:noFill/>
          <a:ln>
            <a:noFill/>
          </a:ln>
        </p:spPr>
      </p:pic>
      <p:sp>
        <p:nvSpPr>
          <p:cNvPr id="475" name="Google Shape;475;p18"/>
          <p:cNvSpPr txBox="1"/>
          <p:nvPr/>
        </p:nvSpPr>
        <p:spPr>
          <a:xfrm>
            <a:off x="6280150" y="4432402"/>
            <a:ext cx="2433066" cy="2400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Add the upper arm</a:t>
            </a:r>
            <a:endParaRPr b="0" i="0" sz="1400" u="none" cap="none" strike="noStrike">
              <a:solidFill>
                <a:schemeClr val="dk1"/>
              </a:solidFill>
              <a:latin typeface="Arial"/>
              <a:ea typeface="Arial"/>
              <a:cs typeface="Arial"/>
              <a:sym typeface="Arial"/>
            </a:endParaRPr>
          </a:p>
        </p:txBody>
      </p:sp>
      <p:sp>
        <p:nvSpPr>
          <p:cNvPr id="476" name="Google Shape;476;p18"/>
          <p:cNvSpPr txBox="1"/>
          <p:nvPr/>
        </p:nvSpPr>
        <p:spPr>
          <a:xfrm>
            <a:off x="6280150" y="4721770"/>
            <a:ext cx="2433066"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(426.78, −176.78)</a:t>
            </a:r>
            <a:endParaRPr b="0" i="0" sz="1700" u="none" cap="none" strike="noStrike">
              <a:solidFill>
                <a:schemeClr val="dk1"/>
              </a:solidFill>
              <a:latin typeface="Arial"/>
              <a:ea typeface="Arial"/>
              <a:cs typeface="Arial"/>
              <a:sym typeface="Arial"/>
            </a:endParaRPr>
          </a:p>
        </p:txBody>
      </p:sp>
      <p:sp>
        <p:nvSpPr>
          <p:cNvPr id="477" name="Google Shape;477;p18"/>
          <p:cNvSpPr/>
          <p:nvPr/>
        </p:nvSpPr>
        <p:spPr>
          <a:xfrm>
            <a:off x="8855075" y="2055416"/>
            <a:ext cx="2571750" cy="3326011"/>
          </a:xfrm>
          <a:prstGeom prst="roundRect">
            <a:avLst>
              <a:gd fmla="val 382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txBox="1"/>
          <p:nvPr/>
        </p:nvSpPr>
        <p:spPr>
          <a:xfrm>
            <a:off x="8959850" y="2153134"/>
            <a:ext cx="243306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STEP 4 · R(45°)</a:t>
            </a:r>
            <a:endParaRPr b="0" i="0" sz="1200" u="none" cap="none" strike="noStrike">
              <a:solidFill>
                <a:schemeClr val="dk1"/>
              </a:solidFill>
              <a:latin typeface="Arial"/>
              <a:ea typeface="Arial"/>
              <a:cs typeface="Arial"/>
              <a:sym typeface="Arial"/>
            </a:endParaRPr>
          </a:p>
        </p:txBody>
      </p:sp>
      <p:pic>
        <p:nvPicPr>
          <p:cNvPr descr="The whole arm swings counter-clockwise by 45 degrees about the origin, ending at 426.78, 176.78" id="479" name="Google Shape;479;p18"/>
          <p:cNvPicPr preferRelativeResize="0"/>
          <p:nvPr/>
        </p:nvPicPr>
        <p:blipFill rotWithShape="1">
          <a:blip r:embed="rId6">
            <a:alphaModFix/>
          </a:blip>
          <a:srcRect b="0" l="0" r="0" t="0"/>
          <a:stretch/>
        </p:blipFill>
        <p:spPr>
          <a:xfrm>
            <a:off x="8959850" y="2419350"/>
            <a:ext cx="2362200" cy="1974850"/>
          </a:xfrm>
          <a:prstGeom prst="rect">
            <a:avLst/>
          </a:prstGeom>
          <a:noFill/>
          <a:ln>
            <a:noFill/>
          </a:ln>
        </p:spPr>
      </p:pic>
      <p:sp>
        <p:nvSpPr>
          <p:cNvPr id="480" name="Google Shape;480;p18"/>
          <p:cNvSpPr txBox="1"/>
          <p:nvPr/>
        </p:nvSpPr>
        <p:spPr>
          <a:xfrm>
            <a:off x="8959850" y="4419057"/>
            <a:ext cx="2456688" cy="50457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Swing everything up to the shoulder angle</a:t>
            </a:r>
            <a:endParaRPr b="0" i="0" sz="1400" u="none" cap="none" strike="noStrike">
              <a:solidFill>
                <a:schemeClr val="dk1"/>
              </a:solidFill>
              <a:latin typeface="Arial"/>
              <a:ea typeface="Arial"/>
              <a:cs typeface="Arial"/>
              <a:sym typeface="Arial"/>
            </a:endParaRPr>
          </a:p>
        </p:txBody>
      </p:sp>
      <p:sp>
        <p:nvSpPr>
          <p:cNvPr id="481" name="Google Shape;481;p18"/>
          <p:cNvSpPr txBox="1"/>
          <p:nvPr/>
        </p:nvSpPr>
        <p:spPr>
          <a:xfrm>
            <a:off x="8959850" y="4961780"/>
            <a:ext cx="2433066" cy="302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(426.78, 176.78)</a:t>
            </a:r>
            <a:endParaRPr b="0" i="0" sz="17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482" name="Google Shape;482;p18"/>
          <p:cNvPicPr preferRelativeResize="0"/>
          <p:nvPr/>
        </p:nvPicPr>
        <p:blipFill rotWithShape="1">
          <a:blip r:embed="rId7">
            <a:alphaModFix/>
          </a:blip>
          <a:srcRect b="0" l="0" r="0" t="0"/>
          <a:stretch/>
        </p:blipFill>
        <p:spPr>
          <a:xfrm>
            <a:off x="8279110" y="215900"/>
            <a:ext cx="3099991" cy="1244600"/>
          </a:xfrm>
          <a:prstGeom prst="rect">
            <a:avLst/>
          </a:prstGeom>
          <a:noFill/>
          <a:ln>
            <a:noFill/>
          </a:ln>
        </p:spPr>
      </p:pic>
      <p:pic>
        <p:nvPicPr>
          <p:cNvPr descr="The real arm in the 45 degree, 45 degree pose with the end effector marked" id="483" name="Google Shape;483;p18"/>
          <p:cNvPicPr preferRelativeResize="0"/>
          <p:nvPr/>
        </p:nvPicPr>
        <p:blipFill rotWithShape="1">
          <a:blip r:embed="rId8">
            <a:alphaModFix/>
          </a:blip>
          <a:srcRect b="0" l="0" r="0" t="0"/>
          <a:stretch/>
        </p:blipFill>
        <p:spPr>
          <a:xfrm>
            <a:off x="8274050" y="215900"/>
            <a:ext cx="3105150" cy="1244600"/>
          </a:xfrm>
          <a:prstGeom prst="rect">
            <a:avLst/>
          </a:prstGeom>
          <a:noFill/>
          <a:ln>
            <a:noFill/>
          </a:ln>
        </p:spPr>
      </p:pic>
      <p:sp>
        <p:nvSpPr>
          <p:cNvPr id="484" name="Google Shape;484;p18"/>
          <p:cNvSpPr txBox="1"/>
          <p:nvPr/>
        </p:nvSpPr>
        <p:spPr>
          <a:xfrm>
            <a:off x="10692110" y="108081"/>
            <a:ext cx="565150" cy="226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(X, Y)</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9"/>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THE 2D ARM</a:t>
            </a:r>
            <a:endParaRPr b="0" i="0" sz="1200" u="none" cap="none" strike="noStrike">
              <a:solidFill>
                <a:schemeClr val="dk1"/>
              </a:solidFill>
              <a:latin typeface="Arial"/>
              <a:ea typeface="Arial"/>
              <a:cs typeface="Arial"/>
              <a:sym typeface="Arial"/>
            </a:endParaRPr>
          </a:p>
        </p:txBody>
      </p:sp>
      <p:sp>
        <p:nvSpPr>
          <p:cNvPr id="491" name="Google Shape;491;p19"/>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Completed Variables</a:t>
            </a:r>
            <a:endParaRPr sz="2800"/>
          </a:p>
        </p:txBody>
      </p:sp>
      <p:sp>
        <p:nvSpPr>
          <p:cNvPr id="492" name="Google Shape;492;p19"/>
          <p:cNvSpPr txBox="1"/>
          <p:nvPr/>
        </p:nvSpPr>
        <p:spPr>
          <a:xfrm>
            <a:off x="812800" y="15091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L₁ = 250 mm</a:t>
            </a:r>
            <a:endParaRPr b="0" i="0" sz="2000" u="none" cap="none" strike="noStrike">
              <a:solidFill>
                <a:schemeClr val="dk1"/>
              </a:solidFill>
              <a:latin typeface="Arial"/>
              <a:ea typeface="Arial"/>
              <a:cs typeface="Arial"/>
              <a:sym typeface="Arial"/>
            </a:endParaRPr>
          </a:p>
        </p:txBody>
      </p:sp>
      <p:sp>
        <p:nvSpPr>
          <p:cNvPr id="493" name="Google Shape;493;p19"/>
          <p:cNvSpPr txBox="1"/>
          <p:nvPr/>
        </p:nvSpPr>
        <p:spPr>
          <a:xfrm>
            <a:off x="812800" y="19282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L₂ = 250 mm</a:t>
            </a:r>
            <a:endParaRPr b="0" i="0" sz="2000" u="none" cap="none" strike="noStrike">
              <a:solidFill>
                <a:schemeClr val="dk1"/>
              </a:solidFill>
              <a:latin typeface="Arial"/>
              <a:ea typeface="Arial"/>
              <a:cs typeface="Arial"/>
              <a:sym typeface="Arial"/>
            </a:endParaRPr>
          </a:p>
        </p:txBody>
      </p:sp>
      <p:sp>
        <p:nvSpPr>
          <p:cNvPr id="494" name="Google Shape;494;p19"/>
          <p:cNvSpPr txBox="1"/>
          <p:nvPr/>
        </p:nvSpPr>
        <p:spPr>
          <a:xfrm>
            <a:off x="812800" y="23473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θS = 45°</a:t>
            </a:r>
            <a:endParaRPr b="0" i="0" sz="2000" u="none" cap="none" strike="noStrike">
              <a:solidFill>
                <a:schemeClr val="dk1"/>
              </a:solidFill>
              <a:latin typeface="Arial"/>
              <a:ea typeface="Arial"/>
              <a:cs typeface="Arial"/>
              <a:sym typeface="Arial"/>
            </a:endParaRPr>
          </a:p>
        </p:txBody>
      </p:sp>
      <p:sp>
        <p:nvSpPr>
          <p:cNvPr id="495" name="Google Shape;495;p19"/>
          <p:cNvSpPr txBox="1"/>
          <p:nvPr/>
        </p:nvSpPr>
        <p:spPr>
          <a:xfrm>
            <a:off x="812800" y="27664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θE = 45°</a:t>
            </a:r>
            <a:endParaRPr b="0" i="0" sz="2000" u="none" cap="none" strike="noStrike">
              <a:solidFill>
                <a:schemeClr val="dk1"/>
              </a:solidFill>
              <a:latin typeface="Arial"/>
              <a:ea typeface="Arial"/>
              <a:cs typeface="Arial"/>
              <a:sym typeface="Arial"/>
            </a:endParaRPr>
          </a:p>
        </p:txBody>
      </p:sp>
      <p:sp>
        <p:nvSpPr>
          <p:cNvPr id="496" name="Google Shape;496;p19"/>
          <p:cNvSpPr txBox="1"/>
          <p:nvPr/>
        </p:nvSpPr>
        <p:spPr>
          <a:xfrm>
            <a:off x="812800" y="31855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θa = 45°</a:t>
            </a:r>
            <a:endParaRPr b="0" i="0" sz="2000" u="none" cap="none" strike="noStrike">
              <a:solidFill>
                <a:schemeClr val="dk1"/>
              </a:solidFill>
              <a:latin typeface="Arial"/>
              <a:ea typeface="Arial"/>
              <a:cs typeface="Arial"/>
              <a:sym typeface="Arial"/>
            </a:endParaRPr>
          </a:p>
        </p:txBody>
      </p:sp>
      <p:sp>
        <p:nvSpPr>
          <p:cNvPr id="497" name="Google Shape;497;p19"/>
          <p:cNvSpPr txBox="1"/>
          <p:nvPr/>
        </p:nvSpPr>
        <p:spPr>
          <a:xfrm>
            <a:off x="812800" y="3604663"/>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θb = −45°</a:t>
            </a:r>
            <a:endParaRPr b="0" i="0" sz="2000" u="none" cap="none" strike="noStrike">
              <a:solidFill>
                <a:schemeClr val="dk1"/>
              </a:solidFill>
              <a:latin typeface="Arial"/>
              <a:ea typeface="Arial"/>
              <a:cs typeface="Arial"/>
              <a:sym typeface="Arial"/>
            </a:endParaRPr>
          </a:p>
        </p:txBody>
      </p:sp>
      <p:sp>
        <p:nvSpPr>
          <p:cNvPr id="498" name="Google Shape;498;p19"/>
          <p:cNvSpPr txBox="1"/>
          <p:nvPr/>
        </p:nvSpPr>
        <p:spPr>
          <a:xfrm>
            <a:off x="812800" y="4021545"/>
            <a:ext cx="4578350"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(X, Y) = (426.78, 176.78)</a:t>
            </a:r>
            <a:endParaRPr b="0" i="0" sz="2200" u="none" cap="none" strike="noStrike">
              <a:solidFill>
                <a:schemeClr val="dk1"/>
              </a:solidFill>
              <a:latin typeface="Arial"/>
              <a:ea typeface="Arial"/>
              <a:cs typeface="Arial"/>
              <a:sym typeface="Arial"/>
            </a:endParaRPr>
          </a:p>
        </p:txBody>
      </p:sp>
      <p:sp>
        <p:nvSpPr>
          <p:cNvPr id="499" name="Google Shape;499;p19"/>
          <p:cNvSpPr/>
          <p:nvPr/>
        </p:nvSpPr>
        <p:spPr>
          <a:xfrm>
            <a:off x="815975" y="4491236"/>
            <a:ext cx="4438650" cy="793750"/>
          </a:xfrm>
          <a:prstGeom prst="roundRect">
            <a:avLst>
              <a:gd fmla="val 1240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txBox="1"/>
          <p:nvPr/>
        </p:nvSpPr>
        <p:spPr>
          <a:xfrm>
            <a:off x="996950" y="4591928"/>
            <a:ext cx="4229100" cy="56288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Lesson 3's triangles gave (426.777, 176.777). The matrices agree.</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501" name="Google Shape;501;p19"/>
          <p:cNvPicPr preferRelativeResize="0"/>
          <p:nvPr/>
        </p:nvPicPr>
        <p:blipFill rotWithShape="1">
          <a:blip r:embed="rId3">
            <a:alphaModFix/>
          </a:blip>
          <a:srcRect b="0" l="0" r="0" t="0"/>
          <a:stretch/>
        </p:blipFill>
        <p:spPr>
          <a:xfrm>
            <a:off x="5664200" y="2534841"/>
            <a:ext cx="5715000" cy="2940050"/>
          </a:xfrm>
          <a:prstGeom prst="rect">
            <a:avLst/>
          </a:prstGeom>
          <a:noFill/>
          <a:ln>
            <a:noFill/>
          </a:ln>
        </p:spPr>
      </p:pic>
      <p:pic>
        <p:nvPicPr>
          <p:cNvPr descr="Side view of the real arm with the shoulder angle 45 degrees, the elbow angle 45 degrees and the end effector at X, Y" id="502" name="Google Shape;502;p19"/>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503" name="Google Shape;503;p19"/>
          <p:cNvSpPr txBox="1"/>
          <p:nvPr/>
        </p:nvSpPr>
        <p:spPr>
          <a:xfrm>
            <a:off x="7088436" y="3398581"/>
            <a:ext cx="38735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θS</a:t>
            </a:r>
            <a:endParaRPr b="0" i="0" sz="1800" u="none" cap="none" strike="noStrike">
              <a:solidFill>
                <a:schemeClr val="dk1"/>
              </a:solidFill>
              <a:latin typeface="Arial"/>
              <a:ea typeface="Arial"/>
              <a:cs typeface="Arial"/>
              <a:sym typeface="Arial"/>
            </a:endParaRPr>
          </a:p>
        </p:txBody>
      </p:sp>
      <p:sp>
        <p:nvSpPr>
          <p:cNvPr id="504" name="Google Shape;504;p19"/>
          <p:cNvSpPr txBox="1"/>
          <p:nvPr/>
        </p:nvSpPr>
        <p:spPr>
          <a:xfrm>
            <a:off x="8923586" y="2601656"/>
            <a:ext cx="38735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θE</a:t>
            </a:r>
            <a:endParaRPr b="0" i="0" sz="1800" u="none" cap="none" strike="noStrike">
              <a:solidFill>
                <a:schemeClr val="dk1"/>
              </a:solidFill>
              <a:latin typeface="Arial"/>
              <a:ea typeface="Arial"/>
              <a:cs typeface="Arial"/>
              <a:sym typeface="Arial"/>
            </a:endParaRPr>
          </a:p>
        </p:txBody>
      </p:sp>
      <p:sp>
        <p:nvSpPr>
          <p:cNvPr id="505" name="Google Shape;505;p19"/>
          <p:cNvSpPr txBox="1"/>
          <p:nvPr/>
        </p:nvSpPr>
        <p:spPr>
          <a:xfrm>
            <a:off x="10227866" y="2432091"/>
            <a:ext cx="692150" cy="287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(X, Y)</a:t>
            </a:r>
            <a:endParaRPr b="0" i="0" sz="1800" u="none" cap="none" strike="noStrike">
              <a:solidFill>
                <a:schemeClr val="dk1"/>
              </a:solidFill>
              <a:latin typeface="Arial"/>
              <a:ea typeface="Arial"/>
              <a:cs typeface="Arial"/>
              <a:sym typeface="Arial"/>
            </a:endParaRPr>
          </a:p>
        </p:txBody>
      </p:sp>
      <p:sp>
        <p:nvSpPr>
          <p:cNvPr id="506" name="Google Shape;506;p19"/>
          <p:cNvSpPr txBox="1"/>
          <p:nvPr/>
        </p:nvSpPr>
        <p:spPr>
          <a:xfrm>
            <a:off x="10494566" y="4235884"/>
            <a:ext cx="2476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507" name="Google Shape;507;p19"/>
          <p:cNvSpPr txBox="1"/>
          <p:nvPr/>
        </p:nvSpPr>
        <p:spPr>
          <a:xfrm>
            <a:off x="6635750" y="2638164"/>
            <a:ext cx="247650" cy="2565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
        <p:nvSpPr>
          <p:cNvPr id="508" name="Google Shape;508;p19"/>
          <p:cNvSpPr txBox="1"/>
          <p:nvPr/>
        </p:nvSpPr>
        <p:spPr>
          <a:xfrm>
            <a:off x="6229350" y="4441956"/>
            <a:ext cx="5270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(0, 0)</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0"/>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TRY IT YOURSELF</a:t>
            </a:r>
            <a:endParaRPr b="0" i="0" sz="1200" u="none" cap="none" strike="noStrike">
              <a:solidFill>
                <a:schemeClr val="dk1"/>
              </a:solidFill>
              <a:latin typeface="Arial"/>
              <a:ea typeface="Arial"/>
              <a:cs typeface="Arial"/>
              <a:sym typeface="Arial"/>
            </a:endParaRPr>
          </a:p>
        </p:txBody>
      </p:sp>
      <p:sp>
        <p:nvSpPr>
          <p:cNvPr id="515" name="Google Shape;515;p20"/>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Try It Yourself #2</a:t>
            </a:r>
            <a:endParaRPr sz="2800"/>
          </a:p>
        </p:txBody>
      </p:sp>
      <p:sp>
        <p:nvSpPr>
          <p:cNvPr id="516" name="Google Shape;516;p20"/>
          <p:cNvSpPr txBox="1"/>
          <p:nvPr/>
        </p:nvSpPr>
        <p:spPr>
          <a:xfrm>
            <a:off x="812800" y="1509163"/>
            <a:ext cx="457835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Find the end effector (X, Y).</a:t>
            </a:r>
            <a:endParaRPr b="0" i="0" sz="2000" u="none" cap="none" strike="noStrike">
              <a:solidFill>
                <a:schemeClr val="dk1"/>
              </a:solidFill>
              <a:latin typeface="Arial"/>
              <a:ea typeface="Arial"/>
              <a:cs typeface="Arial"/>
              <a:sym typeface="Arial"/>
            </a:endParaRPr>
          </a:p>
        </p:txBody>
      </p:sp>
      <p:sp>
        <p:nvSpPr>
          <p:cNvPr id="517" name="Google Shape;517;p20"/>
          <p:cNvSpPr/>
          <p:nvPr/>
        </p:nvSpPr>
        <p:spPr>
          <a:xfrm>
            <a:off x="815975" y="2004616"/>
            <a:ext cx="4438650" cy="1847850"/>
          </a:xfrm>
          <a:prstGeom prst="roundRect">
            <a:avLst>
              <a:gd fmla="val 532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0"/>
          <p:cNvSpPr txBox="1"/>
          <p:nvPr/>
        </p:nvSpPr>
        <p:spPr>
          <a:xfrm>
            <a:off x="1022350" y="21505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L₁ = 250 mm</a:t>
            </a:r>
            <a:endParaRPr b="0" i="0" sz="2000" u="none" cap="none" strike="noStrike">
              <a:solidFill>
                <a:schemeClr val="dk1"/>
              </a:solidFill>
              <a:latin typeface="Arial"/>
              <a:ea typeface="Arial"/>
              <a:cs typeface="Arial"/>
              <a:sym typeface="Arial"/>
            </a:endParaRPr>
          </a:p>
        </p:txBody>
      </p:sp>
      <p:sp>
        <p:nvSpPr>
          <p:cNvPr id="519" name="Google Shape;519;p20"/>
          <p:cNvSpPr txBox="1"/>
          <p:nvPr/>
        </p:nvSpPr>
        <p:spPr>
          <a:xfrm>
            <a:off x="1022350" y="25442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L₂ = 250 mm</a:t>
            </a:r>
            <a:endParaRPr b="0" i="0" sz="2000" u="none" cap="none" strike="noStrike">
              <a:solidFill>
                <a:schemeClr val="dk1"/>
              </a:solidFill>
              <a:latin typeface="Arial"/>
              <a:ea typeface="Arial"/>
              <a:cs typeface="Arial"/>
              <a:sym typeface="Arial"/>
            </a:endParaRPr>
          </a:p>
        </p:txBody>
      </p:sp>
      <p:sp>
        <p:nvSpPr>
          <p:cNvPr id="520" name="Google Shape;520;p20"/>
          <p:cNvSpPr txBox="1"/>
          <p:nvPr/>
        </p:nvSpPr>
        <p:spPr>
          <a:xfrm>
            <a:off x="1022350" y="29379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θS = 30°</a:t>
            </a:r>
            <a:endParaRPr b="0" i="0" sz="2000" u="none" cap="none" strike="noStrike">
              <a:solidFill>
                <a:schemeClr val="dk1"/>
              </a:solidFill>
              <a:latin typeface="Arial"/>
              <a:ea typeface="Arial"/>
              <a:cs typeface="Arial"/>
              <a:sym typeface="Arial"/>
            </a:endParaRPr>
          </a:p>
        </p:txBody>
      </p:sp>
      <p:sp>
        <p:nvSpPr>
          <p:cNvPr id="521" name="Google Shape;521;p20"/>
          <p:cNvSpPr txBox="1"/>
          <p:nvPr/>
        </p:nvSpPr>
        <p:spPr>
          <a:xfrm>
            <a:off x="1022350" y="33316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θE = 30°</a:t>
            </a:r>
            <a:endParaRPr b="0" i="0" sz="2000" u="none" cap="none" strike="noStrike">
              <a:solidFill>
                <a:schemeClr val="dk1"/>
              </a:solidFill>
              <a:latin typeface="Arial"/>
              <a:ea typeface="Arial"/>
              <a:cs typeface="Arial"/>
              <a:sym typeface="Arial"/>
            </a:endParaRPr>
          </a:p>
        </p:txBody>
      </p:sp>
      <p:pic>
        <p:nvPicPr>
          <p:cNvPr descr="Side view of the robotic arm: the upper arm leans 30 degrees from vertical and the forearm is bent a further 30 degrees" id="522" name="Google Shape;522;p20"/>
          <p:cNvPicPr preferRelativeResize="0"/>
          <p:nvPr/>
        </p:nvPicPr>
        <p:blipFill rotWithShape="1">
          <a:blip r:embed="rId3">
            <a:alphaModFix/>
          </a:blip>
          <a:srcRect b="0" l="0" r="0" t="0"/>
          <a:stretch/>
        </p:blipFill>
        <p:spPr>
          <a:xfrm>
            <a:off x="5918200" y="1899841"/>
            <a:ext cx="4445000" cy="3280370"/>
          </a:xfrm>
          <a:prstGeom prst="rect">
            <a:avLst/>
          </a:prstGeom>
          <a:noFill/>
          <a:ln>
            <a:noFill/>
          </a:ln>
        </p:spPr>
      </p:pic>
      <p:pic>
        <p:nvPicPr>
          <p:cNvPr descr="Side view of the real arm with the shoulder angle 30 degrees from the vertical and the elbow bent 30 degrees; the end effector position is unknown" id="523" name="Google Shape;523;p20"/>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524" name="Google Shape;524;p20"/>
          <p:cNvSpPr txBox="1"/>
          <p:nvPr/>
        </p:nvSpPr>
        <p:spPr>
          <a:xfrm>
            <a:off x="6606480" y="3895766"/>
            <a:ext cx="387350" cy="2870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θS</a:t>
            </a:r>
            <a:endParaRPr b="0" i="0" sz="1800" u="none" cap="none" strike="noStrike">
              <a:solidFill>
                <a:schemeClr val="dk1"/>
              </a:solidFill>
              <a:latin typeface="Arial"/>
              <a:ea typeface="Arial"/>
              <a:cs typeface="Arial"/>
              <a:sym typeface="Arial"/>
            </a:endParaRPr>
          </a:p>
        </p:txBody>
      </p:sp>
      <p:sp>
        <p:nvSpPr>
          <p:cNvPr id="525" name="Google Shape;525;p20"/>
          <p:cNvSpPr txBox="1"/>
          <p:nvPr/>
        </p:nvSpPr>
        <p:spPr>
          <a:xfrm>
            <a:off x="8416875" y="2507696"/>
            <a:ext cx="38735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θE</a:t>
            </a:r>
            <a:endParaRPr b="0" i="0" sz="1800" u="none" cap="none" strike="noStrike">
              <a:solidFill>
                <a:schemeClr val="dk1"/>
              </a:solidFill>
              <a:latin typeface="Arial"/>
              <a:ea typeface="Arial"/>
              <a:cs typeface="Arial"/>
              <a:sym typeface="Arial"/>
            </a:endParaRPr>
          </a:p>
        </p:txBody>
      </p:sp>
      <p:sp>
        <p:nvSpPr>
          <p:cNvPr id="526" name="Google Shape;526;p20"/>
          <p:cNvSpPr txBox="1"/>
          <p:nvPr/>
        </p:nvSpPr>
        <p:spPr>
          <a:xfrm>
            <a:off x="8659416" y="3347781"/>
            <a:ext cx="151130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(X, Y) = (?, ?)</a:t>
            </a:r>
            <a:endParaRPr b="0" i="0" sz="1800" u="none" cap="none" strike="noStrike">
              <a:solidFill>
                <a:schemeClr val="dk1"/>
              </a:solidFill>
              <a:latin typeface="Arial"/>
              <a:ea typeface="Arial"/>
              <a:cs typeface="Arial"/>
              <a:sym typeface="Arial"/>
            </a:endParaRPr>
          </a:p>
        </p:txBody>
      </p:sp>
      <p:sp>
        <p:nvSpPr>
          <p:cNvPr id="527" name="Google Shape;527;p20"/>
          <p:cNvSpPr txBox="1"/>
          <p:nvPr/>
        </p:nvSpPr>
        <p:spPr>
          <a:xfrm>
            <a:off x="8467030" y="462253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528" name="Google Shape;528;p20"/>
          <p:cNvSpPr txBox="1"/>
          <p:nvPr/>
        </p:nvSpPr>
        <p:spPr>
          <a:xfrm>
            <a:off x="6784280" y="3035039"/>
            <a:ext cx="222250" cy="2565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grpSp>
        <p:nvGrpSpPr>
          <p:cNvPr id="529" name="Google Shape;529;p20"/>
          <p:cNvGrpSpPr/>
          <p:nvPr/>
        </p:nvGrpSpPr>
        <p:grpSpPr>
          <a:xfrm>
            <a:off x="812800" y="4064000"/>
            <a:ext cx="4445000" cy="1704181"/>
            <a:chOff x="812800" y="4064000"/>
            <a:chExt cx="4445000" cy="1704181"/>
          </a:xfrm>
        </p:grpSpPr>
        <p:sp>
          <p:nvSpPr>
            <p:cNvPr id="530" name="Google Shape;530;p20"/>
            <p:cNvSpPr/>
            <p:nvPr/>
          </p:nvSpPr>
          <p:spPr>
            <a:xfrm>
              <a:off x="812800" y="4064000"/>
              <a:ext cx="4445000" cy="1704181"/>
            </a:xfrm>
            <a:prstGeom prst="roundRect">
              <a:avLst>
                <a:gd fmla="val 596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txBox="1"/>
            <p:nvPr/>
          </p:nvSpPr>
          <p:spPr>
            <a:xfrm>
              <a:off x="1016000" y="4234743"/>
              <a:ext cx="4159758"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532" name="Google Shape;532;p20"/>
            <p:cNvSpPr txBox="1"/>
            <p:nvPr/>
          </p:nvSpPr>
          <p:spPr>
            <a:xfrm>
              <a:off x="1016000" y="4519778"/>
              <a:ext cx="4159758"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600"/>
                <a:buFont typeface="Arial"/>
                <a:buNone/>
              </a:pPr>
              <a:r>
                <a:rPr b="0" i="0" lang="en-US" sz="1600" u="none" cap="none" strike="noStrike">
                  <a:solidFill>
                    <a:srgbClr val="CCCCCC"/>
                  </a:solidFill>
                  <a:latin typeface="Arial"/>
                  <a:ea typeface="Arial"/>
                  <a:cs typeface="Arial"/>
                  <a:sym typeface="Arial"/>
                </a:rPr>
                <a:t>θa = 90° − 30° = 60°, θb = −30°</a:t>
              </a:r>
              <a:endParaRPr b="0" i="0" sz="1600" u="none" cap="none" strike="noStrike">
                <a:solidFill>
                  <a:schemeClr val="dk1"/>
                </a:solidFill>
                <a:latin typeface="Arial"/>
                <a:ea typeface="Arial"/>
                <a:cs typeface="Arial"/>
                <a:sym typeface="Arial"/>
              </a:endParaRPr>
            </a:p>
          </p:txBody>
        </p:sp>
        <p:sp>
          <p:nvSpPr>
            <p:cNvPr id="533" name="Google Shape;533;p20"/>
            <p:cNvSpPr txBox="1"/>
            <p:nvPr/>
          </p:nvSpPr>
          <p:spPr>
            <a:xfrm>
              <a:off x="1016000" y="4880085"/>
              <a:ext cx="4159758"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(X, Y) = (341.51, 341.51)</a:t>
              </a:r>
              <a:endParaRPr b="0" i="0" sz="2200" u="none" cap="none" strike="noStrike">
                <a:solidFill>
                  <a:schemeClr val="dk1"/>
                </a:solidFill>
                <a:latin typeface="Arial"/>
                <a:ea typeface="Arial"/>
                <a:cs typeface="Arial"/>
                <a:sym typeface="Arial"/>
              </a:endParaRPr>
            </a:p>
          </p:txBody>
        </p:sp>
        <p:sp>
          <p:nvSpPr>
            <p:cNvPr id="534" name="Google Shape;534;p20"/>
            <p:cNvSpPr txBox="1"/>
            <p:nvPr/>
          </p:nvSpPr>
          <p:spPr>
            <a:xfrm>
              <a:off x="1016000" y="5351135"/>
              <a:ext cx="4159758"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The same answer as Try It Yourself in Lesson 3.</a:t>
              </a:r>
              <a:endParaRPr b="0" i="0" sz="13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1"/>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TRY IT YOURSELF</a:t>
            </a:r>
            <a:endParaRPr b="0" i="0" sz="1200" u="none" cap="none" strike="noStrike">
              <a:solidFill>
                <a:schemeClr val="dk1"/>
              </a:solidFill>
              <a:latin typeface="Arial"/>
              <a:ea typeface="Arial"/>
              <a:cs typeface="Arial"/>
              <a:sym typeface="Arial"/>
            </a:endParaRPr>
          </a:p>
        </p:txBody>
      </p:sp>
      <p:sp>
        <p:nvSpPr>
          <p:cNvPr id="541" name="Google Shape;541;p21"/>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Try It Yourself #3</a:t>
            </a:r>
            <a:endParaRPr sz="2800"/>
          </a:p>
        </p:txBody>
      </p:sp>
      <p:sp>
        <p:nvSpPr>
          <p:cNvPr id="542" name="Google Shape;542;p21"/>
          <p:cNvSpPr txBox="1"/>
          <p:nvPr/>
        </p:nvSpPr>
        <p:spPr>
          <a:xfrm>
            <a:off x="812800" y="1509163"/>
            <a:ext cx="457835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Find the end effector (X, Y).</a:t>
            </a:r>
            <a:endParaRPr b="0" i="0" sz="2000" u="none" cap="none" strike="noStrike">
              <a:solidFill>
                <a:schemeClr val="dk1"/>
              </a:solidFill>
              <a:latin typeface="Arial"/>
              <a:ea typeface="Arial"/>
              <a:cs typeface="Arial"/>
              <a:sym typeface="Arial"/>
            </a:endParaRPr>
          </a:p>
        </p:txBody>
      </p:sp>
      <p:sp>
        <p:nvSpPr>
          <p:cNvPr id="543" name="Google Shape;543;p21"/>
          <p:cNvSpPr/>
          <p:nvPr/>
        </p:nvSpPr>
        <p:spPr>
          <a:xfrm>
            <a:off x="815975" y="2004616"/>
            <a:ext cx="4438650" cy="1847850"/>
          </a:xfrm>
          <a:prstGeom prst="roundRect">
            <a:avLst>
              <a:gd fmla="val 532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txBox="1"/>
          <p:nvPr/>
        </p:nvSpPr>
        <p:spPr>
          <a:xfrm>
            <a:off x="1022350" y="21505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L₁ = 250 mm</a:t>
            </a:r>
            <a:endParaRPr b="0" i="0" sz="2000" u="none" cap="none" strike="noStrike">
              <a:solidFill>
                <a:schemeClr val="dk1"/>
              </a:solidFill>
              <a:latin typeface="Arial"/>
              <a:ea typeface="Arial"/>
              <a:cs typeface="Arial"/>
              <a:sym typeface="Arial"/>
            </a:endParaRPr>
          </a:p>
        </p:txBody>
      </p:sp>
      <p:sp>
        <p:nvSpPr>
          <p:cNvPr id="545" name="Google Shape;545;p21"/>
          <p:cNvSpPr txBox="1"/>
          <p:nvPr/>
        </p:nvSpPr>
        <p:spPr>
          <a:xfrm>
            <a:off x="1022350" y="25442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L₂ = 250 mm</a:t>
            </a:r>
            <a:endParaRPr b="0" i="0" sz="2000" u="none" cap="none" strike="noStrike">
              <a:solidFill>
                <a:schemeClr val="dk1"/>
              </a:solidFill>
              <a:latin typeface="Arial"/>
              <a:ea typeface="Arial"/>
              <a:cs typeface="Arial"/>
              <a:sym typeface="Arial"/>
            </a:endParaRPr>
          </a:p>
        </p:txBody>
      </p:sp>
      <p:sp>
        <p:nvSpPr>
          <p:cNvPr id="546" name="Google Shape;546;p21"/>
          <p:cNvSpPr txBox="1"/>
          <p:nvPr/>
        </p:nvSpPr>
        <p:spPr>
          <a:xfrm>
            <a:off x="1022350" y="29379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θS = 60°</a:t>
            </a:r>
            <a:endParaRPr b="0" i="0" sz="2000" u="none" cap="none" strike="noStrike">
              <a:solidFill>
                <a:schemeClr val="dk1"/>
              </a:solidFill>
              <a:latin typeface="Arial"/>
              <a:ea typeface="Arial"/>
              <a:cs typeface="Arial"/>
              <a:sym typeface="Arial"/>
            </a:endParaRPr>
          </a:p>
        </p:txBody>
      </p:sp>
      <p:sp>
        <p:nvSpPr>
          <p:cNvPr id="547" name="Google Shape;547;p21"/>
          <p:cNvSpPr txBox="1"/>
          <p:nvPr/>
        </p:nvSpPr>
        <p:spPr>
          <a:xfrm>
            <a:off x="1022350" y="3331613"/>
            <a:ext cx="4146677"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θE = 0°</a:t>
            </a:r>
            <a:endParaRPr b="0" i="0" sz="2000" u="none" cap="none" strike="noStrike">
              <a:solidFill>
                <a:schemeClr val="dk1"/>
              </a:solidFill>
              <a:latin typeface="Arial"/>
              <a:ea typeface="Arial"/>
              <a:cs typeface="Arial"/>
              <a:sym typeface="Arial"/>
            </a:endParaRPr>
          </a:p>
        </p:txBody>
      </p:sp>
      <p:pic>
        <p:nvPicPr>
          <p:cNvPr descr="Side view of the robotic arm: the upper arm leans 60 degrees from vertical and the forearm is straight in line with it" id="548" name="Google Shape;548;p21"/>
          <p:cNvPicPr preferRelativeResize="0"/>
          <p:nvPr/>
        </p:nvPicPr>
        <p:blipFill rotWithShape="1">
          <a:blip r:embed="rId3">
            <a:alphaModFix/>
          </a:blip>
          <a:srcRect b="0" l="0" r="0" t="0"/>
          <a:stretch/>
        </p:blipFill>
        <p:spPr>
          <a:xfrm>
            <a:off x="5791200" y="2471341"/>
            <a:ext cx="5461000" cy="2941935"/>
          </a:xfrm>
          <a:prstGeom prst="rect">
            <a:avLst/>
          </a:prstGeom>
          <a:noFill/>
          <a:ln>
            <a:noFill/>
          </a:ln>
        </p:spPr>
      </p:pic>
      <p:pic>
        <p:nvPicPr>
          <p:cNvPr descr="Side view of the real arm with the shoulder angle 60 degrees from the vertical and the elbow straight; the end effector position is unknown" id="549" name="Google Shape;549;p21"/>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550" name="Google Shape;550;p21"/>
          <p:cNvSpPr txBox="1"/>
          <p:nvPr/>
        </p:nvSpPr>
        <p:spPr>
          <a:xfrm>
            <a:off x="6600825" y="4031002"/>
            <a:ext cx="387350" cy="2870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θS</a:t>
            </a:r>
            <a:endParaRPr b="0" i="0" sz="1800" u="none" cap="none" strike="noStrike">
              <a:solidFill>
                <a:schemeClr val="dk1"/>
              </a:solidFill>
              <a:latin typeface="Arial"/>
              <a:ea typeface="Arial"/>
              <a:cs typeface="Arial"/>
              <a:sym typeface="Arial"/>
            </a:endParaRPr>
          </a:p>
        </p:txBody>
      </p:sp>
      <p:sp>
        <p:nvSpPr>
          <p:cNvPr id="551" name="Google Shape;551;p21"/>
          <p:cNvSpPr txBox="1"/>
          <p:nvPr/>
        </p:nvSpPr>
        <p:spPr>
          <a:xfrm>
            <a:off x="7641530" y="2687977"/>
            <a:ext cx="1511300" cy="2870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(X, Y) = (?, ?)</a:t>
            </a:r>
            <a:endParaRPr b="0" i="0" sz="1800" u="none" cap="none" strike="noStrike">
              <a:solidFill>
                <a:schemeClr val="dk1"/>
              </a:solidFill>
              <a:latin typeface="Arial"/>
              <a:ea typeface="Arial"/>
              <a:cs typeface="Arial"/>
              <a:sym typeface="Arial"/>
            </a:endParaRPr>
          </a:p>
        </p:txBody>
      </p:sp>
      <p:sp>
        <p:nvSpPr>
          <p:cNvPr id="552" name="Google Shape;552;p21"/>
          <p:cNvSpPr txBox="1"/>
          <p:nvPr/>
        </p:nvSpPr>
        <p:spPr>
          <a:xfrm>
            <a:off x="8776295" y="4573775"/>
            <a:ext cx="825500" cy="2717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θE = 0°</a:t>
            </a:r>
            <a:endParaRPr b="0" i="0" sz="1700" u="none" cap="none" strike="noStrike">
              <a:solidFill>
                <a:schemeClr val="dk1"/>
              </a:solidFill>
              <a:latin typeface="Arial"/>
              <a:ea typeface="Arial"/>
              <a:cs typeface="Arial"/>
              <a:sym typeface="Arial"/>
            </a:endParaRPr>
          </a:p>
        </p:txBody>
      </p:sp>
      <p:sp>
        <p:nvSpPr>
          <p:cNvPr id="553" name="Google Shape;553;p21"/>
          <p:cNvSpPr txBox="1"/>
          <p:nvPr/>
        </p:nvSpPr>
        <p:spPr>
          <a:xfrm>
            <a:off x="8461375" y="4846674"/>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554" name="Google Shape;554;p21"/>
          <p:cNvSpPr txBox="1"/>
          <p:nvPr/>
        </p:nvSpPr>
        <p:spPr>
          <a:xfrm>
            <a:off x="6778625" y="2941674"/>
            <a:ext cx="222250" cy="2565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grpSp>
        <p:nvGrpSpPr>
          <p:cNvPr id="555" name="Google Shape;555;p21"/>
          <p:cNvGrpSpPr/>
          <p:nvPr/>
        </p:nvGrpSpPr>
        <p:grpSpPr>
          <a:xfrm>
            <a:off x="812800" y="4064000"/>
            <a:ext cx="4445000" cy="1935262"/>
            <a:chOff x="812800" y="4064000"/>
            <a:chExt cx="4445000" cy="1935262"/>
          </a:xfrm>
        </p:grpSpPr>
        <p:sp>
          <p:nvSpPr>
            <p:cNvPr id="556" name="Google Shape;556;p21"/>
            <p:cNvSpPr/>
            <p:nvPr/>
          </p:nvSpPr>
          <p:spPr>
            <a:xfrm>
              <a:off x="812800" y="4064000"/>
              <a:ext cx="4445000" cy="1935262"/>
            </a:xfrm>
            <a:prstGeom prst="roundRect">
              <a:avLst>
                <a:gd fmla="val 525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txBox="1"/>
            <p:nvPr/>
          </p:nvSpPr>
          <p:spPr>
            <a:xfrm>
              <a:off x="1016000" y="4234743"/>
              <a:ext cx="4159758"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558" name="Google Shape;558;p21"/>
            <p:cNvSpPr txBox="1"/>
            <p:nvPr/>
          </p:nvSpPr>
          <p:spPr>
            <a:xfrm>
              <a:off x="1016000" y="4519778"/>
              <a:ext cx="4159758"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600"/>
                <a:buFont typeface="Arial"/>
                <a:buNone/>
              </a:pPr>
              <a:r>
                <a:rPr b="0" i="0" lang="en-US" sz="1600" u="none" cap="none" strike="noStrike">
                  <a:solidFill>
                    <a:srgbClr val="CCCCCC"/>
                  </a:solidFill>
                  <a:latin typeface="Arial"/>
                  <a:ea typeface="Arial"/>
                  <a:cs typeface="Arial"/>
                  <a:sym typeface="Arial"/>
                </a:rPr>
                <a:t>θa = 90° − 60° = 30°, θb = 0°</a:t>
              </a:r>
              <a:endParaRPr b="0" i="0" sz="1600" u="none" cap="none" strike="noStrike">
                <a:solidFill>
                  <a:schemeClr val="dk1"/>
                </a:solidFill>
                <a:latin typeface="Arial"/>
                <a:ea typeface="Arial"/>
                <a:cs typeface="Arial"/>
                <a:sym typeface="Arial"/>
              </a:endParaRPr>
            </a:p>
          </p:txBody>
        </p:sp>
        <p:sp>
          <p:nvSpPr>
            <p:cNvPr id="559" name="Google Shape;559;p21"/>
            <p:cNvSpPr txBox="1"/>
            <p:nvPr/>
          </p:nvSpPr>
          <p:spPr>
            <a:xfrm>
              <a:off x="1016000" y="4880085"/>
              <a:ext cx="4159758" cy="391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(X, Y) = (433.01, 250.00)</a:t>
              </a:r>
              <a:endParaRPr b="0" i="0" sz="2200" u="none" cap="none" strike="noStrike">
                <a:solidFill>
                  <a:schemeClr val="dk1"/>
                </a:solidFill>
                <a:latin typeface="Arial"/>
                <a:ea typeface="Arial"/>
                <a:cs typeface="Arial"/>
                <a:sym typeface="Arial"/>
              </a:endParaRPr>
            </a:p>
          </p:txBody>
        </p:sp>
        <p:sp>
          <p:nvSpPr>
            <p:cNvPr id="560" name="Google Shape;560;p21"/>
            <p:cNvSpPr txBox="1"/>
            <p:nvPr/>
          </p:nvSpPr>
          <p:spPr>
            <a:xfrm>
              <a:off x="1016000" y="5334595"/>
              <a:ext cx="4140200" cy="48686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A 0° turn changes nothing, so the arm is one straight line.</a:t>
              </a:r>
              <a:endParaRPr b="0" i="0" sz="13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2"/>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ORDER MATTERS</a:t>
            </a:r>
            <a:endParaRPr b="0" i="0" sz="1200" u="none" cap="none" strike="noStrike">
              <a:solidFill>
                <a:schemeClr val="dk1"/>
              </a:solidFill>
              <a:latin typeface="Arial"/>
              <a:ea typeface="Arial"/>
              <a:cs typeface="Arial"/>
              <a:sym typeface="Arial"/>
            </a:endParaRPr>
          </a:p>
        </p:txBody>
      </p:sp>
      <p:sp>
        <p:nvSpPr>
          <p:cNvPr id="567" name="Google Shape;567;p22"/>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Order Matters</a:t>
            </a:r>
            <a:endParaRPr sz="2800"/>
          </a:p>
        </p:txBody>
      </p:sp>
      <p:sp>
        <p:nvSpPr>
          <p:cNvPr id="568" name="Google Shape;568;p22"/>
          <p:cNvSpPr/>
          <p:nvPr/>
        </p:nvSpPr>
        <p:spPr>
          <a:xfrm>
            <a:off x="815975" y="1522016"/>
            <a:ext cx="5187950" cy="3254970"/>
          </a:xfrm>
          <a:prstGeom prst="roundRect">
            <a:avLst>
              <a:gd fmla="val 3024"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2"/>
          <p:cNvSpPr txBox="1"/>
          <p:nvPr/>
        </p:nvSpPr>
        <p:spPr>
          <a:xfrm>
            <a:off x="971550" y="1670534"/>
            <a:ext cx="502310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A · ROTATE, THEN MOVE</a:t>
            </a:r>
            <a:endParaRPr b="0" i="0" sz="1200" u="none" cap="none" strike="noStrike">
              <a:solidFill>
                <a:schemeClr val="dk1"/>
              </a:solidFill>
              <a:latin typeface="Arial"/>
              <a:ea typeface="Arial"/>
              <a:cs typeface="Arial"/>
              <a:sym typeface="Arial"/>
            </a:endParaRPr>
          </a:p>
        </p:txBody>
      </p:sp>
      <p:sp>
        <p:nvSpPr>
          <p:cNvPr id="570" name="Google Shape;570;p22"/>
          <p:cNvSpPr txBox="1"/>
          <p:nvPr/>
        </p:nvSpPr>
        <p:spPr>
          <a:xfrm>
            <a:off x="971550" y="1957434"/>
            <a:ext cx="5023104"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T(100, 0) · R(90°) · P</a:t>
            </a:r>
            <a:endParaRPr b="0" i="0" sz="2000" u="none" cap="none" strike="noStrike">
              <a:solidFill>
                <a:schemeClr val="dk1"/>
              </a:solidFill>
              <a:latin typeface="Arial"/>
              <a:ea typeface="Arial"/>
              <a:cs typeface="Arial"/>
              <a:sym typeface="Arial"/>
            </a:endParaRPr>
          </a:p>
        </p:txBody>
      </p:sp>
      <p:sp>
        <p:nvSpPr>
          <p:cNvPr id="571" name="Google Shape;571;p22"/>
          <p:cNvSpPr txBox="1"/>
          <p:nvPr/>
        </p:nvSpPr>
        <p:spPr>
          <a:xfrm>
            <a:off x="3917950" y="3015756"/>
            <a:ext cx="1988312"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1 · Rotate: (0, 250)</a:t>
            </a:r>
            <a:endParaRPr b="0" i="0" sz="1400" u="none" cap="none" strike="noStrike">
              <a:solidFill>
                <a:schemeClr val="dk1"/>
              </a:solidFill>
              <a:latin typeface="Arial"/>
              <a:ea typeface="Arial"/>
              <a:cs typeface="Arial"/>
              <a:sym typeface="Arial"/>
            </a:endParaRPr>
          </a:p>
        </p:txBody>
      </p:sp>
      <p:sp>
        <p:nvSpPr>
          <p:cNvPr id="572" name="Google Shape;572;p22"/>
          <p:cNvSpPr txBox="1"/>
          <p:nvPr/>
        </p:nvSpPr>
        <p:spPr>
          <a:xfrm>
            <a:off x="3917950" y="3310337"/>
            <a:ext cx="1988312"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2 · Move: (100, 250)</a:t>
            </a:r>
            <a:endParaRPr b="0" i="0" sz="1400" u="none" cap="none" strike="noStrike">
              <a:solidFill>
                <a:schemeClr val="dk1"/>
              </a:solidFill>
              <a:latin typeface="Arial"/>
              <a:ea typeface="Arial"/>
              <a:cs typeface="Arial"/>
              <a:sym typeface="Arial"/>
            </a:endParaRPr>
          </a:p>
        </p:txBody>
      </p:sp>
      <p:sp>
        <p:nvSpPr>
          <p:cNvPr id="573" name="Google Shape;573;p22"/>
          <p:cNvSpPr txBox="1"/>
          <p:nvPr/>
        </p:nvSpPr>
        <p:spPr>
          <a:xfrm>
            <a:off x="3917950" y="3600875"/>
            <a:ext cx="1988312"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(100, 250)</a:t>
            </a:r>
            <a:endParaRPr b="0" i="0" sz="2100" u="none" cap="none" strike="noStrike">
              <a:solidFill>
                <a:schemeClr val="dk1"/>
              </a:solidFill>
              <a:latin typeface="Arial"/>
              <a:ea typeface="Arial"/>
              <a:cs typeface="Arial"/>
              <a:sym typeface="Arial"/>
            </a:endParaRPr>
          </a:p>
        </p:txBody>
      </p:sp>
      <p:sp>
        <p:nvSpPr>
          <p:cNvPr id="574" name="Google Shape;574;p22"/>
          <p:cNvSpPr/>
          <p:nvPr/>
        </p:nvSpPr>
        <p:spPr>
          <a:xfrm>
            <a:off x="6213475" y="1522016"/>
            <a:ext cx="5187950" cy="3254970"/>
          </a:xfrm>
          <a:prstGeom prst="roundRect">
            <a:avLst>
              <a:gd fmla="val 3024"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txBox="1"/>
          <p:nvPr/>
        </p:nvSpPr>
        <p:spPr>
          <a:xfrm>
            <a:off x="6369050" y="1670534"/>
            <a:ext cx="502310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B · MOVE, THEN ROTATE</a:t>
            </a:r>
            <a:endParaRPr b="0" i="0" sz="1200" u="none" cap="none" strike="noStrike">
              <a:solidFill>
                <a:schemeClr val="dk1"/>
              </a:solidFill>
              <a:latin typeface="Arial"/>
              <a:ea typeface="Arial"/>
              <a:cs typeface="Arial"/>
              <a:sym typeface="Arial"/>
            </a:endParaRPr>
          </a:p>
        </p:txBody>
      </p:sp>
      <p:sp>
        <p:nvSpPr>
          <p:cNvPr id="576" name="Google Shape;576;p22"/>
          <p:cNvSpPr txBox="1"/>
          <p:nvPr/>
        </p:nvSpPr>
        <p:spPr>
          <a:xfrm>
            <a:off x="6369050" y="1957434"/>
            <a:ext cx="5023104"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R(90°) · T(100, 0) · P</a:t>
            </a:r>
            <a:endParaRPr b="0" i="0" sz="2000" u="none" cap="none" strike="noStrike">
              <a:solidFill>
                <a:schemeClr val="dk1"/>
              </a:solidFill>
              <a:latin typeface="Arial"/>
              <a:ea typeface="Arial"/>
              <a:cs typeface="Arial"/>
              <a:sym typeface="Arial"/>
            </a:endParaRPr>
          </a:p>
        </p:txBody>
      </p:sp>
      <p:sp>
        <p:nvSpPr>
          <p:cNvPr id="577" name="Google Shape;577;p22"/>
          <p:cNvSpPr txBox="1"/>
          <p:nvPr/>
        </p:nvSpPr>
        <p:spPr>
          <a:xfrm>
            <a:off x="9315450" y="3015756"/>
            <a:ext cx="1988312"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1 · Move: (350, 0)</a:t>
            </a:r>
            <a:endParaRPr b="0" i="0" sz="1400" u="none" cap="none" strike="noStrike">
              <a:solidFill>
                <a:schemeClr val="dk1"/>
              </a:solidFill>
              <a:latin typeface="Arial"/>
              <a:ea typeface="Arial"/>
              <a:cs typeface="Arial"/>
              <a:sym typeface="Arial"/>
            </a:endParaRPr>
          </a:p>
        </p:txBody>
      </p:sp>
      <p:sp>
        <p:nvSpPr>
          <p:cNvPr id="578" name="Google Shape;578;p22"/>
          <p:cNvSpPr txBox="1"/>
          <p:nvPr/>
        </p:nvSpPr>
        <p:spPr>
          <a:xfrm>
            <a:off x="9315450" y="3310337"/>
            <a:ext cx="1988312"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2 · Rotate: (0, 350)</a:t>
            </a:r>
            <a:endParaRPr b="0" i="0" sz="1400" u="none" cap="none" strike="noStrike">
              <a:solidFill>
                <a:schemeClr val="dk1"/>
              </a:solidFill>
              <a:latin typeface="Arial"/>
              <a:ea typeface="Arial"/>
              <a:cs typeface="Arial"/>
              <a:sym typeface="Arial"/>
            </a:endParaRPr>
          </a:p>
        </p:txBody>
      </p:sp>
      <p:sp>
        <p:nvSpPr>
          <p:cNvPr id="579" name="Google Shape;579;p22"/>
          <p:cNvSpPr txBox="1"/>
          <p:nvPr/>
        </p:nvSpPr>
        <p:spPr>
          <a:xfrm>
            <a:off x="9315450" y="3600875"/>
            <a:ext cx="1988312" cy="37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100"/>
              <a:buFont typeface="Arial"/>
              <a:buNone/>
            </a:pPr>
            <a:r>
              <a:rPr b="1" i="0" lang="en-US" sz="2100" u="none" cap="none" strike="noStrike">
                <a:solidFill>
                  <a:srgbClr val="FF0000"/>
                </a:solidFill>
                <a:latin typeface="Arial"/>
                <a:ea typeface="Arial"/>
                <a:cs typeface="Arial"/>
                <a:sym typeface="Arial"/>
              </a:rPr>
              <a:t>(0, 350)</a:t>
            </a:r>
            <a:endParaRPr b="0" i="0" sz="2100" u="none" cap="none" strike="noStrike">
              <a:solidFill>
                <a:schemeClr val="dk1"/>
              </a:solidFill>
              <a:latin typeface="Arial"/>
              <a:ea typeface="Arial"/>
              <a:cs typeface="Arial"/>
              <a:sym typeface="Arial"/>
            </a:endParaRPr>
          </a:p>
        </p:txBody>
      </p:sp>
      <p:sp>
        <p:nvSpPr>
          <p:cNvPr id="580" name="Google Shape;580;p22"/>
          <p:cNvSpPr/>
          <p:nvPr/>
        </p:nvSpPr>
        <p:spPr>
          <a:xfrm>
            <a:off x="812800" y="4983361"/>
            <a:ext cx="10566400" cy="887611"/>
          </a:xfrm>
          <a:prstGeom prst="roundRect">
            <a:avLst>
              <a:gd fmla="val 11446"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txBox="1"/>
          <p:nvPr/>
        </p:nvSpPr>
        <p:spPr>
          <a:xfrm>
            <a:off x="1016000" y="5105945"/>
            <a:ext cx="10363200" cy="61262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700"/>
              <a:buFont typeface="Arial"/>
              <a:buNone/>
            </a:pPr>
            <a:r>
              <a:rPr b="0" i="0" lang="en-US" sz="1700" u="none" cap="none" strike="noStrike">
                <a:solidFill>
                  <a:srgbClr val="FFFFFF"/>
                </a:solidFill>
                <a:latin typeface="Arial"/>
                <a:ea typeface="Arial"/>
                <a:cs typeface="Arial"/>
                <a:sym typeface="Arial"/>
              </a:rPr>
              <a:t>Same two matrices, different order, different answer. In the arm's chain, the order of the matrices must match the order of the joints.</a:t>
            </a:r>
            <a:endParaRPr b="0" i="0" sz="1700" u="none" cap="none" strike="noStrike">
              <a:solidFill>
                <a:schemeClr val="dk1"/>
              </a:solidFill>
              <a:latin typeface="Arial"/>
              <a:ea typeface="Arial"/>
              <a:cs typeface="Arial"/>
              <a:sym typeface="Arial"/>
            </a:endParaRPr>
          </a:p>
        </p:txBody>
      </p:sp>
      <p:pic>
        <p:nvPicPr>
          <p:cNvPr descr="The point 250, 0 is rotated 90 degrees to 0, 250 and then moved 100 to the right to 100, 250" id="582" name="Google Shape;582;p22"/>
          <p:cNvPicPr preferRelativeResize="0"/>
          <p:nvPr/>
        </p:nvPicPr>
        <p:blipFill rotWithShape="1">
          <a:blip r:embed="rId3">
            <a:alphaModFix/>
          </a:blip>
          <a:srcRect b="0" l="0" r="0" t="0"/>
          <a:stretch/>
        </p:blipFill>
        <p:spPr>
          <a:xfrm>
            <a:off x="971550" y="2393950"/>
            <a:ext cx="2794000" cy="2228850"/>
          </a:xfrm>
          <a:prstGeom prst="rect">
            <a:avLst/>
          </a:prstGeom>
          <a:noFill/>
          <a:ln>
            <a:noFill/>
          </a:ln>
        </p:spPr>
      </p:pic>
      <p:sp>
        <p:nvSpPr>
          <p:cNvPr id="583" name="Google Shape;583;p22"/>
          <p:cNvSpPr txBox="1"/>
          <p:nvPr/>
        </p:nvSpPr>
        <p:spPr>
          <a:xfrm>
            <a:off x="2530412" y="3279564"/>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584" name="Google Shape;584;p22"/>
          <p:cNvSpPr txBox="1"/>
          <p:nvPr/>
        </p:nvSpPr>
        <p:spPr>
          <a:xfrm>
            <a:off x="1743012" y="2885864"/>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pic>
        <p:nvPicPr>
          <p:cNvPr descr="The point 250, 0 is moved 100 to the right to 350, 0 and then rotated 90 degrees to 0, 350" id="585" name="Google Shape;585;p22"/>
          <p:cNvPicPr preferRelativeResize="0"/>
          <p:nvPr/>
        </p:nvPicPr>
        <p:blipFill rotWithShape="1">
          <a:blip r:embed="rId4">
            <a:alphaModFix/>
          </a:blip>
          <a:srcRect b="0" l="0" r="0" t="0"/>
          <a:stretch/>
        </p:blipFill>
        <p:spPr>
          <a:xfrm>
            <a:off x="6369050" y="2393950"/>
            <a:ext cx="2794000" cy="2228850"/>
          </a:xfrm>
          <a:prstGeom prst="rect">
            <a:avLst/>
          </a:prstGeom>
          <a:noFill/>
          <a:ln>
            <a:noFill/>
          </a:ln>
        </p:spPr>
      </p:pic>
      <p:sp>
        <p:nvSpPr>
          <p:cNvPr id="586" name="Google Shape;586;p22"/>
          <p:cNvSpPr txBox="1"/>
          <p:nvPr/>
        </p:nvSpPr>
        <p:spPr>
          <a:xfrm>
            <a:off x="8378762" y="3997114"/>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587" name="Google Shape;587;p22"/>
          <p:cNvSpPr txBox="1"/>
          <p:nvPr/>
        </p:nvSpPr>
        <p:spPr>
          <a:xfrm>
            <a:off x="8277161" y="2923964"/>
            <a:ext cx="222377" cy="21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588" name="Google Shape;588;p22"/>
          <p:cNvPicPr preferRelativeResize="0"/>
          <p:nvPr/>
        </p:nvPicPr>
        <p:blipFill rotWithShape="1">
          <a:blip r:embed="rId5">
            <a:alphaModFix/>
          </a:blip>
          <a:srcRect b="0" l="0" r="0" t="0"/>
          <a:stretch/>
        </p:blipFill>
        <p:spPr>
          <a:xfrm>
            <a:off x="8279110" y="215900"/>
            <a:ext cx="3099991" cy="1244600"/>
          </a:xfrm>
          <a:prstGeom prst="rect">
            <a:avLst/>
          </a:prstGeom>
          <a:noFill/>
          <a:ln>
            <a:noFill/>
          </a:ln>
        </p:spPr>
      </p:pic>
      <p:pic>
        <p:nvPicPr>
          <p:cNvPr descr="The real arm with the four steps of the chain marked 1 to 4, from the shoulder to the end of the forearm" id="589" name="Google Shape;589;p22"/>
          <p:cNvPicPr preferRelativeResize="0"/>
          <p:nvPr/>
        </p:nvPicPr>
        <p:blipFill rotWithShape="1">
          <a:blip r:embed="rId6">
            <a:alphaModFix/>
          </a:blip>
          <a:srcRect b="0" l="0" r="0" t="0"/>
          <a:stretch/>
        </p:blipFill>
        <p:spPr>
          <a:xfrm>
            <a:off x="8274050" y="215900"/>
            <a:ext cx="3105150" cy="1244600"/>
          </a:xfrm>
          <a:prstGeom prst="rect">
            <a:avLst/>
          </a:prstGeom>
          <a:noFill/>
          <a:ln>
            <a:noFill/>
          </a:ln>
        </p:spPr>
      </p:pic>
      <p:sp>
        <p:nvSpPr>
          <p:cNvPr id="590" name="Google Shape;590;p22"/>
          <p:cNvSpPr/>
          <p:nvPr/>
        </p:nvSpPr>
        <p:spPr>
          <a:xfrm>
            <a:off x="8910241" y="1127125"/>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txBox="1"/>
          <p:nvPr/>
        </p:nvSpPr>
        <p:spPr>
          <a:xfrm>
            <a:off x="8917480" y="110671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592" name="Google Shape;592;p22"/>
          <p:cNvSpPr/>
          <p:nvPr/>
        </p:nvSpPr>
        <p:spPr>
          <a:xfrm>
            <a:off x="9243616" y="800695"/>
            <a:ext cx="171450" cy="1714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2"/>
          <p:cNvSpPr txBox="1"/>
          <p:nvPr/>
        </p:nvSpPr>
        <p:spPr>
          <a:xfrm>
            <a:off x="9250855" y="78028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594" name="Google Shape;594;p22"/>
          <p:cNvSpPr/>
          <p:nvPr/>
        </p:nvSpPr>
        <p:spPr>
          <a:xfrm>
            <a:off x="9577685" y="474266"/>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2"/>
          <p:cNvSpPr txBox="1"/>
          <p:nvPr/>
        </p:nvSpPr>
        <p:spPr>
          <a:xfrm>
            <a:off x="9584924" y="45385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596" name="Google Shape;596;p22"/>
          <p:cNvSpPr/>
          <p:nvPr/>
        </p:nvSpPr>
        <p:spPr>
          <a:xfrm>
            <a:off x="10047585" y="474266"/>
            <a:ext cx="171450" cy="1714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txBox="1"/>
          <p:nvPr/>
        </p:nvSpPr>
        <p:spPr>
          <a:xfrm>
            <a:off x="10054824" y="45385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3"/>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 RECAP</a:t>
            </a:r>
            <a:endParaRPr b="0" i="0" sz="1200" u="none" cap="none" strike="noStrike">
              <a:solidFill>
                <a:schemeClr val="dk1"/>
              </a:solidFill>
              <a:latin typeface="Arial"/>
              <a:ea typeface="Arial"/>
              <a:cs typeface="Arial"/>
              <a:sym typeface="Arial"/>
            </a:endParaRPr>
          </a:p>
        </p:txBody>
      </p:sp>
      <p:sp>
        <p:nvSpPr>
          <p:cNvPr id="604" name="Google Shape;604;p23"/>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Day 1 Recap</a:t>
            </a:r>
            <a:endParaRPr sz="2800"/>
          </a:p>
        </p:txBody>
      </p:sp>
      <p:sp>
        <p:nvSpPr>
          <p:cNvPr id="605" name="Google Shape;605;p23"/>
          <p:cNvSpPr/>
          <p:nvPr/>
        </p:nvSpPr>
        <p:spPr>
          <a:xfrm>
            <a:off x="815975" y="1522016"/>
            <a:ext cx="5200650" cy="1582241"/>
          </a:xfrm>
          <a:prstGeom prst="roundRect">
            <a:avLst>
              <a:gd fmla="val 6221"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txBox="1"/>
          <p:nvPr/>
        </p:nvSpPr>
        <p:spPr>
          <a:xfrm>
            <a:off x="1098550" y="1746734"/>
            <a:ext cx="477456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ROTATE</a:t>
            </a:r>
            <a:endParaRPr b="0" i="0" sz="1200" u="none" cap="none" strike="noStrike">
              <a:solidFill>
                <a:schemeClr val="dk1"/>
              </a:solidFill>
              <a:latin typeface="Arial"/>
              <a:ea typeface="Arial"/>
              <a:cs typeface="Arial"/>
              <a:sym typeface="Arial"/>
            </a:endParaRPr>
          </a:p>
        </p:txBody>
      </p:sp>
      <p:sp>
        <p:nvSpPr>
          <p:cNvPr id="607" name="Google Shape;607;p23"/>
          <p:cNvSpPr txBox="1"/>
          <p:nvPr/>
        </p:nvSpPr>
        <p:spPr>
          <a:xfrm>
            <a:off x="1098550" y="2010047"/>
            <a:ext cx="4774565" cy="500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R(θ)</a:t>
            </a:r>
            <a:endParaRPr b="0" i="0" sz="3200" u="none" cap="none" strike="noStrike">
              <a:solidFill>
                <a:schemeClr val="dk1"/>
              </a:solidFill>
              <a:latin typeface="Arial"/>
              <a:ea typeface="Arial"/>
              <a:cs typeface="Arial"/>
              <a:sym typeface="Arial"/>
            </a:endParaRPr>
          </a:p>
        </p:txBody>
      </p:sp>
      <p:sp>
        <p:nvSpPr>
          <p:cNvPr id="608" name="Google Shape;608;p23"/>
          <p:cNvSpPr txBox="1"/>
          <p:nvPr/>
        </p:nvSpPr>
        <p:spPr>
          <a:xfrm>
            <a:off x="1098550" y="2583705"/>
            <a:ext cx="4774565" cy="28059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700"/>
              <a:buFont typeface="Arial"/>
              <a:buNone/>
            </a:pPr>
            <a:r>
              <a:rPr b="0" i="0" lang="en-US" sz="1700" u="none" cap="none" strike="noStrike">
                <a:solidFill>
                  <a:srgbClr val="434343"/>
                </a:solidFill>
                <a:latin typeface="Arial"/>
                <a:ea typeface="Arial"/>
                <a:cs typeface="Arial"/>
                <a:sym typeface="Arial"/>
              </a:rPr>
              <a:t>Spins a point by θ around the origin.</a:t>
            </a:r>
            <a:endParaRPr b="0" i="0" sz="1700" u="none" cap="none" strike="noStrike">
              <a:solidFill>
                <a:schemeClr val="dk1"/>
              </a:solidFill>
              <a:latin typeface="Arial"/>
              <a:ea typeface="Arial"/>
              <a:cs typeface="Arial"/>
              <a:sym typeface="Arial"/>
            </a:endParaRPr>
          </a:p>
        </p:txBody>
      </p:sp>
      <p:sp>
        <p:nvSpPr>
          <p:cNvPr id="609" name="Google Shape;609;p23"/>
          <p:cNvSpPr/>
          <p:nvPr/>
        </p:nvSpPr>
        <p:spPr>
          <a:xfrm>
            <a:off x="6175375" y="1522016"/>
            <a:ext cx="5200650" cy="1582241"/>
          </a:xfrm>
          <a:prstGeom prst="roundRect">
            <a:avLst>
              <a:gd fmla="val 6221"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3"/>
          <p:cNvSpPr txBox="1"/>
          <p:nvPr/>
        </p:nvSpPr>
        <p:spPr>
          <a:xfrm>
            <a:off x="6457950" y="1746734"/>
            <a:ext cx="477456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MOVE</a:t>
            </a:r>
            <a:endParaRPr b="0" i="0" sz="1200" u="none" cap="none" strike="noStrike">
              <a:solidFill>
                <a:schemeClr val="dk1"/>
              </a:solidFill>
              <a:latin typeface="Arial"/>
              <a:ea typeface="Arial"/>
              <a:cs typeface="Arial"/>
              <a:sym typeface="Arial"/>
            </a:endParaRPr>
          </a:p>
        </p:txBody>
      </p:sp>
      <p:sp>
        <p:nvSpPr>
          <p:cNvPr id="611" name="Google Shape;611;p23"/>
          <p:cNvSpPr txBox="1"/>
          <p:nvPr/>
        </p:nvSpPr>
        <p:spPr>
          <a:xfrm>
            <a:off x="6457950" y="2010047"/>
            <a:ext cx="4774565" cy="500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200"/>
              <a:buFont typeface="Arial"/>
              <a:buNone/>
            </a:pPr>
            <a:r>
              <a:rPr b="1" i="0" lang="en-US" sz="3200" u="none" cap="none" strike="noStrike">
                <a:solidFill>
                  <a:srgbClr val="000000"/>
                </a:solidFill>
                <a:latin typeface="Arial"/>
                <a:ea typeface="Arial"/>
                <a:cs typeface="Arial"/>
                <a:sym typeface="Arial"/>
              </a:rPr>
              <a:t>T(dx, dy)</a:t>
            </a:r>
            <a:endParaRPr b="0" i="0" sz="3200" u="none" cap="none" strike="noStrike">
              <a:solidFill>
                <a:schemeClr val="dk1"/>
              </a:solidFill>
              <a:latin typeface="Arial"/>
              <a:ea typeface="Arial"/>
              <a:cs typeface="Arial"/>
              <a:sym typeface="Arial"/>
            </a:endParaRPr>
          </a:p>
        </p:txBody>
      </p:sp>
      <p:sp>
        <p:nvSpPr>
          <p:cNvPr id="612" name="Google Shape;612;p23"/>
          <p:cNvSpPr txBox="1"/>
          <p:nvPr/>
        </p:nvSpPr>
        <p:spPr>
          <a:xfrm>
            <a:off x="6457950" y="2583705"/>
            <a:ext cx="4774565" cy="28059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700"/>
              <a:buFont typeface="Arial"/>
              <a:buNone/>
            </a:pPr>
            <a:r>
              <a:rPr b="0" i="0" lang="en-US" sz="1700" u="none" cap="none" strike="noStrike">
                <a:solidFill>
                  <a:srgbClr val="434343"/>
                </a:solidFill>
                <a:latin typeface="Arial"/>
                <a:ea typeface="Arial"/>
                <a:cs typeface="Arial"/>
                <a:sym typeface="Arial"/>
              </a:rPr>
              <a:t>Moves a point. The extra 1 makes it a matrix.</a:t>
            </a:r>
            <a:endParaRPr b="0" i="0" sz="1700" u="none" cap="none" strike="noStrike">
              <a:solidFill>
                <a:schemeClr val="dk1"/>
              </a:solidFill>
              <a:latin typeface="Arial"/>
              <a:ea typeface="Arial"/>
              <a:cs typeface="Arial"/>
              <a:sym typeface="Arial"/>
            </a:endParaRPr>
          </a:p>
        </p:txBody>
      </p:sp>
      <p:sp>
        <p:nvSpPr>
          <p:cNvPr id="613" name="Google Shape;613;p23"/>
          <p:cNvSpPr/>
          <p:nvPr/>
        </p:nvSpPr>
        <p:spPr>
          <a:xfrm>
            <a:off x="815975" y="3263007"/>
            <a:ext cx="5200650" cy="1531441"/>
          </a:xfrm>
          <a:prstGeom prst="roundRect">
            <a:avLst>
              <a:gd fmla="val 642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3"/>
          <p:cNvSpPr txBox="1"/>
          <p:nvPr/>
        </p:nvSpPr>
        <p:spPr>
          <a:xfrm>
            <a:off x="1098550" y="3487725"/>
            <a:ext cx="477456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CHAIN</a:t>
            </a:r>
            <a:endParaRPr b="0" i="0" sz="1200" u="none" cap="none" strike="noStrike">
              <a:solidFill>
                <a:schemeClr val="dk1"/>
              </a:solidFill>
              <a:latin typeface="Arial"/>
              <a:ea typeface="Arial"/>
              <a:cs typeface="Arial"/>
              <a:sym typeface="Arial"/>
            </a:endParaRPr>
          </a:p>
        </p:txBody>
      </p:sp>
      <p:sp>
        <p:nvSpPr>
          <p:cNvPr id="615" name="Google Shape;615;p23"/>
          <p:cNvSpPr txBox="1"/>
          <p:nvPr/>
        </p:nvSpPr>
        <p:spPr>
          <a:xfrm>
            <a:off x="1098550" y="3775532"/>
            <a:ext cx="4774565" cy="4089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M = R · T · R · T</a:t>
            </a:r>
            <a:endParaRPr b="0" i="0" sz="2600" u="none" cap="none" strike="noStrike">
              <a:solidFill>
                <a:schemeClr val="dk1"/>
              </a:solidFill>
              <a:latin typeface="Arial"/>
              <a:ea typeface="Arial"/>
              <a:cs typeface="Arial"/>
              <a:sym typeface="Arial"/>
            </a:endParaRPr>
          </a:p>
        </p:txBody>
      </p:sp>
      <p:sp>
        <p:nvSpPr>
          <p:cNvPr id="616" name="Google Shape;616;p23"/>
          <p:cNvSpPr txBox="1"/>
          <p:nvPr/>
        </p:nvSpPr>
        <p:spPr>
          <a:xfrm>
            <a:off x="1098550" y="4273897"/>
            <a:ext cx="4774565" cy="28059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700"/>
              <a:buFont typeface="Arial"/>
              <a:buNone/>
            </a:pPr>
            <a:r>
              <a:rPr b="0" i="0" lang="en-US" sz="1700" u="none" cap="none" strike="noStrike">
                <a:solidFill>
                  <a:srgbClr val="434343"/>
                </a:solidFill>
                <a:latin typeface="Arial"/>
                <a:ea typeface="Arial"/>
                <a:cs typeface="Arial"/>
                <a:sym typeface="Arial"/>
              </a:rPr>
              <a:t>One matrix per step. Multiply from the right.</a:t>
            </a:r>
            <a:endParaRPr b="0" i="0" sz="1700" u="none" cap="none" strike="noStrike">
              <a:solidFill>
                <a:schemeClr val="dk1"/>
              </a:solidFill>
              <a:latin typeface="Arial"/>
              <a:ea typeface="Arial"/>
              <a:cs typeface="Arial"/>
              <a:sym typeface="Arial"/>
            </a:endParaRPr>
          </a:p>
        </p:txBody>
      </p:sp>
      <p:sp>
        <p:nvSpPr>
          <p:cNvPr id="617" name="Google Shape;617;p23"/>
          <p:cNvSpPr/>
          <p:nvPr/>
        </p:nvSpPr>
        <p:spPr>
          <a:xfrm>
            <a:off x="6175375" y="3263007"/>
            <a:ext cx="5200650" cy="1531441"/>
          </a:xfrm>
          <a:prstGeom prst="roundRect">
            <a:avLst>
              <a:gd fmla="val 6427"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
          <p:cNvSpPr txBox="1"/>
          <p:nvPr/>
        </p:nvSpPr>
        <p:spPr>
          <a:xfrm>
            <a:off x="6457950" y="3487725"/>
            <a:ext cx="477456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ORDER</a:t>
            </a:r>
            <a:endParaRPr b="0" i="0" sz="1200" u="none" cap="none" strike="noStrike">
              <a:solidFill>
                <a:schemeClr val="dk1"/>
              </a:solidFill>
              <a:latin typeface="Arial"/>
              <a:ea typeface="Arial"/>
              <a:cs typeface="Arial"/>
              <a:sym typeface="Arial"/>
            </a:endParaRPr>
          </a:p>
        </p:txBody>
      </p:sp>
      <p:sp>
        <p:nvSpPr>
          <p:cNvPr id="619" name="Google Shape;619;p23"/>
          <p:cNvSpPr txBox="1"/>
          <p:nvPr/>
        </p:nvSpPr>
        <p:spPr>
          <a:xfrm>
            <a:off x="6457950" y="3775532"/>
            <a:ext cx="4774565" cy="4089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R · T is not T · R</a:t>
            </a:r>
            <a:endParaRPr b="0" i="0" sz="2600" u="none" cap="none" strike="noStrike">
              <a:solidFill>
                <a:schemeClr val="dk1"/>
              </a:solidFill>
              <a:latin typeface="Arial"/>
              <a:ea typeface="Arial"/>
              <a:cs typeface="Arial"/>
              <a:sym typeface="Arial"/>
            </a:endParaRPr>
          </a:p>
        </p:txBody>
      </p:sp>
      <p:sp>
        <p:nvSpPr>
          <p:cNvPr id="620" name="Google Shape;620;p23"/>
          <p:cNvSpPr txBox="1"/>
          <p:nvPr/>
        </p:nvSpPr>
        <p:spPr>
          <a:xfrm>
            <a:off x="6457950" y="4273897"/>
            <a:ext cx="4774565" cy="28059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700"/>
              <a:buFont typeface="Arial"/>
              <a:buNone/>
            </a:pPr>
            <a:r>
              <a:rPr b="0" i="0" lang="en-US" sz="1700" u="none" cap="none" strike="noStrike">
                <a:solidFill>
                  <a:srgbClr val="434343"/>
                </a:solidFill>
                <a:latin typeface="Arial"/>
                <a:ea typeface="Arial"/>
                <a:cs typeface="Arial"/>
                <a:sym typeface="Arial"/>
              </a:rPr>
              <a:t>Swap two matrices and the answer changes.</a:t>
            </a:r>
            <a:endParaRPr b="0" i="0" sz="1700" u="none" cap="none" strike="noStrike">
              <a:solidFill>
                <a:schemeClr val="dk1"/>
              </a:solidFill>
              <a:latin typeface="Arial"/>
              <a:ea typeface="Arial"/>
              <a:cs typeface="Arial"/>
              <a:sym typeface="Arial"/>
            </a:endParaRPr>
          </a:p>
        </p:txBody>
      </p:sp>
      <p:sp>
        <p:nvSpPr>
          <p:cNvPr id="621" name="Google Shape;621;p23"/>
          <p:cNvSpPr/>
          <p:nvPr/>
        </p:nvSpPr>
        <p:spPr>
          <a:xfrm>
            <a:off x="812800" y="5000823"/>
            <a:ext cx="10566400" cy="669230"/>
          </a:xfrm>
          <a:prstGeom prst="roundRect">
            <a:avLst>
              <a:gd fmla="val 1518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3"/>
          <p:cNvSpPr txBox="1"/>
          <p:nvPr/>
        </p:nvSpPr>
        <p:spPr>
          <a:xfrm>
            <a:off x="1092200" y="5163110"/>
            <a:ext cx="10261600"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Next time: the real arm turns at the base too, so it needs 3D.</a:t>
            </a:r>
            <a:endParaRPr b="0" i="0" sz="19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623" name="Google Shape;623;p23"/>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in the 45 degree, 45 degree pose with the end effector marked" id="624" name="Google Shape;624;p23"/>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625" name="Google Shape;625;p23"/>
          <p:cNvSpPr txBox="1"/>
          <p:nvPr/>
        </p:nvSpPr>
        <p:spPr>
          <a:xfrm>
            <a:off x="10692110" y="108081"/>
            <a:ext cx="565150" cy="226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(X, Y)</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4"/>
          <p:cNvSpPr txBox="1"/>
          <p:nvPr/>
        </p:nvSpPr>
        <p:spPr>
          <a:xfrm>
            <a:off x="812800" y="1573165"/>
            <a:ext cx="5886450"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400"/>
              <a:buFont typeface="Arial"/>
              <a:buNone/>
            </a:pPr>
            <a:r>
              <a:rPr b="1" i="0" lang="en-US" sz="1400" u="none" cap="none" strike="noStrike">
                <a:solidFill>
                  <a:srgbClr val="38761D"/>
                </a:solidFill>
                <a:latin typeface="Arial"/>
                <a:ea typeface="Arial"/>
                <a:cs typeface="Arial"/>
                <a:sym typeface="Arial"/>
              </a:rPr>
              <a:t>DAY 2</a:t>
            </a:r>
            <a:endParaRPr b="0" i="0" sz="1400" u="none" cap="none" strike="noStrike">
              <a:solidFill>
                <a:schemeClr val="dk1"/>
              </a:solidFill>
              <a:latin typeface="Arial"/>
              <a:ea typeface="Arial"/>
              <a:cs typeface="Arial"/>
              <a:sym typeface="Arial"/>
            </a:endParaRPr>
          </a:p>
        </p:txBody>
      </p:sp>
      <p:sp>
        <p:nvSpPr>
          <p:cNvPr id="632" name="Google Shape;632;p24"/>
          <p:cNvSpPr txBox="1"/>
          <p:nvPr>
            <p:ph type="title"/>
          </p:nvPr>
        </p:nvSpPr>
        <p:spPr>
          <a:xfrm>
            <a:off x="812800" y="2003635"/>
            <a:ext cx="9144000" cy="7442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4800"/>
              <a:buFont typeface="Arial"/>
              <a:buNone/>
            </a:pPr>
            <a:r>
              <a:rPr b="1" lang="en-US" sz="4800">
                <a:solidFill>
                  <a:srgbClr val="000000"/>
                </a:solidFill>
                <a:latin typeface="Arial"/>
                <a:ea typeface="Arial"/>
                <a:cs typeface="Arial"/>
                <a:sym typeface="Arial"/>
              </a:rPr>
              <a:t>Extending to 3D</a:t>
            </a:r>
            <a:endParaRPr sz="4800"/>
          </a:p>
        </p:txBody>
      </p:sp>
      <p:sp>
        <p:nvSpPr>
          <p:cNvPr id="633" name="Google Shape;633;p24"/>
          <p:cNvSpPr txBox="1"/>
          <p:nvPr/>
        </p:nvSpPr>
        <p:spPr>
          <a:xfrm>
            <a:off x="812800" y="2950613"/>
            <a:ext cx="5679440" cy="105742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34343"/>
              </a:buClr>
              <a:buSzPts val="2000"/>
              <a:buFont typeface="Arial"/>
              <a:buNone/>
            </a:pPr>
            <a:r>
              <a:rPr b="0" i="0" lang="en-US" sz="2000" u="none" cap="none" strike="noStrike">
                <a:solidFill>
                  <a:srgbClr val="434343"/>
                </a:solidFill>
                <a:latin typeface="Arial"/>
                <a:ea typeface="Arial"/>
                <a:cs typeface="Arial"/>
                <a:sym typeface="Arial"/>
              </a:rPr>
              <a:t>Day 1 gave us a recipe for a flat arm. Now the base turns, and the same recipe has to work in three dimensions.</a:t>
            </a:r>
            <a:endParaRPr b="0" i="0" sz="2000" u="none" cap="none" strike="noStrike">
              <a:solidFill>
                <a:schemeClr val="dk1"/>
              </a:solidFill>
              <a:latin typeface="Arial"/>
              <a:ea typeface="Arial"/>
              <a:cs typeface="Arial"/>
              <a:sym typeface="Arial"/>
            </a:endParaRPr>
          </a:p>
        </p:txBody>
      </p:sp>
      <p:sp>
        <p:nvSpPr>
          <p:cNvPr id="634" name="Google Shape;634;p24"/>
          <p:cNvSpPr/>
          <p:nvPr/>
        </p:nvSpPr>
        <p:spPr>
          <a:xfrm>
            <a:off x="815975" y="4265216"/>
            <a:ext cx="7238206" cy="1007070"/>
          </a:xfrm>
          <a:prstGeom prst="roundRect">
            <a:avLst>
              <a:gd fmla="val 9773" name="adj"/>
            </a:avLst>
          </a:prstGeom>
          <a:no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txBox="1"/>
          <p:nvPr/>
        </p:nvSpPr>
        <p:spPr>
          <a:xfrm>
            <a:off x="1047750" y="4439134"/>
            <a:ext cx="697789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1 IN ONE LINE</a:t>
            </a:r>
            <a:endParaRPr b="0" i="0" sz="1200" u="none" cap="none" strike="noStrike">
              <a:solidFill>
                <a:schemeClr val="dk1"/>
              </a:solidFill>
              <a:latin typeface="Arial"/>
              <a:ea typeface="Arial"/>
              <a:cs typeface="Arial"/>
              <a:sym typeface="Arial"/>
            </a:endParaRPr>
          </a:p>
        </p:txBody>
      </p:sp>
      <p:sp>
        <p:nvSpPr>
          <p:cNvPr id="636" name="Google Shape;636;p24"/>
          <p:cNvSpPr txBox="1"/>
          <p:nvPr/>
        </p:nvSpPr>
        <p:spPr>
          <a:xfrm>
            <a:off x="1047750" y="4726034"/>
            <a:ext cx="6787356"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M = R(θa) · T(250, 0) · R(θb) · T(250, 0) → (426.78, 176.78)</a:t>
            </a:r>
            <a:endParaRPr b="0" i="0" sz="2000" u="none" cap="none" strike="noStrike">
              <a:solidFill>
                <a:schemeClr val="dk1"/>
              </a:solidFill>
              <a:latin typeface="Arial"/>
              <a:ea typeface="Arial"/>
              <a:cs typeface="Arial"/>
              <a:sym typeface="Arial"/>
            </a:endParaRPr>
          </a:p>
        </p:txBody>
      </p:sp>
      <p:sp>
        <p:nvSpPr>
          <p:cNvPr id="637" name="Google Shape;637;p24"/>
          <p:cNvSpPr/>
          <p:nvPr/>
        </p:nvSpPr>
        <p:spPr>
          <a:xfrm>
            <a:off x="6604000" y="698500"/>
            <a:ext cx="4775200" cy="3429000"/>
          </a:xfrm>
          <a:prstGeom prst="roundRect">
            <a:avLst>
              <a:gd fmla="val 518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ree-quarter view of the robotic arm on its base with the gripper open" id="638" name="Google Shape;638;p24"/>
          <p:cNvPicPr preferRelativeResize="0"/>
          <p:nvPr/>
        </p:nvPicPr>
        <p:blipFill rotWithShape="1">
          <a:blip r:embed="rId3">
            <a:alphaModFix/>
          </a:blip>
          <a:srcRect b="0" l="0" r="0" t="0"/>
          <a:stretch/>
        </p:blipFill>
        <p:spPr>
          <a:xfrm>
            <a:off x="6959600" y="863600"/>
            <a:ext cx="4064000" cy="3095625"/>
          </a:xfrm>
          <a:prstGeom prst="rect">
            <a:avLst/>
          </a:prstGeom>
          <a:noFill/>
          <a:ln>
            <a:noFill/>
          </a:ln>
        </p:spPr>
      </p:pic>
      <p:pic>
        <p:nvPicPr>
          <p:cNvPr descr="Three-quarter view of the real arm on its base with an arrow around the base showing that the whole arm turns about the vertical axis" id="639" name="Google Shape;639;p24"/>
          <p:cNvPicPr preferRelativeResize="0"/>
          <p:nvPr/>
        </p:nvPicPr>
        <p:blipFill rotWithShape="1">
          <a:blip r:embed="rId4">
            <a:alphaModFix/>
          </a:blip>
          <a:srcRect b="0" l="0" r="0" t="0"/>
          <a:stretch/>
        </p:blipFill>
        <p:spPr>
          <a:xfrm>
            <a:off x="6604000" y="698500"/>
            <a:ext cx="4775200" cy="3429000"/>
          </a:xfrm>
          <a:prstGeom prst="rect">
            <a:avLst/>
          </a:prstGeom>
          <a:noFill/>
          <a:ln>
            <a:noFill/>
          </a:ln>
        </p:spPr>
      </p:pic>
      <p:sp>
        <p:nvSpPr>
          <p:cNvPr id="640" name="Google Shape;640;p24"/>
          <p:cNvSpPr txBox="1"/>
          <p:nvPr/>
        </p:nvSpPr>
        <p:spPr>
          <a:xfrm>
            <a:off x="9459466" y="2546793"/>
            <a:ext cx="431800" cy="31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θB</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25"/>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THE BASE</a:t>
            </a:r>
            <a:endParaRPr b="0" i="0" sz="1200" u="none" cap="none" strike="noStrike">
              <a:solidFill>
                <a:schemeClr val="dk1"/>
              </a:solidFill>
              <a:latin typeface="Arial"/>
              <a:ea typeface="Arial"/>
              <a:cs typeface="Arial"/>
              <a:sym typeface="Arial"/>
            </a:endParaRPr>
          </a:p>
        </p:txBody>
      </p:sp>
      <p:sp>
        <p:nvSpPr>
          <p:cNvPr id="647" name="Google Shape;647;p25"/>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The Base Turns the Whole Arm</a:t>
            </a:r>
            <a:endParaRPr sz="2800"/>
          </a:p>
        </p:txBody>
      </p:sp>
      <p:sp>
        <p:nvSpPr>
          <p:cNvPr id="648" name="Google Shape;648;p25"/>
          <p:cNvSpPr/>
          <p:nvPr/>
        </p:nvSpPr>
        <p:spPr>
          <a:xfrm>
            <a:off x="815975" y="1979315"/>
            <a:ext cx="4438650" cy="565150"/>
          </a:xfrm>
          <a:prstGeom prst="roundRect">
            <a:avLst>
              <a:gd fmla="val 17416"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5"/>
          <p:cNvSpPr/>
          <p:nvPr/>
        </p:nvSpPr>
        <p:spPr>
          <a:xfrm>
            <a:off x="971550" y="2109490"/>
            <a:ext cx="304800" cy="3048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5"/>
          <p:cNvSpPr txBox="1"/>
          <p:nvPr/>
        </p:nvSpPr>
        <p:spPr>
          <a:xfrm>
            <a:off x="966978" y="2097636"/>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651" name="Google Shape;651;p25"/>
          <p:cNvSpPr txBox="1"/>
          <p:nvPr/>
        </p:nvSpPr>
        <p:spPr>
          <a:xfrm>
            <a:off x="1403350" y="2115758"/>
            <a:ext cx="3699371" cy="264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Day 1's flat arm sits in one vertical plane.</a:t>
            </a:r>
            <a:endParaRPr b="0" i="0" sz="1600" u="none" cap="none" strike="noStrike">
              <a:solidFill>
                <a:schemeClr val="dk1"/>
              </a:solidFill>
              <a:latin typeface="Arial"/>
              <a:ea typeface="Arial"/>
              <a:cs typeface="Arial"/>
              <a:sym typeface="Arial"/>
            </a:endParaRPr>
          </a:p>
        </p:txBody>
      </p:sp>
      <p:sp>
        <p:nvSpPr>
          <p:cNvPr id="652" name="Google Shape;652;p25"/>
          <p:cNvSpPr/>
          <p:nvPr/>
        </p:nvSpPr>
        <p:spPr>
          <a:xfrm>
            <a:off x="815975" y="2652415"/>
            <a:ext cx="4438650" cy="788591"/>
          </a:xfrm>
          <a:prstGeom prst="roundRect">
            <a:avLst>
              <a:gd fmla="val 12481"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5"/>
          <p:cNvSpPr/>
          <p:nvPr/>
        </p:nvSpPr>
        <p:spPr>
          <a:xfrm>
            <a:off x="971550" y="2894310"/>
            <a:ext cx="304800" cy="3048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5"/>
          <p:cNvSpPr txBox="1"/>
          <p:nvPr/>
        </p:nvSpPr>
        <p:spPr>
          <a:xfrm>
            <a:off x="966978" y="2882456"/>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655" name="Google Shape;655;p25"/>
          <p:cNvSpPr txBox="1"/>
          <p:nvPr/>
        </p:nvSpPr>
        <p:spPr>
          <a:xfrm>
            <a:off x="1403350" y="2758338"/>
            <a:ext cx="3843528" cy="55249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The base spins that whole plane around the vertical axis, by θB.</a:t>
            </a:r>
            <a:endParaRPr b="0" i="0" sz="1600" u="none" cap="none" strike="noStrike">
              <a:solidFill>
                <a:schemeClr val="dk1"/>
              </a:solidFill>
              <a:latin typeface="Arial"/>
              <a:ea typeface="Arial"/>
              <a:cs typeface="Arial"/>
              <a:sym typeface="Arial"/>
            </a:endParaRPr>
          </a:p>
        </p:txBody>
      </p:sp>
      <p:sp>
        <p:nvSpPr>
          <p:cNvPr id="656" name="Google Shape;656;p25"/>
          <p:cNvSpPr/>
          <p:nvPr/>
        </p:nvSpPr>
        <p:spPr>
          <a:xfrm>
            <a:off x="815975" y="3548955"/>
            <a:ext cx="4438650" cy="788591"/>
          </a:xfrm>
          <a:prstGeom prst="roundRect">
            <a:avLst>
              <a:gd fmla="val 12481"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5"/>
          <p:cNvSpPr/>
          <p:nvPr/>
        </p:nvSpPr>
        <p:spPr>
          <a:xfrm>
            <a:off x="971550" y="3790851"/>
            <a:ext cx="304800" cy="3048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txBox="1"/>
          <p:nvPr/>
        </p:nvSpPr>
        <p:spPr>
          <a:xfrm>
            <a:off x="966978" y="3778997"/>
            <a:ext cx="313944"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659" name="Google Shape;659;p25"/>
          <p:cNvSpPr txBox="1"/>
          <p:nvPr/>
        </p:nvSpPr>
        <p:spPr>
          <a:xfrm>
            <a:off x="1403350" y="3654879"/>
            <a:ext cx="3843528" cy="55249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So we need 3D: a point is (x, y, z), and each matrix is 4 × 4.</a:t>
            </a:r>
            <a:endParaRPr b="0" i="0" sz="1600" u="none" cap="none" strike="noStrike">
              <a:solidFill>
                <a:schemeClr val="dk1"/>
              </a:solidFill>
              <a:latin typeface="Arial"/>
              <a:ea typeface="Arial"/>
              <a:cs typeface="Arial"/>
              <a:sym typeface="Arial"/>
            </a:endParaRPr>
          </a:p>
        </p:txBody>
      </p:sp>
      <p:sp>
        <p:nvSpPr>
          <p:cNvPr id="660" name="Google Shape;660;p25"/>
          <p:cNvSpPr/>
          <p:nvPr/>
        </p:nvSpPr>
        <p:spPr>
          <a:xfrm>
            <a:off x="812800" y="4442321"/>
            <a:ext cx="4445000" cy="1064220"/>
          </a:xfrm>
          <a:prstGeom prst="roundRect">
            <a:avLst>
              <a:gd fmla="val 9547"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5"/>
          <p:cNvSpPr txBox="1"/>
          <p:nvPr/>
        </p:nvSpPr>
        <p:spPr>
          <a:xfrm>
            <a:off x="990600" y="4587664"/>
            <a:ext cx="4212082"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ONE CHANGE OF HABIT</a:t>
            </a:r>
            <a:endParaRPr b="0" i="0" sz="1200" u="none" cap="none" strike="noStrike">
              <a:solidFill>
                <a:schemeClr val="dk1"/>
              </a:solidFill>
              <a:latin typeface="Arial"/>
              <a:ea typeface="Arial"/>
              <a:cs typeface="Arial"/>
              <a:sym typeface="Arial"/>
            </a:endParaRPr>
          </a:p>
        </p:txBody>
      </p:sp>
      <p:sp>
        <p:nvSpPr>
          <p:cNvPr id="662" name="Google Shape;662;p25"/>
          <p:cNvSpPr txBox="1"/>
          <p:nvPr/>
        </p:nvSpPr>
        <p:spPr>
          <a:xfrm>
            <a:off x="990600" y="4842058"/>
            <a:ext cx="4252976" cy="512083"/>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From now on, z points up. Lesson 3 called the</a:t>
            </a:r>
            <a:br>
              <a:rPr b="0" i="0" lang="en-US" sz="1800" u="none" cap="none" strike="noStrike">
                <a:solidFill>
                  <a:schemeClr val="dk1"/>
                </a:solidFill>
                <a:latin typeface="Arial"/>
                <a:ea typeface="Arial"/>
                <a:cs typeface="Arial"/>
                <a:sym typeface="Arial"/>
              </a:rPr>
            </a:br>
            <a:r>
              <a:rPr b="0" i="0" lang="en-US" sz="1500" u="none" cap="none" strike="noStrike">
                <a:solidFill>
                  <a:srgbClr val="FFFFFF"/>
                </a:solidFill>
                <a:latin typeface="Arial"/>
                <a:ea typeface="Arial"/>
                <a:cs typeface="Arial"/>
                <a:sym typeface="Arial"/>
              </a:rPr>
              <a:t>up direction Y.</a:t>
            </a:r>
            <a:endParaRPr b="0" i="0" sz="1500" u="none" cap="none" strike="noStrike">
              <a:solidFill>
                <a:schemeClr val="dk1"/>
              </a:solidFill>
              <a:latin typeface="Arial"/>
              <a:ea typeface="Arial"/>
              <a:cs typeface="Arial"/>
              <a:sym typeface="Arial"/>
            </a:endParaRPr>
          </a:p>
        </p:txBody>
      </p:sp>
      <p:pic>
        <p:nvPicPr>
          <p:cNvPr descr="Top view of the robotic arm on its base, turned 45 degrees from the x axis" id="663" name="Google Shape;663;p25"/>
          <p:cNvPicPr preferRelativeResize="0"/>
          <p:nvPr/>
        </p:nvPicPr>
        <p:blipFill rotWithShape="1">
          <a:blip r:embed="rId3">
            <a:alphaModFix/>
          </a:blip>
          <a:srcRect b="0" l="0" r="0" t="0"/>
          <a:stretch/>
        </p:blipFill>
        <p:spPr>
          <a:xfrm>
            <a:off x="6426200" y="1874441"/>
            <a:ext cx="4064000" cy="4059535"/>
          </a:xfrm>
          <a:prstGeom prst="rect">
            <a:avLst/>
          </a:prstGeom>
          <a:noFill/>
          <a:ln>
            <a:noFill/>
          </a:ln>
        </p:spPr>
      </p:pic>
      <p:pic>
        <p:nvPicPr>
          <p:cNvPr descr="Top view of the real arm on its base. The base turns the arm's reach line from the x axis to 45 degrees counter-clockwise, and the angle theta B is marked." id="664" name="Google Shape;664;p25"/>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665" name="Google Shape;665;p25"/>
          <p:cNvSpPr txBox="1"/>
          <p:nvPr/>
        </p:nvSpPr>
        <p:spPr>
          <a:xfrm>
            <a:off x="9390906" y="3590815"/>
            <a:ext cx="958850" cy="2717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1" i="0" lang="en-US" sz="1700" u="none" cap="none" strike="noStrike">
                <a:solidFill>
                  <a:srgbClr val="FF0000"/>
                </a:solidFill>
                <a:latin typeface="Arial"/>
                <a:ea typeface="Arial"/>
                <a:cs typeface="Arial"/>
                <a:sym typeface="Arial"/>
              </a:rPr>
              <a:t>θB = 45°</a:t>
            </a:r>
            <a:endParaRPr b="0" i="0" sz="1700" u="none" cap="none" strike="noStrike">
              <a:solidFill>
                <a:schemeClr val="dk1"/>
              </a:solidFill>
              <a:latin typeface="Arial"/>
              <a:ea typeface="Arial"/>
              <a:cs typeface="Arial"/>
              <a:sym typeface="Arial"/>
            </a:endParaRPr>
          </a:p>
        </p:txBody>
      </p:sp>
      <p:sp>
        <p:nvSpPr>
          <p:cNvPr id="666" name="Google Shape;666;p25"/>
          <p:cNvSpPr txBox="1"/>
          <p:nvPr/>
        </p:nvSpPr>
        <p:spPr>
          <a:xfrm>
            <a:off x="9269016" y="4737231"/>
            <a:ext cx="698500" cy="226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θB = 0°</a:t>
            </a:r>
            <a:endParaRPr b="0" i="0" sz="1400" u="none" cap="none" strike="noStrike">
              <a:solidFill>
                <a:schemeClr val="dk1"/>
              </a:solidFill>
              <a:latin typeface="Arial"/>
              <a:ea typeface="Arial"/>
              <a:cs typeface="Arial"/>
              <a:sym typeface="Arial"/>
            </a:endParaRPr>
          </a:p>
        </p:txBody>
      </p:sp>
      <p:sp>
        <p:nvSpPr>
          <p:cNvPr id="667" name="Google Shape;667;p25"/>
          <p:cNvSpPr txBox="1"/>
          <p:nvPr/>
        </p:nvSpPr>
        <p:spPr>
          <a:xfrm>
            <a:off x="10426005" y="442955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x</a:t>
            </a:r>
            <a:endParaRPr b="0" i="0" sz="1600" u="none" cap="none" strike="noStrike">
              <a:solidFill>
                <a:schemeClr val="dk1"/>
              </a:solidFill>
              <a:latin typeface="Arial"/>
              <a:ea typeface="Arial"/>
              <a:cs typeface="Arial"/>
              <a:sym typeface="Arial"/>
            </a:endParaRPr>
          </a:p>
        </p:txBody>
      </p:sp>
      <p:sp>
        <p:nvSpPr>
          <p:cNvPr id="668" name="Google Shape;668;p25"/>
          <p:cNvSpPr txBox="1"/>
          <p:nvPr/>
        </p:nvSpPr>
        <p:spPr>
          <a:xfrm>
            <a:off x="7847905" y="1635559"/>
            <a:ext cx="222250" cy="256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y</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26"/>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THE FOUR NUMBERS</a:t>
            </a:r>
            <a:endParaRPr b="0" i="0" sz="1200" u="none" cap="none" strike="noStrike">
              <a:solidFill>
                <a:schemeClr val="dk1"/>
              </a:solidFill>
              <a:latin typeface="Arial"/>
              <a:ea typeface="Arial"/>
              <a:cs typeface="Arial"/>
              <a:sym typeface="Arial"/>
            </a:endParaRPr>
          </a:p>
        </p:txBody>
      </p:sp>
      <p:sp>
        <p:nvSpPr>
          <p:cNvPr id="675" name="Google Shape;675;p26"/>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Four Numbers Describe Each Joint</a:t>
            </a:r>
            <a:endParaRPr sz="2800"/>
          </a:p>
        </p:txBody>
      </p:sp>
      <p:sp>
        <p:nvSpPr>
          <p:cNvPr id="676" name="Google Shape;676;p26"/>
          <p:cNvSpPr txBox="1"/>
          <p:nvPr/>
        </p:nvSpPr>
        <p:spPr>
          <a:xfrm>
            <a:off x="812800" y="1492351"/>
            <a:ext cx="9728200" cy="6208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Each joint is four simple moves, and each move has one number. The values below are for joints 1, 2, 3: base, shoulder, elbow.</a:t>
            </a:r>
            <a:endParaRPr b="0" i="0" sz="1800" u="none" cap="none" strike="noStrike">
              <a:solidFill>
                <a:schemeClr val="dk1"/>
              </a:solidFill>
              <a:latin typeface="Arial"/>
              <a:ea typeface="Arial"/>
              <a:cs typeface="Arial"/>
              <a:sym typeface="Arial"/>
            </a:endParaRPr>
          </a:p>
        </p:txBody>
      </p:sp>
      <p:sp>
        <p:nvSpPr>
          <p:cNvPr id="677" name="Google Shape;677;p26"/>
          <p:cNvSpPr/>
          <p:nvPr/>
        </p:nvSpPr>
        <p:spPr>
          <a:xfrm>
            <a:off x="815975" y="2319536"/>
            <a:ext cx="2520950" cy="3625056"/>
          </a:xfrm>
          <a:prstGeom prst="roundRect">
            <a:avLst>
              <a:gd fmla="val 3904"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6"/>
          <p:cNvSpPr txBox="1"/>
          <p:nvPr/>
        </p:nvSpPr>
        <p:spPr>
          <a:xfrm>
            <a:off x="996950" y="2493454"/>
            <a:ext cx="222377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TURN AROUND z</a:t>
            </a:r>
            <a:endParaRPr b="0" i="0" sz="1200" u="none" cap="none" strike="noStrike">
              <a:solidFill>
                <a:schemeClr val="dk1"/>
              </a:solidFill>
              <a:latin typeface="Arial"/>
              <a:ea typeface="Arial"/>
              <a:cs typeface="Arial"/>
              <a:sym typeface="Arial"/>
            </a:endParaRPr>
          </a:p>
        </p:txBody>
      </p:sp>
      <p:sp>
        <p:nvSpPr>
          <p:cNvPr id="679" name="Google Shape;679;p26"/>
          <p:cNvSpPr txBox="1"/>
          <p:nvPr/>
        </p:nvSpPr>
        <p:spPr>
          <a:xfrm>
            <a:off x="996950" y="2708990"/>
            <a:ext cx="2223770" cy="805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5200"/>
              <a:buFont typeface="Arial"/>
              <a:buNone/>
            </a:pPr>
            <a:r>
              <a:rPr b="1" i="0" lang="en-US" sz="5200" u="none" cap="none" strike="noStrike">
                <a:solidFill>
                  <a:srgbClr val="000000"/>
                </a:solidFill>
                <a:latin typeface="Arial"/>
                <a:ea typeface="Arial"/>
                <a:cs typeface="Arial"/>
                <a:sym typeface="Arial"/>
              </a:rPr>
              <a:t>θ</a:t>
            </a:r>
            <a:endParaRPr b="0" i="0" sz="5200" u="none" cap="none" strike="noStrike">
              <a:solidFill>
                <a:schemeClr val="dk1"/>
              </a:solidFill>
              <a:latin typeface="Arial"/>
              <a:ea typeface="Arial"/>
              <a:cs typeface="Arial"/>
              <a:sym typeface="Arial"/>
            </a:endParaRPr>
          </a:p>
        </p:txBody>
      </p:sp>
      <p:sp>
        <p:nvSpPr>
          <p:cNvPr id="680" name="Google Shape;680;p26"/>
          <p:cNvSpPr txBox="1"/>
          <p:nvPr/>
        </p:nvSpPr>
        <p:spPr>
          <a:xfrm>
            <a:off x="996950" y="3553452"/>
            <a:ext cx="2223770"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joint angle</a:t>
            </a:r>
            <a:endParaRPr b="0" i="0" sz="1800" u="none" cap="none" strike="noStrike">
              <a:solidFill>
                <a:schemeClr val="dk1"/>
              </a:solidFill>
              <a:latin typeface="Arial"/>
              <a:ea typeface="Arial"/>
              <a:cs typeface="Arial"/>
              <a:sym typeface="Arial"/>
            </a:endParaRPr>
          </a:p>
        </p:txBody>
      </p:sp>
      <p:sp>
        <p:nvSpPr>
          <p:cNvPr id="681" name="Google Shape;681;p26"/>
          <p:cNvSpPr txBox="1"/>
          <p:nvPr/>
        </p:nvSpPr>
        <p:spPr>
          <a:xfrm>
            <a:off x="996950" y="3924384"/>
            <a:ext cx="2245360" cy="54065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34343"/>
              </a:buClr>
              <a:buSzPts val="1500"/>
              <a:buFont typeface="Arial"/>
              <a:buNone/>
            </a:pPr>
            <a:r>
              <a:rPr b="0" i="0" lang="en-US" sz="1500" u="none" cap="none" strike="noStrike">
                <a:solidFill>
                  <a:srgbClr val="434343"/>
                </a:solidFill>
                <a:latin typeface="Arial"/>
                <a:ea typeface="Arial"/>
                <a:cs typeface="Arial"/>
                <a:sym typeface="Arial"/>
              </a:rPr>
              <a:t>How far the joint has turned.</a:t>
            </a:r>
            <a:endParaRPr b="0" i="0" sz="1500" u="none" cap="none" strike="noStrike">
              <a:solidFill>
                <a:schemeClr val="dk1"/>
              </a:solidFill>
              <a:latin typeface="Arial"/>
              <a:ea typeface="Arial"/>
              <a:cs typeface="Arial"/>
              <a:sym typeface="Arial"/>
            </a:endParaRPr>
          </a:p>
        </p:txBody>
      </p:sp>
      <p:sp>
        <p:nvSpPr>
          <p:cNvPr id="682" name="Google Shape;682;p26"/>
          <p:cNvSpPr/>
          <p:nvPr/>
        </p:nvSpPr>
        <p:spPr>
          <a:xfrm>
            <a:off x="1000125" y="4848622"/>
            <a:ext cx="2152650" cy="911820"/>
          </a:xfrm>
          <a:prstGeom prst="roundRect">
            <a:avLst>
              <a:gd fmla="val 8009"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6"/>
          <p:cNvSpPr txBox="1"/>
          <p:nvPr/>
        </p:nvSpPr>
        <p:spPr>
          <a:xfrm>
            <a:off x="1117600" y="4933640"/>
            <a:ext cx="1975231"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OUR ARM</a:t>
            </a:r>
            <a:endParaRPr b="0" i="0" sz="1200" u="none" cap="none" strike="noStrike">
              <a:solidFill>
                <a:schemeClr val="dk1"/>
              </a:solidFill>
              <a:latin typeface="Arial"/>
              <a:ea typeface="Arial"/>
              <a:cs typeface="Arial"/>
              <a:sym typeface="Arial"/>
            </a:endParaRPr>
          </a:p>
        </p:txBody>
      </p:sp>
      <p:sp>
        <p:nvSpPr>
          <p:cNvPr id="684" name="Google Shape;684;p26"/>
          <p:cNvSpPr txBox="1"/>
          <p:nvPr/>
        </p:nvSpPr>
        <p:spPr>
          <a:xfrm>
            <a:off x="1117600" y="5178509"/>
            <a:ext cx="1994408" cy="48985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the only number that changes</a:t>
            </a:r>
            <a:endParaRPr b="0" i="0" sz="1500" u="none" cap="none" strike="noStrike">
              <a:solidFill>
                <a:schemeClr val="dk1"/>
              </a:solidFill>
              <a:latin typeface="Arial"/>
              <a:ea typeface="Arial"/>
              <a:cs typeface="Arial"/>
              <a:sym typeface="Arial"/>
            </a:endParaRPr>
          </a:p>
        </p:txBody>
      </p:sp>
      <p:sp>
        <p:nvSpPr>
          <p:cNvPr id="685" name="Google Shape;685;p26"/>
          <p:cNvSpPr/>
          <p:nvPr/>
        </p:nvSpPr>
        <p:spPr>
          <a:xfrm>
            <a:off x="3495675" y="2319536"/>
            <a:ext cx="2520950" cy="3625056"/>
          </a:xfrm>
          <a:prstGeom prst="roundRect">
            <a:avLst>
              <a:gd fmla="val 3904"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6"/>
          <p:cNvSpPr txBox="1"/>
          <p:nvPr/>
        </p:nvSpPr>
        <p:spPr>
          <a:xfrm>
            <a:off x="3676650" y="2493454"/>
            <a:ext cx="222377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SLIDE ALONG z</a:t>
            </a:r>
            <a:endParaRPr b="0" i="0" sz="1200" u="none" cap="none" strike="noStrike">
              <a:solidFill>
                <a:schemeClr val="dk1"/>
              </a:solidFill>
              <a:latin typeface="Arial"/>
              <a:ea typeface="Arial"/>
              <a:cs typeface="Arial"/>
              <a:sym typeface="Arial"/>
            </a:endParaRPr>
          </a:p>
        </p:txBody>
      </p:sp>
      <p:sp>
        <p:nvSpPr>
          <p:cNvPr id="687" name="Google Shape;687;p26"/>
          <p:cNvSpPr txBox="1"/>
          <p:nvPr/>
        </p:nvSpPr>
        <p:spPr>
          <a:xfrm>
            <a:off x="3676650" y="2708990"/>
            <a:ext cx="2223770" cy="805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5200"/>
              <a:buFont typeface="Arial"/>
              <a:buNone/>
            </a:pPr>
            <a:r>
              <a:rPr b="1" i="0" lang="en-US" sz="5200" u="none" cap="none" strike="noStrike">
                <a:solidFill>
                  <a:srgbClr val="000000"/>
                </a:solidFill>
                <a:latin typeface="Arial"/>
                <a:ea typeface="Arial"/>
                <a:cs typeface="Arial"/>
                <a:sym typeface="Arial"/>
              </a:rPr>
              <a:t>d</a:t>
            </a:r>
            <a:endParaRPr b="0" i="0" sz="5200" u="none" cap="none" strike="noStrike">
              <a:solidFill>
                <a:schemeClr val="dk1"/>
              </a:solidFill>
              <a:latin typeface="Arial"/>
              <a:ea typeface="Arial"/>
              <a:cs typeface="Arial"/>
              <a:sym typeface="Arial"/>
            </a:endParaRPr>
          </a:p>
        </p:txBody>
      </p:sp>
      <p:sp>
        <p:nvSpPr>
          <p:cNvPr id="688" name="Google Shape;688;p26"/>
          <p:cNvSpPr txBox="1"/>
          <p:nvPr/>
        </p:nvSpPr>
        <p:spPr>
          <a:xfrm>
            <a:off x="3676650" y="3553452"/>
            <a:ext cx="2223770"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offset</a:t>
            </a:r>
            <a:endParaRPr b="0" i="0" sz="1800" u="none" cap="none" strike="noStrike">
              <a:solidFill>
                <a:schemeClr val="dk1"/>
              </a:solidFill>
              <a:latin typeface="Arial"/>
              <a:ea typeface="Arial"/>
              <a:cs typeface="Arial"/>
              <a:sym typeface="Arial"/>
            </a:endParaRPr>
          </a:p>
        </p:txBody>
      </p:sp>
      <p:sp>
        <p:nvSpPr>
          <p:cNvPr id="689" name="Google Shape;689;p26"/>
          <p:cNvSpPr txBox="1"/>
          <p:nvPr/>
        </p:nvSpPr>
        <p:spPr>
          <a:xfrm>
            <a:off x="3676650" y="3924384"/>
            <a:ext cx="2245360" cy="797833"/>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34343"/>
              </a:buClr>
              <a:buSzPts val="1500"/>
              <a:buFont typeface="Arial"/>
              <a:buNone/>
            </a:pPr>
            <a:r>
              <a:rPr b="0" i="0" lang="en-US" sz="1500" u="none" cap="none" strike="noStrike">
                <a:solidFill>
                  <a:srgbClr val="434343"/>
                </a:solidFill>
                <a:latin typeface="Arial"/>
                <a:ea typeface="Arial"/>
                <a:cs typeface="Arial"/>
                <a:sym typeface="Arial"/>
              </a:rPr>
              <a:t>How far the next link is shifted along the joint's axis.</a:t>
            </a:r>
            <a:endParaRPr b="0" i="0" sz="1500" u="none" cap="none" strike="noStrike">
              <a:solidFill>
                <a:schemeClr val="dk1"/>
              </a:solidFill>
              <a:latin typeface="Arial"/>
              <a:ea typeface="Arial"/>
              <a:cs typeface="Arial"/>
              <a:sym typeface="Arial"/>
            </a:endParaRPr>
          </a:p>
        </p:txBody>
      </p:sp>
      <p:sp>
        <p:nvSpPr>
          <p:cNvPr id="690" name="Google Shape;690;p26"/>
          <p:cNvSpPr/>
          <p:nvPr/>
        </p:nvSpPr>
        <p:spPr>
          <a:xfrm>
            <a:off x="3679825" y="4852392"/>
            <a:ext cx="2152650" cy="908050"/>
          </a:xfrm>
          <a:prstGeom prst="roundRect">
            <a:avLst>
              <a:gd fmla="val 804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6"/>
          <p:cNvSpPr txBox="1"/>
          <p:nvPr/>
        </p:nvSpPr>
        <p:spPr>
          <a:xfrm>
            <a:off x="3797300" y="4937411"/>
            <a:ext cx="1975231"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OUR ARM</a:t>
            </a:r>
            <a:endParaRPr b="0" i="0" sz="1200" u="none" cap="none" strike="noStrike">
              <a:solidFill>
                <a:schemeClr val="dk1"/>
              </a:solidFill>
              <a:latin typeface="Arial"/>
              <a:ea typeface="Arial"/>
              <a:cs typeface="Arial"/>
              <a:sym typeface="Arial"/>
            </a:endParaRPr>
          </a:p>
        </p:txBody>
      </p:sp>
      <p:sp>
        <p:nvSpPr>
          <p:cNvPr id="692" name="Google Shape;692;p26"/>
          <p:cNvSpPr txBox="1"/>
          <p:nvPr/>
        </p:nvSpPr>
        <p:spPr>
          <a:xfrm>
            <a:off x="3797300" y="5185454"/>
            <a:ext cx="1975231"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0 · 0 · 0</a:t>
            </a:r>
            <a:endParaRPr b="0" i="0" sz="1500" u="none" cap="none" strike="noStrike">
              <a:solidFill>
                <a:schemeClr val="dk1"/>
              </a:solidFill>
              <a:latin typeface="Arial"/>
              <a:ea typeface="Arial"/>
              <a:cs typeface="Arial"/>
              <a:sym typeface="Arial"/>
            </a:endParaRPr>
          </a:p>
        </p:txBody>
      </p:sp>
      <p:sp>
        <p:nvSpPr>
          <p:cNvPr id="693" name="Google Shape;693;p26"/>
          <p:cNvSpPr/>
          <p:nvPr/>
        </p:nvSpPr>
        <p:spPr>
          <a:xfrm>
            <a:off x="6175375" y="2319536"/>
            <a:ext cx="2520950" cy="3625056"/>
          </a:xfrm>
          <a:prstGeom prst="roundRect">
            <a:avLst>
              <a:gd fmla="val 3904"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6"/>
          <p:cNvSpPr txBox="1"/>
          <p:nvPr/>
        </p:nvSpPr>
        <p:spPr>
          <a:xfrm>
            <a:off x="6356350" y="2493454"/>
            <a:ext cx="222377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SLIDE ALONG x</a:t>
            </a:r>
            <a:endParaRPr b="0" i="0" sz="1200" u="none" cap="none" strike="noStrike">
              <a:solidFill>
                <a:schemeClr val="dk1"/>
              </a:solidFill>
              <a:latin typeface="Arial"/>
              <a:ea typeface="Arial"/>
              <a:cs typeface="Arial"/>
              <a:sym typeface="Arial"/>
            </a:endParaRPr>
          </a:p>
        </p:txBody>
      </p:sp>
      <p:sp>
        <p:nvSpPr>
          <p:cNvPr id="695" name="Google Shape;695;p26"/>
          <p:cNvSpPr txBox="1"/>
          <p:nvPr/>
        </p:nvSpPr>
        <p:spPr>
          <a:xfrm>
            <a:off x="6356350" y="2708990"/>
            <a:ext cx="2223770" cy="805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5200"/>
              <a:buFont typeface="Arial"/>
              <a:buNone/>
            </a:pPr>
            <a:r>
              <a:rPr b="1" i="0" lang="en-US" sz="5200" u="none" cap="none" strike="noStrike">
                <a:solidFill>
                  <a:srgbClr val="000000"/>
                </a:solidFill>
                <a:latin typeface="Arial"/>
                <a:ea typeface="Arial"/>
                <a:cs typeface="Arial"/>
                <a:sym typeface="Arial"/>
              </a:rPr>
              <a:t>a</a:t>
            </a:r>
            <a:endParaRPr b="0" i="0" sz="5200" u="none" cap="none" strike="noStrike">
              <a:solidFill>
                <a:schemeClr val="dk1"/>
              </a:solidFill>
              <a:latin typeface="Arial"/>
              <a:ea typeface="Arial"/>
              <a:cs typeface="Arial"/>
              <a:sym typeface="Arial"/>
            </a:endParaRPr>
          </a:p>
        </p:txBody>
      </p:sp>
      <p:sp>
        <p:nvSpPr>
          <p:cNvPr id="696" name="Google Shape;696;p26"/>
          <p:cNvSpPr txBox="1"/>
          <p:nvPr/>
        </p:nvSpPr>
        <p:spPr>
          <a:xfrm>
            <a:off x="6356350" y="3553452"/>
            <a:ext cx="2223770"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link length</a:t>
            </a:r>
            <a:endParaRPr b="0" i="0" sz="1800" u="none" cap="none" strike="noStrike">
              <a:solidFill>
                <a:schemeClr val="dk1"/>
              </a:solidFill>
              <a:latin typeface="Arial"/>
              <a:ea typeface="Arial"/>
              <a:cs typeface="Arial"/>
              <a:sym typeface="Arial"/>
            </a:endParaRPr>
          </a:p>
        </p:txBody>
      </p:sp>
      <p:sp>
        <p:nvSpPr>
          <p:cNvPr id="697" name="Google Shape;697;p26"/>
          <p:cNvSpPr txBox="1"/>
          <p:nvPr/>
        </p:nvSpPr>
        <p:spPr>
          <a:xfrm>
            <a:off x="6356350" y="3938672"/>
            <a:ext cx="2223770" cy="257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500"/>
              <a:buFont typeface="Arial"/>
              <a:buNone/>
            </a:pPr>
            <a:r>
              <a:rPr b="0" i="0" lang="en-US" sz="1500" u="none" cap="none" strike="noStrike">
                <a:solidFill>
                  <a:srgbClr val="434343"/>
                </a:solidFill>
                <a:latin typeface="Arial"/>
                <a:ea typeface="Arial"/>
                <a:cs typeface="Arial"/>
                <a:sym typeface="Arial"/>
              </a:rPr>
              <a:t>How long the link is.</a:t>
            </a:r>
            <a:endParaRPr b="0" i="0" sz="1500" u="none" cap="none" strike="noStrike">
              <a:solidFill>
                <a:schemeClr val="dk1"/>
              </a:solidFill>
              <a:latin typeface="Arial"/>
              <a:ea typeface="Arial"/>
              <a:cs typeface="Arial"/>
              <a:sym typeface="Arial"/>
            </a:endParaRPr>
          </a:p>
        </p:txBody>
      </p:sp>
      <p:sp>
        <p:nvSpPr>
          <p:cNvPr id="698" name="Google Shape;698;p26"/>
          <p:cNvSpPr/>
          <p:nvPr/>
        </p:nvSpPr>
        <p:spPr>
          <a:xfrm>
            <a:off x="6359525" y="4852392"/>
            <a:ext cx="2152650" cy="908050"/>
          </a:xfrm>
          <a:prstGeom prst="roundRect">
            <a:avLst>
              <a:gd fmla="val 804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txBox="1"/>
          <p:nvPr/>
        </p:nvSpPr>
        <p:spPr>
          <a:xfrm>
            <a:off x="6477000" y="4937411"/>
            <a:ext cx="1975231"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OUR ARM</a:t>
            </a:r>
            <a:endParaRPr b="0" i="0" sz="1200" u="none" cap="none" strike="noStrike">
              <a:solidFill>
                <a:schemeClr val="dk1"/>
              </a:solidFill>
              <a:latin typeface="Arial"/>
              <a:ea typeface="Arial"/>
              <a:cs typeface="Arial"/>
              <a:sym typeface="Arial"/>
            </a:endParaRPr>
          </a:p>
        </p:txBody>
      </p:sp>
      <p:sp>
        <p:nvSpPr>
          <p:cNvPr id="700" name="Google Shape;700;p26"/>
          <p:cNvSpPr txBox="1"/>
          <p:nvPr/>
        </p:nvSpPr>
        <p:spPr>
          <a:xfrm>
            <a:off x="6477000" y="5185454"/>
            <a:ext cx="1975231"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0 · 250 · 250 mm</a:t>
            </a:r>
            <a:endParaRPr b="0" i="0" sz="1500" u="none" cap="none" strike="noStrike">
              <a:solidFill>
                <a:schemeClr val="dk1"/>
              </a:solidFill>
              <a:latin typeface="Arial"/>
              <a:ea typeface="Arial"/>
              <a:cs typeface="Arial"/>
              <a:sym typeface="Arial"/>
            </a:endParaRPr>
          </a:p>
        </p:txBody>
      </p:sp>
      <p:sp>
        <p:nvSpPr>
          <p:cNvPr id="701" name="Google Shape;701;p26"/>
          <p:cNvSpPr/>
          <p:nvPr/>
        </p:nvSpPr>
        <p:spPr>
          <a:xfrm>
            <a:off x="8855075" y="2319536"/>
            <a:ext cx="2520950" cy="3625056"/>
          </a:xfrm>
          <a:prstGeom prst="roundRect">
            <a:avLst>
              <a:gd fmla="val 3904"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6"/>
          <p:cNvSpPr txBox="1"/>
          <p:nvPr/>
        </p:nvSpPr>
        <p:spPr>
          <a:xfrm>
            <a:off x="9036050" y="2493454"/>
            <a:ext cx="222377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TURN AROUND x</a:t>
            </a:r>
            <a:endParaRPr b="0" i="0" sz="1200" u="none" cap="none" strike="noStrike">
              <a:solidFill>
                <a:schemeClr val="dk1"/>
              </a:solidFill>
              <a:latin typeface="Arial"/>
              <a:ea typeface="Arial"/>
              <a:cs typeface="Arial"/>
              <a:sym typeface="Arial"/>
            </a:endParaRPr>
          </a:p>
        </p:txBody>
      </p:sp>
      <p:sp>
        <p:nvSpPr>
          <p:cNvPr id="703" name="Google Shape;703;p26"/>
          <p:cNvSpPr txBox="1"/>
          <p:nvPr/>
        </p:nvSpPr>
        <p:spPr>
          <a:xfrm>
            <a:off x="9036050" y="2708990"/>
            <a:ext cx="2223770" cy="805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5200"/>
              <a:buFont typeface="Arial"/>
              <a:buNone/>
            </a:pPr>
            <a:r>
              <a:rPr b="1" i="0" lang="en-US" sz="5200" u="none" cap="none" strike="noStrike">
                <a:solidFill>
                  <a:srgbClr val="000000"/>
                </a:solidFill>
                <a:latin typeface="Arial"/>
                <a:ea typeface="Arial"/>
                <a:cs typeface="Arial"/>
                <a:sym typeface="Arial"/>
              </a:rPr>
              <a:t>α</a:t>
            </a:r>
            <a:endParaRPr b="0" i="0" sz="5200" u="none" cap="none" strike="noStrike">
              <a:solidFill>
                <a:schemeClr val="dk1"/>
              </a:solidFill>
              <a:latin typeface="Arial"/>
              <a:ea typeface="Arial"/>
              <a:cs typeface="Arial"/>
              <a:sym typeface="Arial"/>
            </a:endParaRPr>
          </a:p>
        </p:txBody>
      </p:sp>
      <p:sp>
        <p:nvSpPr>
          <p:cNvPr id="704" name="Google Shape;704;p26"/>
          <p:cNvSpPr txBox="1"/>
          <p:nvPr/>
        </p:nvSpPr>
        <p:spPr>
          <a:xfrm>
            <a:off x="9036050" y="3553452"/>
            <a:ext cx="2223770" cy="3199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link twist</a:t>
            </a:r>
            <a:endParaRPr b="0" i="0" sz="1800" u="none" cap="none" strike="noStrike">
              <a:solidFill>
                <a:schemeClr val="dk1"/>
              </a:solidFill>
              <a:latin typeface="Arial"/>
              <a:ea typeface="Arial"/>
              <a:cs typeface="Arial"/>
              <a:sym typeface="Arial"/>
            </a:endParaRPr>
          </a:p>
        </p:txBody>
      </p:sp>
      <p:sp>
        <p:nvSpPr>
          <p:cNvPr id="705" name="Google Shape;705;p26"/>
          <p:cNvSpPr txBox="1"/>
          <p:nvPr/>
        </p:nvSpPr>
        <p:spPr>
          <a:xfrm>
            <a:off x="9036050" y="3924384"/>
            <a:ext cx="2245360" cy="540658"/>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434343"/>
              </a:buClr>
              <a:buSzPts val="1500"/>
              <a:buFont typeface="Arial"/>
              <a:buNone/>
            </a:pPr>
            <a:r>
              <a:rPr b="0" i="0" lang="en-US" sz="1500" u="none" cap="none" strike="noStrike">
                <a:solidFill>
                  <a:srgbClr val="434343"/>
                </a:solidFill>
                <a:latin typeface="Arial"/>
                <a:ea typeface="Arial"/>
                <a:cs typeface="Arial"/>
                <a:sym typeface="Arial"/>
              </a:rPr>
              <a:t>How much the next</a:t>
            </a:r>
            <a:br>
              <a:rPr b="0" i="0" lang="en-US" sz="1800" u="none" cap="none" strike="noStrike">
                <a:solidFill>
                  <a:schemeClr val="dk1"/>
                </a:solidFill>
                <a:latin typeface="Arial"/>
                <a:ea typeface="Arial"/>
                <a:cs typeface="Arial"/>
                <a:sym typeface="Arial"/>
              </a:rPr>
            </a:br>
            <a:r>
              <a:rPr b="0" i="0" lang="en-US" sz="1500" u="none" cap="none" strike="noStrike">
                <a:solidFill>
                  <a:srgbClr val="434343"/>
                </a:solidFill>
                <a:latin typeface="Arial"/>
                <a:ea typeface="Arial"/>
                <a:cs typeface="Arial"/>
                <a:sym typeface="Arial"/>
              </a:rPr>
              <a:t>joint's axis is tilted.</a:t>
            </a:r>
            <a:endParaRPr b="0" i="0" sz="1500" u="none" cap="none" strike="noStrike">
              <a:solidFill>
                <a:schemeClr val="dk1"/>
              </a:solidFill>
              <a:latin typeface="Arial"/>
              <a:ea typeface="Arial"/>
              <a:cs typeface="Arial"/>
              <a:sym typeface="Arial"/>
            </a:endParaRPr>
          </a:p>
        </p:txBody>
      </p:sp>
      <p:sp>
        <p:nvSpPr>
          <p:cNvPr id="706" name="Google Shape;706;p26"/>
          <p:cNvSpPr/>
          <p:nvPr/>
        </p:nvSpPr>
        <p:spPr>
          <a:xfrm>
            <a:off x="9039225" y="4852392"/>
            <a:ext cx="2152650" cy="908050"/>
          </a:xfrm>
          <a:prstGeom prst="roundRect">
            <a:avLst>
              <a:gd fmla="val 804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6"/>
          <p:cNvSpPr txBox="1"/>
          <p:nvPr/>
        </p:nvSpPr>
        <p:spPr>
          <a:xfrm>
            <a:off x="9156700" y="4937411"/>
            <a:ext cx="1975231"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OUR ARM</a:t>
            </a:r>
            <a:endParaRPr b="0" i="0" sz="1200" u="none" cap="none" strike="noStrike">
              <a:solidFill>
                <a:schemeClr val="dk1"/>
              </a:solidFill>
              <a:latin typeface="Arial"/>
              <a:ea typeface="Arial"/>
              <a:cs typeface="Arial"/>
              <a:sym typeface="Arial"/>
            </a:endParaRPr>
          </a:p>
        </p:txBody>
      </p:sp>
      <p:sp>
        <p:nvSpPr>
          <p:cNvPr id="708" name="Google Shape;708;p26"/>
          <p:cNvSpPr txBox="1"/>
          <p:nvPr/>
        </p:nvSpPr>
        <p:spPr>
          <a:xfrm>
            <a:off x="9156700" y="5185454"/>
            <a:ext cx="1975231"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90° · 0° · 0°</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709" name="Google Shape;709;p26"/>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each link marked as 250 millimetres long" id="710" name="Google Shape;710;p26"/>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711" name="Google Shape;711;p26"/>
          <p:cNvSpPr/>
          <p:nvPr/>
        </p:nvSpPr>
        <p:spPr>
          <a:xfrm>
            <a:off x="8478441" y="638770"/>
            <a:ext cx="66040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6"/>
          <p:cNvSpPr txBox="1"/>
          <p:nvPr/>
        </p:nvSpPr>
        <p:spPr>
          <a:xfrm>
            <a:off x="8478441" y="630424"/>
            <a:ext cx="6604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 = 250</a:t>
            </a:r>
            <a:endParaRPr b="0" i="0" sz="1200" u="none" cap="none" strike="noStrike">
              <a:solidFill>
                <a:schemeClr val="dk1"/>
              </a:solidFill>
              <a:latin typeface="Arial"/>
              <a:ea typeface="Arial"/>
              <a:cs typeface="Arial"/>
              <a:sym typeface="Arial"/>
            </a:endParaRPr>
          </a:p>
        </p:txBody>
      </p:sp>
      <p:sp>
        <p:nvSpPr>
          <p:cNvPr id="713" name="Google Shape;713;p26"/>
          <p:cNvSpPr/>
          <p:nvPr/>
        </p:nvSpPr>
        <p:spPr>
          <a:xfrm>
            <a:off x="9790410" y="744141"/>
            <a:ext cx="66040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6"/>
          <p:cNvSpPr txBox="1"/>
          <p:nvPr/>
        </p:nvSpPr>
        <p:spPr>
          <a:xfrm>
            <a:off x="9790410" y="735794"/>
            <a:ext cx="6604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 = 250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27"/>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THE DH MATRIX</a:t>
            </a:r>
            <a:endParaRPr b="0" i="0" sz="1200" u="none" cap="none" strike="noStrike">
              <a:solidFill>
                <a:schemeClr val="dk1"/>
              </a:solidFill>
              <a:latin typeface="Arial"/>
              <a:ea typeface="Arial"/>
              <a:cs typeface="Arial"/>
              <a:sym typeface="Arial"/>
            </a:endParaRPr>
          </a:p>
        </p:txBody>
      </p:sp>
      <p:sp>
        <p:nvSpPr>
          <p:cNvPr id="721" name="Google Shape;721;p27"/>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One Matrix per Joint</a:t>
            </a:r>
            <a:endParaRPr sz="2800"/>
          </a:p>
        </p:txBody>
      </p:sp>
      <p:sp>
        <p:nvSpPr>
          <p:cNvPr id="722" name="Google Shape;722;p27"/>
          <p:cNvSpPr/>
          <p:nvPr/>
        </p:nvSpPr>
        <p:spPr>
          <a:xfrm>
            <a:off x="812800" y="1518841"/>
            <a:ext cx="10566400" cy="952401"/>
          </a:xfrm>
          <a:prstGeom prst="roundRect">
            <a:avLst>
              <a:gd fmla="val 10668"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7"/>
          <p:cNvSpPr txBox="1"/>
          <p:nvPr/>
        </p:nvSpPr>
        <p:spPr>
          <a:xfrm>
            <a:off x="1016000" y="1649468"/>
            <a:ext cx="10414000" cy="378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A = Rz(θ) · Tz(d) · Tx(a) · Rx(α)</a:t>
            </a:r>
            <a:endParaRPr b="0" i="0" sz="2400" u="none" cap="none" strike="noStrike">
              <a:solidFill>
                <a:schemeClr val="dk1"/>
              </a:solidFill>
              <a:latin typeface="Arial"/>
              <a:ea typeface="Arial"/>
              <a:cs typeface="Arial"/>
              <a:sym typeface="Arial"/>
            </a:endParaRPr>
          </a:p>
        </p:txBody>
      </p:sp>
      <p:sp>
        <p:nvSpPr>
          <p:cNvPr id="724" name="Google Shape;724;p27"/>
          <p:cNvSpPr txBox="1"/>
          <p:nvPr/>
        </p:nvSpPr>
        <p:spPr>
          <a:xfrm>
            <a:off x="1016000" y="2074667"/>
            <a:ext cx="104140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400"/>
              <a:buFont typeface="Arial"/>
              <a:buNone/>
            </a:pPr>
            <a:r>
              <a:rPr b="0" i="0" lang="en-US" sz="1400" u="none" cap="none" strike="noStrike">
                <a:solidFill>
                  <a:srgbClr val="CCCCCC"/>
                </a:solidFill>
                <a:latin typeface="Arial"/>
                <a:ea typeface="Arial"/>
                <a:cs typeface="Arial"/>
                <a:sym typeface="Arial"/>
              </a:rPr>
              <a:t>turn about z, slide along z, slide along x, turn about x</a:t>
            </a:r>
            <a:endParaRPr b="0" i="0" sz="1400" u="none" cap="none" strike="noStrike">
              <a:solidFill>
                <a:schemeClr val="dk1"/>
              </a:solidFill>
              <a:latin typeface="Arial"/>
              <a:ea typeface="Arial"/>
              <a:cs typeface="Arial"/>
              <a:sym typeface="Arial"/>
            </a:endParaRPr>
          </a:p>
        </p:txBody>
      </p:sp>
      <p:sp>
        <p:nvSpPr>
          <p:cNvPr id="725" name="Google Shape;725;p27"/>
          <p:cNvSpPr/>
          <p:nvPr/>
        </p:nvSpPr>
        <p:spPr>
          <a:xfrm>
            <a:off x="815975" y="2677616"/>
            <a:ext cx="7169150" cy="3323233"/>
          </a:xfrm>
          <a:prstGeom prst="roundRect">
            <a:avLst>
              <a:gd fmla="val 296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7"/>
          <p:cNvSpPr txBox="1"/>
          <p:nvPr/>
        </p:nvSpPr>
        <p:spPr>
          <a:xfrm>
            <a:off x="1505148" y="4091672"/>
            <a:ext cx="523478"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A =</a:t>
            </a:r>
            <a:endParaRPr b="0" i="0" sz="2600" u="none" cap="none" strike="noStrike">
              <a:solidFill>
                <a:schemeClr val="dk1"/>
              </a:solidFill>
              <a:latin typeface="Arial"/>
              <a:ea typeface="Arial"/>
              <a:cs typeface="Arial"/>
              <a:sym typeface="Arial"/>
            </a:endParaRPr>
          </a:p>
        </p:txBody>
      </p:sp>
      <p:sp>
        <p:nvSpPr>
          <p:cNvPr id="727" name="Google Shape;727;p27"/>
          <p:cNvSpPr/>
          <p:nvPr/>
        </p:nvSpPr>
        <p:spPr>
          <a:xfrm>
            <a:off x="2142927" y="3488333"/>
            <a:ext cx="114300" cy="1701800"/>
          </a:xfrm>
          <a:custGeom>
            <a:rect b="b" l="l" r="r" t="t"/>
            <a:pathLst>
              <a:path extrusionOk="0" h="1701800" w="114300">
                <a:moveTo>
                  <a:pt x="114300" y="0"/>
                </a:moveTo>
                <a:lnTo>
                  <a:pt x="0" y="0"/>
                </a:lnTo>
                <a:lnTo>
                  <a:pt x="0" y="1701800"/>
                </a:lnTo>
                <a:lnTo>
                  <a:pt x="114300" y="1701800"/>
                </a:lnTo>
                <a:lnTo>
                  <a:pt x="114300" y="1676400"/>
                </a:lnTo>
                <a:lnTo>
                  <a:pt x="25400" y="1676400"/>
                </a:lnTo>
                <a:lnTo>
                  <a:pt x="25400" y="25400"/>
                </a:lnTo>
                <a:lnTo>
                  <a:pt x="114300" y="25400"/>
                </a:lnTo>
                <a:close/>
              </a:path>
            </a:pathLst>
          </a:custGeom>
          <a:solidFill>
            <a:srgbClr val="000000"/>
          </a:solidFill>
          <a:ln>
            <a:noFill/>
          </a:ln>
        </p:spPr>
      </p:sp>
      <p:sp>
        <p:nvSpPr>
          <p:cNvPr id="728" name="Google Shape;728;p27"/>
          <p:cNvSpPr txBox="1"/>
          <p:nvPr/>
        </p:nvSpPr>
        <p:spPr>
          <a:xfrm>
            <a:off x="2365177" y="3542155"/>
            <a:ext cx="61982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cos θ</a:t>
            </a:r>
            <a:endParaRPr b="0" i="0" sz="2000" u="none" cap="none" strike="noStrike">
              <a:solidFill>
                <a:schemeClr val="dk1"/>
              </a:solidFill>
              <a:latin typeface="Arial"/>
              <a:ea typeface="Arial"/>
              <a:cs typeface="Arial"/>
              <a:sym typeface="Arial"/>
            </a:endParaRPr>
          </a:p>
        </p:txBody>
      </p:sp>
      <p:sp>
        <p:nvSpPr>
          <p:cNvPr id="729" name="Google Shape;729;p27"/>
          <p:cNvSpPr txBox="1"/>
          <p:nvPr/>
        </p:nvSpPr>
        <p:spPr>
          <a:xfrm>
            <a:off x="3150096" y="3542155"/>
            <a:ext cx="1380827"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−sin θ cos α</a:t>
            </a:r>
            <a:endParaRPr b="0" i="0" sz="2000" u="none" cap="none" strike="noStrike">
              <a:solidFill>
                <a:schemeClr val="dk1"/>
              </a:solidFill>
              <a:latin typeface="Arial"/>
              <a:ea typeface="Arial"/>
              <a:cs typeface="Arial"/>
              <a:sym typeface="Arial"/>
            </a:endParaRPr>
          </a:p>
        </p:txBody>
      </p:sp>
      <p:sp>
        <p:nvSpPr>
          <p:cNvPr id="730" name="Google Shape;730;p27"/>
          <p:cNvSpPr txBox="1"/>
          <p:nvPr/>
        </p:nvSpPr>
        <p:spPr>
          <a:xfrm>
            <a:off x="4681852" y="3542155"/>
            <a:ext cx="14091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sin θ sin α</a:t>
            </a:r>
            <a:endParaRPr b="0" i="0" sz="2000" u="none" cap="none" strike="noStrike">
              <a:solidFill>
                <a:schemeClr val="dk1"/>
              </a:solidFill>
              <a:latin typeface="Arial"/>
              <a:ea typeface="Arial"/>
              <a:cs typeface="Arial"/>
              <a:sym typeface="Arial"/>
            </a:endParaRPr>
          </a:p>
        </p:txBody>
      </p:sp>
      <p:sp>
        <p:nvSpPr>
          <p:cNvPr id="731" name="Google Shape;731;p27"/>
          <p:cNvSpPr txBox="1"/>
          <p:nvPr/>
        </p:nvSpPr>
        <p:spPr>
          <a:xfrm>
            <a:off x="6241951" y="3542155"/>
            <a:ext cx="831652"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a cos θ</a:t>
            </a:r>
            <a:endParaRPr b="0" i="0" sz="2000" u="none" cap="none" strike="noStrike">
              <a:solidFill>
                <a:schemeClr val="dk1"/>
              </a:solidFill>
              <a:latin typeface="Arial"/>
              <a:ea typeface="Arial"/>
              <a:cs typeface="Arial"/>
              <a:sym typeface="Arial"/>
            </a:endParaRPr>
          </a:p>
        </p:txBody>
      </p:sp>
      <p:sp>
        <p:nvSpPr>
          <p:cNvPr id="732" name="Google Shape;732;p27"/>
          <p:cNvSpPr txBox="1"/>
          <p:nvPr/>
        </p:nvSpPr>
        <p:spPr>
          <a:xfrm>
            <a:off x="2362420" y="3948555"/>
            <a:ext cx="62533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sin θ</a:t>
            </a:r>
            <a:endParaRPr b="0" i="0" sz="2000" u="none" cap="none" strike="noStrike">
              <a:solidFill>
                <a:schemeClr val="dk1"/>
              </a:solidFill>
              <a:latin typeface="Arial"/>
              <a:ea typeface="Arial"/>
              <a:cs typeface="Arial"/>
              <a:sym typeface="Arial"/>
            </a:endParaRPr>
          </a:p>
        </p:txBody>
      </p:sp>
      <p:sp>
        <p:nvSpPr>
          <p:cNvPr id="733" name="Google Shape;733;p27"/>
          <p:cNvSpPr txBox="1"/>
          <p:nvPr/>
        </p:nvSpPr>
        <p:spPr>
          <a:xfrm>
            <a:off x="3156446" y="3948555"/>
            <a:ext cx="1368127"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cos θ cos α</a:t>
            </a:r>
            <a:endParaRPr b="0" i="0" sz="2000" u="none" cap="none" strike="noStrike">
              <a:solidFill>
                <a:schemeClr val="dk1"/>
              </a:solidFill>
              <a:latin typeface="Arial"/>
              <a:ea typeface="Arial"/>
              <a:cs typeface="Arial"/>
              <a:sym typeface="Arial"/>
            </a:endParaRPr>
          </a:p>
        </p:txBody>
      </p:sp>
      <p:sp>
        <p:nvSpPr>
          <p:cNvPr id="734" name="Google Shape;734;p27"/>
          <p:cNvSpPr txBox="1"/>
          <p:nvPr/>
        </p:nvSpPr>
        <p:spPr>
          <a:xfrm>
            <a:off x="4696023" y="3948555"/>
            <a:ext cx="1380827"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−cos θ sin α</a:t>
            </a:r>
            <a:endParaRPr b="0" i="0" sz="2000" u="none" cap="none" strike="noStrike">
              <a:solidFill>
                <a:schemeClr val="dk1"/>
              </a:solidFill>
              <a:latin typeface="Arial"/>
              <a:ea typeface="Arial"/>
              <a:cs typeface="Arial"/>
              <a:sym typeface="Arial"/>
            </a:endParaRPr>
          </a:p>
        </p:txBody>
      </p:sp>
      <p:sp>
        <p:nvSpPr>
          <p:cNvPr id="735" name="Google Shape;735;p27"/>
          <p:cNvSpPr txBox="1"/>
          <p:nvPr/>
        </p:nvSpPr>
        <p:spPr>
          <a:xfrm>
            <a:off x="6236017" y="3948555"/>
            <a:ext cx="84352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a sin θ</a:t>
            </a:r>
            <a:endParaRPr b="0" i="0" sz="2000" u="none" cap="none" strike="noStrike">
              <a:solidFill>
                <a:schemeClr val="dk1"/>
              </a:solidFill>
              <a:latin typeface="Arial"/>
              <a:ea typeface="Arial"/>
              <a:cs typeface="Arial"/>
              <a:sym typeface="Arial"/>
            </a:endParaRPr>
          </a:p>
        </p:txBody>
      </p:sp>
      <p:sp>
        <p:nvSpPr>
          <p:cNvPr id="736" name="Google Shape;736;p27"/>
          <p:cNvSpPr txBox="1"/>
          <p:nvPr/>
        </p:nvSpPr>
        <p:spPr>
          <a:xfrm>
            <a:off x="2362420" y="4354955"/>
            <a:ext cx="62533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737" name="Google Shape;737;p27"/>
          <p:cNvSpPr txBox="1"/>
          <p:nvPr/>
        </p:nvSpPr>
        <p:spPr>
          <a:xfrm>
            <a:off x="3135924" y="4354955"/>
            <a:ext cx="14091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sin α</a:t>
            </a:r>
            <a:endParaRPr b="0" i="0" sz="2000" u="none" cap="none" strike="noStrike">
              <a:solidFill>
                <a:schemeClr val="dk1"/>
              </a:solidFill>
              <a:latin typeface="Arial"/>
              <a:ea typeface="Arial"/>
              <a:cs typeface="Arial"/>
              <a:sym typeface="Arial"/>
            </a:endParaRPr>
          </a:p>
        </p:txBody>
      </p:sp>
      <p:sp>
        <p:nvSpPr>
          <p:cNvPr id="738" name="Google Shape;738;p27"/>
          <p:cNvSpPr txBox="1"/>
          <p:nvPr/>
        </p:nvSpPr>
        <p:spPr>
          <a:xfrm>
            <a:off x="4681852" y="4354955"/>
            <a:ext cx="14091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cos α</a:t>
            </a:r>
            <a:endParaRPr b="0" i="0" sz="2000" u="none" cap="none" strike="noStrike">
              <a:solidFill>
                <a:schemeClr val="dk1"/>
              </a:solidFill>
              <a:latin typeface="Arial"/>
              <a:ea typeface="Arial"/>
              <a:cs typeface="Arial"/>
              <a:sym typeface="Arial"/>
            </a:endParaRPr>
          </a:p>
        </p:txBody>
      </p:sp>
      <p:sp>
        <p:nvSpPr>
          <p:cNvPr id="739" name="Google Shape;739;p27"/>
          <p:cNvSpPr txBox="1"/>
          <p:nvPr/>
        </p:nvSpPr>
        <p:spPr>
          <a:xfrm>
            <a:off x="6236017" y="4354955"/>
            <a:ext cx="84352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d</a:t>
            </a:r>
            <a:endParaRPr b="0" i="0" sz="2000" u="none" cap="none" strike="noStrike">
              <a:solidFill>
                <a:schemeClr val="dk1"/>
              </a:solidFill>
              <a:latin typeface="Arial"/>
              <a:ea typeface="Arial"/>
              <a:cs typeface="Arial"/>
              <a:sym typeface="Arial"/>
            </a:endParaRPr>
          </a:p>
        </p:txBody>
      </p:sp>
      <p:sp>
        <p:nvSpPr>
          <p:cNvPr id="740" name="Google Shape;740;p27"/>
          <p:cNvSpPr txBox="1"/>
          <p:nvPr/>
        </p:nvSpPr>
        <p:spPr>
          <a:xfrm>
            <a:off x="2362420" y="4761355"/>
            <a:ext cx="62533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741" name="Google Shape;741;p27"/>
          <p:cNvSpPr txBox="1"/>
          <p:nvPr/>
        </p:nvSpPr>
        <p:spPr>
          <a:xfrm>
            <a:off x="3135924" y="4761355"/>
            <a:ext cx="14091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742" name="Google Shape;742;p27"/>
          <p:cNvSpPr txBox="1"/>
          <p:nvPr/>
        </p:nvSpPr>
        <p:spPr>
          <a:xfrm>
            <a:off x="4681852" y="4761355"/>
            <a:ext cx="14091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743" name="Google Shape;743;p27"/>
          <p:cNvSpPr txBox="1"/>
          <p:nvPr/>
        </p:nvSpPr>
        <p:spPr>
          <a:xfrm>
            <a:off x="6236017" y="4761355"/>
            <a:ext cx="843520"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744" name="Google Shape;744;p27"/>
          <p:cNvSpPr/>
          <p:nvPr/>
        </p:nvSpPr>
        <p:spPr>
          <a:xfrm>
            <a:off x="7181552" y="3488333"/>
            <a:ext cx="114300" cy="1701800"/>
          </a:xfrm>
          <a:custGeom>
            <a:rect b="b" l="l" r="r" t="t"/>
            <a:pathLst>
              <a:path extrusionOk="0" h="1701800" w="114300">
                <a:moveTo>
                  <a:pt x="0" y="0"/>
                </a:moveTo>
                <a:lnTo>
                  <a:pt x="114300" y="0"/>
                </a:lnTo>
                <a:lnTo>
                  <a:pt x="114300" y="1701800"/>
                </a:lnTo>
                <a:lnTo>
                  <a:pt x="0" y="1701800"/>
                </a:lnTo>
                <a:lnTo>
                  <a:pt x="0" y="1676400"/>
                </a:lnTo>
                <a:lnTo>
                  <a:pt x="88900" y="1676400"/>
                </a:lnTo>
                <a:lnTo>
                  <a:pt x="88900" y="25400"/>
                </a:lnTo>
                <a:lnTo>
                  <a:pt x="0" y="25400"/>
                </a:lnTo>
                <a:close/>
              </a:path>
            </a:pathLst>
          </a:custGeom>
          <a:solidFill>
            <a:srgbClr val="000000"/>
          </a:solidFill>
          <a:ln>
            <a:noFill/>
          </a:ln>
        </p:spPr>
      </p:sp>
      <p:sp>
        <p:nvSpPr>
          <p:cNvPr id="745" name="Google Shape;745;p27"/>
          <p:cNvSpPr/>
          <p:nvPr/>
        </p:nvSpPr>
        <p:spPr>
          <a:xfrm>
            <a:off x="8397875" y="2677616"/>
            <a:ext cx="2978150" cy="720030"/>
          </a:xfrm>
          <a:prstGeom prst="roundRect">
            <a:avLst>
              <a:gd fmla="val 13670"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7"/>
          <p:cNvSpPr/>
          <p:nvPr/>
        </p:nvSpPr>
        <p:spPr>
          <a:xfrm>
            <a:off x="8528050" y="2961382"/>
            <a:ext cx="152400" cy="152400"/>
          </a:xfrm>
          <a:prstGeom prst="roundRect">
            <a:avLst>
              <a:gd fmla="val 25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7"/>
          <p:cNvSpPr txBox="1"/>
          <p:nvPr/>
        </p:nvSpPr>
        <p:spPr>
          <a:xfrm>
            <a:off x="8782050" y="2771958"/>
            <a:ext cx="2537714"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Top-left 3 × 3</a:t>
            </a:r>
            <a:endParaRPr b="0" i="0" sz="1500" u="none" cap="none" strike="noStrike">
              <a:solidFill>
                <a:schemeClr val="dk1"/>
              </a:solidFill>
              <a:latin typeface="Arial"/>
              <a:ea typeface="Arial"/>
              <a:cs typeface="Arial"/>
              <a:sym typeface="Arial"/>
            </a:endParaRPr>
          </a:p>
        </p:txBody>
      </p:sp>
      <p:sp>
        <p:nvSpPr>
          <p:cNvPr id="748" name="Google Shape;748;p27"/>
          <p:cNvSpPr txBox="1"/>
          <p:nvPr/>
        </p:nvSpPr>
        <p:spPr>
          <a:xfrm>
            <a:off x="8782050" y="3048697"/>
            <a:ext cx="253771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how the new frame is turned</a:t>
            </a:r>
            <a:endParaRPr b="0" i="0" sz="1400" u="none" cap="none" strike="noStrike">
              <a:solidFill>
                <a:schemeClr val="dk1"/>
              </a:solidFill>
              <a:latin typeface="Arial"/>
              <a:ea typeface="Arial"/>
              <a:cs typeface="Arial"/>
              <a:sym typeface="Arial"/>
            </a:endParaRPr>
          </a:p>
        </p:txBody>
      </p:sp>
      <p:sp>
        <p:nvSpPr>
          <p:cNvPr id="749" name="Google Shape;749;p27"/>
          <p:cNvSpPr/>
          <p:nvPr/>
        </p:nvSpPr>
        <p:spPr>
          <a:xfrm>
            <a:off x="8397875" y="3480197"/>
            <a:ext cx="2978150" cy="720030"/>
          </a:xfrm>
          <a:prstGeom prst="roundRect">
            <a:avLst>
              <a:gd fmla="val 1367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7"/>
          <p:cNvSpPr/>
          <p:nvPr/>
        </p:nvSpPr>
        <p:spPr>
          <a:xfrm>
            <a:off x="8528050" y="3763963"/>
            <a:ext cx="152400" cy="152400"/>
          </a:xfrm>
          <a:prstGeom prst="roundRect">
            <a:avLst>
              <a:gd fmla="val 25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7"/>
          <p:cNvSpPr txBox="1"/>
          <p:nvPr/>
        </p:nvSpPr>
        <p:spPr>
          <a:xfrm>
            <a:off x="8782050" y="3574539"/>
            <a:ext cx="2537714"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Last column</a:t>
            </a:r>
            <a:endParaRPr b="0" i="0" sz="1500" u="none" cap="none" strike="noStrike">
              <a:solidFill>
                <a:schemeClr val="dk1"/>
              </a:solidFill>
              <a:latin typeface="Arial"/>
              <a:ea typeface="Arial"/>
              <a:cs typeface="Arial"/>
              <a:sym typeface="Arial"/>
            </a:endParaRPr>
          </a:p>
        </p:txBody>
      </p:sp>
      <p:sp>
        <p:nvSpPr>
          <p:cNvPr id="752" name="Google Shape;752;p27"/>
          <p:cNvSpPr txBox="1"/>
          <p:nvPr/>
        </p:nvSpPr>
        <p:spPr>
          <a:xfrm>
            <a:off x="8782050" y="3851277"/>
            <a:ext cx="24638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where the new frame's origin is</a:t>
            </a:r>
            <a:endParaRPr b="0" i="0" sz="1400" u="none" cap="none" strike="noStrike">
              <a:solidFill>
                <a:schemeClr val="dk1"/>
              </a:solidFill>
              <a:latin typeface="Arial"/>
              <a:ea typeface="Arial"/>
              <a:cs typeface="Arial"/>
              <a:sym typeface="Arial"/>
            </a:endParaRPr>
          </a:p>
        </p:txBody>
      </p:sp>
      <p:sp>
        <p:nvSpPr>
          <p:cNvPr id="753" name="Google Shape;753;p27"/>
          <p:cNvSpPr/>
          <p:nvPr/>
        </p:nvSpPr>
        <p:spPr>
          <a:xfrm>
            <a:off x="8397875" y="4282777"/>
            <a:ext cx="2978150" cy="720030"/>
          </a:xfrm>
          <a:prstGeom prst="roundRect">
            <a:avLst>
              <a:gd fmla="val 13670"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7"/>
          <p:cNvSpPr/>
          <p:nvPr/>
        </p:nvSpPr>
        <p:spPr>
          <a:xfrm>
            <a:off x="8528050" y="4566543"/>
            <a:ext cx="152400" cy="152400"/>
          </a:xfrm>
          <a:prstGeom prst="roundRect">
            <a:avLst>
              <a:gd fmla="val 25000"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7"/>
          <p:cNvSpPr txBox="1"/>
          <p:nvPr/>
        </p:nvSpPr>
        <p:spPr>
          <a:xfrm>
            <a:off x="8782050" y="4377119"/>
            <a:ext cx="2537714"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Bottom row</a:t>
            </a:r>
            <a:endParaRPr b="0" i="0" sz="1500" u="none" cap="none" strike="noStrike">
              <a:solidFill>
                <a:schemeClr val="dk1"/>
              </a:solidFill>
              <a:latin typeface="Arial"/>
              <a:ea typeface="Arial"/>
              <a:cs typeface="Arial"/>
              <a:sym typeface="Arial"/>
            </a:endParaRPr>
          </a:p>
        </p:txBody>
      </p:sp>
      <p:sp>
        <p:nvSpPr>
          <p:cNvPr id="756" name="Google Shape;756;p27"/>
          <p:cNvSpPr txBox="1"/>
          <p:nvPr/>
        </p:nvSpPr>
        <p:spPr>
          <a:xfrm>
            <a:off x="8782050" y="4653858"/>
            <a:ext cx="253771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always 0 0 0 1</a:t>
            </a:r>
            <a:endParaRPr b="0" i="0" sz="1400" u="none" cap="none" strike="noStrike">
              <a:solidFill>
                <a:schemeClr val="dk1"/>
              </a:solidFill>
              <a:latin typeface="Arial"/>
              <a:ea typeface="Arial"/>
              <a:cs typeface="Arial"/>
              <a:sym typeface="Arial"/>
            </a:endParaRPr>
          </a:p>
        </p:txBody>
      </p:sp>
      <p:sp>
        <p:nvSpPr>
          <p:cNvPr id="757" name="Google Shape;757;p27"/>
          <p:cNvSpPr/>
          <p:nvPr/>
        </p:nvSpPr>
        <p:spPr>
          <a:xfrm>
            <a:off x="8394700" y="5082183"/>
            <a:ext cx="2984500" cy="921841"/>
          </a:xfrm>
          <a:prstGeom prst="roundRect">
            <a:avLst>
              <a:gd fmla="val 11021"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7"/>
          <p:cNvSpPr txBox="1"/>
          <p:nvPr/>
        </p:nvSpPr>
        <p:spPr>
          <a:xfrm>
            <a:off x="8521700" y="5174469"/>
            <a:ext cx="2839720" cy="715256"/>
          </a:xfrm>
          <a:prstGeom prst="rect">
            <a:avLst/>
          </a:prstGeom>
          <a:noFill/>
          <a:ln>
            <a:noFill/>
          </a:ln>
        </p:spPr>
        <p:txBody>
          <a:bodyPr anchorCtr="0" anchor="t" bIns="0" lIns="0" spcFirstLastPara="1" rIns="0" wrap="square" tIns="0">
            <a:noAutofit/>
          </a:bodyPr>
          <a:lstStyle/>
          <a:p>
            <a:pPr indent="0" lvl="0" marL="0" marR="0" rtl="0" algn="l">
              <a:lnSpc>
                <a:spcPct val="101111"/>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We never expand this by hand.</a:t>
            </a:r>
            <a:br>
              <a:rPr b="0" i="0" lang="en-US" sz="1800" u="none" cap="none" strike="noStrike">
                <a:solidFill>
                  <a:schemeClr val="dk1"/>
                </a:solidFill>
                <a:latin typeface="Arial"/>
                <a:ea typeface="Arial"/>
                <a:cs typeface="Arial"/>
                <a:sym typeface="Arial"/>
              </a:rPr>
            </a:br>
            <a:r>
              <a:rPr b="0" i="0" lang="en-US" sz="1400" u="none" cap="none" strike="noStrike">
                <a:solidFill>
                  <a:srgbClr val="FFFFFF"/>
                </a:solidFill>
                <a:latin typeface="Arial"/>
                <a:ea typeface="Arial"/>
                <a:cs typeface="Arial"/>
                <a:sym typeface="Arial"/>
              </a:rPr>
              <a:t>We plug in one row of the DH</a:t>
            </a:r>
            <a:br>
              <a:rPr b="0" i="0" lang="en-US" sz="1800" u="none" cap="none" strike="noStrike">
                <a:solidFill>
                  <a:schemeClr val="dk1"/>
                </a:solidFill>
                <a:latin typeface="Arial"/>
                <a:ea typeface="Arial"/>
                <a:cs typeface="Arial"/>
                <a:sym typeface="Arial"/>
              </a:rPr>
            </a:br>
            <a:r>
              <a:rPr b="0" i="0" lang="en-US" sz="1400" u="none" cap="none" strike="noStrike">
                <a:solidFill>
                  <a:srgbClr val="FFFFFF"/>
                </a:solidFill>
                <a:latin typeface="Arial"/>
                <a:ea typeface="Arial"/>
                <a:cs typeface="Arial"/>
                <a:sym typeface="Arial"/>
              </a:rPr>
              <a:t>table.</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759" name="Google Shape;759;p27"/>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its three joints numbered: 1 base, 2 shoulder, 3 elbow" id="760" name="Google Shape;760;p27"/>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761" name="Google Shape;761;p27"/>
          <p:cNvSpPr/>
          <p:nvPr/>
        </p:nvSpPr>
        <p:spPr>
          <a:xfrm>
            <a:off x="8910241" y="1315641"/>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7"/>
          <p:cNvSpPr txBox="1"/>
          <p:nvPr/>
        </p:nvSpPr>
        <p:spPr>
          <a:xfrm>
            <a:off x="8917480" y="1295229"/>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763" name="Google Shape;763;p27"/>
          <p:cNvSpPr/>
          <p:nvPr/>
        </p:nvSpPr>
        <p:spPr>
          <a:xfrm>
            <a:off x="8910241" y="1127125"/>
            <a:ext cx="171450" cy="1714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7"/>
          <p:cNvSpPr txBox="1"/>
          <p:nvPr/>
        </p:nvSpPr>
        <p:spPr>
          <a:xfrm>
            <a:off x="8917480" y="110671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765" name="Google Shape;765;p27"/>
          <p:cNvSpPr/>
          <p:nvPr/>
        </p:nvSpPr>
        <p:spPr>
          <a:xfrm>
            <a:off x="9577685" y="474266"/>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7"/>
          <p:cNvSpPr txBox="1"/>
          <p:nvPr/>
        </p:nvSpPr>
        <p:spPr>
          <a:xfrm>
            <a:off x="9584924" y="45385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28"/>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FRAMES</a:t>
            </a:r>
            <a:endParaRPr b="0" i="0" sz="1200" u="none" cap="none" strike="noStrike">
              <a:solidFill>
                <a:schemeClr val="dk1"/>
              </a:solidFill>
              <a:latin typeface="Arial"/>
              <a:ea typeface="Arial"/>
              <a:cs typeface="Arial"/>
              <a:sym typeface="Arial"/>
            </a:endParaRPr>
          </a:p>
        </p:txBody>
      </p:sp>
      <p:sp>
        <p:nvSpPr>
          <p:cNvPr id="773" name="Google Shape;773;p28"/>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Placing a Frame on Each Joint</a:t>
            </a:r>
            <a:endParaRPr sz="2800"/>
          </a:p>
        </p:txBody>
      </p:sp>
      <p:sp>
        <p:nvSpPr>
          <p:cNvPr id="774" name="Google Shape;774;p28"/>
          <p:cNvSpPr/>
          <p:nvPr/>
        </p:nvSpPr>
        <p:spPr>
          <a:xfrm>
            <a:off x="815975" y="1825724"/>
            <a:ext cx="4438650" cy="846931"/>
          </a:xfrm>
          <a:prstGeom prst="roundRect">
            <a:avLst>
              <a:gd fmla="val 11621" name="adj"/>
            </a:avLst>
          </a:prstGeom>
          <a:solidFill>
            <a:srgbClr val="FFFFFF"/>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8"/>
          <p:cNvSpPr/>
          <p:nvPr/>
        </p:nvSpPr>
        <p:spPr>
          <a:xfrm>
            <a:off x="971550" y="2071390"/>
            <a:ext cx="355600" cy="355600"/>
          </a:xfrm>
          <a:prstGeom prst="roundRect">
            <a:avLst>
              <a:gd fmla="val 50000" name="adj"/>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8"/>
          <p:cNvSpPr txBox="1"/>
          <p:nvPr/>
        </p:nvSpPr>
        <p:spPr>
          <a:xfrm>
            <a:off x="966216" y="2063799"/>
            <a:ext cx="36626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z</a:t>
            </a:r>
            <a:endParaRPr b="0" i="0" sz="1700" u="none" cap="none" strike="noStrike">
              <a:solidFill>
                <a:schemeClr val="dk1"/>
              </a:solidFill>
              <a:latin typeface="Arial"/>
              <a:ea typeface="Arial"/>
              <a:cs typeface="Arial"/>
              <a:sym typeface="Arial"/>
            </a:endParaRPr>
          </a:p>
        </p:txBody>
      </p:sp>
      <p:sp>
        <p:nvSpPr>
          <p:cNvPr id="777" name="Google Shape;777;p28"/>
          <p:cNvSpPr txBox="1"/>
          <p:nvPr/>
        </p:nvSpPr>
        <p:spPr>
          <a:xfrm>
            <a:off x="1454150" y="1949578"/>
            <a:ext cx="3790696" cy="5802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z points along the axis the joint turns around.</a:t>
            </a:r>
            <a:endParaRPr b="0" i="0" sz="1700" u="none" cap="none" strike="noStrike">
              <a:solidFill>
                <a:schemeClr val="dk1"/>
              </a:solidFill>
              <a:latin typeface="Arial"/>
              <a:ea typeface="Arial"/>
              <a:cs typeface="Arial"/>
              <a:sym typeface="Arial"/>
            </a:endParaRPr>
          </a:p>
        </p:txBody>
      </p:sp>
      <p:sp>
        <p:nvSpPr>
          <p:cNvPr id="778" name="Google Shape;778;p28"/>
          <p:cNvSpPr/>
          <p:nvPr/>
        </p:nvSpPr>
        <p:spPr>
          <a:xfrm>
            <a:off x="815975" y="2780605"/>
            <a:ext cx="4438650" cy="846931"/>
          </a:xfrm>
          <a:prstGeom prst="roundRect">
            <a:avLst>
              <a:gd fmla="val 11621"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a:off x="971550" y="3026271"/>
            <a:ext cx="355600" cy="3556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txBox="1"/>
          <p:nvPr/>
        </p:nvSpPr>
        <p:spPr>
          <a:xfrm>
            <a:off x="966216" y="3018680"/>
            <a:ext cx="36626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x</a:t>
            </a:r>
            <a:endParaRPr b="0" i="0" sz="1700" u="none" cap="none" strike="noStrike">
              <a:solidFill>
                <a:schemeClr val="dk1"/>
              </a:solidFill>
              <a:latin typeface="Arial"/>
              <a:ea typeface="Arial"/>
              <a:cs typeface="Arial"/>
              <a:sym typeface="Arial"/>
            </a:endParaRPr>
          </a:p>
        </p:txBody>
      </p:sp>
      <p:sp>
        <p:nvSpPr>
          <p:cNvPr id="781" name="Google Shape;781;p28"/>
          <p:cNvSpPr txBox="1"/>
          <p:nvPr/>
        </p:nvSpPr>
        <p:spPr>
          <a:xfrm>
            <a:off x="1454150" y="2904460"/>
            <a:ext cx="3790696" cy="5802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x points along the link, away from the previous joint.</a:t>
            </a:r>
            <a:endParaRPr b="0" i="0" sz="1700" u="none" cap="none" strike="noStrike">
              <a:solidFill>
                <a:schemeClr val="dk1"/>
              </a:solidFill>
              <a:latin typeface="Arial"/>
              <a:ea typeface="Arial"/>
              <a:cs typeface="Arial"/>
              <a:sym typeface="Arial"/>
            </a:endParaRPr>
          </a:p>
        </p:txBody>
      </p:sp>
      <p:sp>
        <p:nvSpPr>
          <p:cNvPr id="782" name="Google Shape;782;p28"/>
          <p:cNvSpPr/>
          <p:nvPr/>
        </p:nvSpPr>
        <p:spPr>
          <a:xfrm>
            <a:off x="815975" y="3735487"/>
            <a:ext cx="4438650" cy="781050"/>
          </a:xfrm>
          <a:prstGeom prst="roundRect">
            <a:avLst>
              <a:gd fmla="val 1260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txBox="1"/>
          <p:nvPr/>
        </p:nvSpPr>
        <p:spPr>
          <a:xfrm>
            <a:off x="971550" y="3861579"/>
            <a:ext cx="4229100" cy="5120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y is never needed. Once x and z are set, y follows.</a:t>
            </a:r>
            <a:endParaRPr b="0" i="0" sz="1500" u="none" cap="none" strike="noStrike">
              <a:solidFill>
                <a:schemeClr val="dk1"/>
              </a:solidFill>
              <a:latin typeface="Arial"/>
              <a:ea typeface="Arial"/>
              <a:cs typeface="Arial"/>
              <a:sym typeface="Arial"/>
            </a:endParaRPr>
          </a:p>
        </p:txBody>
      </p:sp>
      <p:sp>
        <p:nvSpPr>
          <p:cNvPr id="784" name="Google Shape;784;p28"/>
          <p:cNvSpPr/>
          <p:nvPr/>
        </p:nvSpPr>
        <p:spPr>
          <a:xfrm>
            <a:off x="812800" y="4621312"/>
            <a:ext cx="4445000" cy="1038820"/>
          </a:xfrm>
          <a:prstGeom prst="roundRect">
            <a:avLst>
              <a:gd fmla="val 978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txBox="1"/>
          <p:nvPr/>
        </p:nvSpPr>
        <p:spPr>
          <a:xfrm>
            <a:off x="965200" y="4753955"/>
            <a:ext cx="426440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NUMBERING</a:t>
            </a:r>
            <a:endParaRPr b="0" i="0" sz="1200" u="none" cap="none" strike="noStrike">
              <a:solidFill>
                <a:schemeClr val="dk1"/>
              </a:solidFill>
              <a:latin typeface="Arial"/>
              <a:ea typeface="Arial"/>
              <a:cs typeface="Arial"/>
              <a:sym typeface="Arial"/>
            </a:endParaRPr>
          </a:p>
        </p:txBody>
      </p:sp>
      <p:sp>
        <p:nvSpPr>
          <p:cNvPr id="786" name="Google Shape;786;p28"/>
          <p:cNvSpPr txBox="1"/>
          <p:nvPr/>
        </p:nvSpPr>
        <p:spPr>
          <a:xfrm>
            <a:off x="965200" y="5008349"/>
            <a:ext cx="4241800" cy="5120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Frame 0 is fixed on the base. Each later frame sits at the end of a link.</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787" name="Google Shape;787;p28"/>
          <p:cNvPicPr preferRelativeResize="0"/>
          <p:nvPr/>
        </p:nvPicPr>
        <p:blipFill rotWithShape="1">
          <a:blip r:embed="rId3">
            <a:alphaModFix/>
          </a:blip>
          <a:srcRect b="0" l="0" r="0" t="0"/>
          <a:stretch/>
        </p:blipFill>
        <p:spPr>
          <a:xfrm>
            <a:off x="5664200" y="2471341"/>
            <a:ext cx="5715000" cy="2294830"/>
          </a:xfrm>
          <a:prstGeom prst="rect">
            <a:avLst/>
          </a:prstGeom>
          <a:noFill/>
          <a:ln>
            <a:noFill/>
          </a:ln>
        </p:spPr>
      </p:pic>
      <p:pic>
        <p:nvPicPr>
          <p:cNvPr descr="Side view of the real arm. At the far joint of the upper arm, the elbow, a frame is drawn: the x axis points along the link, away from the previous joint, and the z axis comes out of the page." id="788" name="Google Shape;788;p28"/>
          <p:cNvPicPr preferRelativeResize="0"/>
          <p:nvPr/>
        </p:nvPicPr>
        <p:blipFill rotWithShape="1">
          <a:blip r:embed="rId4">
            <a:alphaModFix/>
          </a:blip>
          <a:srcRect b="0" l="0" r="0" t="0"/>
          <a:stretch/>
        </p:blipFill>
        <p:spPr>
          <a:xfrm>
            <a:off x="5664200" y="1517650"/>
            <a:ext cx="5715000" cy="4451350"/>
          </a:xfrm>
          <a:prstGeom prst="rect">
            <a:avLst/>
          </a:prstGeom>
          <a:noFill/>
          <a:ln>
            <a:noFill/>
          </a:ln>
        </p:spPr>
      </p:pic>
      <p:sp>
        <p:nvSpPr>
          <p:cNvPr id="789" name="Google Shape;789;p28"/>
          <p:cNvSpPr txBox="1"/>
          <p:nvPr/>
        </p:nvSpPr>
        <p:spPr>
          <a:xfrm>
            <a:off x="9140130" y="2124287"/>
            <a:ext cx="24765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x</a:t>
            </a:r>
            <a:endParaRPr b="0" i="0" sz="1900" u="none" cap="none" strike="noStrike">
              <a:solidFill>
                <a:schemeClr val="dk1"/>
              </a:solidFill>
              <a:latin typeface="Arial"/>
              <a:ea typeface="Arial"/>
              <a:cs typeface="Arial"/>
              <a:sym typeface="Arial"/>
            </a:endParaRPr>
          </a:p>
        </p:txBody>
      </p:sp>
      <p:sp>
        <p:nvSpPr>
          <p:cNvPr id="790" name="Google Shape;790;p28"/>
          <p:cNvSpPr txBox="1"/>
          <p:nvPr/>
        </p:nvSpPr>
        <p:spPr>
          <a:xfrm>
            <a:off x="6272510" y="2504663"/>
            <a:ext cx="1689100" cy="24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55CC"/>
              </a:buClr>
              <a:buSzPts val="1500"/>
              <a:buFont typeface="Arial"/>
              <a:buNone/>
            </a:pPr>
            <a:r>
              <a:rPr b="1" i="0" lang="en-US" sz="1500" u="none" cap="none" strike="noStrike">
                <a:solidFill>
                  <a:srgbClr val="1155CC"/>
                </a:solidFill>
                <a:latin typeface="Arial"/>
                <a:ea typeface="Arial"/>
                <a:cs typeface="Arial"/>
                <a:sym typeface="Arial"/>
              </a:rPr>
              <a:t>z: out of the page</a:t>
            </a:r>
            <a:endParaRPr b="0" i="0" sz="1500" u="none" cap="none" strike="noStrike">
              <a:solidFill>
                <a:schemeClr val="dk1"/>
              </a:solidFill>
              <a:latin typeface="Arial"/>
              <a:ea typeface="Arial"/>
              <a:cs typeface="Arial"/>
              <a:sym typeface="Arial"/>
            </a:endParaRPr>
          </a:p>
        </p:txBody>
      </p:sp>
      <p:sp>
        <p:nvSpPr>
          <p:cNvPr id="791" name="Google Shape;791;p28"/>
          <p:cNvSpPr txBox="1"/>
          <p:nvPr/>
        </p:nvSpPr>
        <p:spPr>
          <a:xfrm>
            <a:off x="6949380" y="3163924"/>
            <a:ext cx="463550" cy="2565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600"/>
              <a:buFont typeface="Arial"/>
              <a:buNone/>
            </a:pPr>
            <a:r>
              <a:rPr b="1" i="0" lang="en-US" sz="1600" u="none" cap="none" strike="noStrike">
                <a:solidFill>
                  <a:srgbClr val="38761D"/>
                </a:solidFill>
                <a:latin typeface="Arial"/>
                <a:ea typeface="Arial"/>
                <a:cs typeface="Arial"/>
                <a:sym typeface="Arial"/>
              </a:rPr>
              <a:t>link</a:t>
            </a:r>
            <a:endParaRPr b="0" i="0" sz="1600" u="none" cap="none" strike="noStrike">
              <a:solidFill>
                <a:schemeClr val="dk1"/>
              </a:solidFill>
              <a:latin typeface="Arial"/>
              <a:ea typeface="Arial"/>
              <a:cs typeface="Arial"/>
              <a:sym typeface="Arial"/>
            </a:endParaRPr>
          </a:p>
        </p:txBody>
      </p:sp>
      <p:sp>
        <p:nvSpPr>
          <p:cNvPr id="792" name="Google Shape;792;p28"/>
          <p:cNvSpPr txBox="1"/>
          <p:nvPr/>
        </p:nvSpPr>
        <p:spPr>
          <a:xfrm>
            <a:off x="5670550" y="3997456"/>
            <a:ext cx="1162050" cy="2260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previous joint</a:t>
            </a:r>
            <a:endParaRPr b="0" i="0" sz="1400" u="none" cap="none" strike="noStrike">
              <a:solidFill>
                <a:schemeClr val="dk1"/>
              </a:solidFill>
              <a:latin typeface="Arial"/>
              <a:ea typeface="Arial"/>
              <a:cs typeface="Arial"/>
              <a:sym typeface="Arial"/>
            </a:endParaRPr>
          </a:p>
        </p:txBody>
      </p:sp>
      <p:sp>
        <p:nvSpPr>
          <p:cNvPr id="793" name="Google Shape;793;p28"/>
          <p:cNvSpPr txBox="1"/>
          <p:nvPr/>
        </p:nvSpPr>
        <p:spPr>
          <a:xfrm>
            <a:off x="8431510" y="3618937"/>
            <a:ext cx="1758950" cy="226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 frame at this joint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29"/>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FRAMES</a:t>
            </a:r>
            <a:endParaRPr b="0" i="0" sz="1200" u="none" cap="none" strike="noStrike">
              <a:solidFill>
                <a:schemeClr val="dk1"/>
              </a:solidFill>
              <a:latin typeface="Arial"/>
              <a:ea typeface="Arial"/>
              <a:cs typeface="Arial"/>
              <a:sym typeface="Arial"/>
            </a:endParaRPr>
          </a:p>
        </p:txBody>
      </p:sp>
      <p:sp>
        <p:nvSpPr>
          <p:cNvPr id="800" name="Google Shape;800;p29"/>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Frames on Our Arm</a:t>
            </a:r>
            <a:endParaRPr sz="2800"/>
          </a:p>
        </p:txBody>
      </p:sp>
      <p:sp>
        <p:nvSpPr>
          <p:cNvPr id="801" name="Google Shape;801;p29"/>
          <p:cNvSpPr/>
          <p:nvPr/>
        </p:nvSpPr>
        <p:spPr>
          <a:xfrm>
            <a:off x="7572375" y="1522016"/>
            <a:ext cx="3803650" cy="1514872"/>
          </a:xfrm>
          <a:prstGeom prst="roundRect">
            <a:avLst>
              <a:gd fmla="val 6497"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9"/>
          <p:cNvSpPr/>
          <p:nvPr/>
        </p:nvSpPr>
        <p:spPr>
          <a:xfrm>
            <a:off x="7727950" y="1671241"/>
            <a:ext cx="568127" cy="2286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9"/>
          <p:cNvSpPr txBox="1"/>
          <p:nvPr/>
        </p:nvSpPr>
        <p:spPr>
          <a:xfrm>
            <a:off x="7816850" y="1664315"/>
            <a:ext cx="40302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F₀ F₁</a:t>
            </a:r>
            <a:endParaRPr b="0" i="0" sz="1300" u="none" cap="none" strike="noStrike">
              <a:solidFill>
                <a:schemeClr val="dk1"/>
              </a:solidFill>
              <a:latin typeface="Arial"/>
              <a:ea typeface="Arial"/>
              <a:cs typeface="Arial"/>
              <a:sym typeface="Arial"/>
            </a:endParaRPr>
          </a:p>
        </p:txBody>
      </p:sp>
      <p:sp>
        <p:nvSpPr>
          <p:cNvPr id="804" name="Google Shape;804;p29"/>
          <p:cNvSpPr txBox="1"/>
          <p:nvPr/>
        </p:nvSpPr>
        <p:spPr>
          <a:xfrm>
            <a:off x="8384977" y="1641758"/>
            <a:ext cx="171708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Base and shoulder</a:t>
            </a:r>
            <a:endParaRPr b="0" i="0" sz="1500" u="none" cap="none" strike="noStrike">
              <a:solidFill>
                <a:schemeClr val="dk1"/>
              </a:solidFill>
              <a:latin typeface="Arial"/>
              <a:ea typeface="Arial"/>
              <a:cs typeface="Arial"/>
              <a:sym typeface="Arial"/>
            </a:endParaRPr>
          </a:p>
        </p:txBody>
      </p:sp>
      <p:sp>
        <p:nvSpPr>
          <p:cNvPr id="805" name="Google Shape;805;p29"/>
          <p:cNvSpPr txBox="1"/>
          <p:nvPr/>
        </p:nvSpPr>
        <p:spPr>
          <a:xfrm>
            <a:off x="7727950" y="1960376"/>
            <a:ext cx="3556000" cy="9463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z₀ points up (the base axis). z₁ comes out of the page (the shoulder axis). Both frames share one origin, since a = 0 and d = 0 for the base.</a:t>
            </a:r>
            <a:endParaRPr b="0" i="0" sz="1400" u="none" cap="none" strike="noStrike">
              <a:solidFill>
                <a:schemeClr val="dk1"/>
              </a:solidFill>
              <a:latin typeface="Arial"/>
              <a:ea typeface="Arial"/>
              <a:cs typeface="Arial"/>
              <a:sym typeface="Arial"/>
            </a:endParaRPr>
          </a:p>
        </p:txBody>
      </p:sp>
      <p:sp>
        <p:nvSpPr>
          <p:cNvPr id="806" name="Google Shape;806;p29"/>
          <p:cNvSpPr/>
          <p:nvPr/>
        </p:nvSpPr>
        <p:spPr>
          <a:xfrm>
            <a:off x="7572375" y="3144838"/>
            <a:ext cx="3803650" cy="1052711"/>
          </a:xfrm>
          <a:prstGeom prst="roundRect">
            <a:avLst>
              <a:gd fmla="val 9350"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9"/>
          <p:cNvSpPr/>
          <p:nvPr/>
        </p:nvSpPr>
        <p:spPr>
          <a:xfrm>
            <a:off x="7727950" y="3294063"/>
            <a:ext cx="352028" cy="2286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9"/>
          <p:cNvSpPr txBox="1"/>
          <p:nvPr/>
        </p:nvSpPr>
        <p:spPr>
          <a:xfrm>
            <a:off x="7816850" y="3287137"/>
            <a:ext cx="18692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F₂</a:t>
            </a:r>
            <a:endParaRPr b="0" i="0" sz="1300" u="none" cap="none" strike="noStrike">
              <a:solidFill>
                <a:schemeClr val="dk1"/>
              </a:solidFill>
              <a:latin typeface="Arial"/>
              <a:ea typeface="Arial"/>
              <a:cs typeface="Arial"/>
              <a:sym typeface="Arial"/>
            </a:endParaRPr>
          </a:p>
        </p:txBody>
      </p:sp>
      <p:sp>
        <p:nvSpPr>
          <p:cNvPr id="809" name="Google Shape;809;p29"/>
          <p:cNvSpPr txBox="1"/>
          <p:nvPr/>
        </p:nvSpPr>
        <p:spPr>
          <a:xfrm>
            <a:off x="8168878" y="3264579"/>
            <a:ext cx="573683"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Elbow</a:t>
            </a:r>
            <a:endParaRPr b="0" i="0" sz="1500" u="none" cap="none" strike="noStrike">
              <a:solidFill>
                <a:schemeClr val="dk1"/>
              </a:solidFill>
              <a:latin typeface="Arial"/>
              <a:ea typeface="Arial"/>
              <a:cs typeface="Arial"/>
              <a:sym typeface="Arial"/>
            </a:endParaRPr>
          </a:p>
        </p:txBody>
      </p:sp>
      <p:sp>
        <p:nvSpPr>
          <p:cNvPr id="810" name="Google Shape;810;p29"/>
          <p:cNvSpPr txBox="1"/>
          <p:nvPr/>
        </p:nvSpPr>
        <p:spPr>
          <a:xfrm>
            <a:off x="7727950" y="3583198"/>
            <a:ext cx="3632200" cy="484175"/>
          </a:xfrm>
          <a:prstGeom prst="rect">
            <a:avLst/>
          </a:prstGeom>
          <a:noFill/>
          <a:ln>
            <a:noFill/>
          </a:ln>
        </p:spPr>
        <p:txBody>
          <a:bodyPr anchorCtr="0" anchor="t" bIns="0" lIns="0" spcFirstLastPara="1" rIns="0" wrap="square" tIns="0">
            <a:noAutofit/>
          </a:bodyPr>
          <a:lstStyle/>
          <a:p>
            <a:pPr indent="0" lvl="0" marL="0" marR="0" rtl="0" algn="l">
              <a:lnSpc>
                <a:spcPct val="101111"/>
              </a:lnSpc>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z₂ comes out of the page (the elbow axis).</a:t>
            </a:r>
            <a:br>
              <a:rPr b="0" i="0" lang="en-US" sz="1800" u="none" cap="none" strike="noStrike">
                <a:solidFill>
                  <a:schemeClr val="dk1"/>
                </a:solidFill>
                <a:latin typeface="Arial"/>
                <a:ea typeface="Arial"/>
                <a:cs typeface="Arial"/>
                <a:sym typeface="Arial"/>
              </a:rPr>
            </a:br>
            <a:r>
              <a:rPr b="0" i="0" lang="en-US" sz="1400" u="none" cap="none" strike="noStrike">
                <a:solidFill>
                  <a:srgbClr val="434343"/>
                </a:solidFill>
                <a:latin typeface="Arial"/>
                <a:ea typeface="Arial"/>
                <a:cs typeface="Arial"/>
                <a:sym typeface="Arial"/>
              </a:rPr>
              <a:t>x₂ runs along the upper arm.</a:t>
            </a:r>
            <a:endParaRPr b="0" i="0" sz="1400" u="none" cap="none" strike="noStrike">
              <a:solidFill>
                <a:schemeClr val="dk1"/>
              </a:solidFill>
              <a:latin typeface="Arial"/>
              <a:ea typeface="Arial"/>
              <a:cs typeface="Arial"/>
              <a:sym typeface="Arial"/>
            </a:endParaRPr>
          </a:p>
        </p:txBody>
      </p:sp>
      <p:sp>
        <p:nvSpPr>
          <p:cNvPr id="811" name="Google Shape;811;p29"/>
          <p:cNvSpPr/>
          <p:nvPr/>
        </p:nvSpPr>
        <p:spPr>
          <a:xfrm>
            <a:off x="7572375" y="4305498"/>
            <a:ext cx="3803650" cy="821630"/>
          </a:xfrm>
          <a:prstGeom prst="roundRect">
            <a:avLst>
              <a:gd fmla="val 11979"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9"/>
          <p:cNvSpPr/>
          <p:nvPr/>
        </p:nvSpPr>
        <p:spPr>
          <a:xfrm>
            <a:off x="7727950" y="4454723"/>
            <a:ext cx="355005" cy="2286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9"/>
          <p:cNvSpPr txBox="1"/>
          <p:nvPr/>
        </p:nvSpPr>
        <p:spPr>
          <a:xfrm>
            <a:off x="7816850" y="4447798"/>
            <a:ext cx="1899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F₃</a:t>
            </a:r>
            <a:endParaRPr b="0" i="0" sz="1300" u="none" cap="none" strike="noStrike">
              <a:solidFill>
                <a:schemeClr val="dk1"/>
              </a:solidFill>
              <a:latin typeface="Arial"/>
              <a:ea typeface="Arial"/>
              <a:cs typeface="Arial"/>
              <a:sym typeface="Arial"/>
            </a:endParaRPr>
          </a:p>
        </p:txBody>
      </p:sp>
      <p:sp>
        <p:nvSpPr>
          <p:cNvPr id="814" name="Google Shape;814;p29"/>
          <p:cNvSpPr txBox="1"/>
          <p:nvPr/>
        </p:nvSpPr>
        <p:spPr>
          <a:xfrm>
            <a:off x="8171855" y="4425240"/>
            <a:ext cx="294977"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Tip</a:t>
            </a:r>
            <a:endParaRPr b="0" i="0" sz="1500" u="none" cap="none" strike="noStrike">
              <a:solidFill>
                <a:schemeClr val="dk1"/>
              </a:solidFill>
              <a:latin typeface="Arial"/>
              <a:ea typeface="Arial"/>
              <a:cs typeface="Arial"/>
              <a:sym typeface="Arial"/>
            </a:endParaRPr>
          </a:p>
        </p:txBody>
      </p:sp>
      <p:sp>
        <p:nvSpPr>
          <p:cNvPr id="815" name="Google Shape;815;p29"/>
          <p:cNvSpPr txBox="1"/>
          <p:nvPr/>
        </p:nvSpPr>
        <p:spPr>
          <a:xfrm>
            <a:off x="7727950" y="4752779"/>
            <a:ext cx="3597275"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z₃ copies z₂. x₃ runs along the forearm.</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816" name="Google Shape;816;p29"/>
          <p:cNvPicPr preferRelativeResize="0"/>
          <p:nvPr/>
        </p:nvPicPr>
        <p:blipFill rotWithShape="1">
          <a:blip r:embed="rId3">
            <a:alphaModFix/>
          </a:blip>
          <a:srcRect b="0" l="0" r="0" t="0"/>
          <a:stretch/>
        </p:blipFill>
        <p:spPr>
          <a:xfrm>
            <a:off x="876300" y="2471341"/>
            <a:ext cx="6223000" cy="3200995"/>
          </a:xfrm>
          <a:prstGeom prst="rect">
            <a:avLst/>
          </a:prstGeom>
          <a:noFill/>
          <a:ln>
            <a:noFill/>
          </a:ln>
        </p:spPr>
      </p:pic>
      <p:pic>
        <p:nvPicPr>
          <p:cNvPr descr="Side view of the real arm with the shoulder at 45 degrees and the elbow at 45 degrees. Frames 0 and 1 sit at the shoulder, frame 2 at the elbow and frame 3 at the tip. Red arrows are x axes and the blue arrow is the z axis of frame 0; rings with a dot are z axes pointing out of the page." id="817" name="Google Shape;817;p29"/>
          <p:cNvPicPr preferRelativeResize="0"/>
          <p:nvPr/>
        </p:nvPicPr>
        <p:blipFill rotWithShape="1">
          <a:blip r:embed="rId4">
            <a:alphaModFix/>
          </a:blip>
          <a:srcRect b="0" l="0" r="0" t="0"/>
          <a:stretch/>
        </p:blipFill>
        <p:spPr>
          <a:xfrm>
            <a:off x="812800" y="1517650"/>
            <a:ext cx="6350000" cy="4451350"/>
          </a:xfrm>
          <a:prstGeom prst="rect">
            <a:avLst/>
          </a:prstGeom>
          <a:noFill/>
          <a:ln>
            <a:noFill/>
          </a:ln>
        </p:spPr>
      </p:pic>
      <p:sp>
        <p:nvSpPr>
          <p:cNvPr id="818" name="Google Shape;818;p29"/>
          <p:cNvSpPr txBox="1"/>
          <p:nvPr/>
        </p:nvSpPr>
        <p:spPr>
          <a:xfrm>
            <a:off x="3406775" y="4557598"/>
            <a:ext cx="70485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x₀ = x₁</a:t>
            </a:r>
            <a:endParaRPr b="0" i="0" sz="1500" u="none" cap="none" strike="noStrike">
              <a:solidFill>
                <a:schemeClr val="dk1"/>
              </a:solidFill>
              <a:latin typeface="Arial"/>
              <a:ea typeface="Arial"/>
              <a:cs typeface="Arial"/>
              <a:sym typeface="Arial"/>
            </a:endParaRPr>
          </a:p>
        </p:txBody>
      </p:sp>
      <p:sp>
        <p:nvSpPr>
          <p:cNvPr id="819" name="Google Shape;819;p29"/>
          <p:cNvSpPr txBox="1"/>
          <p:nvPr/>
        </p:nvSpPr>
        <p:spPr>
          <a:xfrm>
            <a:off x="1882775" y="3427298"/>
            <a:ext cx="292100" cy="24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55CC"/>
              </a:buClr>
              <a:buSzPts val="1500"/>
              <a:buFont typeface="Arial"/>
              <a:buNone/>
            </a:pPr>
            <a:r>
              <a:rPr b="1" i="0" lang="en-US" sz="1500" u="none" cap="none" strike="noStrike">
                <a:solidFill>
                  <a:srgbClr val="1155CC"/>
                </a:solidFill>
                <a:latin typeface="Arial"/>
                <a:ea typeface="Arial"/>
                <a:cs typeface="Arial"/>
                <a:sym typeface="Arial"/>
              </a:rPr>
              <a:t>z₀</a:t>
            </a:r>
            <a:endParaRPr b="0" i="0" sz="1500" u="none" cap="none" strike="noStrike">
              <a:solidFill>
                <a:schemeClr val="dk1"/>
              </a:solidFill>
              <a:latin typeface="Arial"/>
              <a:ea typeface="Arial"/>
              <a:cs typeface="Arial"/>
              <a:sym typeface="Arial"/>
            </a:endParaRPr>
          </a:p>
        </p:txBody>
      </p:sp>
      <p:sp>
        <p:nvSpPr>
          <p:cNvPr id="820" name="Google Shape;820;p29"/>
          <p:cNvSpPr txBox="1"/>
          <p:nvPr/>
        </p:nvSpPr>
        <p:spPr>
          <a:xfrm>
            <a:off x="4462760" y="2225263"/>
            <a:ext cx="30480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x₂</a:t>
            </a:r>
            <a:endParaRPr b="0" i="0" sz="1500" u="none" cap="none" strike="noStrike">
              <a:solidFill>
                <a:schemeClr val="dk1"/>
              </a:solidFill>
              <a:latin typeface="Arial"/>
              <a:ea typeface="Arial"/>
              <a:cs typeface="Arial"/>
              <a:sym typeface="Arial"/>
            </a:endParaRPr>
          </a:p>
        </p:txBody>
      </p:sp>
      <p:sp>
        <p:nvSpPr>
          <p:cNvPr id="821" name="Google Shape;821;p29"/>
          <p:cNvSpPr/>
          <p:nvPr/>
        </p:nvSpPr>
        <p:spPr>
          <a:xfrm>
            <a:off x="6468666" y="3016151"/>
            <a:ext cx="304800" cy="266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txBox="1"/>
          <p:nvPr/>
        </p:nvSpPr>
        <p:spPr>
          <a:xfrm>
            <a:off x="6468666" y="3004297"/>
            <a:ext cx="3048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x₃</a:t>
            </a:r>
            <a:endParaRPr b="0" i="0" sz="1400" u="none" cap="none" strike="noStrike">
              <a:solidFill>
                <a:schemeClr val="dk1"/>
              </a:solidFill>
              <a:latin typeface="Arial"/>
              <a:ea typeface="Arial"/>
              <a:cs typeface="Arial"/>
              <a:sym typeface="Arial"/>
            </a:endParaRPr>
          </a:p>
        </p:txBody>
      </p:sp>
      <p:sp>
        <p:nvSpPr>
          <p:cNvPr id="823" name="Google Shape;823;p29"/>
          <p:cNvSpPr/>
          <p:nvPr/>
        </p:nvSpPr>
        <p:spPr>
          <a:xfrm>
            <a:off x="1409700" y="4294981"/>
            <a:ext cx="5905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9"/>
          <p:cNvSpPr txBox="1"/>
          <p:nvPr/>
        </p:nvSpPr>
        <p:spPr>
          <a:xfrm>
            <a:off x="1409700" y="4288056"/>
            <a:ext cx="5905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F₀ F₁</a:t>
            </a:r>
            <a:endParaRPr b="0" i="0" sz="1300" u="none" cap="none" strike="noStrike">
              <a:solidFill>
                <a:schemeClr val="dk1"/>
              </a:solidFill>
              <a:latin typeface="Arial"/>
              <a:ea typeface="Arial"/>
              <a:cs typeface="Arial"/>
              <a:sym typeface="Arial"/>
            </a:endParaRPr>
          </a:p>
        </p:txBody>
      </p:sp>
      <p:sp>
        <p:nvSpPr>
          <p:cNvPr id="825" name="Google Shape;825;p29"/>
          <p:cNvSpPr/>
          <p:nvPr/>
        </p:nvSpPr>
        <p:spPr>
          <a:xfrm>
            <a:off x="3137495" y="2705001"/>
            <a:ext cx="3746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txBox="1"/>
          <p:nvPr/>
        </p:nvSpPr>
        <p:spPr>
          <a:xfrm>
            <a:off x="3137495" y="2698075"/>
            <a:ext cx="3746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F₂</a:t>
            </a:r>
            <a:endParaRPr b="0" i="0" sz="1300" u="none" cap="none" strike="noStrike">
              <a:solidFill>
                <a:schemeClr val="dk1"/>
              </a:solidFill>
              <a:latin typeface="Arial"/>
              <a:ea typeface="Arial"/>
              <a:cs typeface="Arial"/>
              <a:sym typeface="Arial"/>
            </a:endParaRPr>
          </a:p>
        </p:txBody>
      </p:sp>
      <p:sp>
        <p:nvSpPr>
          <p:cNvPr id="827" name="Google Shape;827;p29"/>
          <p:cNvSpPr/>
          <p:nvPr/>
        </p:nvSpPr>
        <p:spPr>
          <a:xfrm>
            <a:off x="5303441" y="3479701"/>
            <a:ext cx="3746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9"/>
          <p:cNvSpPr txBox="1"/>
          <p:nvPr/>
        </p:nvSpPr>
        <p:spPr>
          <a:xfrm>
            <a:off x="5303441" y="3472775"/>
            <a:ext cx="3746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F₃</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30"/>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THE DH TABLE</a:t>
            </a:r>
            <a:endParaRPr b="0" i="0" sz="1200" u="none" cap="none" strike="noStrike">
              <a:solidFill>
                <a:schemeClr val="dk1"/>
              </a:solidFill>
              <a:latin typeface="Arial"/>
              <a:ea typeface="Arial"/>
              <a:cs typeface="Arial"/>
              <a:sym typeface="Arial"/>
            </a:endParaRPr>
          </a:p>
        </p:txBody>
      </p:sp>
      <p:sp>
        <p:nvSpPr>
          <p:cNvPr id="835" name="Google Shape;835;p30"/>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Fill In the DH Table</a:t>
            </a:r>
            <a:endParaRPr sz="2800"/>
          </a:p>
        </p:txBody>
      </p:sp>
      <p:sp>
        <p:nvSpPr>
          <p:cNvPr id="836" name="Google Shape;836;p30"/>
          <p:cNvSpPr/>
          <p:nvPr/>
        </p:nvSpPr>
        <p:spPr>
          <a:xfrm>
            <a:off x="812800" y="1518841"/>
            <a:ext cx="19050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0"/>
          <p:cNvSpPr txBox="1"/>
          <p:nvPr/>
        </p:nvSpPr>
        <p:spPr>
          <a:xfrm>
            <a:off x="862711" y="1648863"/>
            <a:ext cx="18051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Joint</a:t>
            </a:r>
            <a:endParaRPr b="0" i="0" sz="2000" u="none" cap="none" strike="noStrike">
              <a:solidFill>
                <a:schemeClr val="dk1"/>
              </a:solidFill>
              <a:latin typeface="Arial"/>
              <a:ea typeface="Arial"/>
              <a:cs typeface="Arial"/>
              <a:sym typeface="Arial"/>
            </a:endParaRPr>
          </a:p>
        </p:txBody>
      </p:sp>
      <p:sp>
        <p:nvSpPr>
          <p:cNvPr id="838" name="Google Shape;838;p30"/>
          <p:cNvSpPr/>
          <p:nvPr/>
        </p:nvSpPr>
        <p:spPr>
          <a:xfrm>
            <a:off x="2768600" y="1518841"/>
            <a:ext cx="1714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txBox="1"/>
          <p:nvPr/>
        </p:nvSpPr>
        <p:spPr>
          <a:xfrm>
            <a:off x="2821369" y="1613605"/>
            <a:ext cx="160896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θ</a:t>
            </a:r>
            <a:endParaRPr b="0" i="0" sz="2200" u="none" cap="none" strike="noStrike">
              <a:solidFill>
                <a:schemeClr val="dk1"/>
              </a:solidFill>
              <a:latin typeface="Arial"/>
              <a:ea typeface="Arial"/>
              <a:cs typeface="Arial"/>
              <a:sym typeface="Arial"/>
            </a:endParaRPr>
          </a:p>
        </p:txBody>
      </p:sp>
      <p:sp>
        <p:nvSpPr>
          <p:cNvPr id="840" name="Google Shape;840;p30"/>
          <p:cNvSpPr/>
          <p:nvPr/>
        </p:nvSpPr>
        <p:spPr>
          <a:xfrm>
            <a:off x="45339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0"/>
          <p:cNvSpPr txBox="1"/>
          <p:nvPr/>
        </p:nvSpPr>
        <p:spPr>
          <a:xfrm>
            <a:off x="4598099"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d</a:t>
            </a:r>
            <a:endParaRPr b="0" i="0" sz="2200" u="none" cap="none" strike="noStrike">
              <a:solidFill>
                <a:schemeClr val="dk1"/>
              </a:solidFill>
              <a:latin typeface="Arial"/>
              <a:ea typeface="Arial"/>
              <a:cs typeface="Arial"/>
              <a:sym typeface="Arial"/>
            </a:endParaRPr>
          </a:p>
        </p:txBody>
      </p:sp>
      <p:sp>
        <p:nvSpPr>
          <p:cNvPr id="842" name="Google Shape;842;p30"/>
          <p:cNvSpPr/>
          <p:nvPr/>
        </p:nvSpPr>
        <p:spPr>
          <a:xfrm>
            <a:off x="55372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0"/>
          <p:cNvSpPr txBox="1"/>
          <p:nvPr/>
        </p:nvSpPr>
        <p:spPr>
          <a:xfrm>
            <a:off x="5601399"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a</a:t>
            </a:r>
            <a:endParaRPr b="0" i="0" sz="2200" u="none" cap="none" strike="noStrike">
              <a:solidFill>
                <a:schemeClr val="dk1"/>
              </a:solidFill>
              <a:latin typeface="Arial"/>
              <a:ea typeface="Arial"/>
              <a:cs typeface="Arial"/>
              <a:sym typeface="Arial"/>
            </a:endParaRPr>
          </a:p>
        </p:txBody>
      </p:sp>
      <p:sp>
        <p:nvSpPr>
          <p:cNvPr id="844" name="Google Shape;844;p30"/>
          <p:cNvSpPr/>
          <p:nvPr/>
        </p:nvSpPr>
        <p:spPr>
          <a:xfrm>
            <a:off x="65405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0"/>
          <p:cNvSpPr txBox="1"/>
          <p:nvPr/>
        </p:nvSpPr>
        <p:spPr>
          <a:xfrm>
            <a:off x="6604698"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α</a:t>
            </a:r>
            <a:endParaRPr b="0" i="0" sz="2200" u="none" cap="none" strike="noStrike">
              <a:solidFill>
                <a:schemeClr val="dk1"/>
              </a:solidFill>
              <a:latin typeface="Arial"/>
              <a:ea typeface="Arial"/>
              <a:cs typeface="Arial"/>
              <a:sym typeface="Arial"/>
            </a:endParaRPr>
          </a:p>
        </p:txBody>
      </p:sp>
      <p:sp>
        <p:nvSpPr>
          <p:cNvPr id="846" name="Google Shape;846;p30"/>
          <p:cNvSpPr/>
          <p:nvPr/>
        </p:nvSpPr>
        <p:spPr>
          <a:xfrm>
            <a:off x="815975" y="2207816"/>
            <a:ext cx="1898650" cy="854670"/>
          </a:xfrm>
          <a:prstGeom prst="roundRect">
            <a:avLst>
              <a:gd fmla="val 7058"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0"/>
          <p:cNvSpPr txBox="1"/>
          <p:nvPr/>
        </p:nvSpPr>
        <p:spPr>
          <a:xfrm>
            <a:off x="946150" y="245869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1 · Base</a:t>
            </a:r>
            <a:endParaRPr b="0" i="0" sz="1700" u="none" cap="none" strike="noStrike">
              <a:solidFill>
                <a:schemeClr val="dk1"/>
              </a:solidFill>
              <a:latin typeface="Arial"/>
              <a:ea typeface="Arial"/>
              <a:cs typeface="Arial"/>
              <a:sym typeface="Arial"/>
            </a:endParaRPr>
          </a:p>
        </p:txBody>
      </p:sp>
      <p:sp>
        <p:nvSpPr>
          <p:cNvPr id="848" name="Google Shape;848;p30"/>
          <p:cNvSpPr/>
          <p:nvPr/>
        </p:nvSpPr>
        <p:spPr>
          <a:xfrm>
            <a:off x="2778125" y="2214166"/>
            <a:ext cx="1695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0"/>
          <p:cNvSpPr txBox="1"/>
          <p:nvPr/>
        </p:nvSpPr>
        <p:spPr>
          <a:xfrm>
            <a:off x="2840990" y="2427695"/>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50" name="Google Shape;850;p30"/>
          <p:cNvSpPr/>
          <p:nvPr/>
        </p:nvSpPr>
        <p:spPr>
          <a:xfrm>
            <a:off x="4543425" y="221416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0"/>
          <p:cNvSpPr txBox="1"/>
          <p:nvPr/>
        </p:nvSpPr>
        <p:spPr>
          <a:xfrm>
            <a:off x="46177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52" name="Google Shape;852;p30"/>
          <p:cNvSpPr/>
          <p:nvPr/>
        </p:nvSpPr>
        <p:spPr>
          <a:xfrm>
            <a:off x="5546725" y="221416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0"/>
          <p:cNvSpPr txBox="1"/>
          <p:nvPr/>
        </p:nvSpPr>
        <p:spPr>
          <a:xfrm>
            <a:off x="56210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54" name="Google Shape;854;p30"/>
          <p:cNvSpPr/>
          <p:nvPr/>
        </p:nvSpPr>
        <p:spPr>
          <a:xfrm>
            <a:off x="6550025" y="221416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0"/>
          <p:cNvSpPr txBox="1"/>
          <p:nvPr/>
        </p:nvSpPr>
        <p:spPr>
          <a:xfrm>
            <a:off x="66243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56" name="Google Shape;856;p30"/>
          <p:cNvSpPr/>
          <p:nvPr/>
        </p:nvSpPr>
        <p:spPr>
          <a:xfrm>
            <a:off x="815975" y="3119636"/>
            <a:ext cx="1898650" cy="854670"/>
          </a:xfrm>
          <a:prstGeom prst="roundRect">
            <a:avLst>
              <a:gd fmla="val 7058"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0"/>
          <p:cNvSpPr txBox="1"/>
          <p:nvPr/>
        </p:nvSpPr>
        <p:spPr>
          <a:xfrm>
            <a:off x="946150" y="337051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2 · Shoulder</a:t>
            </a:r>
            <a:endParaRPr b="0" i="0" sz="1700" u="none" cap="none" strike="noStrike">
              <a:solidFill>
                <a:schemeClr val="dk1"/>
              </a:solidFill>
              <a:latin typeface="Arial"/>
              <a:ea typeface="Arial"/>
              <a:cs typeface="Arial"/>
              <a:sym typeface="Arial"/>
            </a:endParaRPr>
          </a:p>
        </p:txBody>
      </p:sp>
      <p:sp>
        <p:nvSpPr>
          <p:cNvPr id="858" name="Google Shape;858;p30"/>
          <p:cNvSpPr/>
          <p:nvPr/>
        </p:nvSpPr>
        <p:spPr>
          <a:xfrm>
            <a:off x="2778125" y="3125986"/>
            <a:ext cx="1695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0"/>
          <p:cNvSpPr txBox="1"/>
          <p:nvPr/>
        </p:nvSpPr>
        <p:spPr>
          <a:xfrm>
            <a:off x="2840990" y="3339516"/>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60" name="Google Shape;860;p30"/>
          <p:cNvSpPr/>
          <p:nvPr/>
        </p:nvSpPr>
        <p:spPr>
          <a:xfrm>
            <a:off x="4543425" y="312598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0"/>
          <p:cNvSpPr txBox="1"/>
          <p:nvPr/>
        </p:nvSpPr>
        <p:spPr>
          <a:xfrm>
            <a:off x="46177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62" name="Google Shape;862;p30"/>
          <p:cNvSpPr/>
          <p:nvPr/>
        </p:nvSpPr>
        <p:spPr>
          <a:xfrm>
            <a:off x="5546725" y="312598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0"/>
          <p:cNvSpPr txBox="1"/>
          <p:nvPr/>
        </p:nvSpPr>
        <p:spPr>
          <a:xfrm>
            <a:off x="56210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64" name="Google Shape;864;p30"/>
          <p:cNvSpPr/>
          <p:nvPr/>
        </p:nvSpPr>
        <p:spPr>
          <a:xfrm>
            <a:off x="6550025" y="312598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0"/>
          <p:cNvSpPr txBox="1"/>
          <p:nvPr/>
        </p:nvSpPr>
        <p:spPr>
          <a:xfrm>
            <a:off x="66243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66" name="Google Shape;866;p30"/>
          <p:cNvSpPr/>
          <p:nvPr/>
        </p:nvSpPr>
        <p:spPr>
          <a:xfrm>
            <a:off x="815975" y="4031456"/>
            <a:ext cx="1898650" cy="854670"/>
          </a:xfrm>
          <a:prstGeom prst="roundRect">
            <a:avLst>
              <a:gd fmla="val 705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0"/>
          <p:cNvSpPr txBox="1"/>
          <p:nvPr/>
        </p:nvSpPr>
        <p:spPr>
          <a:xfrm>
            <a:off x="946150" y="428233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3 · Elbow</a:t>
            </a:r>
            <a:endParaRPr b="0" i="0" sz="1700" u="none" cap="none" strike="noStrike">
              <a:solidFill>
                <a:schemeClr val="dk1"/>
              </a:solidFill>
              <a:latin typeface="Arial"/>
              <a:ea typeface="Arial"/>
              <a:cs typeface="Arial"/>
              <a:sym typeface="Arial"/>
            </a:endParaRPr>
          </a:p>
        </p:txBody>
      </p:sp>
      <p:sp>
        <p:nvSpPr>
          <p:cNvPr id="868" name="Google Shape;868;p30"/>
          <p:cNvSpPr/>
          <p:nvPr/>
        </p:nvSpPr>
        <p:spPr>
          <a:xfrm>
            <a:off x="2778125" y="4037806"/>
            <a:ext cx="1695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0"/>
          <p:cNvSpPr txBox="1"/>
          <p:nvPr/>
        </p:nvSpPr>
        <p:spPr>
          <a:xfrm>
            <a:off x="2840990" y="4251336"/>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70" name="Google Shape;870;p30"/>
          <p:cNvSpPr/>
          <p:nvPr/>
        </p:nvSpPr>
        <p:spPr>
          <a:xfrm>
            <a:off x="4543425" y="403780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0"/>
          <p:cNvSpPr txBox="1"/>
          <p:nvPr/>
        </p:nvSpPr>
        <p:spPr>
          <a:xfrm>
            <a:off x="46177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72" name="Google Shape;872;p30"/>
          <p:cNvSpPr/>
          <p:nvPr/>
        </p:nvSpPr>
        <p:spPr>
          <a:xfrm>
            <a:off x="5546725" y="403780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0"/>
          <p:cNvSpPr txBox="1"/>
          <p:nvPr/>
        </p:nvSpPr>
        <p:spPr>
          <a:xfrm>
            <a:off x="56210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74" name="Google Shape;874;p30"/>
          <p:cNvSpPr/>
          <p:nvPr/>
        </p:nvSpPr>
        <p:spPr>
          <a:xfrm>
            <a:off x="6550025" y="4037806"/>
            <a:ext cx="933450" cy="841970"/>
          </a:xfrm>
          <a:prstGeom prst="roundRect">
            <a:avLst>
              <a:gd fmla="val 6411" name="adj"/>
            </a:avLst>
          </a:prstGeom>
          <a:solidFill>
            <a:srgbClr val="FFFFFF"/>
          </a:solidFill>
          <a:ln cap="flat" cmpd="sng" w="19050">
            <a:solidFill>
              <a:srgbClr val="999999"/>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0"/>
          <p:cNvSpPr txBox="1"/>
          <p:nvPr/>
        </p:nvSpPr>
        <p:spPr>
          <a:xfrm>
            <a:off x="66243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200"/>
              <a:buFont typeface="Arial"/>
              <a:buNone/>
            </a:pPr>
            <a:r>
              <a:rPr b="0" i="0" lang="en-US" sz="2200" u="none" cap="none" strike="noStrike">
                <a:solidFill>
                  <a:srgbClr val="666666"/>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876" name="Google Shape;876;p30"/>
          <p:cNvSpPr/>
          <p:nvPr/>
        </p:nvSpPr>
        <p:spPr>
          <a:xfrm>
            <a:off x="7899400" y="1518841"/>
            <a:ext cx="3479800" cy="1071761"/>
          </a:xfrm>
          <a:prstGeom prst="roundRect">
            <a:avLst>
              <a:gd fmla="val 948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0"/>
          <p:cNvSpPr txBox="1"/>
          <p:nvPr/>
        </p:nvSpPr>
        <p:spPr>
          <a:xfrm>
            <a:off x="8051800" y="1651484"/>
            <a:ext cx="32702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ROW i</a:t>
            </a:r>
            <a:endParaRPr b="0" i="0" sz="1200" u="none" cap="none" strike="noStrike">
              <a:solidFill>
                <a:schemeClr val="dk1"/>
              </a:solidFill>
              <a:latin typeface="Arial"/>
              <a:ea typeface="Arial"/>
              <a:cs typeface="Arial"/>
              <a:sym typeface="Arial"/>
            </a:endParaRPr>
          </a:p>
        </p:txBody>
      </p:sp>
      <p:sp>
        <p:nvSpPr>
          <p:cNvPr id="878" name="Google Shape;878;p30"/>
          <p:cNvSpPr txBox="1"/>
          <p:nvPr/>
        </p:nvSpPr>
        <p:spPr>
          <a:xfrm>
            <a:off x="8051800" y="1898409"/>
            <a:ext cx="3302000" cy="55249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Row i takes you from frame i − 1 to frame i.</a:t>
            </a:r>
            <a:endParaRPr b="0" i="0" sz="1600" u="none" cap="none" strike="noStrike">
              <a:solidFill>
                <a:schemeClr val="dk1"/>
              </a:solidFill>
              <a:latin typeface="Arial"/>
              <a:ea typeface="Arial"/>
              <a:cs typeface="Arial"/>
              <a:sym typeface="Arial"/>
            </a:endParaRPr>
          </a:p>
        </p:txBody>
      </p:sp>
      <p:sp>
        <p:nvSpPr>
          <p:cNvPr id="879" name="Google Shape;879;p30"/>
          <p:cNvSpPr/>
          <p:nvPr/>
        </p:nvSpPr>
        <p:spPr>
          <a:xfrm>
            <a:off x="7902575" y="2695377"/>
            <a:ext cx="3473450" cy="1743670"/>
          </a:xfrm>
          <a:prstGeom prst="roundRect">
            <a:avLst>
              <a:gd fmla="val 5645"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0"/>
          <p:cNvSpPr txBox="1"/>
          <p:nvPr/>
        </p:nvSpPr>
        <p:spPr>
          <a:xfrm>
            <a:off x="8058150" y="2831195"/>
            <a:ext cx="325716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ASK YOURSELF</a:t>
            </a:r>
            <a:endParaRPr b="0" i="0" sz="1200" u="none" cap="none" strike="noStrike">
              <a:solidFill>
                <a:schemeClr val="dk1"/>
              </a:solidFill>
              <a:latin typeface="Arial"/>
              <a:ea typeface="Arial"/>
              <a:cs typeface="Arial"/>
              <a:sym typeface="Arial"/>
            </a:endParaRPr>
          </a:p>
        </p:txBody>
      </p:sp>
      <p:sp>
        <p:nvSpPr>
          <p:cNvPr id="881" name="Google Shape;881;p30"/>
          <p:cNvSpPr txBox="1"/>
          <p:nvPr/>
        </p:nvSpPr>
        <p:spPr>
          <a:xfrm>
            <a:off x="8058150" y="3107814"/>
            <a:ext cx="3257169" cy="2476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θ</a:t>
            </a:r>
            <a:r>
              <a:rPr b="0" i="0" lang="en-US" sz="1500" u="none" cap="none" strike="noStrike">
                <a:solidFill>
                  <a:srgbClr val="000000"/>
                </a:solidFill>
                <a:latin typeface="Arial"/>
                <a:ea typeface="Arial"/>
                <a:cs typeface="Arial"/>
                <a:sym typeface="Arial"/>
              </a:rPr>
              <a:t>: what is the joint's angle?</a:t>
            </a:r>
            <a:endParaRPr b="0" i="0" sz="1500" u="none" cap="none" strike="noStrike">
              <a:solidFill>
                <a:schemeClr val="dk1"/>
              </a:solidFill>
              <a:latin typeface="Arial"/>
              <a:ea typeface="Arial"/>
              <a:cs typeface="Arial"/>
              <a:sym typeface="Arial"/>
            </a:endParaRPr>
          </a:p>
        </p:txBody>
      </p:sp>
      <p:sp>
        <p:nvSpPr>
          <p:cNvPr id="882" name="Google Shape;882;p30"/>
          <p:cNvSpPr txBox="1"/>
          <p:nvPr/>
        </p:nvSpPr>
        <p:spPr>
          <a:xfrm>
            <a:off x="8058150" y="3418964"/>
            <a:ext cx="3257169" cy="2476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d</a:t>
            </a:r>
            <a:r>
              <a:rPr b="0" i="0" lang="en-US" sz="1500" u="none" cap="none" strike="noStrike">
                <a:solidFill>
                  <a:srgbClr val="000000"/>
                </a:solidFill>
                <a:latin typeface="Arial"/>
                <a:ea typeface="Arial"/>
                <a:cs typeface="Arial"/>
                <a:sym typeface="Arial"/>
              </a:rPr>
              <a:t>: does anything slide along z?</a:t>
            </a:r>
            <a:endParaRPr b="0" i="0" sz="1500" u="none" cap="none" strike="noStrike">
              <a:solidFill>
                <a:schemeClr val="dk1"/>
              </a:solidFill>
              <a:latin typeface="Arial"/>
              <a:ea typeface="Arial"/>
              <a:cs typeface="Arial"/>
              <a:sym typeface="Arial"/>
            </a:endParaRPr>
          </a:p>
        </p:txBody>
      </p:sp>
      <p:sp>
        <p:nvSpPr>
          <p:cNvPr id="883" name="Google Shape;883;p30"/>
          <p:cNvSpPr txBox="1"/>
          <p:nvPr/>
        </p:nvSpPr>
        <p:spPr>
          <a:xfrm>
            <a:off x="8058150" y="3730114"/>
            <a:ext cx="3257169" cy="2476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a</a:t>
            </a:r>
            <a:r>
              <a:rPr b="0" i="0" lang="en-US" sz="1500" u="none" cap="none" strike="noStrike">
                <a:solidFill>
                  <a:srgbClr val="000000"/>
                </a:solidFill>
                <a:latin typeface="Arial"/>
                <a:ea typeface="Arial"/>
                <a:cs typeface="Arial"/>
                <a:sym typeface="Arial"/>
              </a:rPr>
              <a:t>: how long is the link along x?</a:t>
            </a:r>
            <a:endParaRPr b="0" i="0" sz="1500" u="none" cap="none" strike="noStrike">
              <a:solidFill>
                <a:schemeClr val="dk1"/>
              </a:solidFill>
              <a:latin typeface="Arial"/>
              <a:ea typeface="Arial"/>
              <a:cs typeface="Arial"/>
              <a:sym typeface="Arial"/>
            </a:endParaRPr>
          </a:p>
        </p:txBody>
      </p:sp>
      <p:sp>
        <p:nvSpPr>
          <p:cNvPr id="884" name="Google Shape;884;p30"/>
          <p:cNvSpPr txBox="1"/>
          <p:nvPr/>
        </p:nvSpPr>
        <p:spPr>
          <a:xfrm>
            <a:off x="8058150" y="4041264"/>
            <a:ext cx="3257169" cy="2476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α</a:t>
            </a:r>
            <a:r>
              <a:rPr b="0" i="0" lang="en-US" sz="1500" u="none" cap="none" strike="noStrike">
                <a:solidFill>
                  <a:srgbClr val="000000"/>
                </a:solidFill>
                <a:latin typeface="Arial"/>
                <a:ea typeface="Arial"/>
                <a:cs typeface="Arial"/>
                <a:sym typeface="Arial"/>
              </a:rPr>
              <a:t>: is the next z axis tilted?</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885" name="Google Shape;885;p30"/>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its three joints numbered: 1 base, 2 shoulder, 3 elbow" id="886" name="Google Shape;886;p30"/>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887" name="Google Shape;887;p30"/>
          <p:cNvSpPr/>
          <p:nvPr/>
        </p:nvSpPr>
        <p:spPr>
          <a:xfrm>
            <a:off x="8910241" y="1315641"/>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0"/>
          <p:cNvSpPr txBox="1"/>
          <p:nvPr/>
        </p:nvSpPr>
        <p:spPr>
          <a:xfrm>
            <a:off x="8917480" y="1295229"/>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889" name="Google Shape;889;p30"/>
          <p:cNvSpPr/>
          <p:nvPr/>
        </p:nvSpPr>
        <p:spPr>
          <a:xfrm>
            <a:off x="8910241" y="1127125"/>
            <a:ext cx="171450" cy="1714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0"/>
          <p:cNvSpPr txBox="1"/>
          <p:nvPr/>
        </p:nvSpPr>
        <p:spPr>
          <a:xfrm>
            <a:off x="8917480" y="110671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891" name="Google Shape;891;p30"/>
          <p:cNvSpPr/>
          <p:nvPr/>
        </p:nvSpPr>
        <p:spPr>
          <a:xfrm>
            <a:off x="9577685" y="474266"/>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0"/>
          <p:cNvSpPr txBox="1"/>
          <p:nvPr/>
        </p:nvSpPr>
        <p:spPr>
          <a:xfrm>
            <a:off x="9584924" y="45385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893" name="Google Shape;893;p30"/>
          <p:cNvSpPr txBox="1"/>
          <p:nvPr/>
        </p:nvSpPr>
        <p:spPr>
          <a:xfrm>
            <a:off x="8354616" y="1142829"/>
            <a:ext cx="47625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Base</a:t>
            </a:r>
            <a:endParaRPr b="0" i="0" sz="1200" u="none" cap="none" strike="noStrike">
              <a:solidFill>
                <a:schemeClr val="dk1"/>
              </a:solidFill>
              <a:latin typeface="Arial"/>
              <a:ea typeface="Arial"/>
              <a:cs typeface="Arial"/>
              <a:sym typeface="Arial"/>
            </a:endParaRPr>
          </a:p>
        </p:txBody>
      </p:sp>
      <p:sp>
        <p:nvSpPr>
          <p:cNvPr id="894" name="Google Shape;894;p30"/>
          <p:cNvSpPr txBox="1"/>
          <p:nvPr/>
        </p:nvSpPr>
        <p:spPr>
          <a:xfrm>
            <a:off x="8056166" y="890814"/>
            <a:ext cx="77470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Shoulder</a:t>
            </a:r>
            <a:endParaRPr b="0" i="0" sz="1200" u="none" cap="none" strike="noStrike">
              <a:solidFill>
                <a:schemeClr val="dk1"/>
              </a:solidFill>
              <a:latin typeface="Arial"/>
              <a:ea typeface="Arial"/>
              <a:cs typeface="Arial"/>
              <a:sym typeface="Arial"/>
            </a:endParaRPr>
          </a:p>
        </p:txBody>
      </p:sp>
      <p:sp>
        <p:nvSpPr>
          <p:cNvPr id="895" name="Google Shape;895;p30"/>
          <p:cNvSpPr txBox="1"/>
          <p:nvPr/>
        </p:nvSpPr>
        <p:spPr>
          <a:xfrm>
            <a:off x="9053810" y="212554"/>
            <a:ext cx="55880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Elbow</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31"/>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THE DH TABLE</a:t>
            </a:r>
            <a:endParaRPr b="0" i="0" sz="1200" u="none" cap="none" strike="noStrike">
              <a:solidFill>
                <a:schemeClr val="dk1"/>
              </a:solidFill>
              <a:latin typeface="Arial"/>
              <a:ea typeface="Arial"/>
              <a:cs typeface="Arial"/>
              <a:sym typeface="Arial"/>
            </a:endParaRPr>
          </a:p>
        </p:txBody>
      </p:sp>
      <p:sp>
        <p:nvSpPr>
          <p:cNvPr id="902" name="Google Shape;902;p31"/>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The DH Table for Our Arm</a:t>
            </a:r>
            <a:endParaRPr sz="2800"/>
          </a:p>
        </p:txBody>
      </p:sp>
      <p:sp>
        <p:nvSpPr>
          <p:cNvPr id="903" name="Google Shape;903;p31"/>
          <p:cNvSpPr/>
          <p:nvPr/>
        </p:nvSpPr>
        <p:spPr>
          <a:xfrm>
            <a:off x="812800" y="1518841"/>
            <a:ext cx="19050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1"/>
          <p:cNvSpPr txBox="1"/>
          <p:nvPr/>
        </p:nvSpPr>
        <p:spPr>
          <a:xfrm>
            <a:off x="862711" y="1648863"/>
            <a:ext cx="180517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Joint</a:t>
            </a:r>
            <a:endParaRPr b="0" i="0" sz="2000" u="none" cap="none" strike="noStrike">
              <a:solidFill>
                <a:schemeClr val="dk1"/>
              </a:solidFill>
              <a:latin typeface="Arial"/>
              <a:ea typeface="Arial"/>
              <a:cs typeface="Arial"/>
              <a:sym typeface="Arial"/>
            </a:endParaRPr>
          </a:p>
        </p:txBody>
      </p:sp>
      <p:sp>
        <p:nvSpPr>
          <p:cNvPr id="905" name="Google Shape;905;p31"/>
          <p:cNvSpPr/>
          <p:nvPr/>
        </p:nvSpPr>
        <p:spPr>
          <a:xfrm>
            <a:off x="2768600" y="1518841"/>
            <a:ext cx="1714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1"/>
          <p:cNvSpPr txBox="1"/>
          <p:nvPr/>
        </p:nvSpPr>
        <p:spPr>
          <a:xfrm>
            <a:off x="2821369" y="1613605"/>
            <a:ext cx="160896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θ</a:t>
            </a:r>
            <a:endParaRPr b="0" i="0" sz="2200" u="none" cap="none" strike="noStrike">
              <a:solidFill>
                <a:schemeClr val="dk1"/>
              </a:solidFill>
              <a:latin typeface="Arial"/>
              <a:ea typeface="Arial"/>
              <a:cs typeface="Arial"/>
              <a:sym typeface="Arial"/>
            </a:endParaRPr>
          </a:p>
        </p:txBody>
      </p:sp>
      <p:sp>
        <p:nvSpPr>
          <p:cNvPr id="907" name="Google Shape;907;p31"/>
          <p:cNvSpPr/>
          <p:nvPr/>
        </p:nvSpPr>
        <p:spPr>
          <a:xfrm>
            <a:off x="45339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1"/>
          <p:cNvSpPr txBox="1"/>
          <p:nvPr/>
        </p:nvSpPr>
        <p:spPr>
          <a:xfrm>
            <a:off x="4598099"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d</a:t>
            </a:r>
            <a:endParaRPr b="0" i="0" sz="2200" u="none" cap="none" strike="noStrike">
              <a:solidFill>
                <a:schemeClr val="dk1"/>
              </a:solidFill>
              <a:latin typeface="Arial"/>
              <a:ea typeface="Arial"/>
              <a:cs typeface="Arial"/>
              <a:sym typeface="Arial"/>
            </a:endParaRPr>
          </a:p>
        </p:txBody>
      </p:sp>
      <p:sp>
        <p:nvSpPr>
          <p:cNvPr id="909" name="Google Shape;909;p31"/>
          <p:cNvSpPr/>
          <p:nvPr/>
        </p:nvSpPr>
        <p:spPr>
          <a:xfrm>
            <a:off x="55372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1"/>
          <p:cNvSpPr txBox="1"/>
          <p:nvPr/>
        </p:nvSpPr>
        <p:spPr>
          <a:xfrm>
            <a:off x="5601399"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a</a:t>
            </a:r>
            <a:endParaRPr b="0" i="0" sz="2200" u="none" cap="none" strike="noStrike">
              <a:solidFill>
                <a:schemeClr val="dk1"/>
              </a:solidFill>
              <a:latin typeface="Arial"/>
              <a:ea typeface="Arial"/>
              <a:cs typeface="Arial"/>
              <a:sym typeface="Arial"/>
            </a:endParaRPr>
          </a:p>
        </p:txBody>
      </p:sp>
      <p:sp>
        <p:nvSpPr>
          <p:cNvPr id="911" name="Google Shape;911;p31"/>
          <p:cNvSpPr/>
          <p:nvPr/>
        </p:nvSpPr>
        <p:spPr>
          <a:xfrm>
            <a:off x="6540500" y="1518841"/>
            <a:ext cx="952500" cy="635000"/>
          </a:xfrm>
          <a:prstGeom prst="roundRect">
            <a:avLst>
              <a:gd fmla="val 1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1"/>
          <p:cNvSpPr txBox="1"/>
          <p:nvPr/>
        </p:nvSpPr>
        <p:spPr>
          <a:xfrm>
            <a:off x="6604698" y="1613605"/>
            <a:ext cx="824103" cy="4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α</a:t>
            </a:r>
            <a:endParaRPr b="0" i="0" sz="2200" u="none" cap="none" strike="noStrike">
              <a:solidFill>
                <a:schemeClr val="dk1"/>
              </a:solidFill>
              <a:latin typeface="Arial"/>
              <a:ea typeface="Arial"/>
              <a:cs typeface="Arial"/>
              <a:sym typeface="Arial"/>
            </a:endParaRPr>
          </a:p>
        </p:txBody>
      </p:sp>
      <p:sp>
        <p:nvSpPr>
          <p:cNvPr id="913" name="Google Shape;913;p31"/>
          <p:cNvSpPr/>
          <p:nvPr/>
        </p:nvSpPr>
        <p:spPr>
          <a:xfrm>
            <a:off x="815975" y="2207816"/>
            <a:ext cx="1898650" cy="854670"/>
          </a:xfrm>
          <a:prstGeom prst="roundRect">
            <a:avLst>
              <a:gd fmla="val 7058"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1"/>
          <p:cNvSpPr txBox="1"/>
          <p:nvPr/>
        </p:nvSpPr>
        <p:spPr>
          <a:xfrm>
            <a:off x="946150" y="245869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1 · Base</a:t>
            </a:r>
            <a:endParaRPr b="0" i="0" sz="1700" u="none" cap="none" strike="noStrike">
              <a:solidFill>
                <a:schemeClr val="dk1"/>
              </a:solidFill>
              <a:latin typeface="Arial"/>
              <a:ea typeface="Arial"/>
              <a:cs typeface="Arial"/>
              <a:sym typeface="Arial"/>
            </a:endParaRPr>
          </a:p>
        </p:txBody>
      </p:sp>
      <p:sp>
        <p:nvSpPr>
          <p:cNvPr id="915" name="Google Shape;915;p31"/>
          <p:cNvSpPr/>
          <p:nvPr/>
        </p:nvSpPr>
        <p:spPr>
          <a:xfrm>
            <a:off x="2778125" y="2214166"/>
            <a:ext cx="1695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1"/>
          <p:cNvSpPr txBox="1"/>
          <p:nvPr/>
        </p:nvSpPr>
        <p:spPr>
          <a:xfrm>
            <a:off x="2840990" y="2427695"/>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θB</a:t>
            </a:r>
            <a:endParaRPr b="0" i="0" sz="2200" u="none" cap="none" strike="noStrike">
              <a:solidFill>
                <a:schemeClr val="dk1"/>
              </a:solidFill>
              <a:latin typeface="Arial"/>
              <a:ea typeface="Arial"/>
              <a:cs typeface="Arial"/>
              <a:sym typeface="Arial"/>
            </a:endParaRPr>
          </a:p>
        </p:txBody>
      </p:sp>
      <p:sp>
        <p:nvSpPr>
          <p:cNvPr id="917" name="Google Shape;917;p31"/>
          <p:cNvSpPr/>
          <p:nvPr/>
        </p:nvSpPr>
        <p:spPr>
          <a:xfrm>
            <a:off x="4543425" y="221416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1"/>
          <p:cNvSpPr txBox="1"/>
          <p:nvPr/>
        </p:nvSpPr>
        <p:spPr>
          <a:xfrm>
            <a:off x="46177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19" name="Google Shape;919;p31"/>
          <p:cNvSpPr/>
          <p:nvPr/>
        </p:nvSpPr>
        <p:spPr>
          <a:xfrm>
            <a:off x="5546725" y="221416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1"/>
          <p:cNvSpPr txBox="1"/>
          <p:nvPr/>
        </p:nvSpPr>
        <p:spPr>
          <a:xfrm>
            <a:off x="56210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21" name="Google Shape;921;p31"/>
          <p:cNvSpPr/>
          <p:nvPr/>
        </p:nvSpPr>
        <p:spPr>
          <a:xfrm>
            <a:off x="6550025" y="2214166"/>
            <a:ext cx="933450" cy="841970"/>
          </a:xfrm>
          <a:prstGeom prst="roundRect">
            <a:avLst>
              <a:gd fmla="val 6411" name="adj"/>
            </a:avLst>
          </a:prstGeom>
          <a:solidFill>
            <a:srgbClr val="FFFFFF"/>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1"/>
          <p:cNvSpPr txBox="1"/>
          <p:nvPr/>
        </p:nvSpPr>
        <p:spPr>
          <a:xfrm>
            <a:off x="6624320" y="2427695"/>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90°</a:t>
            </a:r>
            <a:endParaRPr b="0" i="0" sz="2200" u="none" cap="none" strike="noStrike">
              <a:solidFill>
                <a:schemeClr val="dk1"/>
              </a:solidFill>
              <a:latin typeface="Arial"/>
              <a:ea typeface="Arial"/>
              <a:cs typeface="Arial"/>
              <a:sym typeface="Arial"/>
            </a:endParaRPr>
          </a:p>
        </p:txBody>
      </p:sp>
      <p:sp>
        <p:nvSpPr>
          <p:cNvPr id="923" name="Google Shape;923;p31"/>
          <p:cNvSpPr/>
          <p:nvPr/>
        </p:nvSpPr>
        <p:spPr>
          <a:xfrm>
            <a:off x="815975" y="3119636"/>
            <a:ext cx="1898650" cy="854670"/>
          </a:xfrm>
          <a:prstGeom prst="roundRect">
            <a:avLst>
              <a:gd fmla="val 7058"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1"/>
          <p:cNvSpPr txBox="1"/>
          <p:nvPr/>
        </p:nvSpPr>
        <p:spPr>
          <a:xfrm>
            <a:off x="946150" y="337051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2 · Shoulder</a:t>
            </a:r>
            <a:endParaRPr b="0" i="0" sz="1700" u="none" cap="none" strike="noStrike">
              <a:solidFill>
                <a:schemeClr val="dk1"/>
              </a:solidFill>
              <a:latin typeface="Arial"/>
              <a:ea typeface="Arial"/>
              <a:cs typeface="Arial"/>
              <a:sym typeface="Arial"/>
            </a:endParaRPr>
          </a:p>
        </p:txBody>
      </p:sp>
      <p:sp>
        <p:nvSpPr>
          <p:cNvPr id="925" name="Google Shape;925;p31"/>
          <p:cNvSpPr/>
          <p:nvPr/>
        </p:nvSpPr>
        <p:spPr>
          <a:xfrm>
            <a:off x="2778125" y="3125986"/>
            <a:ext cx="1695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1"/>
          <p:cNvSpPr txBox="1"/>
          <p:nvPr/>
        </p:nvSpPr>
        <p:spPr>
          <a:xfrm>
            <a:off x="2840990" y="3339516"/>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90° − θS</a:t>
            </a:r>
            <a:endParaRPr b="0" i="0" sz="2200" u="none" cap="none" strike="noStrike">
              <a:solidFill>
                <a:schemeClr val="dk1"/>
              </a:solidFill>
              <a:latin typeface="Arial"/>
              <a:ea typeface="Arial"/>
              <a:cs typeface="Arial"/>
              <a:sym typeface="Arial"/>
            </a:endParaRPr>
          </a:p>
        </p:txBody>
      </p:sp>
      <p:sp>
        <p:nvSpPr>
          <p:cNvPr id="927" name="Google Shape;927;p31"/>
          <p:cNvSpPr/>
          <p:nvPr/>
        </p:nvSpPr>
        <p:spPr>
          <a:xfrm>
            <a:off x="4543425" y="312598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1"/>
          <p:cNvSpPr txBox="1"/>
          <p:nvPr/>
        </p:nvSpPr>
        <p:spPr>
          <a:xfrm>
            <a:off x="46177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29" name="Google Shape;929;p31"/>
          <p:cNvSpPr/>
          <p:nvPr/>
        </p:nvSpPr>
        <p:spPr>
          <a:xfrm>
            <a:off x="5546725" y="312598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1"/>
          <p:cNvSpPr txBox="1"/>
          <p:nvPr/>
        </p:nvSpPr>
        <p:spPr>
          <a:xfrm>
            <a:off x="56210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250</a:t>
            </a:r>
            <a:endParaRPr b="0" i="0" sz="2200" u="none" cap="none" strike="noStrike">
              <a:solidFill>
                <a:schemeClr val="dk1"/>
              </a:solidFill>
              <a:latin typeface="Arial"/>
              <a:ea typeface="Arial"/>
              <a:cs typeface="Arial"/>
              <a:sym typeface="Arial"/>
            </a:endParaRPr>
          </a:p>
        </p:txBody>
      </p:sp>
      <p:sp>
        <p:nvSpPr>
          <p:cNvPr id="931" name="Google Shape;931;p31"/>
          <p:cNvSpPr/>
          <p:nvPr/>
        </p:nvSpPr>
        <p:spPr>
          <a:xfrm>
            <a:off x="6550025" y="312598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1"/>
          <p:cNvSpPr txBox="1"/>
          <p:nvPr/>
        </p:nvSpPr>
        <p:spPr>
          <a:xfrm>
            <a:off x="6624320" y="333951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33" name="Google Shape;933;p31"/>
          <p:cNvSpPr/>
          <p:nvPr/>
        </p:nvSpPr>
        <p:spPr>
          <a:xfrm>
            <a:off x="815975" y="4031456"/>
            <a:ext cx="1898650" cy="854670"/>
          </a:xfrm>
          <a:prstGeom prst="roundRect">
            <a:avLst>
              <a:gd fmla="val 705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1"/>
          <p:cNvSpPr txBox="1"/>
          <p:nvPr/>
        </p:nvSpPr>
        <p:spPr>
          <a:xfrm>
            <a:off x="946150" y="4282330"/>
            <a:ext cx="1687449" cy="314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3 · Elbow</a:t>
            </a:r>
            <a:endParaRPr b="0" i="0" sz="1700" u="none" cap="none" strike="noStrike">
              <a:solidFill>
                <a:schemeClr val="dk1"/>
              </a:solidFill>
              <a:latin typeface="Arial"/>
              <a:ea typeface="Arial"/>
              <a:cs typeface="Arial"/>
              <a:sym typeface="Arial"/>
            </a:endParaRPr>
          </a:p>
        </p:txBody>
      </p:sp>
      <p:sp>
        <p:nvSpPr>
          <p:cNvPr id="935" name="Google Shape;935;p31"/>
          <p:cNvSpPr/>
          <p:nvPr/>
        </p:nvSpPr>
        <p:spPr>
          <a:xfrm>
            <a:off x="2778125" y="4037806"/>
            <a:ext cx="1695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1"/>
          <p:cNvSpPr txBox="1"/>
          <p:nvPr/>
        </p:nvSpPr>
        <p:spPr>
          <a:xfrm>
            <a:off x="2840990" y="4251336"/>
            <a:ext cx="156972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200"/>
              <a:buFont typeface="Arial"/>
              <a:buNone/>
            </a:pPr>
            <a:r>
              <a:rPr b="1" i="0" lang="en-US" sz="2200" u="none" cap="none" strike="noStrike">
                <a:solidFill>
                  <a:srgbClr val="FF0000"/>
                </a:solidFill>
                <a:latin typeface="Arial"/>
                <a:ea typeface="Arial"/>
                <a:cs typeface="Arial"/>
                <a:sym typeface="Arial"/>
              </a:rPr>
              <a:t>−θE</a:t>
            </a:r>
            <a:endParaRPr b="0" i="0" sz="2200" u="none" cap="none" strike="noStrike">
              <a:solidFill>
                <a:schemeClr val="dk1"/>
              </a:solidFill>
              <a:latin typeface="Arial"/>
              <a:ea typeface="Arial"/>
              <a:cs typeface="Arial"/>
              <a:sym typeface="Arial"/>
            </a:endParaRPr>
          </a:p>
        </p:txBody>
      </p:sp>
      <p:sp>
        <p:nvSpPr>
          <p:cNvPr id="937" name="Google Shape;937;p31"/>
          <p:cNvSpPr/>
          <p:nvPr/>
        </p:nvSpPr>
        <p:spPr>
          <a:xfrm>
            <a:off x="4543425" y="403780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1"/>
          <p:cNvSpPr txBox="1"/>
          <p:nvPr/>
        </p:nvSpPr>
        <p:spPr>
          <a:xfrm>
            <a:off x="46177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39" name="Google Shape;939;p31"/>
          <p:cNvSpPr/>
          <p:nvPr/>
        </p:nvSpPr>
        <p:spPr>
          <a:xfrm>
            <a:off x="5546725" y="403780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1"/>
          <p:cNvSpPr txBox="1"/>
          <p:nvPr/>
        </p:nvSpPr>
        <p:spPr>
          <a:xfrm>
            <a:off x="56210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250</a:t>
            </a:r>
            <a:endParaRPr b="0" i="0" sz="2200" u="none" cap="none" strike="noStrike">
              <a:solidFill>
                <a:schemeClr val="dk1"/>
              </a:solidFill>
              <a:latin typeface="Arial"/>
              <a:ea typeface="Arial"/>
              <a:cs typeface="Arial"/>
              <a:sym typeface="Arial"/>
            </a:endParaRPr>
          </a:p>
        </p:txBody>
      </p:sp>
      <p:sp>
        <p:nvSpPr>
          <p:cNvPr id="941" name="Google Shape;941;p31"/>
          <p:cNvSpPr/>
          <p:nvPr/>
        </p:nvSpPr>
        <p:spPr>
          <a:xfrm>
            <a:off x="6550025" y="4037806"/>
            <a:ext cx="933450" cy="841970"/>
          </a:xfrm>
          <a:prstGeom prst="roundRect">
            <a:avLst>
              <a:gd fmla="val 6411"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1"/>
          <p:cNvSpPr txBox="1"/>
          <p:nvPr/>
        </p:nvSpPr>
        <p:spPr>
          <a:xfrm>
            <a:off x="6624320" y="4251336"/>
            <a:ext cx="784860" cy="391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0°</a:t>
            </a:r>
            <a:endParaRPr b="0" i="0" sz="2200" u="none" cap="none" strike="noStrike">
              <a:solidFill>
                <a:schemeClr val="dk1"/>
              </a:solidFill>
              <a:latin typeface="Arial"/>
              <a:ea typeface="Arial"/>
              <a:cs typeface="Arial"/>
              <a:sym typeface="Arial"/>
            </a:endParaRPr>
          </a:p>
        </p:txBody>
      </p:sp>
      <p:sp>
        <p:nvSpPr>
          <p:cNvPr id="943" name="Google Shape;943;p31"/>
          <p:cNvSpPr/>
          <p:nvPr/>
        </p:nvSpPr>
        <p:spPr>
          <a:xfrm>
            <a:off x="7902575" y="1522016"/>
            <a:ext cx="3473450" cy="976511"/>
          </a:xfrm>
          <a:prstGeom prst="roundRect">
            <a:avLst>
              <a:gd fmla="val 10079"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1"/>
          <p:cNvSpPr txBox="1"/>
          <p:nvPr/>
        </p:nvSpPr>
        <p:spPr>
          <a:xfrm>
            <a:off x="8058150" y="1616358"/>
            <a:ext cx="3257169"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θ column</a:t>
            </a:r>
            <a:endParaRPr b="0" i="0" sz="1500" u="none" cap="none" strike="noStrike">
              <a:solidFill>
                <a:schemeClr val="dk1"/>
              </a:solidFill>
              <a:latin typeface="Arial"/>
              <a:ea typeface="Arial"/>
              <a:cs typeface="Arial"/>
              <a:sym typeface="Arial"/>
            </a:endParaRPr>
          </a:p>
        </p:txBody>
      </p:sp>
      <p:sp>
        <p:nvSpPr>
          <p:cNvPr id="945" name="Google Shape;945;p31"/>
          <p:cNvSpPr txBox="1"/>
          <p:nvPr/>
        </p:nvSpPr>
        <p:spPr>
          <a:xfrm>
            <a:off x="8058150" y="1909576"/>
            <a:ext cx="3263900" cy="4841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change with the pose. The rest are fixed.</a:t>
            </a:r>
            <a:endParaRPr b="0" i="0" sz="1400" u="none" cap="none" strike="noStrike">
              <a:solidFill>
                <a:schemeClr val="dk1"/>
              </a:solidFill>
              <a:latin typeface="Arial"/>
              <a:ea typeface="Arial"/>
              <a:cs typeface="Arial"/>
              <a:sym typeface="Arial"/>
            </a:endParaRPr>
          </a:p>
        </p:txBody>
      </p:sp>
      <p:sp>
        <p:nvSpPr>
          <p:cNvPr id="946" name="Google Shape;946;p31"/>
          <p:cNvSpPr/>
          <p:nvPr/>
        </p:nvSpPr>
        <p:spPr>
          <a:xfrm>
            <a:off x="7902575" y="2593777"/>
            <a:ext cx="3473450" cy="976511"/>
          </a:xfrm>
          <a:prstGeom prst="roundRect">
            <a:avLst>
              <a:gd fmla="val 10079"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1"/>
          <p:cNvSpPr txBox="1"/>
          <p:nvPr/>
        </p:nvSpPr>
        <p:spPr>
          <a:xfrm>
            <a:off x="8058150" y="2688119"/>
            <a:ext cx="3257169"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Shoulder</a:t>
            </a:r>
            <a:endParaRPr b="0" i="0" sz="1500" u="none" cap="none" strike="noStrike">
              <a:solidFill>
                <a:schemeClr val="dk1"/>
              </a:solidFill>
              <a:latin typeface="Arial"/>
              <a:ea typeface="Arial"/>
              <a:cs typeface="Arial"/>
              <a:sym typeface="Arial"/>
            </a:endParaRPr>
          </a:p>
        </p:txBody>
      </p:sp>
      <p:sp>
        <p:nvSpPr>
          <p:cNvPr id="948" name="Google Shape;948;p31"/>
          <p:cNvSpPr txBox="1"/>
          <p:nvPr/>
        </p:nvSpPr>
        <p:spPr>
          <a:xfrm>
            <a:off x="8058150" y="2981337"/>
            <a:ext cx="3288792" cy="4841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θS is measured from vertical, θ from horizontal: θ = 90° − θS.</a:t>
            </a:r>
            <a:endParaRPr b="0" i="0" sz="1400" u="none" cap="none" strike="noStrike">
              <a:solidFill>
                <a:schemeClr val="dk1"/>
              </a:solidFill>
              <a:latin typeface="Arial"/>
              <a:ea typeface="Arial"/>
              <a:cs typeface="Arial"/>
              <a:sym typeface="Arial"/>
            </a:endParaRPr>
          </a:p>
        </p:txBody>
      </p:sp>
      <p:sp>
        <p:nvSpPr>
          <p:cNvPr id="949" name="Google Shape;949;p31"/>
          <p:cNvSpPr/>
          <p:nvPr/>
        </p:nvSpPr>
        <p:spPr>
          <a:xfrm>
            <a:off x="7902575" y="3665538"/>
            <a:ext cx="3473450" cy="976511"/>
          </a:xfrm>
          <a:prstGeom prst="roundRect">
            <a:avLst>
              <a:gd fmla="val 10079"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1"/>
          <p:cNvSpPr txBox="1"/>
          <p:nvPr/>
        </p:nvSpPr>
        <p:spPr>
          <a:xfrm>
            <a:off x="8058150" y="3759879"/>
            <a:ext cx="3257169"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Elbow</a:t>
            </a:r>
            <a:endParaRPr b="0" i="0" sz="1500" u="none" cap="none" strike="noStrike">
              <a:solidFill>
                <a:schemeClr val="dk1"/>
              </a:solidFill>
              <a:latin typeface="Arial"/>
              <a:ea typeface="Arial"/>
              <a:cs typeface="Arial"/>
              <a:sym typeface="Arial"/>
            </a:endParaRPr>
          </a:p>
        </p:txBody>
      </p:sp>
      <p:sp>
        <p:nvSpPr>
          <p:cNvPr id="951" name="Google Shape;951;p31"/>
          <p:cNvSpPr txBox="1"/>
          <p:nvPr/>
        </p:nvSpPr>
        <p:spPr>
          <a:xfrm>
            <a:off x="8058150" y="4053098"/>
            <a:ext cx="3288792" cy="4841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 elbow bends clockwise, θ counts counter-clockwise: θ = −θE.</a:t>
            </a:r>
            <a:endParaRPr b="0" i="0" sz="1400" u="none" cap="none" strike="noStrike">
              <a:solidFill>
                <a:schemeClr val="dk1"/>
              </a:solidFill>
              <a:latin typeface="Arial"/>
              <a:ea typeface="Arial"/>
              <a:cs typeface="Arial"/>
              <a:sym typeface="Arial"/>
            </a:endParaRPr>
          </a:p>
        </p:txBody>
      </p:sp>
      <p:sp>
        <p:nvSpPr>
          <p:cNvPr id="952" name="Google Shape;952;p31"/>
          <p:cNvSpPr/>
          <p:nvPr/>
        </p:nvSpPr>
        <p:spPr>
          <a:xfrm>
            <a:off x="7902575" y="4737298"/>
            <a:ext cx="3473450" cy="976511"/>
          </a:xfrm>
          <a:prstGeom prst="roundRect">
            <a:avLst>
              <a:gd fmla="val 10079"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1"/>
          <p:cNvSpPr txBox="1"/>
          <p:nvPr/>
        </p:nvSpPr>
        <p:spPr>
          <a:xfrm>
            <a:off x="8058150" y="4831640"/>
            <a:ext cx="3257169"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α = 90°</a:t>
            </a:r>
            <a:endParaRPr b="0" i="0" sz="1500" u="none" cap="none" strike="noStrike">
              <a:solidFill>
                <a:schemeClr val="dk1"/>
              </a:solidFill>
              <a:latin typeface="Arial"/>
              <a:ea typeface="Arial"/>
              <a:cs typeface="Arial"/>
              <a:sym typeface="Arial"/>
            </a:endParaRPr>
          </a:p>
        </p:txBody>
      </p:sp>
      <p:sp>
        <p:nvSpPr>
          <p:cNvPr id="954" name="Google Shape;954;p31"/>
          <p:cNvSpPr txBox="1"/>
          <p:nvPr/>
        </p:nvSpPr>
        <p:spPr>
          <a:xfrm>
            <a:off x="8058150" y="5124859"/>
            <a:ext cx="3288792" cy="484175"/>
          </a:xfrm>
          <a:prstGeom prst="rect">
            <a:avLst/>
          </a:prstGeom>
          <a:noFill/>
          <a:ln>
            <a:noFill/>
          </a:ln>
        </p:spPr>
        <p:txBody>
          <a:bodyPr anchorCtr="0" anchor="t" bIns="0" lIns="0" spcFirstLastPara="1" rIns="0" wrap="square" tIns="0">
            <a:noAutofit/>
          </a:bodyPr>
          <a:lstStyle/>
          <a:p>
            <a:pPr indent="0" lvl="0" marL="0" marR="0" rtl="0" algn="l">
              <a:lnSpc>
                <a:spcPct val="101111"/>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Only the base twists: the shoulder axis</a:t>
            </a:r>
            <a:br>
              <a:rPr b="0" i="0" lang="en-US" sz="1800" u="none" cap="none" strike="noStrike">
                <a:solidFill>
                  <a:schemeClr val="dk1"/>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is tilted 90° from the base axis.</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955" name="Google Shape;955;p31"/>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its three joints numbered: 1 base, 2 shoulder, 3 elbow" id="956" name="Google Shape;956;p31"/>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957" name="Google Shape;957;p31"/>
          <p:cNvSpPr/>
          <p:nvPr/>
        </p:nvSpPr>
        <p:spPr>
          <a:xfrm>
            <a:off x="8910241" y="1315641"/>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1"/>
          <p:cNvSpPr txBox="1"/>
          <p:nvPr/>
        </p:nvSpPr>
        <p:spPr>
          <a:xfrm>
            <a:off x="8917480" y="1295229"/>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959" name="Google Shape;959;p31"/>
          <p:cNvSpPr/>
          <p:nvPr/>
        </p:nvSpPr>
        <p:spPr>
          <a:xfrm>
            <a:off x="8910241" y="1127125"/>
            <a:ext cx="171450" cy="1714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1"/>
          <p:cNvSpPr txBox="1"/>
          <p:nvPr/>
        </p:nvSpPr>
        <p:spPr>
          <a:xfrm>
            <a:off x="8917480" y="110671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961" name="Google Shape;961;p31"/>
          <p:cNvSpPr/>
          <p:nvPr/>
        </p:nvSpPr>
        <p:spPr>
          <a:xfrm>
            <a:off x="9577685" y="474266"/>
            <a:ext cx="171450" cy="1714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1"/>
          <p:cNvSpPr txBox="1"/>
          <p:nvPr/>
        </p:nvSpPr>
        <p:spPr>
          <a:xfrm>
            <a:off x="9584924" y="453854"/>
            <a:ext cx="156972"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963" name="Google Shape;963;p31"/>
          <p:cNvSpPr txBox="1"/>
          <p:nvPr/>
        </p:nvSpPr>
        <p:spPr>
          <a:xfrm>
            <a:off x="8354616" y="1142829"/>
            <a:ext cx="47625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Base</a:t>
            </a:r>
            <a:endParaRPr b="0" i="0" sz="1200" u="none" cap="none" strike="noStrike">
              <a:solidFill>
                <a:schemeClr val="dk1"/>
              </a:solidFill>
              <a:latin typeface="Arial"/>
              <a:ea typeface="Arial"/>
              <a:cs typeface="Arial"/>
              <a:sym typeface="Arial"/>
            </a:endParaRPr>
          </a:p>
        </p:txBody>
      </p:sp>
      <p:sp>
        <p:nvSpPr>
          <p:cNvPr id="964" name="Google Shape;964;p31"/>
          <p:cNvSpPr txBox="1"/>
          <p:nvPr/>
        </p:nvSpPr>
        <p:spPr>
          <a:xfrm>
            <a:off x="8056166" y="890814"/>
            <a:ext cx="77470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Shoulder</a:t>
            </a:r>
            <a:endParaRPr b="0" i="0" sz="1200" u="none" cap="none" strike="noStrike">
              <a:solidFill>
                <a:schemeClr val="dk1"/>
              </a:solidFill>
              <a:latin typeface="Arial"/>
              <a:ea typeface="Arial"/>
              <a:cs typeface="Arial"/>
              <a:sym typeface="Arial"/>
            </a:endParaRPr>
          </a:p>
        </p:txBody>
      </p:sp>
      <p:sp>
        <p:nvSpPr>
          <p:cNvPr id="965" name="Google Shape;965;p31"/>
          <p:cNvSpPr txBox="1"/>
          <p:nvPr/>
        </p:nvSpPr>
        <p:spPr>
          <a:xfrm>
            <a:off x="9053810" y="212554"/>
            <a:ext cx="558800" cy="1955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Elbow</a:t>
            </a:r>
            <a:endParaRPr b="0" i="0" sz="1200" u="none" cap="none" strike="noStrike">
              <a:solidFill>
                <a:schemeClr val="dk1"/>
              </a:solidFill>
              <a:latin typeface="Arial"/>
              <a:ea typeface="Arial"/>
              <a:cs typeface="Arial"/>
              <a:sym typeface="Arial"/>
            </a:endParaRPr>
          </a:p>
        </p:txBody>
      </p:sp>
      <p:sp>
        <p:nvSpPr>
          <p:cNvPr id="966" name="Google Shape;966;p31"/>
          <p:cNvSpPr/>
          <p:nvPr/>
        </p:nvSpPr>
        <p:spPr>
          <a:xfrm>
            <a:off x="9469041" y="841970"/>
            <a:ext cx="38100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1"/>
          <p:cNvSpPr txBox="1"/>
          <p:nvPr/>
        </p:nvSpPr>
        <p:spPr>
          <a:xfrm>
            <a:off x="9468991" y="833624"/>
            <a:ext cx="3810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250</a:t>
            </a:r>
            <a:endParaRPr b="0" i="0" sz="1200" u="none" cap="none" strike="noStrike">
              <a:solidFill>
                <a:schemeClr val="dk1"/>
              </a:solidFill>
              <a:latin typeface="Arial"/>
              <a:ea typeface="Arial"/>
              <a:cs typeface="Arial"/>
              <a:sym typeface="Arial"/>
            </a:endParaRPr>
          </a:p>
        </p:txBody>
      </p:sp>
      <p:sp>
        <p:nvSpPr>
          <p:cNvPr id="968" name="Google Shape;968;p31"/>
          <p:cNvSpPr/>
          <p:nvPr/>
        </p:nvSpPr>
        <p:spPr>
          <a:xfrm>
            <a:off x="9942810" y="718741"/>
            <a:ext cx="381000" cy="2413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1"/>
          <p:cNvSpPr txBox="1"/>
          <p:nvPr/>
        </p:nvSpPr>
        <p:spPr>
          <a:xfrm>
            <a:off x="9942761" y="710394"/>
            <a:ext cx="3810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250</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32"/>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WORKED EXAMPLE</a:t>
            </a:r>
            <a:endParaRPr b="0" i="0" sz="1200" u="none" cap="none" strike="noStrike">
              <a:solidFill>
                <a:schemeClr val="dk1"/>
              </a:solidFill>
              <a:latin typeface="Arial"/>
              <a:ea typeface="Arial"/>
              <a:cs typeface="Arial"/>
              <a:sym typeface="Arial"/>
            </a:endParaRPr>
          </a:p>
        </p:txBody>
      </p:sp>
      <p:sp>
        <p:nvSpPr>
          <p:cNvPr id="976" name="Google Shape;976;p32"/>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A₁: The Base</a:t>
            </a:r>
            <a:endParaRPr sz="2800"/>
          </a:p>
        </p:txBody>
      </p:sp>
      <p:sp>
        <p:nvSpPr>
          <p:cNvPr id="977" name="Google Shape;977;p32"/>
          <p:cNvSpPr txBox="1"/>
          <p:nvPr/>
        </p:nvSpPr>
        <p:spPr>
          <a:xfrm>
            <a:off x="812800" y="1353346"/>
            <a:ext cx="108204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Pose: θB = 45°, θS = 45°, θE = 45°</a:t>
            </a:r>
            <a:endParaRPr b="0" i="0" sz="1400" u="none" cap="none" strike="noStrike">
              <a:solidFill>
                <a:schemeClr val="dk1"/>
              </a:solidFill>
              <a:latin typeface="Arial"/>
              <a:ea typeface="Arial"/>
              <a:cs typeface="Arial"/>
              <a:sym typeface="Arial"/>
            </a:endParaRPr>
          </a:p>
        </p:txBody>
      </p:sp>
      <p:sp>
        <p:nvSpPr>
          <p:cNvPr id="978" name="Google Shape;978;p32"/>
          <p:cNvSpPr/>
          <p:nvPr/>
        </p:nvSpPr>
        <p:spPr>
          <a:xfrm>
            <a:off x="812800" y="1800721"/>
            <a:ext cx="10566400" cy="558800"/>
          </a:xfrm>
          <a:prstGeom prst="roundRect">
            <a:avLst>
              <a:gd fmla="val 1818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2"/>
          <p:cNvSpPr txBox="1"/>
          <p:nvPr/>
        </p:nvSpPr>
        <p:spPr>
          <a:xfrm>
            <a:off x="990600" y="1966404"/>
            <a:ext cx="60751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ROW 1</a:t>
            </a:r>
            <a:endParaRPr b="0" i="0" sz="1200" u="none" cap="none" strike="noStrike">
              <a:solidFill>
                <a:schemeClr val="dk1"/>
              </a:solidFill>
              <a:latin typeface="Arial"/>
              <a:ea typeface="Arial"/>
              <a:cs typeface="Arial"/>
              <a:sym typeface="Arial"/>
            </a:endParaRPr>
          </a:p>
        </p:txBody>
      </p:sp>
      <p:sp>
        <p:nvSpPr>
          <p:cNvPr id="980" name="Google Shape;980;p32"/>
          <p:cNvSpPr txBox="1"/>
          <p:nvPr/>
        </p:nvSpPr>
        <p:spPr>
          <a:xfrm>
            <a:off x="1763216" y="1892644"/>
            <a:ext cx="4098528"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θ = θB = 45° · d = 0 · a = 0 · α = 90°</a:t>
            </a:r>
            <a:endParaRPr b="0" i="0" sz="2000" u="none" cap="none" strike="noStrike">
              <a:solidFill>
                <a:schemeClr val="dk1"/>
              </a:solidFill>
              <a:latin typeface="Arial"/>
              <a:ea typeface="Arial"/>
              <a:cs typeface="Arial"/>
              <a:sym typeface="Arial"/>
            </a:endParaRPr>
          </a:p>
        </p:txBody>
      </p:sp>
      <p:sp>
        <p:nvSpPr>
          <p:cNvPr id="981" name="Google Shape;981;p32"/>
          <p:cNvSpPr/>
          <p:nvPr/>
        </p:nvSpPr>
        <p:spPr>
          <a:xfrm>
            <a:off x="815975" y="2565896"/>
            <a:ext cx="6343650" cy="2345630"/>
          </a:xfrm>
          <a:prstGeom prst="roundRect">
            <a:avLst>
              <a:gd fmla="val 419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2"/>
          <p:cNvSpPr txBox="1"/>
          <p:nvPr/>
        </p:nvSpPr>
        <p:spPr>
          <a:xfrm>
            <a:off x="2106811" y="3312111"/>
            <a:ext cx="672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A₁ =</a:t>
            </a:r>
            <a:endParaRPr b="0" i="0" sz="2600" u="none" cap="none" strike="noStrike">
              <a:solidFill>
                <a:schemeClr val="dk1"/>
              </a:solidFill>
              <a:latin typeface="Arial"/>
              <a:ea typeface="Arial"/>
              <a:cs typeface="Arial"/>
              <a:sym typeface="Arial"/>
            </a:endParaRPr>
          </a:p>
        </p:txBody>
      </p:sp>
      <p:sp>
        <p:nvSpPr>
          <p:cNvPr id="983" name="Google Shape;983;p32"/>
          <p:cNvSpPr/>
          <p:nvPr/>
        </p:nvSpPr>
        <p:spPr>
          <a:xfrm>
            <a:off x="2893417" y="2708771"/>
            <a:ext cx="114300" cy="1701800"/>
          </a:xfrm>
          <a:custGeom>
            <a:rect b="b" l="l" r="r" t="t"/>
            <a:pathLst>
              <a:path extrusionOk="0" h="1701800" w="114300">
                <a:moveTo>
                  <a:pt x="114300" y="0"/>
                </a:moveTo>
                <a:lnTo>
                  <a:pt x="0" y="0"/>
                </a:lnTo>
                <a:lnTo>
                  <a:pt x="0" y="1701800"/>
                </a:lnTo>
                <a:lnTo>
                  <a:pt x="114300" y="1701800"/>
                </a:lnTo>
                <a:lnTo>
                  <a:pt x="114300" y="1676400"/>
                </a:lnTo>
                <a:lnTo>
                  <a:pt x="25400" y="1676400"/>
                </a:lnTo>
                <a:lnTo>
                  <a:pt x="25400" y="25400"/>
                </a:lnTo>
                <a:lnTo>
                  <a:pt x="114300" y="25400"/>
                </a:lnTo>
                <a:close/>
              </a:path>
            </a:pathLst>
          </a:custGeom>
          <a:solidFill>
            <a:srgbClr val="000000"/>
          </a:solidFill>
          <a:ln>
            <a:noFill/>
          </a:ln>
        </p:spPr>
      </p:sp>
      <p:sp>
        <p:nvSpPr>
          <p:cNvPr id="984" name="Google Shape;984;p32"/>
          <p:cNvSpPr txBox="1"/>
          <p:nvPr/>
        </p:nvSpPr>
        <p:spPr>
          <a:xfrm>
            <a:off x="3115667" y="27625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985" name="Google Shape;985;p32"/>
          <p:cNvSpPr txBox="1"/>
          <p:nvPr/>
        </p:nvSpPr>
        <p:spPr>
          <a:xfrm>
            <a:off x="4070350" y="27625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86" name="Google Shape;986;p32"/>
          <p:cNvSpPr txBox="1"/>
          <p:nvPr/>
        </p:nvSpPr>
        <p:spPr>
          <a:xfrm>
            <a:off x="4381909" y="27625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987" name="Google Shape;987;p32"/>
          <p:cNvSpPr txBox="1"/>
          <p:nvPr/>
        </p:nvSpPr>
        <p:spPr>
          <a:xfrm>
            <a:off x="5492452" y="27625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88" name="Google Shape;988;p32"/>
          <p:cNvSpPr txBox="1"/>
          <p:nvPr/>
        </p:nvSpPr>
        <p:spPr>
          <a:xfrm>
            <a:off x="3115667" y="31689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989" name="Google Shape;989;p32"/>
          <p:cNvSpPr txBox="1"/>
          <p:nvPr/>
        </p:nvSpPr>
        <p:spPr>
          <a:xfrm>
            <a:off x="4070350" y="31689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0" name="Google Shape;990;p32"/>
          <p:cNvSpPr txBox="1"/>
          <p:nvPr/>
        </p:nvSpPr>
        <p:spPr>
          <a:xfrm>
            <a:off x="4389438" y="3168994"/>
            <a:ext cx="937915"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991" name="Google Shape;991;p32"/>
          <p:cNvSpPr txBox="1"/>
          <p:nvPr/>
        </p:nvSpPr>
        <p:spPr>
          <a:xfrm>
            <a:off x="5492452" y="31689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2" name="Google Shape;992;p32"/>
          <p:cNvSpPr txBox="1"/>
          <p:nvPr/>
        </p:nvSpPr>
        <p:spPr>
          <a:xfrm>
            <a:off x="3110364" y="35753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3" name="Google Shape;993;p32"/>
          <p:cNvSpPr txBox="1"/>
          <p:nvPr/>
        </p:nvSpPr>
        <p:spPr>
          <a:xfrm>
            <a:off x="4070350" y="35753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994" name="Google Shape;994;p32"/>
          <p:cNvSpPr txBox="1"/>
          <p:nvPr/>
        </p:nvSpPr>
        <p:spPr>
          <a:xfrm>
            <a:off x="4381909" y="35753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5" name="Google Shape;995;p32"/>
          <p:cNvSpPr txBox="1"/>
          <p:nvPr/>
        </p:nvSpPr>
        <p:spPr>
          <a:xfrm>
            <a:off x="5492452" y="35753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6" name="Google Shape;996;p32"/>
          <p:cNvSpPr txBox="1"/>
          <p:nvPr/>
        </p:nvSpPr>
        <p:spPr>
          <a:xfrm>
            <a:off x="3110364" y="39817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7" name="Google Shape;997;p32"/>
          <p:cNvSpPr txBox="1"/>
          <p:nvPr/>
        </p:nvSpPr>
        <p:spPr>
          <a:xfrm>
            <a:off x="4070350" y="39817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8" name="Google Shape;998;p32"/>
          <p:cNvSpPr txBox="1"/>
          <p:nvPr/>
        </p:nvSpPr>
        <p:spPr>
          <a:xfrm>
            <a:off x="4381909" y="39817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999" name="Google Shape;999;p32"/>
          <p:cNvSpPr txBox="1"/>
          <p:nvPr/>
        </p:nvSpPr>
        <p:spPr>
          <a:xfrm>
            <a:off x="5492452" y="39817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000" name="Google Shape;1000;p32"/>
          <p:cNvSpPr/>
          <p:nvPr/>
        </p:nvSpPr>
        <p:spPr>
          <a:xfrm>
            <a:off x="5754390" y="2708771"/>
            <a:ext cx="114300" cy="1701800"/>
          </a:xfrm>
          <a:custGeom>
            <a:rect b="b" l="l" r="r" t="t"/>
            <a:pathLst>
              <a:path extrusionOk="0" h="1701800" w="114300">
                <a:moveTo>
                  <a:pt x="0" y="0"/>
                </a:moveTo>
                <a:lnTo>
                  <a:pt x="114300" y="0"/>
                </a:lnTo>
                <a:lnTo>
                  <a:pt x="114300" y="1701800"/>
                </a:lnTo>
                <a:lnTo>
                  <a:pt x="0" y="1701800"/>
                </a:lnTo>
                <a:lnTo>
                  <a:pt x="0" y="1676400"/>
                </a:lnTo>
                <a:lnTo>
                  <a:pt x="88900" y="1676400"/>
                </a:lnTo>
                <a:lnTo>
                  <a:pt x="88900" y="25400"/>
                </a:lnTo>
                <a:lnTo>
                  <a:pt x="0" y="25400"/>
                </a:lnTo>
                <a:close/>
              </a:path>
            </a:pathLst>
          </a:custGeom>
          <a:solidFill>
            <a:srgbClr val="000000"/>
          </a:solidFill>
          <a:ln>
            <a:noFill/>
          </a:ln>
        </p:spPr>
      </p:sp>
      <p:sp>
        <p:nvSpPr>
          <p:cNvPr id="1001" name="Google Shape;1001;p32"/>
          <p:cNvSpPr/>
          <p:nvPr/>
        </p:nvSpPr>
        <p:spPr>
          <a:xfrm>
            <a:off x="2666603" y="4583212"/>
            <a:ext cx="139700" cy="139700"/>
          </a:xfrm>
          <a:prstGeom prst="roundRect">
            <a:avLst>
              <a:gd fmla="val 27273"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2"/>
          <p:cNvSpPr txBox="1"/>
          <p:nvPr/>
        </p:nvSpPr>
        <p:spPr>
          <a:xfrm>
            <a:off x="2869803" y="4529406"/>
            <a:ext cx="112305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turns the frame</a:t>
            </a:r>
            <a:endParaRPr b="0" i="0" sz="1300" u="none" cap="none" strike="noStrike">
              <a:solidFill>
                <a:schemeClr val="dk1"/>
              </a:solidFill>
              <a:latin typeface="Arial"/>
              <a:ea typeface="Arial"/>
              <a:cs typeface="Arial"/>
              <a:sym typeface="Arial"/>
            </a:endParaRPr>
          </a:p>
        </p:txBody>
      </p:sp>
      <p:sp>
        <p:nvSpPr>
          <p:cNvPr id="1003" name="Google Shape;1003;p32"/>
          <p:cNvSpPr/>
          <p:nvPr/>
        </p:nvSpPr>
        <p:spPr>
          <a:xfrm>
            <a:off x="4234160" y="4583212"/>
            <a:ext cx="139700" cy="139700"/>
          </a:xfrm>
          <a:prstGeom prst="roundRect">
            <a:avLst>
              <a:gd fmla="val 27273"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2"/>
          <p:cNvSpPr txBox="1"/>
          <p:nvPr/>
        </p:nvSpPr>
        <p:spPr>
          <a:xfrm>
            <a:off x="4437360" y="4529406"/>
            <a:ext cx="88433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where it sits</a:t>
            </a:r>
            <a:endParaRPr b="0" i="0" sz="1300" u="none" cap="none" strike="noStrike">
              <a:solidFill>
                <a:schemeClr val="dk1"/>
              </a:solidFill>
              <a:latin typeface="Arial"/>
              <a:ea typeface="Arial"/>
              <a:cs typeface="Arial"/>
              <a:sym typeface="Arial"/>
            </a:endParaRPr>
          </a:p>
        </p:txBody>
      </p:sp>
      <p:sp>
        <p:nvSpPr>
          <p:cNvPr id="1005" name="Google Shape;1005;p32"/>
          <p:cNvSpPr/>
          <p:nvPr/>
        </p:nvSpPr>
        <p:spPr>
          <a:xfrm>
            <a:off x="815975" y="5019477"/>
            <a:ext cx="6343650" cy="961231"/>
          </a:xfrm>
          <a:prstGeom prst="roundRect">
            <a:avLst>
              <a:gd fmla="val 10239"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2"/>
          <p:cNvSpPr txBox="1"/>
          <p:nvPr/>
        </p:nvSpPr>
        <p:spPr>
          <a:xfrm>
            <a:off x="971550" y="5129895"/>
            <a:ext cx="62134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HOW TO READ IT</a:t>
            </a:r>
            <a:endParaRPr b="0" i="0" sz="1200" u="none" cap="none" strike="noStrike">
              <a:solidFill>
                <a:schemeClr val="dk1"/>
              </a:solidFill>
              <a:latin typeface="Arial"/>
              <a:ea typeface="Arial"/>
              <a:cs typeface="Arial"/>
              <a:sym typeface="Arial"/>
            </a:endParaRPr>
          </a:p>
        </p:txBody>
      </p:sp>
      <p:sp>
        <p:nvSpPr>
          <p:cNvPr id="1007" name="Google Shape;1007;p32"/>
          <p:cNvSpPr txBox="1"/>
          <p:nvPr/>
        </p:nvSpPr>
        <p:spPr>
          <a:xfrm>
            <a:off x="971550" y="5379058"/>
            <a:ext cx="6273800" cy="4841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Last column (0, 0, 0): frame 1 sits at the same point as frame 0. Only the direction of its axes changes.</a:t>
            </a:r>
            <a:endParaRPr b="0" i="0" sz="1400" u="none" cap="none" strike="noStrike">
              <a:solidFill>
                <a:schemeClr val="dk1"/>
              </a:solidFill>
              <a:latin typeface="Arial"/>
              <a:ea typeface="Arial"/>
              <a:cs typeface="Arial"/>
              <a:sym typeface="Arial"/>
            </a:endParaRPr>
          </a:p>
        </p:txBody>
      </p:sp>
      <p:pic>
        <p:nvPicPr>
          <p:cNvPr descr="Top view of the robotic arm on its base, turned 45 degrees from the x axis" id="1008" name="Google Shape;1008;p32"/>
          <p:cNvPicPr preferRelativeResize="0"/>
          <p:nvPr/>
        </p:nvPicPr>
        <p:blipFill rotWithShape="1">
          <a:blip r:embed="rId3">
            <a:alphaModFix/>
          </a:blip>
          <a:srcRect b="0" l="0" r="0" t="0"/>
          <a:stretch/>
        </p:blipFill>
        <p:spPr>
          <a:xfrm>
            <a:off x="7632700" y="2753221"/>
            <a:ext cx="2540000" cy="2537420"/>
          </a:xfrm>
          <a:prstGeom prst="rect">
            <a:avLst/>
          </a:prstGeom>
          <a:noFill/>
          <a:ln>
            <a:noFill/>
          </a:ln>
        </p:spPr>
      </p:pic>
      <p:pic>
        <p:nvPicPr>
          <p:cNvPr descr="Top view of the real arm: the base has turned the arm 45 degrees counter-clockwise from the x axis, which is the angle theta in row 1 of the table." id="1009" name="Google Shape;1009;p32"/>
          <p:cNvPicPr preferRelativeResize="0"/>
          <p:nvPr/>
        </p:nvPicPr>
        <p:blipFill rotWithShape="1">
          <a:blip r:embed="rId4">
            <a:alphaModFix/>
          </a:blip>
          <a:srcRect b="0" l="0" r="0" t="0"/>
          <a:stretch/>
        </p:blipFill>
        <p:spPr>
          <a:xfrm>
            <a:off x="7569200" y="2559050"/>
            <a:ext cx="3810000" cy="3054350"/>
          </a:xfrm>
          <a:prstGeom prst="rect">
            <a:avLst/>
          </a:prstGeom>
          <a:noFill/>
          <a:ln>
            <a:noFill/>
          </a:ln>
        </p:spPr>
      </p:pic>
      <p:sp>
        <p:nvSpPr>
          <p:cNvPr id="1010" name="Google Shape;1010;p32"/>
          <p:cNvSpPr txBox="1"/>
          <p:nvPr/>
        </p:nvSpPr>
        <p:spPr>
          <a:xfrm>
            <a:off x="9399191" y="4050888"/>
            <a:ext cx="85725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θB = 45°</a:t>
            </a:r>
            <a:endParaRPr b="0" i="0" sz="1500" u="none" cap="none" strike="noStrike">
              <a:solidFill>
                <a:schemeClr val="dk1"/>
              </a:solidFill>
              <a:latin typeface="Arial"/>
              <a:ea typeface="Arial"/>
              <a:cs typeface="Arial"/>
              <a:sym typeface="Arial"/>
            </a:endParaRPr>
          </a:p>
        </p:txBody>
      </p:sp>
      <p:sp>
        <p:nvSpPr>
          <p:cNvPr id="1011" name="Google Shape;1011;p32"/>
          <p:cNvSpPr txBox="1"/>
          <p:nvPr/>
        </p:nvSpPr>
        <p:spPr>
          <a:xfrm>
            <a:off x="10478691" y="4304888"/>
            <a:ext cx="21590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x</a:t>
            </a:r>
            <a:endParaRPr b="0" i="0" sz="1500" u="none" cap="none" strike="noStrike">
              <a:solidFill>
                <a:schemeClr val="dk1"/>
              </a:solidFill>
              <a:latin typeface="Arial"/>
              <a:ea typeface="Arial"/>
              <a:cs typeface="Arial"/>
              <a:sym typeface="Arial"/>
            </a:endParaRPr>
          </a:p>
        </p:txBody>
      </p:sp>
      <p:sp>
        <p:nvSpPr>
          <p:cNvPr id="1012" name="Google Shape;1012;p32"/>
          <p:cNvSpPr txBox="1"/>
          <p:nvPr/>
        </p:nvSpPr>
        <p:spPr>
          <a:xfrm>
            <a:off x="8548291" y="2564988"/>
            <a:ext cx="21590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y</a:t>
            </a:r>
            <a:endParaRPr b="0" i="0" sz="1500" u="none" cap="none" strike="noStrike">
              <a:solidFill>
                <a:schemeClr val="dk1"/>
              </a:solidFill>
              <a:latin typeface="Arial"/>
              <a:ea typeface="Arial"/>
              <a:cs typeface="Arial"/>
              <a:sym typeface="Arial"/>
            </a:endParaRPr>
          </a:p>
        </p:txBody>
      </p:sp>
      <p:sp>
        <p:nvSpPr>
          <p:cNvPr id="1013" name="Google Shape;1013;p32"/>
          <p:cNvSpPr/>
          <p:nvPr/>
        </p:nvSpPr>
        <p:spPr>
          <a:xfrm>
            <a:off x="7694216" y="4639171"/>
            <a:ext cx="5905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2"/>
          <p:cNvSpPr txBox="1"/>
          <p:nvPr/>
        </p:nvSpPr>
        <p:spPr>
          <a:xfrm>
            <a:off x="7694216" y="4632246"/>
            <a:ext cx="5905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F₀ F₁</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33"/>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WORKED EXAMPLE</a:t>
            </a:r>
            <a:endParaRPr b="0" i="0" sz="1200" u="none" cap="none" strike="noStrike">
              <a:solidFill>
                <a:schemeClr val="dk1"/>
              </a:solidFill>
              <a:latin typeface="Arial"/>
              <a:ea typeface="Arial"/>
              <a:cs typeface="Arial"/>
              <a:sym typeface="Arial"/>
            </a:endParaRPr>
          </a:p>
        </p:txBody>
      </p:sp>
      <p:sp>
        <p:nvSpPr>
          <p:cNvPr id="1021" name="Google Shape;1021;p33"/>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A₂: The Shoulder</a:t>
            </a:r>
            <a:endParaRPr sz="2800"/>
          </a:p>
        </p:txBody>
      </p:sp>
      <p:sp>
        <p:nvSpPr>
          <p:cNvPr id="1022" name="Google Shape;1022;p33"/>
          <p:cNvSpPr txBox="1"/>
          <p:nvPr/>
        </p:nvSpPr>
        <p:spPr>
          <a:xfrm>
            <a:off x="812800" y="1353346"/>
            <a:ext cx="108204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Pose: θB = 45°, θS = 45°, θE = 45°</a:t>
            </a:r>
            <a:endParaRPr b="0" i="0" sz="1400" u="none" cap="none" strike="noStrike">
              <a:solidFill>
                <a:schemeClr val="dk1"/>
              </a:solidFill>
              <a:latin typeface="Arial"/>
              <a:ea typeface="Arial"/>
              <a:cs typeface="Arial"/>
              <a:sym typeface="Arial"/>
            </a:endParaRPr>
          </a:p>
        </p:txBody>
      </p:sp>
      <p:sp>
        <p:nvSpPr>
          <p:cNvPr id="1023" name="Google Shape;1023;p33"/>
          <p:cNvSpPr/>
          <p:nvPr/>
        </p:nvSpPr>
        <p:spPr>
          <a:xfrm>
            <a:off x="812800" y="1800721"/>
            <a:ext cx="10566400" cy="558800"/>
          </a:xfrm>
          <a:prstGeom prst="roundRect">
            <a:avLst>
              <a:gd fmla="val 1818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3"/>
          <p:cNvSpPr txBox="1"/>
          <p:nvPr/>
        </p:nvSpPr>
        <p:spPr>
          <a:xfrm>
            <a:off x="990600" y="1966404"/>
            <a:ext cx="60751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ROW 2</a:t>
            </a:r>
            <a:endParaRPr b="0" i="0" sz="1200" u="none" cap="none" strike="noStrike">
              <a:solidFill>
                <a:schemeClr val="dk1"/>
              </a:solidFill>
              <a:latin typeface="Arial"/>
              <a:ea typeface="Arial"/>
              <a:cs typeface="Arial"/>
              <a:sym typeface="Arial"/>
            </a:endParaRPr>
          </a:p>
        </p:txBody>
      </p:sp>
      <p:sp>
        <p:nvSpPr>
          <p:cNvPr id="1025" name="Google Shape;1025;p33"/>
          <p:cNvSpPr txBox="1"/>
          <p:nvPr/>
        </p:nvSpPr>
        <p:spPr>
          <a:xfrm>
            <a:off x="1763216" y="1892644"/>
            <a:ext cx="4899422"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θ = 90° − θS = 45° · d = 0 · a = 250 · α = 0°</a:t>
            </a:r>
            <a:endParaRPr b="0" i="0" sz="2000" u="none" cap="none" strike="noStrike">
              <a:solidFill>
                <a:schemeClr val="dk1"/>
              </a:solidFill>
              <a:latin typeface="Arial"/>
              <a:ea typeface="Arial"/>
              <a:cs typeface="Arial"/>
              <a:sym typeface="Arial"/>
            </a:endParaRPr>
          </a:p>
        </p:txBody>
      </p:sp>
      <p:sp>
        <p:nvSpPr>
          <p:cNvPr id="1026" name="Google Shape;1026;p33"/>
          <p:cNvSpPr/>
          <p:nvPr/>
        </p:nvSpPr>
        <p:spPr>
          <a:xfrm>
            <a:off x="815975" y="2565896"/>
            <a:ext cx="6343650" cy="2345630"/>
          </a:xfrm>
          <a:prstGeom prst="roundRect">
            <a:avLst>
              <a:gd fmla="val 419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3"/>
          <p:cNvSpPr txBox="1"/>
          <p:nvPr/>
        </p:nvSpPr>
        <p:spPr>
          <a:xfrm>
            <a:off x="1783953" y="3312111"/>
            <a:ext cx="68252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A₂ =</a:t>
            </a:r>
            <a:endParaRPr b="0" i="0" sz="2600" u="none" cap="none" strike="noStrike">
              <a:solidFill>
                <a:schemeClr val="dk1"/>
              </a:solidFill>
              <a:latin typeface="Arial"/>
              <a:ea typeface="Arial"/>
              <a:cs typeface="Arial"/>
              <a:sym typeface="Arial"/>
            </a:endParaRPr>
          </a:p>
        </p:txBody>
      </p:sp>
      <p:sp>
        <p:nvSpPr>
          <p:cNvPr id="1028" name="Google Shape;1028;p33"/>
          <p:cNvSpPr/>
          <p:nvPr/>
        </p:nvSpPr>
        <p:spPr>
          <a:xfrm>
            <a:off x="2580779" y="2708771"/>
            <a:ext cx="114300" cy="1701800"/>
          </a:xfrm>
          <a:custGeom>
            <a:rect b="b" l="l" r="r" t="t"/>
            <a:pathLst>
              <a:path extrusionOk="0" h="1701800" w="114300">
                <a:moveTo>
                  <a:pt x="114300" y="0"/>
                </a:moveTo>
                <a:lnTo>
                  <a:pt x="0" y="0"/>
                </a:lnTo>
                <a:lnTo>
                  <a:pt x="0" y="1701800"/>
                </a:lnTo>
                <a:lnTo>
                  <a:pt x="114300" y="1701800"/>
                </a:lnTo>
                <a:lnTo>
                  <a:pt x="114300" y="1676400"/>
                </a:lnTo>
                <a:lnTo>
                  <a:pt x="25400" y="1676400"/>
                </a:lnTo>
                <a:lnTo>
                  <a:pt x="25400" y="25400"/>
                </a:lnTo>
                <a:lnTo>
                  <a:pt x="114300" y="25400"/>
                </a:lnTo>
                <a:close/>
              </a:path>
            </a:pathLst>
          </a:custGeom>
          <a:solidFill>
            <a:srgbClr val="000000"/>
          </a:solidFill>
          <a:ln>
            <a:noFill/>
          </a:ln>
        </p:spPr>
      </p:sp>
      <p:sp>
        <p:nvSpPr>
          <p:cNvPr id="1029" name="Google Shape;1029;p33"/>
          <p:cNvSpPr txBox="1"/>
          <p:nvPr/>
        </p:nvSpPr>
        <p:spPr>
          <a:xfrm>
            <a:off x="2803029" y="27625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30" name="Google Shape;1030;p33"/>
          <p:cNvSpPr txBox="1"/>
          <p:nvPr/>
        </p:nvSpPr>
        <p:spPr>
          <a:xfrm>
            <a:off x="3757712" y="2762594"/>
            <a:ext cx="937915"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31" name="Google Shape;1031;p33"/>
          <p:cNvSpPr txBox="1"/>
          <p:nvPr/>
        </p:nvSpPr>
        <p:spPr>
          <a:xfrm>
            <a:off x="4860727" y="27625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32" name="Google Shape;1032;p33"/>
          <p:cNvSpPr txBox="1"/>
          <p:nvPr/>
        </p:nvSpPr>
        <p:spPr>
          <a:xfrm>
            <a:off x="5179814" y="27625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176.78</a:t>
            </a:r>
            <a:endParaRPr b="0" i="0" sz="2000" u="none" cap="none" strike="noStrike">
              <a:solidFill>
                <a:schemeClr val="dk1"/>
              </a:solidFill>
              <a:latin typeface="Arial"/>
              <a:ea typeface="Arial"/>
              <a:cs typeface="Arial"/>
              <a:sym typeface="Arial"/>
            </a:endParaRPr>
          </a:p>
        </p:txBody>
      </p:sp>
      <p:sp>
        <p:nvSpPr>
          <p:cNvPr id="1033" name="Google Shape;1033;p33"/>
          <p:cNvSpPr txBox="1"/>
          <p:nvPr/>
        </p:nvSpPr>
        <p:spPr>
          <a:xfrm>
            <a:off x="2803029" y="31689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34" name="Google Shape;1034;p33"/>
          <p:cNvSpPr txBox="1"/>
          <p:nvPr/>
        </p:nvSpPr>
        <p:spPr>
          <a:xfrm>
            <a:off x="3750183" y="31689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35" name="Google Shape;1035;p33"/>
          <p:cNvSpPr txBox="1"/>
          <p:nvPr/>
        </p:nvSpPr>
        <p:spPr>
          <a:xfrm>
            <a:off x="4860727" y="31689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36" name="Google Shape;1036;p33"/>
          <p:cNvSpPr txBox="1"/>
          <p:nvPr/>
        </p:nvSpPr>
        <p:spPr>
          <a:xfrm>
            <a:off x="5179814" y="31689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176.78</a:t>
            </a:r>
            <a:endParaRPr b="0" i="0" sz="2000" u="none" cap="none" strike="noStrike">
              <a:solidFill>
                <a:schemeClr val="dk1"/>
              </a:solidFill>
              <a:latin typeface="Arial"/>
              <a:ea typeface="Arial"/>
              <a:cs typeface="Arial"/>
              <a:sym typeface="Arial"/>
            </a:endParaRPr>
          </a:p>
        </p:txBody>
      </p:sp>
      <p:sp>
        <p:nvSpPr>
          <p:cNvPr id="1037" name="Google Shape;1037;p33"/>
          <p:cNvSpPr txBox="1"/>
          <p:nvPr/>
        </p:nvSpPr>
        <p:spPr>
          <a:xfrm>
            <a:off x="2797726" y="35753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38" name="Google Shape;1038;p33"/>
          <p:cNvSpPr txBox="1"/>
          <p:nvPr/>
        </p:nvSpPr>
        <p:spPr>
          <a:xfrm>
            <a:off x="3750183" y="35753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39" name="Google Shape;1039;p33"/>
          <p:cNvSpPr txBox="1"/>
          <p:nvPr/>
        </p:nvSpPr>
        <p:spPr>
          <a:xfrm>
            <a:off x="4860727" y="35753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040" name="Google Shape;1040;p33"/>
          <p:cNvSpPr txBox="1"/>
          <p:nvPr/>
        </p:nvSpPr>
        <p:spPr>
          <a:xfrm>
            <a:off x="5174511" y="35753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41" name="Google Shape;1041;p33"/>
          <p:cNvSpPr txBox="1"/>
          <p:nvPr/>
        </p:nvSpPr>
        <p:spPr>
          <a:xfrm>
            <a:off x="2797726" y="39817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42" name="Google Shape;1042;p33"/>
          <p:cNvSpPr txBox="1"/>
          <p:nvPr/>
        </p:nvSpPr>
        <p:spPr>
          <a:xfrm>
            <a:off x="3750183" y="39817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43" name="Google Shape;1043;p33"/>
          <p:cNvSpPr txBox="1"/>
          <p:nvPr/>
        </p:nvSpPr>
        <p:spPr>
          <a:xfrm>
            <a:off x="4860727" y="39817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44" name="Google Shape;1044;p33"/>
          <p:cNvSpPr txBox="1"/>
          <p:nvPr/>
        </p:nvSpPr>
        <p:spPr>
          <a:xfrm>
            <a:off x="5174511" y="39817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045" name="Google Shape;1045;p33"/>
          <p:cNvSpPr/>
          <p:nvPr/>
        </p:nvSpPr>
        <p:spPr>
          <a:xfrm>
            <a:off x="6077347" y="2708771"/>
            <a:ext cx="114300" cy="1701800"/>
          </a:xfrm>
          <a:custGeom>
            <a:rect b="b" l="l" r="r" t="t"/>
            <a:pathLst>
              <a:path extrusionOk="0" h="1701800" w="114300">
                <a:moveTo>
                  <a:pt x="0" y="0"/>
                </a:moveTo>
                <a:lnTo>
                  <a:pt x="114300" y="0"/>
                </a:lnTo>
                <a:lnTo>
                  <a:pt x="114300" y="1701800"/>
                </a:lnTo>
                <a:lnTo>
                  <a:pt x="0" y="1701800"/>
                </a:lnTo>
                <a:lnTo>
                  <a:pt x="0" y="1676400"/>
                </a:lnTo>
                <a:lnTo>
                  <a:pt x="88900" y="1676400"/>
                </a:lnTo>
                <a:lnTo>
                  <a:pt x="88900" y="25400"/>
                </a:lnTo>
                <a:lnTo>
                  <a:pt x="0" y="25400"/>
                </a:lnTo>
                <a:close/>
              </a:path>
            </a:pathLst>
          </a:custGeom>
          <a:solidFill>
            <a:srgbClr val="000000"/>
          </a:solidFill>
          <a:ln>
            <a:noFill/>
          </a:ln>
        </p:spPr>
      </p:sp>
      <p:sp>
        <p:nvSpPr>
          <p:cNvPr id="1046" name="Google Shape;1046;p33"/>
          <p:cNvSpPr/>
          <p:nvPr/>
        </p:nvSpPr>
        <p:spPr>
          <a:xfrm>
            <a:off x="2666603" y="4583212"/>
            <a:ext cx="139700" cy="139700"/>
          </a:xfrm>
          <a:prstGeom prst="roundRect">
            <a:avLst>
              <a:gd fmla="val 27273"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3"/>
          <p:cNvSpPr txBox="1"/>
          <p:nvPr/>
        </p:nvSpPr>
        <p:spPr>
          <a:xfrm>
            <a:off x="2869803" y="4529406"/>
            <a:ext cx="112305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turns the frame</a:t>
            </a:r>
            <a:endParaRPr b="0" i="0" sz="1300" u="none" cap="none" strike="noStrike">
              <a:solidFill>
                <a:schemeClr val="dk1"/>
              </a:solidFill>
              <a:latin typeface="Arial"/>
              <a:ea typeface="Arial"/>
              <a:cs typeface="Arial"/>
              <a:sym typeface="Arial"/>
            </a:endParaRPr>
          </a:p>
        </p:txBody>
      </p:sp>
      <p:sp>
        <p:nvSpPr>
          <p:cNvPr id="1048" name="Google Shape;1048;p33"/>
          <p:cNvSpPr/>
          <p:nvPr/>
        </p:nvSpPr>
        <p:spPr>
          <a:xfrm>
            <a:off x="4234160" y="4583212"/>
            <a:ext cx="139700" cy="139700"/>
          </a:xfrm>
          <a:prstGeom prst="roundRect">
            <a:avLst>
              <a:gd fmla="val 27273"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3"/>
          <p:cNvSpPr txBox="1"/>
          <p:nvPr/>
        </p:nvSpPr>
        <p:spPr>
          <a:xfrm>
            <a:off x="4437360" y="4529406"/>
            <a:ext cx="88433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where it sits</a:t>
            </a:r>
            <a:endParaRPr b="0" i="0" sz="1300" u="none" cap="none" strike="noStrike">
              <a:solidFill>
                <a:schemeClr val="dk1"/>
              </a:solidFill>
              <a:latin typeface="Arial"/>
              <a:ea typeface="Arial"/>
              <a:cs typeface="Arial"/>
              <a:sym typeface="Arial"/>
            </a:endParaRPr>
          </a:p>
        </p:txBody>
      </p:sp>
      <p:sp>
        <p:nvSpPr>
          <p:cNvPr id="1050" name="Google Shape;1050;p33"/>
          <p:cNvSpPr/>
          <p:nvPr/>
        </p:nvSpPr>
        <p:spPr>
          <a:xfrm>
            <a:off x="815975" y="5019477"/>
            <a:ext cx="6343650" cy="961231"/>
          </a:xfrm>
          <a:prstGeom prst="roundRect">
            <a:avLst>
              <a:gd fmla="val 10239"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3"/>
          <p:cNvSpPr txBox="1"/>
          <p:nvPr/>
        </p:nvSpPr>
        <p:spPr>
          <a:xfrm>
            <a:off x="971550" y="5129895"/>
            <a:ext cx="62134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HOW TO READ IT</a:t>
            </a:r>
            <a:endParaRPr b="0" i="0" sz="1200" u="none" cap="none" strike="noStrike">
              <a:solidFill>
                <a:schemeClr val="dk1"/>
              </a:solidFill>
              <a:latin typeface="Arial"/>
              <a:ea typeface="Arial"/>
              <a:cs typeface="Arial"/>
              <a:sym typeface="Arial"/>
            </a:endParaRPr>
          </a:p>
        </p:txBody>
      </p:sp>
      <p:sp>
        <p:nvSpPr>
          <p:cNvPr id="1052" name="Google Shape;1052;p33"/>
          <p:cNvSpPr txBox="1"/>
          <p:nvPr/>
        </p:nvSpPr>
        <p:spPr>
          <a:xfrm>
            <a:off x="971550" y="5379058"/>
            <a:ext cx="6273800" cy="484175"/>
          </a:xfrm>
          <a:prstGeom prst="rect">
            <a:avLst/>
          </a:prstGeom>
          <a:noFill/>
          <a:ln>
            <a:noFill/>
          </a:ln>
        </p:spPr>
        <p:txBody>
          <a:bodyPr anchorCtr="0" anchor="t" bIns="0" lIns="0" spcFirstLastPara="1" rIns="0" wrap="square" tIns="0">
            <a:noAutofit/>
          </a:bodyPr>
          <a:lstStyle/>
          <a:p>
            <a:pPr indent="0" lvl="0" marL="0" marR="0" rtl="0" algn="l">
              <a:lnSpc>
                <a:spcPct val="101111"/>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Last column (176.78, 176.78, 0): frame 2 sits 176.78 mm along x₁ and</a:t>
            </a:r>
            <a:br>
              <a:rPr b="0" i="0" lang="en-US" sz="1800" u="none" cap="none" strike="noStrike">
                <a:solidFill>
                  <a:schemeClr val="dk1"/>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176.78 mm along y₁, measured in frame 1.</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053" name="Google Shape;1053;p33"/>
          <p:cNvPicPr preferRelativeResize="0"/>
          <p:nvPr/>
        </p:nvPicPr>
        <p:blipFill rotWithShape="1">
          <a:blip r:embed="rId3">
            <a:alphaModFix/>
          </a:blip>
          <a:srcRect b="0" l="0" r="0" t="0"/>
          <a:stretch/>
        </p:blipFill>
        <p:spPr>
          <a:xfrm>
            <a:off x="7569200" y="3324721"/>
            <a:ext cx="3810000" cy="1529655"/>
          </a:xfrm>
          <a:prstGeom prst="rect">
            <a:avLst/>
          </a:prstGeom>
          <a:noFill/>
          <a:ln>
            <a:noFill/>
          </a:ln>
        </p:spPr>
      </p:pic>
      <p:pic>
        <p:nvPicPr>
          <p:cNvPr descr="Side view of the real arm: the upper arm, from frame 1 at the shoulder to frame 2 at the elbow, is 45 degrees above the x axis of frame 1." id="1054" name="Google Shape;1054;p33"/>
          <p:cNvPicPr preferRelativeResize="0"/>
          <p:nvPr/>
        </p:nvPicPr>
        <p:blipFill rotWithShape="1">
          <a:blip r:embed="rId4">
            <a:alphaModFix/>
          </a:blip>
          <a:srcRect b="0" l="0" r="0" t="0"/>
          <a:stretch/>
        </p:blipFill>
        <p:spPr>
          <a:xfrm>
            <a:off x="7569200" y="2559050"/>
            <a:ext cx="3810000" cy="3054350"/>
          </a:xfrm>
          <a:prstGeom prst="rect">
            <a:avLst/>
          </a:prstGeom>
          <a:noFill/>
          <a:ln>
            <a:noFill/>
          </a:ln>
        </p:spPr>
      </p:pic>
      <p:sp>
        <p:nvSpPr>
          <p:cNvPr id="1055" name="Google Shape;1055;p33"/>
          <p:cNvSpPr txBox="1"/>
          <p:nvPr/>
        </p:nvSpPr>
        <p:spPr>
          <a:xfrm>
            <a:off x="9025235" y="4156854"/>
            <a:ext cx="71755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θ = 45°</a:t>
            </a:r>
            <a:endParaRPr b="0" i="0" sz="1500" u="none" cap="none" strike="noStrike">
              <a:solidFill>
                <a:schemeClr val="dk1"/>
              </a:solidFill>
              <a:latin typeface="Arial"/>
              <a:ea typeface="Arial"/>
              <a:cs typeface="Arial"/>
              <a:sym typeface="Arial"/>
            </a:endParaRPr>
          </a:p>
        </p:txBody>
      </p:sp>
      <p:sp>
        <p:nvSpPr>
          <p:cNvPr id="1056" name="Google Shape;1056;p33"/>
          <p:cNvSpPr txBox="1"/>
          <p:nvPr/>
        </p:nvSpPr>
        <p:spPr>
          <a:xfrm>
            <a:off x="9707166" y="4444588"/>
            <a:ext cx="29845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x₁</a:t>
            </a:r>
            <a:endParaRPr b="0" i="0" sz="1500" u="none" cap="none" strike="noStrike">
              <a:solidFill>
                <a:schemeClr val="dk1"/>
              </a:solidFill>
              <a:latin typeface="Arial"/>
              <a:ea typeface="Arial"/>
              <a:cs typeface="Arial"/>
              <a:sym typeface="Arial"/>
            </a:endParaRPr>
          </a:p>
        </p:txBody>
      </p:sp>
      <p:sp>
        <p:nvSpPr>
          <p:cNvPr id="1057" name="Google Shape;1057;p33"/>
          <p:cNvSpPr txBox="1"/>
          <p:nvPr/>
        </p:nvSpPr>
        <p:spPr>
          <a:xfrm>
            <a:off x="9904016" y="2931304"/>
            <a:ext cx="304800" cy="2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x₂</a:t>
            </a:r>
            <a:endParaRPr b="0" i="0" sz="1500" u="none" cap="none" strike="noStrike">
              <a:solidFill>
                <a:schemeClr val="dk1"/>
              </a:solidFill>
              <a:latin typeface="Arial"/>
              <a:ea typeface="Arial"/>
              <a:cs typeface="Arial"/>
              <a:sym typeface="Arial"/>
            </a:endParaRPr>
          </a:p>
        </p:txBody>
      </p:sp>
      <p:sp>
        <p:nvSpPr>
          <p:cNvPr id="1058" name="Google Shape;1058;p33"/>
          <p:cNvSpPr/>
          <p:nvPr/>
        </p:nvSpPr>
        <p:spPr>
          <a:xfrm>
            <a:off x="7872016" y="4474071"/>
            <a:ext cx="36830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3"/>
          <p:cNvSpPr txBox="1"/>
          <p:nvPr/>
        </p:nvSpPr>
        <p:spPr>
          <a:xfrm>
            <a:off x="7871966" y="4467146"/>
            <a:ext cx="3683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F₁</a:t>
            </a:r>
            <a:endParaRPr b="0" i="0" sz="1300" u="none" cap="none" strike="noStrike">
              <a:solidFill>
                <a:schemeClr val="dk1"/>
              </a:solidFill>
              <a:latin typeface="Arial"/>
              <a:ea typeface="Arial"/>
              <a:cs typeface="Arial"/>
              <a:sym typeface="Arial"/>
            </a:endParaRPr>
          </a:p>
        </p:txBody>
      </p:sp>
      <p:sp>
        <p:nvSpPr>
          <p:cNvPr id="1060" name="Google Shape;1060;p33"/>
          <p:cNvSpPr/>
          <p:nvPr/>
        </p:nvSpPr>
        <p:spPr>
          <a:xfrm>
            <a:off x="8740080" y="3379291"/>
            <a:ext cx="3746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3"/>
          <p:cNvSpPr txBox="1"/>
          <p:nvPr/>
        </p:nvSpPr>
        <p:spPr>
          <a:xfrm>
            <a:off x="8740080" y="3372366"/>
            <a:ext cx="3746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F₂</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34"/>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WORKED EXAMPLE</a:t>
            </a:r>
            <a:endParaRPr b="0" i="0" sz="1200" u="none" cap="none" strike="noStrike">
              <a:solidFill>
                <a:schemeClr val="dk1"/>
              </a:solidFill>
              <a:latin typeface="Arial"/>
              <a:ea typeface="Arial"/>
              <a:cs typeface="Arial"/>
              <a:sym typeface="Arial"/>
            </a:endParaRPr>
          </a:p>
        </p:txBody>
      </p:sp>
      <p:sp>
        <p:nvSpPr>
          <p:cNvPr id="1068" name="Google Shape;1068;p34"/>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A₃: The Elbow</a:t>
            </a:r>
            <a:endParaRPr sz="2800"/>
          </a:p>
        </p:txBody>
      </p:sp>
      <p:sp>
        <p:nvSpPr>
          <p:cNvPr id="1069" name="Google Shape;1069;p34"/>
          <p:cNvSpPr txBox="1"/>
          <p:nvPr/>
        </p:nvSpPr>
        <p:spPr>
          <a:xfrm>
            <a:off x="812800" y="1353346"/>
            <a:ext cx="108204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Pose: θB = 45°, θS = 45°, θE = 45°</a:t>
            </a:r>
            <a:endParaRPr b="0" i="0" sz="1400" u="none" cap="none" strike="noStrike">
              <a:solidFill>
                <a:schemeClr val="dk1"/>
              </a:solidFill>
              <a:latin typeface="Arial"/>
              <a:ea typeface="Arial"/>
              <a:cs typeface="Arial"/>
              <a:sym typeface="Arial"/>
            </a:endParaRPr>
          </a:p>
        </p:txBody>
      </p:sp>
      <p:sp>
        <p:nvSpPr>
          <p:cNvPr id="1070" name="Google Shape;1070;p34"/>
          <p:cNvSpPr/>
          <p:nvPr/>
        </p:nvSpPr>
        <p:spPr>
          <a:xfrm>
            <a:off x="812800" y="1800721"/>
            <a:ext cx="10566400" cy="558800"/>
          </a:xfrm>
          <a:prstGeom prst="roundRect">
            <a:avLst>
              <a:gd fmla="val 1818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4"/>
          <p:cNvSpPr txBox="1"/>
          <p:nvPr/>
        </p:nvSpPr>
        <p:spPr>
          <a:xfrm>
            <a:off x="990600" y="1966404"/>
            <a:ext cx="60751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ROW 3</a:t>
            </a:r>
            <a:endParaRPr b="0" i="0" sz="1200" u="none" cap="none" strike="noStrike">
              <a:solidFill>
                <a:schemeClr val="dk1"/>
              </a:solidFill>
              <a:latin typeface="Arial"/>
              <a:ea typeface="Arial"/>
              <a:cs typeface="Arial"/>
              <a:sym typeface="Arial"/>
            </a:endParaRPr>
          </a:p>
        </p:txBody>
      </p:sp>
      <p:sp>
        <p:nvSpPr>
          <p:cNvPr id="1072" name="Google Shape;1072;p34"/>
          <p:cNvSpPr txBox="1"/>
          <p:nvPr/>
        </p:nvSpPr>
        <p:spPr>
          <a:xfrm>
            <a:off x="1763216" y="1892644"/>
            <a:ext cx="452249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θ = −θE = −45° · d = 0 · a = 250 · α = 0°</a:t>
            </a:r>
            <a:endParaRPr b="0" i="0" sz="2000" u="none" cap="none" strike="noStrike">
              <a:solidFill>
                <a:schemeClr val="dk1"/>
              </a:solidFill>
              <a:latin typeface="Arial"/>
              <a:ea typeface="Arial"/>
              <a:cs typeface="Arial"/>
              <a:sym typeface="Arial"/>
            </a:endParaRPr>
          </a:p>
        </p:txBody>
      </p:sp>
      <p:sp>
        <p:nvSpPr>
          <p:cNvPr id="1073" name="Google Shape;1073;p34"/>
          <p:cNvSpPr/>
          <p:nvPr/>
        </p:nvSpPr>
        <p:spPr>
          <a:xfrm>
            <a:off x="815975" y="2565896"/>
            <a:ext cx="6343650" cy="2345630"/>
          </a:xfrm>
          <a:prstGeom prst="roundRect">
            <a:avLst>
              <a:gd fmla="val 4196"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4"/>
          <p:cNvSpPr txBox="1"/>
          <p:nvPr/>
        </p:nvSpPr>
        <p:spPr>
          <a:xfrm>
            <a:off x="1706761" y="3312111"/>
            <a:ext cx="688479"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A₃ =</a:t>
            </a:r>
            <a:endParaRPr b="0" i="0" sz="2600" u="none" cap="none" strike="noStrike">
              <a:solidFill>
                <a:schemeClr val="dk1"/>
              </a:solidFill>
              <a:latin typeface="Arial"/>
              <a:ea typeface="Arial"/>
              <a:cs typeface="Arial"/>
              <a:sym typeface="Arial"/>
            </a:endParaRPr>
          </a:p>
        </p:txBody>
      </p:sp>
      <p:sp>
        <p:nvSpPr>
          <p:cNvPr id="1075" name="Google Shape;1075;p34"/>
          <p:cNvSpPr/>
          <p:nvPr/>
        </p:nvSpPr>
        <p:spPr>
          <a:xfrm>
            <a:off x="2509540" y="2708771"/>
            <a:ext cx="114300" cy="1701800"/>
          </a:xfrm>
          <a:custGeom>
            <a:rect b="b" l="l" r="r" t="t"/>
            <a:pathLst>
              <a:path extrusionOk="0" h="1701800" w="114300">
                <a:moveTo>
                  <a:pt x="114300" y="0"/>
                </a:moveTo>
                <a:lnTo>
                  <a:pt x="0" y="0"/>
                </a:lnTo>
                <a:lnTo>
                  <a:pt x="0" y="1701800"/>
                </a:lnTo>
                <a:lnTo>
                  <a:pt x="114300" y="1701800"/>
                </a:lnTo>
                <a:lnTo>
                  <a:pt x="114300" y="1676400"/>
                </a:lnTo>
                <a:lnTo>
                  <a:pt x="25400" y="1676400"/>
                </a:lnTo>
                <a:lnTo>
                  <a:pt x="25400" y="25400"/>
                </a:lnTo>
                <a:lnTo>
                  <a:pt x="114300" y="25400"/>
                </a:lnTo>
                <a:close/>
              </a:path>
            </a:pathLst>
          </a:custGeom>
          <a:solidFill>
            <a:srgbClr val="000000"/>
          </a:solidFill>
          <a:ln>
            <a:noFill/>
          </a:ln>
        </p:spPr>
      </p:sp>
      <p:sp>
        <p:nvSpPr>
          <p:cNvPr id="1076" name="Google Shape;1076;p34"/>
          <p:cNvSpPr txBox="1"/>
          <p:nvPr/>
        </p:nvSpPr>
        <p:spPr>
          <a:xfrm>
            <a:off x="2724262" y="27625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77" name="Google Shape;1077;p34"/>
          <p:cNvSpPr txBox="1"/>
          <p:nvPr/>
        </p:nvSpPr>
        <p:spPr>
          <a:xfrm>
            <a:off x="3834805" y="27625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78" name="Google Shape;1078;p34"/>
          <p:cNvSpPr txBox="1"/>
          <p:nvPr/>
        </p:nvSpPr>
        <p:spPr>
          <a:xfrm>
            <a:off x="4789488" y="27625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79" name="Google Shape;1079;p34"/>
          <p:cNvSpPr txBox="1"/>
          <p:nvPr/>
        </p:nvSpPr>
        <p:spPr>
          <a:xfrm>
            <a:off x="5101047" y="27625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176.78</a:t>
            </a:r>
            <a:endParaRPr b="0" i="0" sz="2000" u="none" cap="none" strike="noStrike">
              <a:solidFill>
                <a:schemeClr val="dk1"/>
              </a:solidFill>
              <a:latin typeface="Arial"/>
              <a:ea typeface="Arial"/>
              <a:cs typeface="Arial"/>
              <a:sym typeface="Arial"/>
            </a:endParaRPr>
          </a:p>
        </p:txBody>
      </p:sp>
      <p:sp>
        <p:nvSpPr>
          <p:cNvPr id="1080" name="Google Shape;1080;p34"/>
          <p:cNvSpPr txBox="1"/>
          <p:nvPr/>
        </p:nvSpPr>
        <p:spPr>
          <a:xfrm>
            <a:off x="2731790" y="3168994"/>
            <a:ext cx="937915"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81" name="Google Shape;1081;p34"/>
          <p:cNvSpPr txBox="1"/>
          <p:nvPr/>
        </p:nvSpPr>
        <p:spPr>
          <a:xfrm>
            <a:off x="3834805" y="3168994"/>
            <a:ext cx="789583"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0.7071</a:t>
            </a:r>
            <a:endParaRPr b="0" i="0" sz="2000" u="none" cap="none" strike="noStrike">
              <a:solidFill>
                <a:schemeClr val="dk1"/>
              </a:solidFill>
              <a:latin typeface="Arial"/>
              <a:ea typeface="Arial"/>
              <a:cs typeface="Arial"/>
              <a:sym typeface="Arial"/>
            </a:endParaRPr>
          </a:p>
        </p:txBody>
      </p:sp>
      <p:sp>
        <p:nvSpPr>
          <p:cNvPr id="1082" name="Google Shape;1082;p34"/>
          <p:cNvSpPr txBox="1"/>
          <p:nvPr/>
        </p:nvSpPr>
        <p:spPr>
          <a:xfrm>
            <a:off x="4789488" y="31689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83" name="Google Shape;1083;p34"/>
          <p:cNvSpPr txBox="1"/>
          <p:nvPr/>
        </p:nvSpPr>
        <p:spPr>
          <a:xfrm>
            <a:off x="5108575" y="3168994"/>
            <a:ext cx="937915"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−176.78</a:t>
            </a:r>
            <a:endParaRPr b="0" i="0" sz="2000" u="none" cap="none" strike="noStrike">
              <a:solidFill>
                <a:schemeClr val="dk1"/>
              </a:solidFill>
              <a:latin typeface="Arial"/>
              <a:ea typeface="Arial"/>
              <a:cs typeface="Arial"/>
              <a:sym typeface="Arial"/>
            </a:endParaRPr>
          </a:p>
        </p:txBody>
      </p:sp>
      <p:sp>
        <p:nvSpPr>
          <p:cNvPr id="1084" name="Google Shape;1084;p34"/>
          <p:cNvSpPr txBox="1"/>
          <p:nvPr/>
        </p:nvSpPr>
        <p:spPr>
          <a:xfrm>
            <a:off x="2724262" y="35753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85" name="Google Shape;1085;p34"/>
          <p:cNvSpPr txBox="1"/>
          <p:nvPr/>
        </p:nvSpPr>
        <p:spPr>
          <a:xfrm>
            <a:off x="3829501" y="35753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86" name="Google Shape;1086;p34"/>
          <p:cNvSpPr txBox="1"/>
          <p:nvPr/>
        </p:nvSpPr>
        <p:spPr>
          <a:xfrm>
            <a:off x="4789488" y="35753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2000"/>
              <a:buFont typeface="Arial"/>
              <a:buNone/>
            </a:pPr>
            <a:r>
              <a:rPr b="0" i="0" lang="en-US" sz="2000" u="none" cap="none" strike="noStrike">
                <a:solidFill>
                  <a:srgbClr val="FF0000"/>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087" name="Google Shape;1087;p34"/>
          <p:cNvSpPr txBox="1"/>
          <p:nvPr/>
        </p:nvSpPr>
        <p:spPr>
          <a:xfrm>
            <a:off x="5101047" y="35753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2000"/>
              <a:buFont typeface="Arial"/>
              <a:buNone/>
            </a:pPr>
            <a:r>
              <a:rPr b="0" i="0" lang="en-US" sz="2000" u="none" cap="none" strike="noStrike">
                <a:solidFill>
                  <a:srgbClr val="38761D"/>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88" name="Google Shape;1088;p34"/>
          <p:cNvSpPr txBox="1"/>
          <p:nvPr/>
        </p:nvSpPr>
        <p:spPr>
          <a:xfrm>
            <a:off x="2724262" y="39817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89" name="Google Shape;1089;p34"/>
          <p:cNvSpPr txBox="1"/>
          <p:nvPr/>
        </p:nvSpPr>
        <p:spPr>
          <a:xfrm>
            <a:off x="3829501" y="3981794"/>
            <a:ext cx="800189"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90" name="Google Shape;1090;p34"/>
          <p:cNvSpPr txBox="1"/>
          <p:nvPr/>
        </p:nvSpPr>
        <p:spPr>
          <a:xfrm>
            <a:off x="4789488" y="3981794"/>
            <a:ext cx="153988"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0</a:t>
            </a:r>
            <a:endParaRPr b="0" i="0" sz="2000" u="none" cap="none" strike="noStrike">
              <a:solidFill>
                <a:schemeClr val="dk1"/>
              </a:solidFill>
              <a:latin typeface="Arial"/>
              <a:ea typeface="Arial"/>
              <a:cs typeface="Arial"/>
              <a:sym typeface="Arial"/>
            </a:endParaRPr>
          </a:p>
        </p:txBody>
      </p:sp>
      <p:sp>
        <p:nvSpPr>
          <p:cNvPr id="1091" name="Google Shape;1091;p34"/>
          <p:cNvSpPr txBox="1"/>
          <p:nvPr/>
        </p:nvSpPr>
        <p:spPr>
          <a:xfrm>
            <a:off x="5101047" y="3981794"/>
            <a:ext cx="952971" cy="35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2000"/>
              <a:buFont typeface="Arial"/>
              <a:buNone/>
            </a:pPr>
            <a:r>
              <a:rPr b="0" i="0" lang="en-US" sz="2000" u="none" cap="none" strike="noStrike">
                <a:solidFill>
                  <a:srgbClr val="666666"/>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092" name="Google Shape;1092;p34"/>
          <p:cNvSpPr/>
          <p:nvPr/>
        </p:nvSpPr>
        <p:spPr>
          <a:xfrm>
            <a:off x="6154440" y="2708771"/>
            <a:ext cx="114300" cy="1701800"/>
          </a:xfrm>
          <a:custGeom>
            <a:rect b="b" l="l" r="r" t="t"/>
            <a:pathLst>
              <a:path extrusionOk="0" h="1701800" w="114300">
                <a:moveTo>
                  <a:pt x="0" y="0"/>
                </a:moveTo>
                <a:lnTo>
                  <a:pt x="114300" y="0"/>
                </a:lnTo>
                <a:lnTo>
                  <a:pt x="114300" y="1701800"/>
                </a:lnTo>
                <a:lnTo>
                  <a:pt x="0" y="1701800"/>
                </a:lnTo>
                <a:lnTo>
                  <a:pt x="0" y="1676400"/>
                </a:lnTo>
                <a:lnTo>
                  <a:pt x="88900" y="1676400"/>
                </a:lnTo>
                <a:lnTo>
                  <a:pt x="88900" y="25400"/>
                </a:lnTo>
                <a:lnTo>
                  <a:pt x="0" y="25400"/>
                </a:lnTo>
                <a:close/>
              </a:path>
            </a:pathLst>
          </a:custGeom>
          <a:solidFill>
            <a:srgbClr val="000000"/>
          </a:solidFill>
          <a:ln>
            <a:noFill/>
          </a:ln>
        </p:spPr>
      </p:sp>
      <p:sp>
        <p:nvSpPr>
          <p:cNvPr id="1093" name="Google Shape;1093;p34"/>
          <p:cNvSpPr/>
          <p:nvPr/>
        </p:nvSpPr>
        <p:spPr>
          <a:xfrm>
            <a:off x="2666603" y="4583212"/>
            <a:ext cx="139700" cy="139700"/>
          </a:xfrm>
          <a:prstGeom prst="roundRect">
            <a:avLst>
              <a:gd fmla="val 27273"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4"/>
          <p:cNvSpPr txBox="1"/>
          <p:nvPr/>
        </p:nvSpPr>
        <p:spPr>
          <a:xfrm>
            <a:off x="2869803" y="4529406"/>
            <a:ext cx="112305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turns the frame</a:t>
            </a:r>
            <a:endParaRPr b="0" i="0" sz="1300" u="none" cap="none" strike="noStrike">
              <a:solidFill>
                <a:schemeClr val="dk1"/>
              </a:solidFill>
              <a:latin typeface="Arial"/>
              <a:ea typeface="Arial"/>
              <a:cs typeface="Arial"/>
              <a:sym typeface="Arial"/>
            </a:endParaRPr>
          </a:p>
        </p:txBody>
      </p:sp>
      <p:sp>
        <p:nvSpPr>
          <p:cNvPr id="1095" name="Google Shape;1095;p34"/>
          <p:cNvSpPr/>
          <p:nvPr/>
        </p:nvSpPr>
        <p:spPr>
          <a:xfrm>
            <a:off x="4234160" y="4583212"/>
            <a:ext cx="139700" cy="139700"/>
          </a:xfrm>
          <a:prstGeom prst="roundRect">
            <a:avLst>
              <a:gd fmla="val 27273"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4"/>
          <p:cNvSpPr txBox="1"/>
          <p:nvPr/>
        </p:nvSpPr>
        <p:spPr>
          <a:xfrm>
            <a:off x="4437360" y="4529406"/>
            <a:ext cx="884337"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300"/>
              <a:buFont typeface="Arial"/>
              <a:buNone/>
            </a:pPr>
            <a:r>
              <a:rPr b="0" i="0" lang="en-US" sz="1300" u="none" cap="none" strike="noStrike">
                <a:solidFill>
                  <a:srgbClr val="434343"/>
                </a:solidFill>
                <a:latin typeface="Arial"/>
                <a:ea typeface="Arial"/>
                <a:cs typeface="Arial"/>
                <a:sym typeface="Arial"/>
              </a:rPr>
              <a:t>where it sits</a:t>
            </a:r>
            <a:endParaRPr b="0" i="0" sz="1300" u="none" cap="none" strike="noStrike">
              <a:solidFill>
                <a:schemeClr val="dk1"/>
              </a:solidFill>
              <a:latin typeface="Arial"/>
              <a:ea typeface="Arial"/>
              <a:cs typeface="Arial"/>
              <a:sym typeface="Arial"/>
            </a:endParaRPr>
          </a:p>
        </p:txBody>
      </p:sp>
      <p:sp>
        <p:nvSpPr>
          <p:cNvPr id="1097" name="Google Shape;1097;p34"/>
          <p:cNvSpPr/>
          <p:nvPr/>
        </p:nvSpPr>
        <p:spPr>
          <a:xfrm>
            <a:off x="815975" y="5019477"/>
            <a:ext cx="6343650" cy="961231"/>
          </a:xfrm>
          <a:prstGeom prst="roundRect">
            <a:avLst>
              <a:gd fmla="val 10239"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4"/>
          <p:cNvSpPr txBox="1"/>
          <p:nvPr/>
        </p:nvSpPr>
        <p:spPr>
          <a:xfrm>
            <a:off x="971550" y="5129895"/>
            <a:ext cx="6213475"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HOW TO READ IT</a:t>
            </a:r>
            <a:endParaRPr b="0" i="0" sz="1200" u="none" cap="none" strike="noStrike">
              <a:solidFill>
                <a:schemeClr val="dk1"/>
              </a:solidFill>
              <a:latin typeface="Arial"/>
              <a:ea typeface="Arial"/>
              <a:cs typeface="Arial"/>
              <a:sym typeface="Arial"/>
            </a:endParaRPr>
          </a:p>
        </p:txBody>
      </p:sp>
      <p:sp>
        <p:nvSpPr>
          <p:cNvPr id="1099" name="Google Shape;1099;p34"/>
          <p:cNvSpPr txBox="1"/>
          <p:nvPr/>
        </p:nvSpPr>
        <p:spPr>
          <a:xfrm>
            <a:off x="971550" y="5379058"/>
            <a:ext cx="6235700" cy="48417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Last column (176.78, −176.78, 0): frame 3 sits 176.78 mm along x₂ and −176.78 mm along y₂, measured in frame 2.</a:t>
            </a:r>
            <a:endParaRPr b="0" i="0" sz="14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100" name="Google Shape;1100;p34"/>
          <p:cNvPicPr preferRelativeResize="0"/>
          <p:nvPr/>
        </p:nvPicPr>
        <p:blipFill rotWithShape="1">
          <a:blip r:embed="rId3">
            <a:alphaModFix/>
          </a:blip>
          <a:srcRect b="0" l="0" r="0" t="0"/>
          <a:stretch/>
        </p:blipFill>
        <p:spPr>
          <a:xfrm>
            <a:off x="7569200" y="3324721"/>
            <a:ext cx="3810000" cy="1529655"/>
          </a:xfrm>
          <a:prstGeom prst="rect">
            <a:avLst/>
          </a:prstGeom>
          <a:noFill/>
          <a:ln>
            <a:noFill/>
          </a:ln>
        </p:spPr>
      </p:pic>
      <p:pic>
        <p:nvPicPr>
          <p:cNvPr descr="Side view of the real arm: the forearm, from frame 2 at the elbow to frame 3 at the tip, is bent 45 degrees clockwise from the x axis of frame 2." id="1101" name="Google Shape;1101;p34"/>
          <p:cNvPicPr preferRelativeResize="0"/>
          <p:nvPr/>
        </p:nvPicPr>
        <p:blipFill rotWithShape="1">
          <a:blip r:embed="rId4">
            <a:alphaModFix/>
          </a:blip>
          <a:srcRect b="0" l="0" r="0" t="0"/>
          <a:stretch/>
        </p:blipFill>
        <p:spPr>
          <a:xfrm>
            <a:off x="7569200" y="2559050"/>
            <a:ext cx="3810000" cy="3054350"/>
          </a:xfrm>
          <a:prstGeom prst="rect">
            <a:avLst/>
          </a:prstGeom>
          <a:noFill/>
          <a:ln>
            <a:noFill/>
          </a:ln>
        </p:spPr>
      </p:pic>
      <p:sp>
        <p:nvSpPr>
          <p:cNvPr id="1102" name="Google Shape;1102;p34"/>
          <p:cNvSpPr txBox="1"/>
          <p:nvPr/>
        </p:nvSpPr>
        <p:spPr>
          <a:xfrm>
            <a:off x="9490075" y="2937654"/>
            <a:ext cx="304800" cy="24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x₂</a:t>
            </a:r>
            <a:endParaRPr b="0" i="0" sz="1500" u="none" cap="none" strike="noStrike">
              <a:solidFill>
                <a:schemeClr val="dk1"/>
              </a:solidFill>
              <a:latin typeface="Arial"/>
              <a:ea typeface="Arial"/>
              <a:cs typeface="Arial"/>
              <a:sym typeface="Arial"/>
            </a:endParaRPr>
          </a:p>
        </p:txBody>
      </p:sp>
      <p:sp>
        <p:nvSpPr>
          <p:cNvPr id="1103" name="Google Shape;1103;p34"/>
          <p:cNvSpPr txBox="1"/>
          <p:nvPr/>
        </p:nvSpPr>
        <p:spPr>
          <a:xfrm>
            <a:off x="9968756" y="3006908"/>
            <a:ext cx="508000" cy="24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500"/>
              <a:buFont typeface="Arial"/>
              <a:buNone/>
            </a:pPr>
            <a:r>
              <a:rPr b="1" i="0" lang="en-US" sz="1500" u="none" cap="none" strike="noStrike">
                <a:solidFill>
                  <a:srgbClr val="FF0000"/>
                </a:solidFill>
                <a:latin typeface="Arial"/>
                <a:ea typeface="Arial"/>
                <a:cs typeface="Arial"/>
                <a:sym typeface="Arial"/>
              </a:rPr>
              <a:t>−45°</a:t>
            </a:r>
            <a:endParaRPr b="0" i="0" sz="1500" u="none" cap="none" strike="noStrike">
              <a:solidFill>
                <a:schemeClr val="dk1"/>
              </a:solidFill>
              <a:latin typeface="Arial"/>
              <a:ea typeface="Arial"/>
              <a:cs typeface="Arial"/>
              <a:sym typeface="Arial"/>
            </a:endParaRPr>
          </a:p>
        </p:txBody>
      </p:sp>
      <p:sp>
        <p:nvSpPr>
          <p:cNvPr id="1104" name="Google Shape;1104;p34"/>
          <p:cNvSpPr/>
          <p:nvPr/>
        </p:nvSpPr>
        <p:spPr>
          <a:xfrm>
            <a:off x="11085810" y="3601541"/>
            <a:ext cx="304800" cy="266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4"/>
          <p:cNvSpPr txBox="1"/>
          <p:nvPr/>
        </p:nvSpPr>
        <p:spPr>
          <a:xfrm>
            <a:off x="11085810" y="3589687"/>
            <a:ext cx="3048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x₃</a:t>
            </a:r>
            <a:endParaRPr b="0" i="0" sz="1400" u="none" cap="none" strike="noStrike">
              <a:solidFill>
                <a:schemeClr val="dk1"/>
              </a:solidFill>
              <a:latin typeface="Arial"/>
              <a:ea typeface="Arial"/>
              <a:cs typeface="Arial"/>
              <a:sym typeface="Arial"/>
            </a:endParaRPr>
          </a:p>
        </p:txBody>
      </p:sp>
      <p:sp>
        <p:nvSpPr>
          <p:cNvPr id="1106" name="Google Shape;1106;p34"/>
          <p:cNvSpPr/>
          <p:nvPr/>
        </p:nvSpPr>
        <p:spPr>
          <a:xfrm>
            <a:off x="8727380" y="3341191"/>
            <a:ext cx="3746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4"/>
          <p:cNvSpPr txBox="1"/>
          <p:nvPr/>
        </p:nvSpPr>
        <p:spPr>
          <a:xfrm>
            <a:off x="8727380" y="3334266"/>
            <a:ext cx="3746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F₂</a:t>
            </a:r>
            <a:endParaRPr b="0" i="0" sz="1300" u="none" cap="none" strike="noStrike">
              <a:solidFill>
                <a:schemeClr val="dk1"/>
              </a:solidFill>
              <a:latin typeface="Arial"/>
              <a:ea typeface="Arial"/>
              <a:cs typeface="Arial"/>
              <a:sym typeface="Arial"/>
            </a:endParaRPr>
          </a:p>
        </p:txBody>
      </p:sp>
      <p:sp>
        <p:nvSpPr>
          <p:cNvPr id="1108" name="Google Shape;1108;p34"/>
          <p:cNvSpPr/>
          <p:nvPr/>
        </p:nvSpPr>
        <p:spPr>
          <a:xfrm>
            <a:off x="10276185" y="4014291"/>
            <a:ext cx="37465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4"/>
          <p:cNvSpPr txBox="1"/>
          <p:nvPr/>
        </p:nvSpPr>
        <p:spPr>
          <a:xfrm>
            <a:off x="10276185" y="4007366"/>
            <a:ext cx="37465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F₃</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35"/>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WORKED EXAMPLE</a:t>
            </a:r>
            <a:endParaRPr b="0" i="0" sz="1200" u="none" cap="none" strike="noStrike">
              <a:solidFill>
                <a:schemeClr val="dk1"/>
              </a:solidFill>
              <a:latin typeface="Arial"/>
              <a:ea typeface="Arial"/>
              <a:cs typeface="Arial"/>
              <a:sym typeface="Arial"/>
            </a:endParaRPr>
          </a:p>
        </p:txBody>
      </p:sp>
      <p:sp>
        <p:nvSpPr>
          <p:cNvPr id="1116" name="Google Shape;1116;p35"/>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Step 1: Multiply A₂ · A₃</a:t>
            </a:r>
            <a:endParaRPr sz="2800"/>
          </a:p>
        </p:txBody>
      </p:sp>
      <p:sp>
        <p:nvSpPr>
          <p:cNvPr id="1117" name="Google Shape;1117;p35"/>
          <p:cNvSpPr txBox="1"/>
          <p:nvPr/>
        </p:nvSpPr>
        <p:spPr>
          <a:xfrm>
            <a:off x="812800" y="1353346"/>
            <a:ext cx="108204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A₂ and A₃ have parallel z axes, so together they are the flat arm of Day 1.</a:t>
            </a:r>
            <a:endParaRPr b="0" i="0" sz="1400" u="none" cap="none" strike="noStrike">
              <a:solidFill>
                <a:schemeClr val="dk1"/>
              </a:solidFill>
              <a:latin typeface="Arial"/>
              <a:ea typeface="Arial"/>
              <a:cs typeface="Arial"/>
              <a:sym typeface="Arial"/>
            </a:endParaRPr>
          </a:p>
        </p:txBody>
      </p:sp>
      <p:sp>
        <p:nvSpPr>
          <p:cNvPr id="1118" name="Google Shape;1118;p35"/>
          <p:cNvSpPr/>
          <p:nvPr/>
        </p:nvSpPr>
        <p:spPr>
          <a:xfrm>
            <a:off x="815975" y="1803896"/>
            <a:ext cx="10560050" cy="2162572"/>
          </a:xfrm>
          <a:prstGeom prst="roundRect">
            <a:avLst>
              <a:gd fmla="val 4551"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5"/>
          <p:cNvSpPr/>
          <p:nvPr/>
        </p:nvSpPr>
        <p:spPr>
          <a:xfrm>
            <a:off x="1463873"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120" name="Google Shape;1120;p35"/>
          <p:cNvSpPr txBox="1"/>
          <p:nvPr/>
        </p:nvSpPr>
        <p:spPr>
          <a:xfrm>
            <a:off x="1673423"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21" name="Google Shape;1121;p35"/>
          <p:cNvSpPr txBox="1"/>
          <p:nvPr/>
        </p:nvSpPr>
        <p:spPr>
          <a:xfrm>
            <a:off x="2486223" y="2035720"/>
            <a:ext cx="799207"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22" name="Google Shape;1122;p35"/>
          <p:cNvSpPr txBox="1"/>
          <p:nvPr/>
        </p:nvSpPr>
        <p:spPr>
          <a:xfrm>
            <a:off x="3425130"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23" name="Google Shape;1123;p35"/>
          <p:cNvSpPr txBox="1"/>
          <p:nvPr/>
        </p:nvSpPr>
        <p:spPr>
          <a:xfrm>
            <a:off x="3697684"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124" name="Google Shape;1124;p35"/>
          <p:cNvSpPr txBox="1"/>
          <p:nvPr/>
        </p:nvSpPr>
        <p:spPr>
          <a:xfrm>
            <a:off x="1673423"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25" name="Google Shape;1125;p35"/>
          <p:cNvSpPr txBox="1"/>
          <p:nvPr/>
        </p:nvSpPr>
        <p:spPr>
          <a:xfrm>
            <a:off x="2480776" y="2388740"/>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26" name="Google Shape;1126;p35"/>
          <p:cNvSpPr txBox="1"/>
          <p:nvPr/>
        </p:nvSpPr>
        <p:spPr>
          <a:xfrm>
            <a:off x="3425130"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27" name="Google Shape;1127;p35"/>
          <p:cNvSpPr txBox="1"/>
          <p:nvPr/>
        </p:nvSpPr>
        <p:spPr>
          <a:xfrm>
            <a:off x="3697684"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128" name="Google Shape;1128;p35"/>
          <p:cNvSpPr txBox="1"/>
          <p:nvPr/>
        </p:nvSpPr>
        <p:spPr>
          <a:xfrm>
            <a:off x="1669867"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29" name="Google Shape;1129;p35"/>
          <p:cNvSpPr txBox="1"/>
          <p:nvPr/>
        </p:nvSpPr>
        <p:spPr>
          <a:xfrm>
            <a:off x="2480776" y="274176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30" name="Google Shape;1130;p35"/>
          <p:cNvSpPr txBox="1"/>
          <p:nvPr/>
        </p:nvSpPr>
        <p:spPr>
          <a:xfrm>
            <a:off x="3425130"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31" name="Google Shape;1131;p35"/>
          <p:cNvSpPr txBox="1"/>
          <p:nvPr/>
        </p:nvSpPr>
        <p:spPr>
          <a:xfrm>
            <a:off x="3694128"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32" name="Google Shape;1132;p35"/>
          <p:cNvSpPr txBox="1"/>
          <p:nvPr/>
        </p:nvSpPr>
        <p:spPr>
          <a:xfrm>
            <a:off x="1669867"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33" name="Google Shape;1133;p35"/>
          <p:cNvSpPr txBox="1"/>
          <p:nvPr/>
        </p:nvSpPr>
        <p:spPr>
          <a:xfrm>
            <a:off x="2480776" y="309478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34" name="Google Shape;1134;p35"/>
          <p:cNvSpPr txBox="1"/>
          <p:nvPr/>
        </p:nvSpPr>
        <p:spPr>
          <a:xfrm>
            <a:off x="3425130"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35" name="Google Shape;1135;p35"/>
          <p:cNvSpPr txBox="1"/>
          <p:nvPr/>
        </p:nvSpPr>
        <p:spPr>
          <a:xfrm>
            <a:off x="3694128"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36" name="Google Shape;1136;p35"/>
          <p:cNvSpPr/>
          <p:nvPr/>
        </p:nvSpPr>
        <p:spPr>
          <a:xfrm>
            <a:off x="4466034"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137" name="Google Shape;1137;p35"/>
          <p:cNvSpPr txBox="1"/>
          <p:nvPr/>
        </p:nvSpPr>
        <p:spPr>
          <a:xfrm>
            <a:off x="2918321" y="3527378"/>
            <a:ext cx="220166"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A₂</a:t>
            </a:r>
            <a:endParaRPr b="0" i="0" sz="1400" u="none" cap="none" strike="noStrike">
              <a:solidFill>
                <a:schemeClr val="dk1"/>
              </a:solidFill>
              <a:latin typeface="Arial"/>
              <a:ea typeface="Arial"/>
              <a:cs typeface="Arial"/>
              <a:sym typeface="Arial"/>
            </a:endParaRPr>
          </a:p>
        </p:txBody>
      </p:sp>
      <p:sp>
        <p:nvSpPr>
          <p:cNvPr id="1138" name="Google Shape;1138;p35"/>
          <p:cNvSpPr txBox="1"/>
          <p:nvPr/>
        </p:nvSpPr>
        <p:spPr>
          <a:xfrm>
            <a:off x="4732734" y="241299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139" name="Google Shape;1139;p35"/>
          <p:cNvSpPr/>
          <p:nvPr/>
        </p:nvSpPr>
        <p:spPr>
          <a:xfrm>
            <a:off x="5078016"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140" name="Google Shape;1140;p35"/>
          <p:cNvSpPr txBox="1"/>
          <p:nvPr/>
        </p:nvSpPr>
        <p:spPr>
          <a:xfrm>
            <a:off x="5282118" y="2035720"/>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41" name="Google Shape;1141;p35"/>
          <p:cNvSpPr txBox="1"/>
          <p:nvPr/>
        </p:nvSpPr>
        <p:spPr>
          <a:xfrm>
            <a:off x="6226473"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42" name="Google Shape;1142;p35"/>
          <p:cNvSpPr txBox="1"/>
          <p:nvPr/>
        </p:nvSpPr>
        <p:spPr>
          <a:xfrm>
            <a:off x="7039273"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43" name="Google Shape;1143;p35"/>
          <p:cNvSpPr txBox="1"/>
          <p:nvPr/>
        </p:nvSpPr>
        <p:spPr>
          <a:xfrm>
            <a:off x="7306379" y="2035720"/>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144" name="Google Shape;1144;p35"/>
          <p:cNvSpPr txBox="1"/>
          <p:nvPr/>
        </p:nvSpPr>
        <p:spPr>
          <a:xfrm>
            <a:off x="5287566" y="2388740"/>
            <a:ext cx="799207"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45" name="Google Shape;1145;p35"/>
          <p:cNvSpPr txBox="1"/>
          <p:nvPr/>
        </p:nvSpPr>
        <p:spPr>
          <a:xfrm>
            <a:off x="6226473"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146" name="Google Shape;1146;p35"/>
          <p:cNvSpPr txBox="1"/>
          <p:nvPr/>
        </p:nvSpPr>
        <p:spPr>
          <a:xfrm>
            <a:off x="7039273"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47" name="Google Shape;1147;p35"/>
          <p:cNvSpPr txBox="1"/>
          <p:nvPr/>
        </p:nvSpPr>
        <p:spPr>
          <a:xfrm>
            <a:off x="7311827" y="2388740"/>
            <a:ext cx="799207"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148" name="Google Shape;1148;p35"/>
          <p:cNvSpPr txBox="1"/>
          <p:nvPr/>
        </p:nvSpPr>
        <p:spPr>
          <a:xfrm>
            <a:off x="5282118" y="274176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49" name="Google Shape;1149;p35"/>
          <p:cNvSpPr txBox="1"/>
          <p:nvPr/>
        </p:nvSpPr>
        <p:spPr>
          <a:xfrm>
            <a:off x="6222917"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50" name="Google Shape;1150;p35"/>
          <p:cNvSpPr txBox="1"/>
          <p:nvPr/>
        </p:nvSpPr>
        <p:spPr>
          <a:xfrm>
            <a:off x="7039273"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51" name="Google Shape;1151;p35"/>
          <p:cNvSpPr txBox="1"/>
          <p:nvPr/>
        </p:nvSpPr>
        <p:spPr>
          <a:xfrm>
            <a:off x="7306379" y="274176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52" name="Google Shape;1152;p35"/>
          <p:cNvSpPr txBox="1"/>
          <p:nvPr/>
        </p:nvSpPr>
        <p:spPr>
          <a:xfrm>
            <a:off x="5282118" y="309478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53" name="Google Shape;1153;p35"/>
          <p:cNvSpPr txBox="1"/>
          <p:nvPr/>
        </p:nvSpPr>
        <p:spPr>
          <a:xfrm>
            <a:off x="6222917"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54" name="Google Shape;1154;p35"/>
          <p:cNvSpPr txBox="1"/>
          <p:nvPr/>
        </p:nvSpPr>
        <p:spPr>
          <a:xfrm>
            <a:off x="7039273"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55" name="Google Shape;1155;p35"/>
          <p:cNvSpPr txBox="1"/>
          <p:nvPr/>
        </p:nvSpPr>
        <p:spPr>
          <a:xfrm>
            <a:off x="7306379" y="309478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56" name="Google Shape;1156;p35"/>
          <p:cNvSpPr/>
          <p:nvPr/>
        </p:nvSpPr>
        <p:spPr>
          <a:xfrm>
            <a:off x="8206284"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157" name="Google Shape;1157;p35"/>
          <p:cNvSpPr txBox="1"/>
          <p:nvPr/>
        </p:nvSpPr>
        <p:spPr>
          <a:xfrm>
            <a:off x="6593979" y="3527378"/>
            <a:ext cx="223341"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A₃</a:t>
            </a:r>
            <a:endParaRPr b="0" i="0" sz="1400" u="none" cap="none" strike="noStrike">
              <a:solidFill>
                <a:schemeClr val="dk1"/>
              </a:solidFill>
              <a:latin typeface="Arial"/>
              <a:ea typeface="Arial"/>
              <a:cs typeface="Arial"/>
              <a:sym typeface="Arial"/>
            </a:endParaRPr>
          </a:p>
        </p:txBody>
      </p:sp>
      <p:sp>
        <p:nvSpPr>
          <p:cNvPr id="1158" name="Google Shape;1158;p35"/>
          <p:cNvSpPr txBox="1"/>
          <p:nvPr/>
        </p:nvSpPr>
        <p:spPr>
          <a:xfrm>
            <a:off x="8472984" y="241299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159" name="Google Shape;1159;p35"/>
          <p:cNvSpPr/>
          <p:nvPr/>
        </p:nvSpPr>
        <p:spPr>
          <a:xfrm>
            <a:off x="8818265"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160" name="Google Shape;1160;p35"/>
          <p:cNvSpPr txBox="1"/>
          <p:nvPr/>
        </p:nvSpPr>
        <p:spPr>
          <a:xfrm>
            <a:off x="9027815"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61" name="Google Shape;1161;p35"/>
          <p:cNvSpPr txBox="1"/>
          <p:nvPr/>
        </p:nvSpPr>
        <p:spPr>
          <a:xfrm>
            <a:off x="9300369"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62" name="Google Shape;1162;p35"/>
          <p:cNvSpPr txBox="1"/>
          <p:nvPr/>
        </p:nvSpPr>
        <p:spPr>
          <a:xfrm>
            <a:off x="9572923"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63" name="Google Shape;1163;p35"/>
          <p:cNvSpPr txBox="1"/>
          <p:nvPr/>
        </p:nvSpPr>
        <p:spPr>
          <a:xfrm>
            <a:off x="9845477"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426.78</a:t>
            </a:r>
            <a:endParaRPr b="0" i="0" sz="1700" u="none" cap="none" strike="noStrike">
              <a:solidFill>
                <a:schemeClr val="dk1"/>
              </a:solidFill>
              <a:latin typeface="Arial"/>
              <a:ea typeface="Arial"/>
              <a:cs typeface="Arial"/>
              <a:sym typeface="Arial"/>
            </a:endParaRPr>
          </a:p>
        </p:txBody>
      </p:sp>
      <p:sp>
        <p:nvSpPr>
          <p:cNvPr id="1164" name="Google Shape;1164;p35"/>
          <p:cNvSpPr txBox="1"/>
          <p:nvPr/>
        </p:nvSpPr>
        <p:spPr>
          <a:xfrm>
            <a:off x="9027815"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65" name="Google Shape;1165;p35"/>
          <p:cNvSpPr txBox="1"/>
          <p:nvPr/>
        </p:nvSpPr>
        <p:spPr>
          <a:xfrm>
            <a:off x="9300369"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66" name="Google Shape;1166;p35"/>
          <p:cNvSpPr txBox="1"/>
          <p:nvPr/>
        </p:nvSpPr>
        <p:spPr>
          <a:xfrm>
            <a:off x="9572923"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67" name="Google Shape;1167;p35"/>
          <p:cNvSpPr txBox="1"/>
          <p:nvPr/>
        </p:nvSpPr>
        <p:spPr>
          <a:xfrm>
            <a:off x="9845477"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168" name="Google Shape;1168;p35"/>
          <p:cNvSpPr txBox="1"/>
          <p:nvPr/>
        </p:nvSpPr>
        <p:spPr>
          <a:xfrm>
            <a:off x="9027815"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69" name="Google Shape;1169;p35"/>
          <p:cNvSpPr txBox="1"/>
          <p:nvPr/>
        </p:nvSpPr>
        <p:spPr>
          <a:xfrm>
            <a:off x="9300369"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70" name="Google Shape;1170;p35"/>
          <p:cNvSpPr txBox="1"/>
          <p:nvPr/>
        </p:nvSpPr>
        <p:spPr>
          <a:xfrm>
            <a:off x="9572923"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71" name="Google Shape;1171;p35"/>
          <p:cNvSpPr txBox="1"/>
          <p:nvPr/>
        </p:nvSpPr>
        <p:spPr>
          <a:xfrm>
            <a:off x="9841921"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72" name="Google Shape;1172;p35"/>
          <p:cNvSpPr txBox="1"/>
          <p:nvPr/>
        </p:nvSpPr>
        <p:spPr>
          <a:xfrm>
            <a:off x="9027815"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73" name="Google Shape;1173;p35"/>
          <p:cNvSpPr txBox="1"/>
          <p:nvPr/>
        </p:nvSpPr>
        <p:spPr>
          <a:xfrm>
            <a:off x="9300369"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74" name="Google Shape;1174;p35"/>
          <p:cNvSpPr txBox="1"/>
          <p:nvPr/>
        </p:nvSpPr>
        <p:spPr>
          <a:xfrm>
            <a:off x="9572923"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175" name="Google Shape;1175;p35"/>
          <p:cNvSpPr txBox="1"/>
          <p:nvPr/>
        </p:nvSpPr>
        <p:spPr>
          <a:xfrm>
            <a:off x="9841921"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176" name="Google Shape;1176;p35"/>
          <p:cNvSpPr/>
          <p:nvPr/>
        </p:nvSpPr>
        <p:spPr>
          <a:xfrm>
            <a:off x="10613827"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177" name="Google Shape;1177;p35"/>
          <p:cNvSpPr txBox="1"/>
          <p:nvPr/>
        </p:nvSpPr>
        <p:spPr>
          <a:xfrm>
            <a:off x="9488388" y="3527378"/>
            <a:ext cx="582216"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A₂ · A₃</a:t>
            </a:r>
            <a:endParaRPr b="0" i="0" sz="1400" u="none" cap="none" strike="noStrike">
              <a:solidFill>
                <a:schemeClr val="dk1"/>
              </a:solidFill>
              <a:latin typeface="Arial"/>
              <a:ea typeface="Arial"/>
              <a:cs typeface="Arial"/>
              <a:sym typeface="Arial"/>
            </a:endParaRPr>
          </a:p>
        </p:txBody>
      </p:sp>
      <p:sp>
        <p:nvSpPr>
          <p:cNvPr id="1178" name="Google Shape;1178;p35"/>
          <p:cNvSpPr/>
          <p:nvPr/>
        </p:nvSpPr>
        <p:spPr>
          <a:xfrm>
            <a:off x="815975" y="4176018"/>
            <a:ext cx="5175250" cy="1342231"/>
          </a:xfrm>
          <a:prstGeom prst="roundRect">
            <a:avLst>
              <a:gd fmla="val 7333" name="adj"/>
            </a:avLst>
          </a:prstGeom>
          <a:solidFill>
            <a:srgbClr val="FFFFFF"/>
          </a:solidFill>
          <a:ln cap="flat" cmpd="sng" w="9525">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5"/>
          <p:cNvSpPr txBox="1"/>
          <p:nvPr/>
        </p:nvSpPr>
        <p:spPr>
          <a:xfrm>
            <a:off x="996950" y="4311836"/>
            <a:ext cx="495769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TOP-LEFT BLOCK</a:t>
            </a:r>
            <a:endParaRPr b="0" i="0" sz="1200" u="none" cap="none" strike="noStrike">
              <a:solidFill>
                <a:schemeClr val="dk1"/>
              </a:solidFill>
              <a:latin typeface="Arial"/>
              <a:ea typeface="Arial"/>
              <a:cs typeface="Arial"/>
              <a:sym typeface="Arial"/>
            </a:endParaRPr>
          </a:p>
        </p:txBody>
      </p:sp>
      <p:sp>
        <p:nvSpPr>
          <p:cNvPr id="1180" name="Google Shape;1180;p35"/>
          <p:cNvSpPr txBox="1"/>
          <p:nvPr/>
        </p:nvSpPr>
        <p:spPr>
          <a:xfrm>
            <a:off x="996950" y="4558761"/>
            <a:ext cx="4965700" cy="81661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It is the identity matrix. The turns cancel: +45° and −45° make 0°, so frame 3 points the same way as frame 1.</a:t>
            </a:r>
            <a:endParaRPr b="0" i="0" sz="1600" u="none" cap="none" strike="noStrike">
              <a:solidFill>
                <a:schemeClr val="dk1"/>
              </a:solidFill>
              <a:latin typeface="Arial"/>
              <a:ea typeface="Arial"/>
              <a:cs typeface="Arial"/>
              <a:sym typeface="Arial"/>
            </a:endParaRPr>
          </a:p>
        </p:txBody>
      </p:sp>
      <p:sp>
        <p:nvSpPr>
          <p:cNvPr id="1181" name="Google Shape;1181;p35"/>
          <p:cNvSpPr/>
          <p:nvPr/>
        </p:nvSpPr>
        <p:spPr>
          <a:xfrm>
            <a:off x="6200775" y="4176018"/>
            <a:ext cx="5175250" cy="1342231"/>
          </a:xfrm>
          <a:prstGeom prst="roundRect">
            <a:avLst>
              <a:gd fmla="val 7333"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5"/>
          <p:cNvSpPr txBox="1"/>
          <p:nvPr/>
        </p:nvSpPr>
        <p:spPr>
          <a:xfrm>
            <a:off x="6381750" y="4311836"/>
            <a:ext cx="495769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LAST COLUMN</a:t>
            </a:r>
            <a:endParaRPr b="0" i="0" sz="1200" u="none" cap="none" strike="noStrike">
              <a:solidFill>
                <a:schemeClr val="dk1"/>
              </a:solidFill>
              <a:latin typeface="Arial"/>
              <a:ea typeface="Arial"/>
              <a:cs typeface="Arial"/>
              <a:sym typeface="Arial"/>
            </a:endParaRPr>
          </a:p>
        </p:txBody>
      </p:sp>
      <p:sp>
        <p:nvSpPr>
          <p:cNvPr id="1183" name="Google Shape;1183;p35"/>
          <p:cNvSpPr txBox="1"/>
          <p:nvPr/>
        </p:nvSpPr>
        <p:spPr>
          <a:xfrm>
            <a:off x="6381750" y="4558761"/>
            <a:ext cx="5005832" cy="816613"/>
          </a:xfrm>
          <a:prstGeom prst="rect">
            <a:avLst/>
          </a:prstGeom>
          <a:noFill/>
          <a:ln>
            <a:noFill/>
          </a:ln>
        </p:spPr>
        <p:txBody>
          <a:bodyPr anchorCtr="0" anchor="t" bIns="0" lIns="0" spcFirstLastPara="1" rIns="0" wrap="square" tIns="0">
            <a:noAutofit/>
          </a:bodyPr>
          <a:lstStyle/>
          <a:p>
            <a:pPr indent="0" lvl="0" marL="0" marR="0" rtl="0" algn="l">
              <a:lnSpc>
                <a:spcPct val="115555"/>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(426.78, 176.78, 0) is Day 1's answer: the tip is</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426.78 mm out and 176.78 mm up, in the plane of</a:t>
            </a:r>
            <a:br>
              <a:rPr b="0" i="0" lang="en-US" sz="1800" u="none" cap="none" strike="noStrike">
                <a:solidFill>
                  <a:schemeClr val="dk1"/>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the arm.</a:t>
            </a:r>
            <a:endParaRPr b="0" i="0" sz="16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184" name="Google Shape;1184;p35"/>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the upper arm marked A2 and the forearm marked A3, together making the flat arm of Day 1" id="1185" name="Google Shape;1185;p35"/>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1186" name="Google Shape;1186;p35"/>
          <p:cNvSpPr/>
          <p:nvPr/>
        </p:nvSpPr>
        <p:spPr>
          <a:xfrm>
            <a:off x="8827691" y="670520"/>
            <a:ext cx="34290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5"/>
          <p:cNvSpPr txBox="1"/>
          <p:nvPr/>
        </p:nvSpPr>
        <p:spPr>
          <a:xfrm>
            <a:off x="8827691" y="663595"/>
            <a:ext cx="3429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A₂</a:t>
            </a:r>
            <a:endParaRPr b="0" i="0" sz="1300" u="none" cap="none" strike="noStrike">
              <a:solidFill>
                <a:schemeClr val="dk1"/>
              </a:solidFill>
              <a:latin typeface="Arial"/>
              <a:ea typeface="Arial"/>
              <a:cs typeface="Arial"/>
              <a:sym typeface="Arial"/>
            </a:endParaRPr>
          </a:p>
        </p:txBody>
      </p:sp>
      <p:sp>
        <p:nvSpPr>
          <p:cNvPr id="1188" name="Google Shape;1188;p35"/>
          <p:cNvSpPr/>
          <p:nvPr/>
        </p:nvSpPr>
        <p:spPr>
          <a:xfrm>
            <a:off x="9961860" y="725091"/>
            <a:ext cx="342900" cy="254000"/>
          </a:xfrm>
          <a:prstGeom prst="roundRect">
            <a:avLst>
              <a:gd fmla="val 50000"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5"/>
          <p:cNvSpPr txBox="1"/>
          <p:nvPr/>
        </p:nvSpPr>
        <p:spPr>
          <a:xfrm>
            <a:off x="9961860" y="718165"/>
            <a:ext cx="342900" cy="25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A₃</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36"/>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WORKED EXAMPLE</a:t>
            </a:r>
            <a:endParaRPr b="0" i="0" sz="1200" u="none" cap="none" strike="noStrike">
              <a:solidFill>
                <a:schemeClr val="dk1"/>
              </a:solidFill>
              <a:latin typeface="Arial"/>
              <a:ea typeface="Arial"/>
              <a:cs typeface="Arial"/>
              <a:sym typeface="Arial"/>
            </a:endParaRPr>
          </a:p>
        </p:txBody>
      </p:sp>
      <p:sp>
        <p:nvSpPr>
          <p:cNvPr id="1196" name="Google Shape;1196;p36"/>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Step 2: Multiply A₁ · (A₂ · A₃)</a:t>
            </a:r>
            <a:endParaRPr sz="2800"/>
          </a:p>
        </p:txBody>
      </p:sp>
      <p:sp>
        <p:nvSpPr>
          <p:cNvPr id="1197" name="Google Shape;1197;p36"/>
          <p:cNvSpPr txBox="1"/>
          <p:nvPr/>
        </p:nvSpPr>
        <p:spPr>
          <a:xfrm>
            <a:off x="812800" y="1353346"/>
            <a:ext cx="108204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0" i="0" lang="en-US" sz="1400" u="none" cap="none" strike="noStrike">
                <a:solidFill>
                  <a:srgbClr val="666666"/>
                </a:solidFill>
                <a:latin typeface="Arial"/>
                <a:ea typeface="Arial"/>
                <a:cs typeface="Arial"/>
                <a:sym typeface="Arial"/>
              </a:rPr>
              <a:t>Now add the base turn. The last column is the answer.</a:t>
            </a:r>
            <a:endParaRPr b="0" i="0" sz="1400" u="none" cap="none" strike="noStrike">
              <a:solidFill>
                <a:schemeClr val="dk1"/>
              </a:solidFill>
              <a:latin typeface="Arial"/>
              <a:ea typeface="Arial"/>
              <a:cs typeface="Arial"/>
              <a:sym typeface="Arial"/>
            </a:endParaRPr>
          </a:p>
        </p:txBody>
      </p:sp>
      <p:sp>
        <p:nvSpPr>
          <p:cNvPr id="1198" name="Google Shape;1198;p36"/>
          <p:cNvSpPr/>
          <p:nvPr/>
        </p:nvSpPr>
        <p:spPr>
          <a:xfrm>
            <a:off x="815975" y="1803896"/>
            <a:ext cx="10560050" cy="2162572"/>
          </a:xfrm>
          <a:prstGeom prst="roundRect">
            <a:avLst>
              <a:gd fmla="val 4551"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6"/>
          <p:cNvSpPr/>
          <p:nvPr/>
        </p:nvSpPr>
        <p:spPr>
          <a:xfrm>
            <a:off x="1797050"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200" name="Google Shape;1200;p36"/>
          <p:cNvSpPr txBox="1"/>
          <p:nvPr/>
        </p:nvSpPr>
        <p:spPr>
          <a:xfrm>
            <a:off x="2006600"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01" name="Google Shape;1201;p36"/>
          <p:cNvSpPr txBox="1"/>
          <p:nvPr/>
        </p:nvSpPr>
        <p:spPr>
          <a:xfrm>
            <a:off x="2819400"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02" name="Google Shape;1202;p36"/>
          <p:cNvSpPr txBox="1"/>
          <p:nvPr/>
        </p:nvSpPr>
        <p:spPr>
          <a:xfrm>
            <a:off x="3086506" y="2035720"/>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03" name="Google Shape;1203;p36"/>
          <p:cNvSpPr txBox="1"/>
          <p:nvPr/>
        </p:nvSpPr>
        <p:spPr>
          <a:xfrm>
            <a:off x="4030861"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04" name="Google Shape;1204;p36"/>
          <p:cNvSpPr txBox="1"/>
          <p:nvPr/>
        </p:nvSpPr>
        <p:spPr>
          <a:xfrm>
            <a:off x="2006600"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05" name="Google Shape;1205;p36"/>
          <p:cNvSpPr txBox="1"/>
          <p:nvPr/>
        </p:nvSpPr>
        <p:spPr>
          <a:xfrm>
            <a:off x="2819400"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06" name="Google Shape;1206;p36"/>
          <p:cNvSpPr txBox="1"/>
          <p:nvPr/>
        </p:nvSpPr>
        <p:spPr>
          <a:xfrm>
            <a:off x="3091954" y="2388740"/>
            <a:ext cx="799207"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07" name="Google Shape;1207;p36"/>
          <p:cNvSpPr txBox="1"/>
          <p:nvPr/>
        </p:nvSpPr>
        <p:spPr>
          <a:xfrm>
            <a:off x="4030861"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08" name="Google Shape;1208;p36"/>
          <p:cNvSpPr txBox="1"/>
          <p:nvPr/>
        </p:nvSpPr>
        <p:spPr>
          <a:xfrm>
            <a:off x="2003044"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09" name="Google Shape;1209;p36"/>
          <p:cNvSpPr txBox="1"/>
          <p:nvPr/>
        </p:nvSpPr>
        <p:spPr>
          <a:xfrm>
            <a:off x="2819400"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10" name="Google Shape;1210;p36"/>
          <p:cNvSpPr txBox="1"/>
          <p:nvPr/>
        </p:nvSpPr>
        <p:spPr>
          <a:xfrm>
            <a:off x="3086506" y="274176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11" name="Google Shape;1211;p36"/>
          <p:cNvSpPr txBox="1"/>
          <p:nvPr/>
        </p:nvSpPr>
        <p:spPr>
          <a:xfrm>
            <a:off x="4030861"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12" name="Google Shape;1212;p36"/>
          <p:cNvSpPr txBox="1"/>
          <p:nvPr/>
        </p:nvSpPr>
        <p:spPr>
          <a:xfrm>
            <a:off x="2003044"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13" name="Google Shape;1213;p36"/>
          <p:cNvSpPr txBox="1"/>
          <p:nvPr/>
        </p:nvSpPr>
        <p:spPr>
          <a:xfrm>
            <a:off x="2819400"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14" name="Google Shape;1214;p36"/>
          <p:cNvSpPr txBox="1"/>
          <p:nvPr/>
        </p:nvSpPr>
        <p:spPr>
          <a:xfrm>
            <a:off x="3086506" y="309478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15" name="Google Shape;1215;p36"/>
          <p:cNvSpPr txBox="1"/>
          <p:nvPr/>
        </p:nvSpPr>
        <p:spPr>
          <a:xfrm>
            <a:off x="4030861"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16" name="Google Shape;1216;p36"/>
          <p:cNvSpPr/>
          <p:nvPr/>
        </p:nvSpPr>
        <p:spPr>
          <a:xfrm>
            <a:off x="4258965"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217" name="Google Shape;1217;p36"/>
          <p:cNvSpPr txBox="1"/>
          <p:nvPr/>
        </p:nvSpPr>
        <p:spPr>
          <a:xfrm>
            <a:off x="2984103" y="3527378"/>
            <a:ext cx="214709"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A₁</a:t>
            </a:r>
            <a:endParaRPr b="0" i="0" sz="1400" u="none" cap="none" strike="noStrike">
              <a:solidFill>
                <a:schemeClr val="dk1"/>
              </a:solidFill>
              <a:latin typeface="Arial"/>
              <a:ea typeface="Arial"/>
              <a:cs typeface="Arial"/>
              <a:sym typeface="Arial"/>
            </a:endParaRPr>
          </a:p>
        </p:txBody>
      </p:sp>
      <p:sp>
        <p:nvSpPr>
          <p:cNvPr id="1218" name="Google Shape;1218;p36"/>
          <p:cNvSpPr txBox="1"/>
          <p:nvPr/>
        </p:nvSpPr>
        <p:spPr>
          <a:xfrm>
            <a:off x="4525665" y="241299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219" name="Google Shape;1219;p36"/>
          <p:cNvSpPr/>
          <p:nvPr/>
        </p:nvSpPr>
        <p:spPr>
          <a:xfrm>
            <a:off x="4870946"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220" name="Google Shape;1220;p36"/>
          <p:cNvSpPr txBox="1"/>
          <p:nvPr/>
        </p:nvSpPr>
        <p:spPr>
          <a:xfrm>
            <a:off x="5080496"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21" name="Google Shape;1221;p36"/>
          <p:cNvSpPr txBox="1"/>
          <p:nvPr/>
        </p:nvSpPr>
        <p:spPr>
          <a:xfrm>
            <a:off x="5353050"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22" name="Google Shape;1222;p36"/>
          <p:cNvSpPr txBox="1"/>
          <p:nvPr/>
        </p:nvSpPr>
        <p:spPr>
          <a:xfrm>
            <a:off x="5625604"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23" name="Google Shape;1223;p36"/>
          <p:cNvSpPr txBox="1"/>
          <p:nvPr/>
        </p:nvSpPr>
        <p:spPr>
          <a:xfrm>
            <a:off x="5898158"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426.78</a:t>
            </a:r>
            <a:endParaRPr b="0" i="0" sz="1700" u="none" cap="none" strike="noStrike">
              <a:solidFill>
                <a:schemeClr val="dk1"/>
              </a:solidFill>
              <a:latin typeface="Arial"/>
              <a:ea typeface="Arial"/>
              <a:cs typeface="Arial"/>
              <a:sym typeface="Arial"/>
            </a:endParaRPr>
          </a:p>
        </p:txBody>
      </p:sp>
      <p:sp>
        <p:nvSpPr>
          <p:cNvPr id="1224" name="Google Shape;1224;p36"/>
          <p:cNvSpPr txBox="1"/>
          <p:nvPr/>
        </p:nvSpPr>
        <p:spPr>
          <a:xfrm>
            <a:off x="5080496"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25" name="Google Shape;1225;p36"/>
          <p:cNvSpPr txBox="1"/>
          <p:nvPr/>
        </p:nvSpPr>
        <p:spPr>
          <a:xfrm>
            <a:off x="5353050"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26" name="Google Shape;1226;p36"/>
          <p:cNvSpPr txBox="1"/>
          <p:nvPr/>
        </p:nvSpPr>
        <p:spPr>
          <a:xfrm>
            <a:off x="5625604"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27" name="Google Shape;1227;p36"/>
          <p:cNvSpPr txBox="1"/>
          <p:nvPr/>
        </p:nvSpPr>
        <p:spPr>
          <a:xfrm>
            <a:off x="5898158"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228" name="Google Shape;1228;p36"/>
          <p:cNvSpPr txBox="1"/>
          <p:nvPr/>
        </p:nvSpPr>
        <p:spPr>
          <a:xfrm>
            <a:off x="5080496"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29" name="Google Shape;1229;p36"/>
          <p:cNvSpPr txBox="1"/>
          <p:nvPr/>
        </p:nvSpPr>
        <p:spPr>
          <a:xfrm>
            <a:off x="5353050"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30" name="Google Shape;1230;p36"/>
          <p:cNvSpPr txBox="1"/>
          <p:nvPr/>
        </p:nvSpPr>
        <p:spPr>
          <a:xfrm>
            <a:off x="5625604"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31" name="Google Shape;1231;p36"/>
          <p:cNvSpPr txBox="1"/>
          <p:nvPr/>
        </p:nvSpPr>
        <p:spPr>
          <a:xfrm>
            <a:off x="5894602"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32" name="Google Shape;1232;p36"/>
          <p:cNvSpPr txBox="1"/>
          <p:nvPr/>
        </p:nvSpPr>
        <p:spPr>
          <a:xfrm>
            <a:off x="5080496"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33" name="Google Shape;1233;p36"/>
          <p:cNvSpPr txBox="1"/>
          <p:nvPr/>
        </p:nvSpPr>
        <p:spPr>
          <a:xfrm>
            <a:off x="5353050"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34" name="Google Shape;1234;p36"/>
          <p:cNvSpPr txBox="1"/>
          <p:nvPr/>
        </p:nvSpPr>
        <p:spPr>
          <a:xfrm>
            <a:off x="5625604"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35" name="Google Shape;1235;p36"/>
          <p:cNvSpPr txBox="1"/>
          <p:nvPr/>
        </p:nvSpPr>
        <p:spPr>
          <a:xfrm>
            <a:off x="5894602"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36" name="Google Shape;1236;p36"/>
          <p:cNvSpPr/>
          <p:nvPr/>
        </p:nvSpPr>
        <p:spPr>
          <a:xfrm>
            <a:off x="6666508"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237" name="Google Shape;1237;p36"/>
          <p:cNvSpPr txBox="1"/>
          <p:nvPr/>
        </p:nvSpPr>
        <p:spPr>
          <a:xfrm>
            <a:off x="5541070" y="3527378"/>
            <a:ext cx="582216"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A₂ · A₃</a:t>
            </a:r>
            <a:endParaRPr b="0" i="0" sz="1400" u="none" cap="none" strike="noStrike">
              <a:solidFill>
                <a:schemeClr val="dk1"/>
              </a:solidFill>
              <a:latin typeface="Arial"/>
              <a:ea typeface="Arial"/>
              <a:cs typeface="Arial"/>
              <a:sym typeface="Arial"/>
            </a:endParaRPr>
          </a:p>
        </p:txBody>
      </p:sp>
      <p:sp>
        <p:nvSpPr>
          <p:cNvPr id="1238" name="Google Shape;1238;p36"/>
          <p:cNvSpPr txBox="1"/>
          <p:nvPr/>
        </p:nvSpPr>
        <p:spPr>
          <a:xfrm>
            <a:off x="6933208" y="2412990"/>
            <a:ext cx="205581"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2600"/>
              <a:buFont typeface="Arial"/>
              <a:buNone/>
            </a:pPr>
            <a:r>
              <a:rPr b="0" i="0" lang="en-US" sz="2600" u="none" cap="none" strike="noStrike">
                <a:solidFill>
                  <a:srgbClr val="666666"/>
                </a:solidFill>
                <a:latin typeface="Arial"/>
                <a:ea typeface="Arial"/>
                <a:cs typeface="Arial"/>
                <a:sym typeface="Arial"/>
              </a:rPr>
              <a:t>=</a:t>
            </a:r>
            <a:endParaRPr b="0" i="0" sz="2600" u="none" cap="none" strike="noStrike">
              <a:solidFill>
                <a:schemeClr val="dk1"/>
              </a:solidFill>
              <a:latin typeface="Arial"/>
              <a:ea typeface="Arial"/>
              <a:cs typeface="Arial"/>
              <a:sym typeface="Arial"/>
            </a:endParaRPr>
          </a:p>
        </p:txBody>
      </p:sp>
      <p:sp>
        <p:nvSpPr>
          <p:cNvPr id="1239" name="Google Shape;1239;p36"/>
          <p:cNvSpPr/>
          <p:nvPr/>
        </p:nvSpPr>
        <p:spPr>
          <a:xfrm>
            <a:off x="7278489" y="1984871"/>
            <a:ext cx="114300" cy="1488281"/>
          </a:xfrm>
          <a:custGeom>
            <a:rect b="b" l="l" r="r" t="t"/>
            <a:pathLst>
              <a:path extrusionOk="0" h="1488281" w="114300">
                <a:moveTo>
                  <a:pt x="114300" y="0"/>
                </a:moveTo>
                <a:lnTo>
                  <a:pt x="0" y="0"/>
                </a:lnTo>
                <a:lnTo>
                  <a:pt x="0" y="1488281"/>
                </a:lnTo>
                <a:lnTo>
                  <a:pt x="114300" y="1488281"/>
                </a:lnTo>
                <a:lnTo>
                  <a:pt x="114300" y="1462881"/>
                </a:lnTo>
                <a:lnTo>
                  <a:pt x="25400" y="1462881"/>
                </a:lnTo>
                <a:lnTo>
                  <a:pt x="25400" y="25400"/>
                </a:lnTo>
                <a:lnTo>
                  <a:pt x="114300" y="25400"/>
                </a:lnTo>
                <a:close/>
              </a:path>
            </a:pathLst>
          </a:custGeom>
          <a:solidFill>
            <a:srgbClr val="000000"/>
          </a:solidFill>
          <a:ln>
            <a:noFill/>
          </a:ln>
        </p:spPr>
      </p:sp>
      <p:sp>
        <p:nvSpPr>
          <p:cNvPr id="1240" name="Google Shape;1240;p36"/>
          <p:cNvSpPr txBox="1"/>
          <p:nvPr/>
        </p:nvSpPr>
        <p:spPr>
          <a:xfrm>
            <a:off x="7488039"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41" name="Google Shape;1241;p36"/>
          <p:cNvSpPr txBox="1"/>
          <p:nvPr/>
        </p:nvSpPr>
        <p:spPr>
          <a:xfrm>
            <a:off x="8300839" y="203572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42" name="Google Shape;1242;p36"/>
          <p:cNvSpPr txBox="1"/>
          <p:nvPr/>
        </p:nvSpPr>
        <p:spPr>
          <a:xfrm>
            <a:off x="8567945" y="2035720"/>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43" name="Google Shape;1243;p36"/>
          <p:cNvSpPr txBox="1"/>
          <p:nvPr/>
        </p:nvSpPr>
        <p:spPr>
          <a:xfrm>
            <a:off x="9512300" y="203572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301.78</a:t>
            </a:r>
            <a:endParaRPr b="0" i="0" sz="1700" u="none" cap="none" strike="noStrike">
              <a:solidFill>
                <a:schemeClr val="dk1"/>
              </a:solidFill>
              <a:latin typeface="Arial"/>
              <a:ea typeface="Arial"/>
              <a:cs typeface="Arial"/>
              <a:sym typeface="Arial"/>
            </a:endParaRPr>
          </a:p>
        </p:txBody>
      </p:sp>
      <p:sp>
        <p:nvSpPr>
          <p:cNvPr id="1244" name="Google Shape;1244;p36"/>
          <p:cNvSpPr txBox="1"/>
          <p:nvPr/>
        </p:nvSpPr>
        <p:spPr>
          <a:xfrm>
            <a:off x="7488039"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45" name="Google Shape;1245;p36"/>
          <p:cNvSpPr txBox="1"/>
          <p:nvPr/>
        </p:nvSpPr>
        <p:spPr>
          <a:xfrm>
            <a:off x="8300839" y="2388740"/>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46" name="Google Shape;1246;p36"/>
          <p:cNvSpPr txBox="1"/>
          <p:nvPr/>
        </p:nvSpPr>
        <p:spPr>
          <a:xfrm>
            <a:off x="8573393" y="2388740"/>
            <a:ext cx="799207"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−0.7071</a:t>
            </a:r>
            <a:endParaRPr b="0" i="0" sz="1700" u="none" cap="none" strike="noStrike">
              <a:solidFill>
                <a:schemeClr val="dk1"/>
              </a:solidFill>
              <a:latin typeface="Arial"/>
              <a:ea typeface="Arial"/>
              <a:cs typeface="Arial"/>
              <a:sym typeface="Arial"/>
            </a:endParaRPr>
          </a:p>
        </p:txBody>
      </p:sp>
      <p:sp>
        <p:nvSpPr>
          <p:cNvPr id="1247" name="Google Shape;1247;p36"/>
          <p:cNvSpPr txBox="1"/>
          <p:nvPr/>
        </p:nvSpPr>
        <p:spPr>
          <a:xfrm>
            <a:off x="9512300" y="2388740"/>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301.78</a:t>
            </a:r>
            <a:endParaRPr b="0" i="0" sz="1700" u="none" cap="none" strike="noStrike">
              <a:solidFill>
                <a:schemeClr val="dk1"/>
              </a:solidFill>
              <a:latin typeface="Arial"/>
              <a:ea typeface="Arial"/>
              <a:cs typeface="Arial"/>
              <a:sym typeface="Arial"/>
            </a:endParaRPr>
          </a:p>
        </p:txBody>
      </p:sp>
      <p:sp>
        <p:nvSpPr>
          <p:cNvPr id="1248" name="Google Shape;1248;p36"/>
          <p:cNvSpPr txBox="1"/>
          <p:nvPr/>
        </p:nvSpPr>
        <p:spPr>
          <a:xfrm>
            <a:off x="7484483" y="274176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49" name="Google Shape;1249;p36"/>
          <p:cNvSpPr txBox="1"/>
          <p:nvPr/>
        </p:nvSpPr>
        <p:spPr>
          <a:xfrm>
            <a:off x="8300839" y="274176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50" name="Google Shape;1250;p36"/>
          <p:cNvSpPr txBox="1"/>
          <p:nvPr/>
        </p:nvSpPr>
        <p:spPr>
          <a:xfrm>
            <a:off x="8567945" y="274176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700"/>
              <a:buFont typeface="Arial"/>
              <a:buNone/>
            </a:pPr>
            <a:r>
              <a:rPr b="0" i="0" lang="en-US" sz="1700" u="none" cap="none" strike="noStrike">
                <a:solidFill>
                  <a:srgbClr val="FF0000"/>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51" name="Google Shape;1251;p36"/>
          <p:cNvSpPr txBox="1"/>
          <p:nvPr/>
        </p:nvSpPr>
        <p:spPr>
          <a:xfrm>
            <a:off x="9512300" y="2741761"/>
            <a:ext cx="673100"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761D"/>
              </a:buClr>
              <a:buSzPts val="1700"/>
              <a:buFont typeface="Arial"/>
              <a:buNone/>
            </a:pPr>
            <a:r>
              <a:rPr b="0" i="0" lang="en-US" sz="1700" u="none" cap="none" strike="noStrike">
                <a:solidFill>
                  <a:srgbClr val="38761D"/>
                </a:solidFill>
                <a:latin typeface="Arial"/>
                <a:ea typeface="Arial"/>
                <a:cs typeface="Arial"/>
                <a:sym typeface="Arial"/>
              </a:rPr>
              <a:t>176.78</a:t>
            </a:r>
            <a:endParaRPr b="0" i="0" sz="1700" u="none" cap="none" strike="noStrike">
              <a:solidFill>
                <a:schemeClr val="dk1"/>
              </a:solidFill>
              <a:latin typeface="Arial"/>
              <a:ea typeface="Arial"/>
              <a:cs typeface="Arial"/>
              <a:sym typeface="Arial"/>
            </a:endParaRPr>
          </a:p>
        </p:txBody>
      </p:sp>
      <p:sp>
        <p:nvSpPr>
          <p:cNvPr id="1252" name="Google Shape;1252;p36"/>
          <p:cNvSpPr txBox="1"/>
          <p:nvPr/>
        </p:nvSpPr>
        <p:spPr>
          <a:xfrm>
            <a:off x="7484483"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53" name="Google Shape;1253;p36"/>
          <p:cNvSpPr txBox="1"/>
          <p:nvPr/>
        </p:nvSpPr>
        <p:spPr>
          <a:xfrm>
            <a:off x="8300839" y="3094781"/>
            <a:ext cx="132854"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54" name="Google Shape;1254;p36"/>
          <p:cNvSpPr txBox="1"/>
          <p:nvPr/>
        </p:nvSpPr>
        <p:spPr>
          <a:xfrm>
            <a:off x="8567945" y="3094781"/>
            <a:ext cx="81010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0</a:t>
            </a:r>
            <a:endParaRPr b="0" i="0" sz="1700" u="none" cap="none" strike="noStrike">
              <a:solidFill>
                <a:schemeClr val="dk1"/>
              </a:solidFill>
              <a:latin typeface="Arial"/>
              <a:ea typeface="Arial"/>
              <a:cs typeface="Arial"/>
              <a:sym typeface="Arial"/>
            </a:endParaRPr>
          </a:p>
        </p:txBody>
      </p:sp>
      <p:sp>
        <p:nvSpPr>
          <p:cNvPr id="1255" name="Google Shape;1255;p36"/>
          <p:cNvSpPr txBox="1"/>
          <p:nvPr/>
        </p:nvSpPr>
        <p:spPr>
          <a:xfrm>
            <a:off x="9508744" y="3094781"/>
            <a:ext cx="680212" cy="302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1700"/>
              <a:buFont typeface="Arial"/>
              <a:buNone/>
            </a:pPr>
            <a:r>
              <a:rPr b="0" i="0" lang="en-US" sz="1700" u="none" cap="none" strike="noStrike">
                <a:solidFill>
                  <a:srgbClr val="666666"/>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56" name="Google Shape;1256;p36"/>
          <p:cNvSpPr/>
          <p:nvPr/>
        </p:nvSpPr>
        <p:spPr>
          <a:xfrm>
            <a:off x="10280650" y="1984871"/>
            <a:ext cx="114300" cy="1488281"/>
          </a:xfrm>
          <a:custGeom>
            <a:rect b="b" l="l" r="r" t="t"/>
            <a:pathLst>
              <a:path extrusionOk="0" h="1488281" w="114300">
                <a:moveTo>
                  <a:pt x="0" y="0"/>
                </a:moveTo>
                <a:lnTo>
                  <a:pt x="114300" y="0"/>
                </a:lnTo>
                <a:lnTo>
                  <a:pt x="114300" y="1488281"/>
                </a:lnTo>
                <a:lnTo>
                  <a:pt x="0" y="1488281"/>
                </a:lnTo>
                <a:lnTo>
                  <a:pt x="0" y="1462881"/>
                </a:lnTo>
                <a:lnTo>
                  <a:pt x="88900" y="1462881"/>
                </a:lnTo>
                <a:lnTo>
                  <a:pt x="88900" y="25400"/>
                </a:lnTo>
                <a:lnTo>
                  <a:pt x="0" y="25400"/>
                </a:lnTo>
                <a:close/>
              </a:path>
            </a:pathLst>
          </a:custGeom>
          <a:solidFill>
            <a:srgbClr val="000000"/>
          </a:solidFill>
          <a:ln>
            <a:noFill/>
          </a:ln>
        </p:spPr>
      </p:sp>
      <p:sp>
        <p:nvSpPr>
          <p:cNvPr id="1257" name="Google Shape;1257;p36"/>
          <p:cNvSpPr txBox="1"/>
          <p:nvPr/>
        </p:nvSpPr>
        <p:spPr>
          <a:xfrm>
            <a:off x="8222952" y="3527378"/>
            <a:ext cx="1240135" cy="2488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400"/>
              <a:buFont typeface="Arial"/>
              <a:buNone/>
            </a:pPr>
            <a:r>
              <a:rPr b="1" i="0" lang="en-US" sz="1400" u="none" cap="none" strike="noStrike">
                <a:solidFill>
                  <a:srgbClr val="666666"/>
                </a:solidFill>
                <a:latin typeface="Arial"/>
                <a:ea typeface="Arial"/>
                <a:cs typeface="Arial"/>
                <a:sym typeface="Arial"/>
              </a:rPr>
              <a:t>T = A₁ · A₂ · A₃</a:t>
            </a:r>
            <a:endParaRPr b="0" i="0" sz="1400" u="none" cap="none" strike="noStrike">
              <a:solidFill>
                <a:schemeClr val="dk1"/>
              </a:solidFill>
              <a:latin typeface="Arial"/>
              <a:ea typeface="Arial"/>
              <a:cs typeface="Arial"/>
              <a:sym typeface="Arial"/>
            </a:endParaRPr>
          </a:p>
        </p:txBody>
      </p:sp>
      <p:sp>
        <p:nvSpPr>
          <p:cNvPr id="1258" name="Google Shape;1258;p36"/>
          <p:cNvSpPr/>
          <p:nvPr/>
        </p:nvSpPr>
        <p:spPr>
          <a:xfrm>
            <a:off x="812800" y="4172843"/>
            <a:ext cx="6350000" cy="1778000"/>
          </a:xfrm>
          <a:prstGeom prst="roundRect">
            <a:avLst>
              <a:gd fmla="val 571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6"/>
          <p:cNvSpPr txBox="1"/>
          <p:nvPr/>
        </p:nvSpPr>
        <p:spPr>
          <a:xfrm>
            <a:off x="1016000" y="4318186"/>
            <a:ext cx="6121908"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THE TIP POSITION</a:t>
            </a:r>
            <a:endParaRPr b="0" i="0" sz="1200" u="none" cap="none" strike="noStrike">
              <a:solidFill>
                <a:schemeClr val="dk1"/>
              </a:solidFill>
              <a:latin typeface="Arial"/>
              <a:ea typeface="Arial"/>
              <a:cs typeface="Arial"/>
              <a:sym typeface="Arial"/>
            </a:endParaRPr>
          </a:p>
        </p:txBody>
      </p:sp>
      <p:sp>
        <p:nvSpPr>
          <p:cNvPr id="1260" name="Google Shape;1260;p36"/>
          <p:cNvSpPr txBox="1"/>
          <p:nvPr/>
        </p:nvSpPr>
        <p:spPr>
          <a:xfrm>
            <a:off x="1016000" y="4579837"/>
            <a:ext cx="6121908" cy="332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(x, y, z) = (301.78, 301.78, 176.78) mm</a:t>
            </a:r>
            <a:endParaRPr b="0" i="0" sz="2100" u="none" cap="none" strike="noStrike">
              <a:solidFill>
                <a:schemeClr val="dk1"/>
              </a:solidFill>
              <a:latin typeface="Arial"/>
              <a:ea typeface="Arial"/>
              <a:cs typeface="Arial"/>
              <a:sym typeface="Arial"/>
            </a:endParaRPr>
          </a:p>
        </p:txBody>
      </p:sp>
      <p:sp>
        <p:nvSpPr>
          <p:cNvPr id="1261" name="Google Shape;1261;p36"/>
          <p:cNvSpPr txBox="1"/>
          <p:nvPr/>
        </p:nvSpPr>
        <p:spPr>
          <a:xfrm>
            <a:off x="1016000" y="4960990"/>
            <a:ext cx="6096000" cy="74458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CCCCC"/>
              </a:buClr>
              <a:buSzPts val="1400"/>
              <a:buFont typeface="Arial"/>
              <a:buNone/>
            </a:pPr>
            <a:r>
              <a:rPr b="0" i="0" lang="en-US" sz="1400" u="none" cap="none" strike="noStrike">
                <a:solidFill>
                  <a:srgbClr val="CCCCCC"/>
                </a:solidFill>
                <a:latin typeface="Arial"/>
                <a:ea typeface="Arial"/>
                <a:cs typeface="Arial"/>
                <a:sym typeface="Arial"/>
              </a:rPr>
              <a:t>Day 1 gave a reach of 426.78 mm. The base turn of 45° splits it: 426.78 × cos 45° = 301.78 for x, and 426.78 × sin 45° = 301.78 for y. The height z = 176.78 does not change.</a:t>
            </a:r>
            <a:endParaRPr b="0" i="0" sz="1400" u="none" cap="none" strike="noStrike">
              <a:solidFill>
                <a:schemeClr val="dk1"/>
              </a:solidFill>
              <a:latin typeface="Arial"/>
              <a:ea typeface="Arial"/>
              <a:cs typeface="Arial"/>
              <a:sym typeface="Arial"/>
            </a:endParaRPr>
          </a:p>
        </p:txBody>
      </p:sp>
      <p:pic>
        <p:nvPicPr>
          <p:cNvPr descr="Top view: the tip is at x equals 301.78 and y equals 301.78, because the 426.78 millimetre reach points 45 degrees from the x axis." id="1262" name="Google Shape;1262;p36"/>
          <p:cNvPicPr preferRelativeResize="0"/>
          <p:nvPr/>
        </p:nvPicPr>
        <p:blipFill rotWithShape="1">
          <a:blip r:embed="rId3">
            <a:alphaModFix/>
          </a:blip>
          <a:srcRect b="0" l="0" r="0" t="0"/>
          <a:stretch/>
        </p:blipFill>
        <p:spPr>
          <a:xfrm>
            <a:off x="7569200" y="4171950"/>
            <a:ext cx="3810000" cy="1784350"/>
          </a:xfrm>
          <a:prstGeom prst="rect">
            <a:avLst/>
          </a:prstGeom>
          <a:noFill/>
          <a:ln>
            <a:noFill/>
          </a:ln>
        </p:spPr>
      </p:pic>
      <p:sp>
        <p:nvSpPr>
          <p:cNvPr id="1263" name="Google Shape;1263;p36"/>
          <p:cNvSpPr txBox="1"/>
          <p:nvPr/>
        </p:nvSpPr>
        <p:spPr>
          <a:xfrm>
            <a:off x="7569200" y="4165786"/>
            <a:ext cx="19621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TOP VIEW</a:t>
            </a:r>
            <a:endParaRPr b="0" i="0" sz="1200" u="none" cap="none" strike="noStrike">
              <a:solidFill>
                <a:schemeClr val="dk1"/>
              </a:solidFill>
              <a:latin typeface="Arial"/>
              <a:ea typeface="Arial"/>
              <a:cs typeface="Arial"/>
              <a:sym typeface="Arial"/>
            </a:endParaRPr>
          </a:p>
        </p:txBody>
      </p:sp>
      <p:sp>
        <p:nvSpPr>
          <p:cNvPr id="1264" name="Google Shape;1264;p36"/>
          <p:cNvSpPr txBox="1"/>
          <p:nvPr/>
        </p:nvSpPr>
        <p:spPr>
          <a:xfrm>
            <a:off x="11226800" y="5470510"/>
            <a:ext cx="156972"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x</a:t>
            </a:r>
            <a:endParaRPr b="0" i="0" sz="1500" u="none" cap="none" strike="noStrike">
              <a:solidFill>
                <a:schemeClr val="dk1"/>
              </a:solidFill>
              <a:latin typeface="Arial"/>
              <a:ea typeface="Arial"/>
              <a:cs typeface="Arial"/>
              <a:sym typeface="Arial"/>
            </a:endParaRPr>
          </a:p>
        </p:txBody>
      </p:sp>
      <p:sp>
        <p:nvSpPr>
          <p:cNvPr id="1265" name="Google Shape;1265;p36"/>
          <p:cNvSpPr txBox="1"/>
          <p:nvPr/>
        </p:nvSpPr>
        <p:spPr>
          <a:xfrm>
            <a:off x="8775700" y="4251310"/>
            <a:ext cx="156972"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y</a:t>
            </a:r>
            <a:endParaRPr b="0" i="0" sz="1500" u="none" cap="none" strike="noStrike">
              <a:solidFill>
                <a:schemeClr val="dk1"/>
              </a:solidFill>
              <a:latin typeface="Arial"/>
              <a:ea typeface="Arial"/>
              <a:cs typeface="Arial"/>
              <a:sym typeface="Arial"/>
            </a:endParaRPr>
          </a:p>
        </p:txBody>
      </p:sp>
      <p:sp>
        <p:nvSpPr>
          <p:cNvPr id="1266" name="Google Shape;1266;p36"/>
          <p:cNvSpPr txBox="1"/>
          <p:nvPr/>
        </p:nvSpPr>
        <p:spPr>
          <a:xfrm>
            <a:off x="9051608" y="5688677"/>
            <a:ext cx="1111885" cy="231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x = 301.78</a:t>
            </a:r>
            <a:endParaRPr b="0" i="0" sz="1300" u="none" cap="none" strike="noStrike">
              <a:solidFill>
                <a:schemeClr val="dk1"/>
              </a:solidFill>
              <a:latin typeface="Arial"/>
              <a:ea typeface="Arial"/>
              <a:cs typeface="Arial"/>
              <a:sym typeface="Arial"/>
            </a:endParaRPr>
          </a:p>
        </p:txBody>
      </p:sp>
      <p:sp>
        <p:nvSpPr>
          <p:cNvPr id="1267" name="Google Shape;1267;p36"/>
          <p:cNvSpPr txBox="1"/>
          <p:nvPr/>
        </p:nvSpPr>
        <p:spPr>
          <a:xfrm>
            <a:off x="7538720" y="4552027"/>
            <a:ext cx="1046480" cy="231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y = 301.78</a:t>
            </a:r>
            <a:endParaRPr b="0" i="0" sz="1300" u="none" cap="none" strike="noStrike">
              <a:solidFill>
                <a:schemeClr val="dk1"/>
              </a:solidFill>
              <a:latin typeface="Arial"/>
              <a:ea typeface="Arial"/>
              <a:cs typeface="Arial"/>
              <a:sym typeface="Arial"/>
            </a:endParaRPr>
          </a:p>
        </p:txBody>
      </p:sp>
      <p:sp>
        <p:nvSpPr>
          <p:cNvPr id="1268" name="Google Shape;1268;p36"/>
          <p:cNvSpPr txBox="1"/>
          <p:nvPr/>
        </p:nvSpPr>
        <p:spPr>
          <a:xfrm>
            <a:off x="7990840" y="4990177"/>
            <a:ext cx="784860" cy="231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8761D"/>
              </a:buClr>
              <a:buSzPts val="1300"/>
              <a:buFont typeface="Arial"/>
              <a:buNone/>
            </a:pPr>
            <a:r>
              <a:rPr b="1" i="0" lang="en-US" sz="1300" u="none" cap="none" strike="noStrike">
                <a:solidFill>
                  <a:srgbClr val="38761D"/>
                </a:solidFill>
                <a:latin typeface="Arial"/>
                <a:ea typeface="Arial"/>
                <a:cs typeface="Arial"/>
                <a:sym typeface="Arial"/>
              </a:rPr>
              <a:t>426.78</a:t>
            </a:r>
            <a:endParaRPr b="0" i="0" sz="13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269" name="Google Shape;1269;p36"/>
          <p:cNvPicPr preferRelativeResize="0"/>
          <p:nvPr/>
        </p:nvPicPr>
        <p:blipFill rotWithShape="1">
          <a:blip r:embed="rId4">
            <a:alphaModFix/>
          </a:blip>
          <a:srcRect b="0" l="0" r="0" t="0"/>
          <a:stretch/>
        </p:blipFill>
        <p:spPr>
          <a:xfrm>
            <a:off x="8279110" y="215900"/>
            <a:ext cx="3099991" cy="1244600"/>
          </a:xfrm>
          <a:prstGeom prst="rect">
            <a:avLst/>
          </a:prstGeom>
          <a:noFill/>
          <a:ln>
            <a:noFill/>
          </a:ln>
        </p:spPr>
      </p:pic>
      <p:pic>
        <p:nvPicPr>
          <p:cNvPr descr="The real arm with the height of the end effector above the shoulder marked 176.78 millimetres" id="1270" name="Google Shape;1270;p36"/>
          <p:cNvPicPr preferRelativeResize="0"/>
          <p:nvPr/>
        </p:nvPicPr>
        <p:blipFill rotWithShape="1">
          <a:blip r:embed="rId5">
            <a:alphaModFix/>
          </a:blip>
          <a:srcRect b="0" l="0" r="0" t="0"/>
          <a:stretch/>
        </p:blipFill>
        <p:spPr>
          <a:xfrm>
            <a:off x="8274050" y="215900"/>
            <a:ext cx="3105150" cy="1244600"/>
          </a:xfrm>
          <a:prstGeom prst="rect">
            <a:avLst/>
          </a:prstGeom>
          <a:noFill/>
          <a:ln>
            <a:noFill/>
          </a:ln>
        </p:spPr>
      </p:pic>
      <p:sp>
        <p:nvSpPr>
          <p:cNvPr id="1271" name="Google Shape;1271;p36"/>
          <p:cNvSpPr txBox="1"/>
          <p:nvPr/>
        </p:nvSpPr>
        <p:spPr>
          <a:xfrm>
            <a:off x="9409410" y="824885"/>
            <a:ext cx="88900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z = 176.78</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37"/>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CHECK</a:t>
            </a:r>
            <a:endParaRPr b="0" i="0" sz="1200" u="none" cap="none" strike="noStrike">
              <a:solidFill>
                <a:schemeClr val="dk1"/>
              </a:solidFill>
              <a:latin typeface="Arial"/>
              <a:ea typeface="Arial"/>
              <a:cs typeface="Arial"/>
              <a:sym typeface="Arial"/>
            </a:endParaRPr>
          </a:p>
        </p:txBody>
      </p:sp>
      <p:sp>
        <p:nvSpPr>
          <p:cNvPr id="1278" name="Google Shape;1278;p37"/>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Same Answer as Lesson 3</a:t>
            </a:r>
            <a:endParaRPr sz="2800"/>
          </a:p>
        </p:txBody>
      </p:sp>
      <p:sp>
        <p:nvSpPr>
          <p:cNvPr id="1279" name="Google Shape;1279;p37"/>
          <p:cNvSpPr/>
          <p:nvPr/>
        </p:nvSpPr>
        <p:spPr>
          <a:xfrm>
            <a:off x="815975" y="1522016"/>
            <a:ext cx="4991001" cy="2548731"/>
          </a:xfrm>
          <a:prstGeom prst="roundRect">
            <a:avLst>
              <a:gd fmla="val 3862"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7"/>
          <p:cNvSpPr txBox="1"/>
          <p:nvPr/>
        </p:nvSpPr>
        <p:spPr>
          <a:xfrm>
            <a:off x="1047750" y="1695934"/>
            <a:ext cx="466327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LESSON 3 · TRIGONOMETRY</a:t>
            </a:r>
            <a:endParaRPr b="0" i="0" sz="1200" u="none" cap="none" strike="noStrike">
              <a:solidFill>
                <a:schemeClr val="dk1"/>
              </a:solidFill>
              <a:latin typeface="Arial"/>
              <a:ea typeface="Arial"/>
              <a:cs typeface="Arial"/>
              <a:sym typeface="Arial"/>
            </a:endParaRPr>
          </a:p>
        </p:txBody>
      </p:sp>
      <p:sp>
        <p:nvSpPr>
          <p:cNvPr id="1281" name="Google Shape;1281;p37"/>
          <p:cNvSpPr txBox="1"/>
          <p:nvPr/>
        </p:nvSpPr>
        <p:spPr>
          <a:xfrm>
            <a:off x="1047750" y="1992117"/>
            <a:ext cx="466327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Triangles give a reach R and a height h.</a:t>
            </a:r>
            <a:endParaRPr b="0" i="0" sz="1400" u="none" cap="none" strike="noStrike">
              <a:solidFill>
                <a:schemeClr val="dk1"/>
              </a:solidFill>
              <a:latin typeface="Arial"/>
              <a:ea typeface="Arial"/>
              <a:cs typeface="Arial"/>
              <a:sym typeface="Arial"/>
            </a:endParaRPr>
          </a:p>
        </p:txBody>
      </p:sp>
      <p:sp>
        <p:nvSpPr>
          <p:cNvPr id="1282" name="Google Shape;1282;p37"/>
          <p:cNvSpPr txBox="1"/>
          <p:nvPr/>
        </p:nvSpPr>
        <p:spPr>
          <a:xfrm>
            <a:off x="1035558" y="230881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2600"/>
              <a:buFont typeface="Arial"/>
              <a:buNone/>
            </a:pPr>
            <a:r>
              <a:rPr b="1" i="0" lang="en-US" sz="2600" u="none" cap="none" strike="noStrike">
                <a:solidFill>
                  <a:srgbClr val="FF0000"/>
                </a:solidFill>
                <a:latin typeface="Arial"/>
                <a:ea typeface="Arial"/>
                <a:cs typeface="Arial"/>
                <a:sym typeface="Arial"/>
              </a:rPr>
              <a:t>X</a:t>
            </a:r>
            <a:endParaRPr b="0" i="0" sz="2600" u="none" cap="none" strike="noStrike">
              <a:solidFill>
                <a:schemeClr val="dk1"/>
              </a:solidFill>
              <a:latin typeface="Arial"/>
              <a:ea typeface="Arial"/>
              <a:cs typeface="Arial"/>
              <a:sym typeface="Arial"/>
            </a:endParaRPr>
          </a:p>
        </p:txBody>
      </p:sp>
      <p:sp>
        <p:nvSpPr>
          <p:cNvPr id="1283" name="Google Shape;1283;p37"/>
          <p:cNvSpPr txBox="1"/>
          <p:nvPr/>
        </p:nvSpPr>
        <p:spPr>
          <a:xfrm>
            <a:off x="1555750" y="230881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301.78</a:t>
            </a:r>
            <a:endParaRPr b="0" i="0" sz="2600" u="none" cap="none" strike="noStrike">
              <a:solidFill>
                <a:schemeClr val="dk1"/>
              </a:solidFill>
              <a:latin typeface="Arial"/>
              <a:ea typeface="Arial"/>
              <a:cs typeface="Arial"/>
              <a:sym typeface="Arial"/>
            </a:endParaRPr>
          </a:p>
        </p:txBody>
      </p:sp>
      <p:sp>
        <p:nvSpPr>
          <p:cNvPr id="1284" name="Google Shape;1284;p37"/>
          <p:cNvSpPr txBox="1"/>
          <p:nvPr/>
        </p:nvSpPr>
        <p:spPr>
          <a:xfrm>
            <a:off x="1035558" y="285997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55CC"/>
              </a:buClr>
              <a:buSzPts val="2600"/>
              <a:buFont typeface="Arial"/>
              <a:buNone/>
            </a:pPr>
            <a:r>
              <a:rPr b="1" i="0" lang="en-US" sz="2600" u="none" cap="none" strike="noStrike">
                <a:solidFill>
                  <a:srgbClr val="1155CC"/>
                </a:solidFill>
                <a:latin typeface="Arial"/>
                <a:ea typeface="Arial"/>
                <a:cs typeface="Arial"/>
                <a:sym typeface="Arial"/>
              </a:rPr>
              <a:t>Y</a:t>
            </a:r>
            <a:endParaRPr b="0" i="0" sz="2600" u="none" cap="none" strike="noStrike">
              <a:solidFill>
                <a:schemeClr val="dk1"/>
              </a:solidFill>
              <a:latin typeface="Arial"/>
              <a:ea typeface="Arial"/>
              <a:cs typeface="Arial"/>
              <a:sym typeface="Arial"/>
            </a:endParaRPr>
          </a:p>
        </p:txBody>
      </p:sp>
      <p:sp>
        <p:nvSpPr>
          <p:cNvPr id="1285" name="Google Shape;1285;p37"/>
          <p:cNvSpPr txBox="1"/>
          <p:nvPr/>
        </p:nvSpPr>
        <p:spPr>
          <a:xfrm>
            <a:off x="1555750" y="285997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176.78</a:t>
            </a:r>
            <a:endParaRPr b="0" i="0" sz="2600" u="none" cap="none" strike="noStrike">
              <a:solidFill>
                <a:schemeClr val="dk1"/>
              </a:solidFill>
              <a:latin typeface="Arial"/>
              <a:ea typeface="Arial"/>
              <a:cs typeface="Arial"/>
              <a:sym typeface="Arial"/>
            </a:endParaRPr>
          </a:p>
        </p:txBody>
      </p:sp>
      <p:sp>
        <p:nvSpPr>
          <p:cNvPr id="1286" name="Google Shape;1286;p37"/>
          <p:cNvSpPr/>
          <p:nvPr/>
        </p:nvSpPr>
        <p:spPr>
          <a:xfrm>
            <a:off x="2955131" y="3002657"/>
            <a:ext cx="370384" cy="209550"/>
          </a:xfrm>
          <a:prstGeom prst="roundRect">
            <a:avLst>
              <a:gd fmla="val 46970"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7"/>
          <p:cNvSpPr txBox="1"/>
          <p:nvPr/>
        </p:nvSpPr>
        <p:spPr>
          <a:xfrm>
            <a:off x="3047206" y="2997486"/>
            <a:ext cx="198934" cy="20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200"/>
              <a:buFont typeface="Arial"/>
              <a:buNone/>
            </a:pPr>
            <a:r>
              <a:rPr b="1" i="0" lang="en-US" sz="1200" u="none" cap="none" strike="noStrike">
                <a:solidFill>
                  <a:srgbClr val="434343"/>
                </a:solidFill>
                <a:latin typeface="Arial"/>
                <a:ea typeface="Arial"/>
                <a:cs typeface="Arial"/>
                <a:sym typeface="Arial"/>
              </a:rPr>
              <a:t>up</a:t>
            </a:r>
            <a:endParaRPr b="0" i="0" sz="1200" u="none" cap="none" strike="noStrike">
              <a:solidFill>
                <a:schemeClr val="dk1"/>
              </a:solidFill>
              <a:latin typeface="Arial"/>
              <a:ea typeface="Arial"/>
              <a:cs typeface="Arial"/>
              <a:sym typeface="Arial"/>
            </a:endParaRPr>
          </a:p>
        </p:txBody>
      </p:sp>
      <p:sp>
        <p:nvSpPr>
          <p:cNvPr id="1288" name="Google Shape;1288;p37"/>
          <p:cNvSpPr txBox="1"/>
          <p:nvPr/>
        </p:nvSpPr>
        <p:spPr>
          <a:xfrm>
            <a:off x="1035558" y="341113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8761D"/>
              </a:buClr>
              <a:buSzPts val="2600"/>
              <a:buFont typeface="Arial"/>
              <a:buNone/>
            </a:pPr>
            <a:r>
              <a:rPr b="1" i="0" lang="en-US" sz="2600" u="none" cap="none" strike="noStrike">
                <a:solidFill>
                  <a:srgbClr val="38761D"/>
                </a:solidFill>
                <a:latin typeface="Arial"/>
                <a:ea typeface="Arial"/>
                <a:cs typeface="Arial"/>
                <a:sym typeface="Arial"/>
              </a:rPr>
              <a:t>Z</a:t>
            </a:r>
            <a:endParaRPr b="0" i="0" sz="2600" u="none" cap="none" strike="noStrike">
              <a:solidFill>
                <a:schemeClr val="dk1"/>
              </a:solidFill>
              <a:latin typeface="Arial"/>
              <a:ea typeface="Arial"/>
              <a:cs typeface="Arial"/>
              <a:sym typeface="Arial"/>
            </a:endParaRPr>
          </a:p>
        </p:txBody>
      </p:sp>
      <p:sp>
        <p:nvSpPr>
          <p:cNvPr id="1289" name="Google Shape;1289;p37"/>
          <p:cNvSpPr txBox="1"/>
          <p:nvPr/>
        </p:nvSpPr>
        <p:spPr>
          <a:xfrm>
            <a:off x="1555750" y="341113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301.78</a:t>
            </a:r>
            <a:endParaRPr b="0" i="0" sz="2600" u="none" cap="none" strike="noStrike">
              <a:solidFill>
                <a:schemeClr val="dk1"/>
              </a:solidFill>
              <a:latin typeface="Arial"/>
              <a:ea typeface="Arial"/>
              <a:cs typeface="Arial"/>
              <a:sym typeface="Arial"/>
            </a:endParaRPr>
          </a:p>
        </p:txBody>
      </p:sp>
      <p:sp>
        <p:nvSpPr>
          <p:cNvPr id="1290" name="Google Shape;1290;p37"/>
          <p:cNvSpPr txBox="1"/>
          <p:nvPr/>
        </p:nvSpPr>
        <p:spPr>
          <a:xfrm>
            <a:off x="5962551" y="2455082"/>
            <a:ext cx="279698" cy="64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3600"/>
              <a:buFont typeface="Arial"/>
              <a:buNone/>
            </a:pPr>
            <a:r>
              <a:rPr b="1" i="0" lang="en-US" sz="3600" u="none" cap="none" strike="noStrike">
                <a:solidFill>
                  <a:srgbClr val="666666"/>
                </a:solidFill>
                <a:latin typeface="Arial"/>
                <a:ea typeface="Arial"/>
                <a:cs typeface="Arial"/>
                <a:sym typeface="Arial"/>
              </a:rPr>
              <a:t>=</a:t>
            </a:r>
            <a:endParaRPr b="0" i="0" sz="3600" u="none" cap="none" strike="noStrike">
              <a:solidFill>
                <a:schemeClr val="dk1"/>
              </a:solidFill>
              <a:latin typeface="Arial"/>
              <a:ea typeface="Arial"/>
              <a:cs typeface="Arial"/>
              <a:sym typeface="Arial"/>
            </a:endParaRPr>
          </a:p>
        </p:txBody>
      </p:sp>
      <p:sp>
        <p:nvSpPr>
          <p:cNvPr id="1291" name="Google Shape;1291;p37"/>
          <p:cNvSpPr/>
          <p:nvPr/>
        </p:nvSpPr>
        <p:spPr>
          <a:xfrm>
            <a:off x="6385123" y="1522016"/>
            <a:ext cx="4991001" cy="2548731"/>
          </a:xfrm>
          <a:prstGeom prst="roundRect">
            <a:avLst>
              <a:gd fmla="val 3862"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7"/>
          <p:cNvSpPr txBox="1"/>
          <p:nvPr/>
        </p:nvSpPr>
        <p:spPr>
          <a:xfrm>
            <a:off x="6616898" y="1695934"/>
            <a:ext cx="466327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200"/>
              <a:buFont typeface="Arial"/>
              <a:buNone/>
            </a:pPr>
            <a:r>
              <a:rPr b="1" i="0" lang="en-US" sz="1200" u="none" cap="none" strike="noStrike">
                <a:solidFill>
                  <a:srgbClr val="666666"/>
                </a:solidFill>
                <a:latin typeface="Arial"/>
                <a:ea typeface="Arial"/>
                <a:cs typeface="Arial"/>
                <a:sym typeface="Arial"/>
              </a:rPr>
              <a:t>LESSON 4 · DH MATRICES</a:t>
            </a:r>
            <a:endParaRPr b="0" i="0" sz="1200" u="none" cap="none" strike="noStrike">
              <a:solidFill>
                <a:schemeClr val="dk1"/>
              </a:solidFill>
              <a:latin typeface="Arial"/>
              <a:ea typeface="Arial"/>
              <a:cs typeface="Arial"/>
              <a:sym typeface="Arial"/>
            </a:endParaRPr>
          </a:p>
        </p:txBody>
      </p:sp>
      <p:sp>
        <p:nvSpPr>
          <p:cNvPr id="1293" name="Google Shape;1293;p37"/>
          <p:cNvSpPr txBox="1"/>
          <p:nvPr/>
        </p:nvSpPr>
        <p:spPr>
          <a:xfrm>
            <a:off x="6616898" y="1992117"/>
            <a:ext cx="4663274"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400"/>
              <a:buFont typeface="Arial"/>
              <a:buNone/>
            </a:pPr>
            <a:r>
              <a:rPr b="0" i="0" lang="en-US" sz="1400" u="none" cap="none" strike="noStrike">
                <a:solidFill>
                  <a:srgbClr val="434343"/>
                </a:solidFill>
                <a:latin typeface="Arial"/>
                <a:ea typeface="Arial"/>
                <a:cs typeface="Arial"/>
                <a:sym typeface="Arial"/>
              </a:rPr>
              <a:t>The last column of T = A₁ · A₂ · A₃.</a:t>
            </a:r>
            <a:endParaRPr b="0" i="0" sz="1400" u="none" cap="none" strike="noStrike">
              <a:solidFill>
                <a:schemeClr val="dk1"/>
              </a:solidFill>
              <a:latin typeface="Arial"/>
              <a:ea typeface="Arial"/>
              <a:cs typeface="Arial"/>
              <a:sym typeface="Arial"/>
            </a:endParaRPr>
          </a:p>
        </p:txBody>
      </p:sp>
      <p:sp>
        <p:nvSpPr>
          <p:cNvPr id="1294" name="Google Shape;1294;p37"/>
          <p:cNvSpPr txBox="1"/>
          <p:nvPr/>
        </p:nvSpPr>
        <p:spPr>
          <a:xfrm>
            <a:off x="6604706" y="230881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2600"/>
              <a:buFont typeface="Arial"/>
              <a:buNone/>
            </a:pPr>
            <a:r>
              <a:rPr b="1" i="0" lang="en-US" sz="2600" u="none" cap="none" strike="noStrike">
                <a:solidFill>
                  <a:srgbClr val="FF0000"/>
                </a:solidFill>
                <a:latin typeface="Arial"/>
                <a:ea typeface="Arial"/>
                <a:cs typeface="Arial"/>
                <a:sym typeface="Arial"/>
              </a:rPr>
              <a:t>x</a:t>
            </a:r>
            <a:endParaRPr b="0" i="0" sz="2600" u="none" cap="none" strike="noStrike">
              <a:solidFill>
                <a:schemeClr val="dk1"/>
              </a:solidFill>
              <a:latin typeface="Arial"/>
              <a:ea typeface="Arial"/>
              <a:cs typeface="Arial"/>
              <a:sym typeface="Arial"/>
            </a:endParaRPr>
          </a:p>
        </p:txBody>
      </p:sp>
      <p:sp>
        <p:nvSpPr>
          <p:cNvPr id="1295" name="Google Shape;1295;p37"/>
          <p:cNvSpPr txBox="1"/>
          <p:nvPr/>
        </p:nvSpPr>
        <p:spPr>
          <a:xfrm>
            <a:off x="7124898" y="230881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301.78</a:t>
            </a:r>
            <a:endParaRPr b="0" i="0" sz="2600" u="none" cap="none" strike="noStrike">
              <a:solidFill>
                <a:schemeClr val="dk1"/>
              </a:solidFill>
              <a:latin typeface="Arial"/>
              <a:ea typeface="Arial"/>
              <a:cs typeface="Arial"/>
              <a:sym typeface="Arial"/>
            </a:endParaRPr>
          </a:p>
        </p:txBody>
      </p:sp>
      <p:sp>
        <p:nvSpPr>
          <p:cNvPr id="1296" name="Google Shape;1296;p37"/>
          <p:cNvSpPr txBox="1"/>
          <p:nvPr/>
        </p:nvSpPr>
        <p:spPr>
          <a:xfrm>
            <a:off x="6604706" y="285997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8761D"/>
              </a:buClr>
              <a:buSzPts val="2600"/>
              <a:buFont typeface="Arial"/>
              <a:buNone/>
            </a:pPr>
            <a:r>
              <a:rPr b="1" i="0" lang="en-US" sz="2600" u="none" cap="none" strike="noStrike">
                <a:solidFill>
                  <a:srgbClr val="38761D"/>
                </a:solidFill>
                <a:latin typeface="Arial"/>
                <a:ea typeface="Arial"/>
                <a:cs typeface="Arial"/>
                <a:sym typeface="Arial"/>
              </a:rPr>
              <a:t>y</a:t>
            </a:r>
            <a:endParaRPr b="0" i="0" sz="2600" u="none" cap="none" strike="noStrike">
              <a:solidFill>
                <a:schemeClr val="dk1"/>
              </a:solidFill>
              <a:latin typeface="Arial"/>
              <a:ea typeface="Arial"/>
              <a:cs typeface="Arial"/>
              <a:sym typeface="Arial"/>
            </a:endParaRPr>
          </a:p>
        </p:txBody>
      </p:sp>
      <p:sp>
        <p:nvSpPr>
          <p:cNvPr id="1297" name="Google Shape;1297;p37"/>
          <p:cNvSpPr txBox="1"/>
          <p:nvPr/>
        </p:nvSpPr>
        <p:spPr>
          <a:xfrm>
            <a:off x="7124898" y="285997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301.78</a:t>
            </a:r>
            <a:endParaRPr b="0" i="0" sz="2600" u="none" cap="none" strike="noStrike">
              <a:solidFill>
                <a:schemeClr val="dk1"/>
              </a:solidFill>
              <a:latin typeface="Arial"/>
              <a:ea typeface="Arial"/>
              <a:cs typeface="Arial"/>
              <a:sym typeface="Arial"/>
            </a:endParaRPr>
          </a:p>
        </p:txBody>
      </p:sp>
      <p:sp>
        <p:nvSpPr>
          <p:cNvPr id="1298" name="Google Shape;1298;p37"/>
          <p:cNvSpPr txBox="1"/>
          <p:nvPr/>
        </p:nvSpPr>
        <p:spPr>
          <a:xfrm>
            <a:off x="6604706" y="3411131"/>
            <a:ext cx="418592" cy="4622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55CC"/>
              </a:buClr>
              <a:buSzPts val="2600"/>
              <a:buFont typeface="Arial"/>
              <a:buNone/>
            </a:pPr>
            <a:r>
              <a:rPr b="1" i="0" lang="en-US" sz="2600" u="none" cap="none" strike="noStrike">
                <a:solidFill>
                  <a:srgbClr val="1155CC"/>
                </a:solidFill>
                <a:latin typeface="Arial"/>
                <a:ea typeface="Arial"/>
                <a:cs typeface="Arial"/>
                <a:sym typeface="Arial"/>
              </a:rPr>
              <a:t>z</a:t>
            </a:r>
            <a:endParaRPr b="0" i="0" sz="2600" u="none" cap="none" strike="noStrike">
              <a:solidFill>
                <a:schemeClr val="dk1"/>
              </a:solidFill>
              <a:latin typeface="Arial"/>
              <a:ea typeface="Arial"/>
              <a:cs typeface="Arial"/>
              <a:sym typeface="Arial"/>
            </a:endParaRPr>
          </a:p>
        </p:txBody>
      </p:sp>
      <p:sp>
        <p:nvSpPr>
          <p:cNvPr id="1299" name="Google Shape;1299;p37"/>
          <p:cNvSpPr txBox="1"/>
          <p:nvPr/>
        </p:nvSpPr>
        <p:spPr>
          <a:xfrm>
            <a:off x="7124898" y="3411131"/>
            <a:ext cx="1307306" cy="4622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1" i="0" lang="en-US" sz="2600" u="none" cap="none" strike="noStrike">
                <a:solidFill>
                  <a:srgbClr val="000000"/>
                </a:solidFill>
                <a:latin typeface="Arial"/>
                <a:ea typeface="Arial"/>
                <a:cs typeface="Arial"/>
                <a:sym typeface="Arial"/>
              </a:rPr>
              <a:t>= 176.78</a:t>
            </a:r>
            <a:endParaRPr b="0" i="0" sz="2600" u="none" cap="none" strike="noStrike">
              <a:solidFill>
                <a:schemeClr val="dk1"/>
              </a:solidFill>
              <a:latin typeface="Arial"/>
              <a:ea typeface="Arial"/>
              <a:cs typeface="Arial"/>
              <a:sym typeface="Arial"/>
            </a:endParaRPr>
          </a:p>
        </p:txBody>
      </p:sp>
      <p:sp>
        <p:nvSpPr>
          <p:cNvPr id="1300" name="Google Shape;1300;p37"/>
          <p:cNvSpPr/>
          <p:nvPr/>
        </p:nvSpPr>
        <p:spPr>
          <a:xfrm>
            <a:off x="8524280" y="3553817"/>
            <a:ext cx="370384" cy="209550"/>
          </a:xfrm>
          <a:prstGeom prst="roundRect">
            <a:avLst>
              <a:gd fmla="val 46970"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7"/>
          <p:cNvSpPr txBox="1"/>
          <p:nvPr/>
        </p:nvSpPr>
        <p:spPr>
          <a:xfrm>
            <a:off x="8616355" y="3548646"/>
            <a:ext cx="198934" cy="20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1200"/>
              <a:buFont typeface="Arial"/>
              <a:buNone/>
            </a:pPr>
            <a:r>
              <a:rPr b="1" i="0" lang="en-US" sz="1200" u="none" cap="none" strike="noStrike">
                <a:solidFill>
                  <a:srgbClr val="434343"/>
                </a:solidFill>
                <a:latin typeface="Arial"/>
                <a:ea typeface="Arial"/>
                <a:cs typeface="Arial"/>
                <a:sym typeface="Arial"/>
              </a:rPr>
              <a:t>up</a:t>
            </a:r>
            <a:endParaRPr b="0" i="0" sz="1200" u="none" cap="none" strike="noStrike">
              <a:solidFill>
                <a:schemeClr val="dk1"/>
              </a:solidFill>
              <a:latin typeface="Arial"/>
              <a:ea typeface="Arial"/>
              <a:cs typeface="Arial"/>
              <a:sym typeface="Arial"/>
            </a:endParaRPr>
          </a:p>
        </p:txBody>
      </p:sp>
      <p:sp>
        <p:nvSpPr>
          <p:cNvPr id="1302" name="Google Shape;1302;p37"/>
          <p:cNvSpPr/>
          <p:nvPr/>
        </p:nvSpPr>
        <p:spPr>
          <a:xfrm>
            <a:off x="815975" y="4280297"/>
            <a:ext cx="5175250" cy="1045170"/>
          </a:xfrm>
          <a:prstGeom prst="roundRect">
            <a:avLst>
              <a:gd fmla="val 941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7"/>
          <p:cNvSpPr txBox="1"/>
          <p:nvPr/>
        </p:nvSpPr>
        <p:spPr>
          <a:xfrm>
            <a:off x="996950" y="4416115"/>
            <a:ext cx="495769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SAME NUMBERS, DIFFERENT LETTERS</a:t>
            </a:r>
            <a:endParaRPr b="0" i="0" sz="1200" u="none" cap="none" strike="noStrike">
              <a:solidFill>
                <a:schemeClr val="dk1"/>
              </a:solidFill>
              <a:latin typeface="Arial"/>
              <a:ea typeface="Arial"/>
              <a:cs typeface="Arial"/>
              <a:sym typeface="Arial"/>
            </a:endParaRPr>
          </a:p>
        </p:txBody>
      </p:sp>
      <p:sp>
        <p:nvSpPr>
          <p:cNvPr id="1304" name="Google Shape;1304;p37"/>
          <p:cNvSpPr txBox="1"/>
          <p:nvPr/>
        </p:nvSpPr>
        <p:spPr>
          <a:xfrm>
            <a:off x="996950" y="4670509"/>
            <a:ext cx="5005832" cy="5120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Lesson 3 put up on Y. Lesson 4 puts up on z. So Lesson 3's Y is z here, and its Z is y.</a:t>
            </a:r>
            <a:endParaRPr b="0" i="0" sz="1500" u="none" cap="none" strike="noStrike">
              <a:solidFill>
                <a:schemeClr val="dk1"/>
              </a:solidFill>
              <a:latin typeface="Arial"/>
              <a:ea typeface="Arial"/>
              <a:cs typeface="Arial"/>
              <a:sym typeface="Arial"/>
            </a:endParaRPr>
          </a:p>
        </p:txBody>
      </p:sp>
      <p:sp>
        <p:nvSpPr>
          <p:cNvPr id="1305" name="Google Shape;1305;p37"/>
          <p:cNvSpPr/>
          <p:nvPr/>
        </p:nvSpPr>
        <p:spPr>
          <a:xfrm>
            <a:off x="6200775" y="4280297"/>
            <a:ext cx="5175250" cy="1045170"/>
          </a:xfrm>
          <a:prstGeom prst="roundRect">
            <a:avLst>
              <a:gd fmla="val 9417"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7"/>
          <p:cNvSpPr txBox="1"/>
          <p:nvPr/>
        </p:nvSpPr>
        <p:spPr>
          <a:xfrm>
            <a:off x="6381750" y="4416115"/>
            <a:ext cx="495769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lang="en-US" sz="1200">
                <a:solidFill>
                  <a:srgbClr val="38761D"/>
                </a:solidFill>
              </a:rPr>
              <a:t>WHY THEY MATCH</a:t>
            </a:r>
            <a:endParaRPr b="0" i="0" sz="1200" u="none" cap="none" strike="noStrike">
              <a:solidFill>
                <a:schemeClr val="dk1"/>
              </a:solidFill>
              <a:latin typeface="Arial"/>
              <a:ea typeface="Arial"/>
              <a:cs typeface="Arial"/>
              <a:sym typeface="Arial"/>
            </a:endParaRPr>
          </a:p>
        </p:txBody>
      </p:sp>
      <p:sp>
        <p:nvSpPr>
          <p:cNvPr id="1307" name="Google Shape;1307;p37"/>
          <p:cNvSpPr txBox="1"/>
          <p:nvPr/>
        </p:nvSpPr>
        <p:spPr>
          <a:xfrm>
            <a:off x="6381750" y="4670509"/>
            <a:ext cx="5005832" cy="512083"/>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000000"/>
              </a:buClr>
              <a:buSzPts val="1500"/>
              <a:buFont typeface="Arial"/>
              <a:buNone/>
            </a:pPr>
            <a:r>
              <a:rPr lang="en-US" sz="1500">
                <a:solidFill>
                  <a:schemeClr val="dk1"/>
                </a:solidFill>
              </a:rPr>
              <a:t>Both methods describe the same arm in the same pose, so they land on the same point.</a:t>
            </a:r>
            <a:endParaRPr b="0" i="0" sz="1500" u="none" cap="none" strike="noStrike">
              <a:solidFill>
                <a:schemeClr val="dk1"/>
              </a:solidFill>
              <a:latin typeface="Arial"/>
              <a:ea typeface="Arial"/>
              <a:cs typeface="Arial"/>
              <a:sym typeface="Arial"/>
            </a:endParaRPr>
          </a:p>
        </p:txBody>
      </p:sp>
      <p:pic>
        <p:nvPicPr>
          <p:cNvPr descr="Side view of the robotic arm: the upper arm leans 45 degrees from vertical and the forearm is horizontal" id="1308" name="Google Shape;1308;p37"/>
          <p:cNvPicPr preferRelativeResize="0"/>
          <p:nvPr/>
        </p:nvPicPr>
        <p:blipFill rotWithShape="1">
          <a:blip r:embed="rId3">
            <a:alphaModFix/>
          </a:blip>
          <a:srcRect b="0" l="0" r="0" t="0"/>
          <a:stretch/>
        </p:blipFill>
        <p:spPr>
          <a:xfrm>
            <a:off x="8279110" y="215900"/>
            <a:ext cx="3099991" cy="1244600"/>
          </a:xfrm>
          <a:prstGeom prst="rect">
            <a:avLst/>
          </a:prstGeom>
          <a:noFill/>
          <a:ln>
            <a:noFill/>
          </a:ln>
        </p:spPr>
      </p:pic>
      <p:pic>
        <p:nvPicPr>
          <p:cNvPr descr="The real arm with the height of the end effector above the shoulder marked 176.78 millimetres" id="1309" name="Google Shape;1309;p37"/>
          <p:cNvPicPr preferRelativeResize="0"/>
          <p:nvPr/>
        </p:nvPicPr>
        <p:blipFill rotWithShape="1">
          <a:blip r:embed="rId4">
            <a:alphaModFix/>
          </a:blip>
          <a:srcRect b="0" l="0" r="0" t="0"/>
          <a:stretch/>
        </p:blipFill>
        <p:spPr>
          <a:xfrm>
            <a:off x="8274050" y="215900"/>
            <a:ext cx="3105150" cy="1244600"/>
          </a:xfrm>
          <a:prstGeom prst="rect">
            <a:avLst/>
          </a:prstGeom>
          <a:noFill/>
          <a:ln>
            <a:noFill/>
          </a:ln>
        </p:spPr>
      </p:pic>
      <p:sp>
        <p:nvSpPr>
          <p:cNvPr id="1310" name="Google Shape;1310;p37"/>
          <p:cNvSpPr txBox="1"/>
          <p:nvPr/>
        </p:nvSpPr>
        <p:spPr>
          <a:xfrm>
            <a:off x="9409410" y="824885"/>
            <a:ext cx="88900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z = 176.78</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38"/>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TRY IT YOURSELF</a:t>
            </a:r>
            <a:endParaRPr b="0" i="0" sz="1200" u="none" cap="none" strike="noStrike">
              <a:solidFill>
                <a:schemeClr val="dk1"/>
              </a:solidFill>
              <a:latin typeface="Arial"/>
              <a:ea typeface="Arial"/>
              <a:cs typeface="Arial"/>
              <a:sym typeface="Arial"/>
            </a:endParaRPr>
          </a:p>
        </p:txBody>
      </p:sp>
      <p:sp>
        <p:nvSpPr>
          <p:cNvPr id="1317" name="Google Shape;1317;p38"/>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Try It Yourself #4</a:t>
            </a:r>
            <a:endParaRPr sz="2800"/>
          </a:p>
        </p:txBody>
      </p:sp>
      <p:sp>
        <p:nvSpPr>
          <p:cNvPr id="1318" name="Google Shape;1318;p38"/>
          <p:cNvSpPr txBox="1"/>
          <p:nvPr/>
        </p:nvSpPr>
        <p:spPr>
          <a:xfrm>
            <a:off x="812800" y="1503327"/>
            <a:ext cx="4578350"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Find the tip position (x, y, z).</a:t>
            </a:r>
            <a:endParaRPr b="0" i="0" sz="1900" u="none" cap="none" strike="noStrike">
              <a:solidFill>
                <a:schemeClr val="dk1"/>
              </a:solidFill>
              <a:latin typeface="Arial"/>
              <a:ea typeface="Arial"/>
              <a:cs typeface="Arial"/>
              <a:sym typeface="Arial"/>
            </a:endParaRPr>
          </a:p>
        </p:txBody>
      </p:sp>
      <p:sp>
        <p:nvSpPr>
          <p:cNvPr id="1319" name="Google Shape;1319;p38"/>
          <p:cNvSpPr/>
          <p:nvPr/>
        </p:nvSpPr>
        <p:spPr>
          <a:xfrm>
            <a:off x="815975" y="1962646"/>
            <a:ext cx="4438650" cy="1687513"/>
          </a:xfrm>
          <a:prstGeom prst="roundRect">
            <a:avLst>
              <a:gd fmla="val 5833"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8"/>
          <p:cNvSpPr txBox="1"/>
          <p:nvPr/>
        </p:nvSpPr>
        <p:spPr>
          <a:xfrm>
            <a:off x="1022350" y="2077952"/>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L₁ = L₂ = 250 mm</a:t>
            </a:r>
            <a:endParaRPr b="0" i="0" sz="1900" u="none" cap="none" strike="noStrike">
              <a:solidFill>
                <a:schemeClr val="dk1"/>
              </a:solidFill>
              <a:latin typeface="Arial"/>
              <a:ea typeface="Arial"/>
              <a:cs typeface="Arial"/>
              <a:sym typeface="Arial"/>
            </a:endParaRPr>
          </a:p>
        </p:txBody>
      </p:sp>
      <p:sp>
        <p:nvSpPr>
          <p:cNvPr id="1321" name="Google Shape;1321;p38"/>
          <p:cNvSpPr txBox="1"/>
          <p:nvPr/>
        </p:nvSpPr>
        <p:spPr>
          <a:xfrm>
            <a:off x="1022350" y="2441093"/>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θB = 30°</a:t>
            </a:r>
            <a:endParaRPr b="0" i="0" sz="1900" u="none" cap="none" strike="noStrike">
              <a:solidFill>
                <a:schemeClr val="dk1"/>
              </a:solidFill>
              <a:latin typeface="Arial"/>
              <a:ea typeface="Arial"/>
              <a:cs typeface="Arial"/>
              <a:sym typeface="Arial"/>
            </a:endParaRPr>
          </a:p>
        </p:txBody>
      </p:sp>
      <p:sp>
        <p:nvSpPr>
          <p:cNvPr id="1322" name="Google Shape;1322;p38"/>
          <p:cNvSpPr txBox="1"/>
          <p:nvPr/>
        </p:nvSpPr>
        <p:spPr>
          <a:xfrm>
            <a:off x="1022350" y="2804234"/>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θS = 60°</a:t>
            </a:r>
            <a:endParaRPr b="0" i="0" sz="1900" u="none" cap="none" strike="noStrike">
              <a:solidFill>
                <a:schemeClr val="dk1"/>
              </a:solidFill>
              <a:latin typeface="Arial"/>
              <a:ea typeface="Arial"/>
              <a:cs typeface="Arial"/>
              <a:sym typeface="Arial"/>
            </a:endParaRPr>
          </a:p>
        </p:txBody>
      </p:sp>
      <p:sp>
        <p:nvSpPr>
          <p:cNvPr id="1323" name="Google Shape;1323;p38"/>
          <p:cNvSpPr txBox="1"/>
          <p:nvPr/>
        </p:nvSpPr>
        <p:spPr>
          <a:xfrm>
            <a:off x="1022350" y="3167374"/>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θE = 0°</a:t>
            </a:r>
            <a:endParaRPr b="0" i="0" sz="1900" u="none" cap="none" strike="noStrike">
              <a:solidFill>
                <a:schemeClr val="dk1"/>
              </a:solidFill>
              <a:latin typeface="Arial"/>
              <a:ea typeface="Arial"/>
              <a:cs typeface="Arial"/>
              <a:sym typeface="Arial"/>
            </a:endParaRPr>
          </a:p>
        </p:txBody>
      </p:sp>
      <p:sp>
        <p:nvSpPr>
          <p:cNvPr id="1324" name="Google Shape;1324;p38"/>
          <p:cNvSpPr txBox="1"/>
          <p:nvPr/>
        </p:nvSpPr>
        <p:spPr>
          <a:xfrm>
            <a:off x="812800" y="3770656"/>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(x, y, z) = (?, ?, ?)</a:t>
            </a:r>
            <a:endParaRPr b="0" i="0" sz="2000" u="none" cap="none" strike="noStrike">
              <a:solidFill>
                <a:schemeClr val="dk1"/>
              </a:solidFill>
              <a:latin typeface="Arial"/>
              <a:ea typeface="Arial"/>
              <a:cs typeface="Arial"/>
              <a:sym typeface="Arial"/>
            </a:endParaRPr>
          </a:p>
        </p:txBody>
      </p:sp>
      <p:sp>
        <p:nvSpPr>
          <p:cNvPr id="1325" name="Google Shape;1325;p38"/>
          <p:cNvSpPr/>
          <p:nvPr/>
        </p:nvSpPr>
        <p:spPr>
          <a:xfrm>
            <a:off x="5664200" y="1518841"/>
            <a:ext cx="15240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8"/>
          <p:cNvSpPr txBox="1"/>
          <p:nvPr/>
        </p:nvSpPr>
        <p:spPr>
          <a:xfrm>
            <a:off x="5693664" y="1605572"/>
            <a:ext cx="1465072"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Joint</a:t>
            </a:r>
            <a:endParaRPr b="0" i="0" sz="1900" u="none" cap="none" strike="noStrike">
              <a:solidFill>
                <a:schemeClr val="dk1"/>
              </a:solidFill>
              <a:latin typeface="Arial"/>
              <a:ea typeface="Arial"/>
              <a:cs typeface="Arial"/>
              <a:sym typeface="Arial"/>
            </a:endParaRPr>
          </a:p>
        </p:txBody>
      </p:sp>
      <p:sp>
        <p:nvSpPr>
          <p:cNvPr id="1327" name="Google Shape;1327;p38"/>
          <p:cNvSpPr/>
          <p:nvPr/>
        </p:nvSpPr>
        <p:spPr>
          <a:xfrm>
            <a:off x="7239000" y="1518841"/>
            <a:ext cx="1460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8"/>
          <p:cNvSpPr txBox="1"/>
          <p:nvPr/>
        </p:nvSpPr>
        <p:spPr>
          <a:xfrm>
            <a:off x="7269417" y="1605572"/>
            <a:ext cx="139966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θ</a:t>
            </a:r>
            <a:endParaRPr b="0" i="0" sz="1900" u="none" cap="none" strike="noStrike">
              <a:solidFill>
                <a:schemeClr val="dk1"/>
              </a:solidFill>
              <a:latin typeface="Arial"/>
              <a:ea typeface="Arial"/>
              <a:cs typeface="Arial"/>
              <a:sym typeface="Arial"/>
            </a:endParaRPr>
          </a:p>
        </p:txBody>
      </p:sp>
      <p:sp>
        <p:nvSpPr>
          <p:cNvPr id="1329" name="Google Shape;1329;p38"/>
          <p:cNvSpPr/>
          <p:nvPr/>
        </p:nvSpPr>
        <p:spPr>
          <a:xfrm>
            <a:off x="87503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8"/>
          <p:cNvSpPr txBox="1"/>
          <p:nvPr/>
        </p:nvSpPr>
        <p:spPr>
          <a:xfrm>
            <a:off x="8790242"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d</a:t>
            </a:r>
            <a:endParaRPr b="0" i="0" sz="1900" u="none" cap="none" strike="noStrike">
              <a:solidFill>
                <a:schemeClr val="dk1"/>
              </a:solidFill>
              <a:latin typeface="Arial"/>
              <a:ea typeface="Arial"/>
              <a:cs typeface="Arial"/>
              <a:sym typeface="Arial"/>
            </a:endParaRPr>
          </a:p>
        </p:txBody>
      </p:sp>
      <p:sp>
        <p:nvSpPr>
          <p:cNvPr id="1331" name="Google Shape;1331;p38"/>
          <p:cNvSpPr/>
          <p:nvPr/>
        </p:nvSpPr>
        <p:spPr>
          <a:xfrm>
            <a:off x="96266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8"/>
          <p:cNvSpPr txBox="1"/>
          <p:nvPr/>
        </p:nvSpPr>
        <p:spPr>
          <a:xfrm>
            <a:off x="9666541"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a:t>
            </a:r>
            <a:endParaRPr b="0" i="0" sz="1900" u="none" cap="none" strike="noStrike">
              <a:solidFill>
                <a:schemeClr val="dk1"/>
              </a:solidFill>
              <a:latin typeface="Arial"/>
              <a:ea typeface="Arial"/>
              <a:cs typeface="Arial"/>
              <a:sym typeface="Arial"/>
            </a:endParaRPr>
          </a:p>
        </p:txBody>
      </p:sp>
      <p:sp>
        <p:nvSpPr>
          <p:cNvPr id="1333" name="Google Shape;1333;p38"/>
          <p:cNvSpPr/>
          <p:nvPr/>
        </p:nvSpPr>
        <p:spPr>
          <a:xfrm>
            <a:off x="105029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8"/>
          <p:cNvSpPr txBox="1"/>
          <p:nvPr/>
        </p:nvSpPr>
        <p:spPr>
          <a:xfrm>
            <a:off x="10542842"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α</a:t>
            </a:r>
            <a:endParaRPr b="0" i="0" sz="1900" u="none" cap="none" strike="noStrike">
              <a:solidFill>
                <a:schemeClr val="dk1"/>
              </a:solidFill>
              <a:latin typeface="Arial"/>
              <a:ea typeface="Arial"/>
              <a:cs typeface="Arial"/>
              <a:sym typeface="Arial"/>
            </a:endParaRPr>
          </a:p>
        </p:txBody>
      </p:sp>
      <p:sp>
        <p:nvSpPr>
          <p:cNvPr id="1335" name="Google Shape;1335;p38"/>
          <p:cNvSpPr/>
          <p:nvPr/>
        </p:nvSpPr>
        <p:spPr>
          <a:xfrm>
            <a:off x="5667375" y="2113756"/>
            <a:ext cx="1517650" cy="699691"/>
          </a:xfrm>
          <a:prstGeom prst="roundRect">
            <a:avLst>
              <a:gd fmla="val 8622"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8"/>
          <p:cNvSpPr txBox="1"/>
          <p:nvPr/>
        </p:nvSpPr>
        <p:spPr>
          <a:xfrm>
            <a:off x="5772150" y="2299578"/>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1 · Base</a:t>
            </a:r>
            <a:endParaRPr b="0" i="0" sz="1500" u="none" cap="none" strike="noStrike">
              <a:solidFill>
                <a:schemeClr val="dk1"/>
              </a:solidFill>
              <a:latin typeface="Arial"/>
              <a:ea typeface="Arial"/>
              <a:cs typeface="Arial"/>
              <a:sym typeface="Arial"/>
            </a:endParaRPr>
          </a:p>
        </p:txBody>
      </p:sp>
      <p:sp>
        <p:nvSpPr>
          <p:cNvPr id="1337" name="Google Shape;1337;p38"/>
          <p:cNvSpPr/>
          <p:nvPr/>
        </p:nvSpPr>
        <p:spPr>
          <a:xfrm>
            <a:off x="7248525" y="2120106"/>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8"/>
          <p:cNvSpPr txBox="1"/>
          <p:nvPr/>
        </p:nvSpPr>
        <p:spPr>
          <a:xfrm>
            <a:off x="7289038" y="2279862"/>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339" name="Google Shape;1339;p38"/>
          <p:cNvSpPr/>
          <p:nvPr/>
        </p:nvSpPr>
        <p:spPr>
          <a:xfrm>
            <a:off x="8759825" y="2120106"/>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8"/>
          <p:cNvSpPr txBox="1"/>
          <p:nvPr/>
        </p:nvSpPr>
        <p:spPr>
          <a:xfrm>
            <a:off x="88098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341" name="Google Shape;1341;p38"/>
          <p:cNvSpPr/>
          <p:nvPr/>
        </p:nvSpPr>
        <p:spPr>
          <a:xfrm>
            <a:off x="9636125" y="2120106"/>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8"/>
          <p:cNvSpPr txBox="1"/>
          <p:nvPr/>
        </p:nvSpPr>
        <p:spPr>
          <a:xfrm>
            <a:off x="96861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343" name="Google Shape;1343;p38"/>
          <p:cNvSpPr/>
          <p:nvPr/>
        </p:nvSpPr>
        <p:spPr>
          <a:xfrm>
            <a:off x="10512425" y="2120106"/>
            <a:ext cx="806450" cy="686991"/>
          </a:xfrm>
          <a:prstGeom prst="roundRect">
            <a:avLst>
              <a:gd fmla="val 7857" name="adj"/>
            </a:avLst>
          </a:prstGeom>
          <a:solidFill>
            <a:srgbClr val="FFFFFF"/>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8"/>
          <p:cNvSpPr txBox="1"/>
          <p:nvPr/>
        </p:nvSpPr>
        <p:spPr>
          <a:xfrm>
            <a:off x="105624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90°</a:t>
            </a:r>
            <a:endParaRPr b="0" i="0" sz="1900" u="none" cap="none" strike="noStrike">
              <a:solidFill>
                <a:schemeClr val="dk1"/>
              </a:solidFill>
              <a:latin typeface="Arial"/>
              <a:ea typeface="Arial"/>
              <a:cs typeface="Arial"/>
              <a:sym typeface="Arial"/>
            </a:endParaRPr>
          </a:p>
        </p:txBody>
      </p:sp>
      <p:sp>
        <p:nvSpPr>
          <p:cNvPr id="1345" name="Google Shape;1345;p38"/>
          <p:cNvSpPr/>
          <p:nvPr/>
        </p:nvSpPr>
        <p:spPr>
          <a:xfrm>
            <a:off x="5667375" y="2870597"/>
            <a:ext cx="1517650" cy="699691"/>
          </a:xfrm>
          <a:prstGeom prst="roundRect">
            <a:avLst>
              <a:gd fmla="val 8622"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8"/>
          <p:cNvSpPr txBox="1"/>
          <p:nvPr/>
        </p:nvSpPr>
        <p:spPr>
          <a:xfrm>
            <a:off x="5772150" y="3056419"/>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2 · Shoulder</a:t>
            </a:r>
            <a:endParaRPr b="0" i="0" sz="1500" u="none" cap="none" strike="noStrike">
              <a:solidFill>
                <a:schemeClr val="dk1"/>
              </a:solidFill>
              <a:latin typeface="Arial"/>
              <a:ea typeface="Arial"/>
              <a:cs typeface="Arial"/>
              <a:sym typeface="Arial"/>
            </a:endParaRPr>
          </a:p>
        </p:txBody>
      </p:sp>
      <p:sp>
        <p:nvSpPr>
          <p:cNvPr id="1347" name="Google Shape;1347;p38"/>
          <p:cNvSpPr/>
          <p:nvPr/>
        </p:nvSpPr>
        <p:spPr>
          <a:xfrm>
            <a:off x="7248525" y="2876947"/>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8"/>
          <p:cNvSpPr txBox="1"/>
          <p:nvPr/>
        </p:nvSpPr>
        <p:spPr>
          <a:xfrm>
            <a:off x="7289038" y="3036703"/>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349" name="Google Shape;1349;p38"/>
          <p:cNvSpPr/>
          <p:nvPr/>
        </p:nvSpPr>
        <p:spPr>
          <a:xfrm>
            <a:off x="87598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8"/>
          <p:cNvSpPr txBox="1"/>
          <p:nvPr/>
        </p:nvSpPr>
        <p:spPr>
          <a:xfrm>
            <a:off x="88098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351" name="Google Shape;1351;p38"/>
          <p:cNvSpPr/>
          <p:nvPr/>
        </p:nvSpPr>
        <p:spPr>
          <a:xfrm>
            <a:off x="96361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8"/>
          <p:cNvSpPr txBox="1"/>
          <p:nvPr/>
        </p:nvSpPr>
        <p:spPr>
          <a:xfrm>
            <a:off x="96861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250</a:t>
            </a:r>
            <a:endParaRPr b="0" i="0" sz="1900" u="none" cap="none" strike="noStrike">
              <a:solidFill>
                <a:schemeClr val="dk1"/>
              </a:solidFill>
              <a:latin typeface="Arial"/>
              <a:ea typeface="Arial"/>
              <a:cs typeface="Arial"/>
              <a:sym typeface="Arial"/>
            </a:endParaRPr>
          </a:p>
        </p:txBody>
      </p:sp>
      <p:sp>
        <p:nvSpPr>
          <p:cNvPr id="1353" name="Google Shape;1353;p38"/>
          <p:cNvSpPr/>
          <p:nvPr/>
        </p:nvSpPr>
        <p:spPr>
          <a:xfrm>
            <a:off x="105124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8"/>
          <p:cNvSpPr txBox="1"/>
          <p:nvPr/>
        </p:nvSpPr>
        <p:spPr>
          <a:xfrm>
            <a:off x="105624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355" name="Google Shape;1355;p38"/>
          <p:cNvSpPr/>
          <p:nvPr/>
        </p:nvSpPr>
        <p:spPr>
          <a:xfrm>
            <a:off x="5667375" y="3627438"/>
            <a:ext cx="1517650" cy="699691"/>
          </a:xfrm>
          <a:prstGeom prst="roundRect">
            <a:avLst>
              <a:gd fmla="val 862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8"/>
          <p:cNvSpPr txBox="1"/>
          <p:nvPr/>
        </p:nvSpPr>
        <p:spPr>
          <a:xfrm>
            <a:off x="5772150" y="3813259"/>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3 · Elbow</a:t>
            </a:r>
            <a:endParaRPr b="0" i="0" sz="1500" u="none" cap="none" strike="noStrike">
              <a:solidFill>
                <a:schemeClr val="dk1"/>
              </a:solidFill>
              <a:latin typeface="Arial"/>
              <a:ea typeface="Arial"/>
              <a:cs typeface="Arial"/>
              <a:sym typeface="Arial"/>
            </a:endParaRPr>
          </a:p>
        </p:txBody>
      </p:sp>
      <p:sp>
        <p:nvSpPr>
          <p:cNvPr id="1357" name="Google Shape;1357;p38"/>
          <p:cNvSpPr/>
          <p:nvPr/>
        </p:nvSpPr>
        <p:spPr>
          <a:xfrm>
            <a:off x="7248525" y="3633788"/>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8"/>
          <p:cNvSpPr txBox="1"/>
          <p:nvPr/>
        </p:nvSpPr>
        <p:spPr>
          <a:xfrm>
            <a:off x="7289038" y="3793544"/>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359" name="Google Shape;1359;p38"/>
          <p:cNvSpPr/>
          <p:nvPr/>
        </p:nvSpPr>
        <p:spPr>
          <a:xfrm>
            <a:off x="87598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8"/>
          <p:cNvSpPr txBox="1"/>
          <p:nvPr/>
        </p:nvSpPr>
        <p:spPr>
          <a:xfrm>
            <a:off x="88098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361" name="Google Shape;1361;p38"/>
          <p:cNvSpPr/>
          <p:nvPr/>
        </p:nvSpPr>
        <p:spPr>
          <a:xfrm>
            <a:off x="96361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8"/>
          <p:cNvSpPr txBox="1"/>
          <p:nvPr/>
        </p:nvSpPr>
        <p:spPr>
          <a:xfrm>
            <a:off x="96861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250</a:t>
            </a:r>
            <a:endParaRPr b="0" i="0" sz="1900" u="none" cap="none" strike="noStrike">
              <a:solidFill>
                <a:schemeClr val="dk1"/>
              </a:solidFill>
              <a:latin typeface="Arial"/>
              <a:ea typeface="Arial"/>
              <a:cs typeface="Arial"/>
              <a:sym typeface="Arial"/>
            </a:endParaRPr>
          </a:p>
        </p:txBody>
      </p:sp>
      <p:sp>
        <p:nvSpPr>
          <p:cNvPr id="1363" name="Google Shape;1363;p38"/>
          <p:cNvSpPr/>
          <p:nvPr/>
        </p:nvSpPr>
        <p:spPr>
          <a:xfrm>
            <a:off x="105124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8"/>
          <p:cNvSpPr txBox="1"/>
          <p:nvPr/>
        </p:nvSpPr>
        <p:spPr>
          <a:xfrm>
            <a:off x="105624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grpSp>
        <p:nvGrpSpPr>
          <p:cNvPr id="1365" name="Google Shape;1365;p38"/>
          <p:cNvGrpSpPr/>
          <p:nvPr/>
        </p:nvGrpSpPr>
        <p:grpSpPr>
          <a:xfrm>
            <a:off x="812800" y="4635500"/>
            <a:ext cx="10566400" cy="1295301"/>
            <a:chOff x="812800" y="4635500"/>
            <a:chExt cx="10566400" cy="1295301"/>
          </a:xfrm>
        </p:grpSpPr>
        <p:sp>
          <p:nvSpPr>
            <p:cNvPr id="1366" name="Google Shape;1366;p38"/>
            <p:cNvSpPr/>
            <p:nvPr/>
          </p:nvSpPr>
          <p:spPr>
            <a:xfrm>
              <a:off x="812800" y="4635500"/>
              <a:ext cx="10566400" cy="1295301"/>
            </a:xfrm>
            <a:prstGeom prst="roundRect">
              <a:avLst>
                <a:gd fmla="val 784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8"/>
            <p:cNvSpPr txBox="1"/>
            <p:nvPr/>
          </p:nvSpPr>
          <p:spPr>
            <a:xfrm>
              <a:off x="1016000" y="4856349"/>
              <a:ext cx="45783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1368" name="Google Shape;1368;p38"/>
            <p:cNvSpPr txBox="1"/>
            <p:nvPr/>
          </p:nvSpPr>
          <p:spPr>
            <a:xfrm>
              <a:off x="1016000" y="5128684"/>
              <a:ext cx="4578350"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θ column: 30°, 90° − 60° = 30°, 0°</a:t>
              </a:r>
              <a:endParaRPr b="0" i="0" sz="1600" u="none" cap="none" strike="noStrike">
                <a:solidFill>
                  <a:schemeClr val="dk1"/>
                </a:solidFill>
                <a:latin typeface="Arial"/>
                <a:ea typeface="Arial"/>
                <a:cs typeface="Arial"/>
                <a:sym typeface="Arial"/>
              </a:endParaRPr>
            </a:p>
          </p:txBody>
        </p:sp>
        <p:sp>
          <p:nvSpPr>
            <p:cNvPr id="1369" name="Google Shape;1369;p38"/>
            <p:cNvSpPr txBox="1"/>
            <p:nvPr/>
          </p:nvSpPr>
          <p:spPr>
            <a:xfrm>
              <a:off x="1016000" y="5475556"/>
              <a:ext cx="4578350" cy="214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θ = 90° − θS for the shoulder and θ = −θE for the elbow.</a:t>
              </a:r>
              <a:endParaRPr b="0" i="0" sz="1300" u="none" cap="none" strike="noStrike">
                <a:solidFill>
                  <a:schemeClr val="dk1"/>
                </a:solidFill>
                <a:latin typeface="Arial"/>
                <a:ea typeface="Arial"/>
                <a:cs typeface="Arial"/>
                <a:sym typeface="Arial"/>
              </a:endParaRPr>
            </a:p>
          </p:txBody>
        </p:sp>
        <p:sp>
          <p:nvSpPr>
            <p:cNvPr id="1370" name="Google Shape;1370;p38"/>
            <p:cNvSpPr txBox="1"/>
            <p:nvPr/>
          </p:nvSpPr>
          <p:spPr>
            <a:xfrm>
              <a:off x="5765800" y="4780843"/>
              <a:ext cx="557250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TIP POSITION (x, y, z) IN MM</a:t>
              </a:r>
              <a:endParaRPr b="0" i="0" sz="1200" u="none" cap="none" strike="noStrike">
                <a:solidFill>
                  <a:schemeClr val="dk1"/>
                </a:solidFill>
                <a:latin typeface="Arial"/>
                <a:ea typeface="Arial"/>
                <a:cs typeface="Arial"/>
                <a:sym typeface="Arial"/>
              </a:endParaRPr>
            </a:p>
          </p:txBody>
        </p:sp>
        <p:sp>
          <p:nvSpPr>
            <p:cNvPr id="1371" name="Google Shape;1371;p38"/>
            <p:cNvSpPr txBox="1"/>
            <p:nvPr/>
          </p:nvSpPr>
          <p:spPr>
            <a:xfrm>
              <a:off x="5765800" y="5036749"/>
              <a:ext cx="5572506" cy="44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(375.00, 216.51, 250.00)</a:t>
              </a:r>
              <a:endParaRPr b="0" i="0" sz="2500" u="none" cap="none" strike="noStrike">
                <a:solidFill>
                  <a:schemeClr val="dk1"/>
                </a:solidFill>
                <a:latin typeface="Arial"/>
                <a:ea typeface="Arial"/>
                <a:cs typeface="Arial"/>
                <a:sym typeface="Arial"/>
              </a:endParaRPr>
            </a:p>
          </p:txBody>
        </p:sp>
        <p:sp>
          <p:nvSpPr>
            <p:cNvPr id="1372" name="Google Shape;1372;p38"/>
            <p:cNvSpPr txBox="1"/>
            <p:nvPr/>
          </p:nvSpPr>
          <p:spPr>
            <a:xfrm>
              <a:off x="5765800" y="5539155"/>
              <a:ext cx="5572506"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The same arm shape as Try It Yourself #3, with the base turned 30°.</a:t>
              </a:r>
              <a:endParaRPr b="0" i="0" sz="1300" u="none" cap="none" strike="noStrike">
                <a:solidFill>
                  <a:schemeClr val="dk1"/>
                </a:solidFill>
                <a:latin typeface="Arial"/>
                <a:ea typeface="Arial"/>
                <a:cs typeface="Arial"/>
                <a:sym typeface="Arial"/>
              </a:endParaRPr>
            </a:p>
          </p:txBody>
        </p:sp>
      </p:grpSp>
      <p:pic>
        <p:nvPicPr>
          <p:cNvPr descr="Side view of the robotic arm: the upper arm leans 60 degrees from vertical and the forearm is straight in line with it" id="1373" name="Google Shape;1373;p38"/>
          <p:cNvPicPr preferRelativeResize="0"/>
          <p:nvPr/>
        </p:nvPicPr>
        <p:blipFill rotWithShape="1">
          <a:blip r:embed="rId3">
            <a:alphaModFix/>
          </a:blip>
          <a:srcRect b="0" l="0" r="0" t="0"/>
          <a:stretch/>
        </p:blipFill>
        <p:spPr>
          <a:xfrm>
            <a:off x="9068991" y="215900"/>
            <a:ext cx="2310110" cy="1244600"/>
          </a:xfrm>
          <a:prstGeom prst="rect">
            <a:avLst/>
          </a:prstGeom>
          <a:noFill/>
          <a:ln>
            <a:noFill/>
          </a:ln>
        </p:spPr>
      </p:pic>
      <p:pic>
        <p:nvPicPr>
          <p:cNvPr descr="The real arm in the pose of the practice problem; the tip position is the unknown" id="1374" name="Google Shape;1374;p38"/>
          <p:cNvPicPr preferRelativeResize="0"/>
          <p:nvPr/>
        </p:nvPicPr>
        <p:blipFill rotWithShape="1">
          <a:blip r:embed="rId4">
            <a:alphaModFix/>
          </a:blip>
          <a:srcRect b="0" l="0" r="0" t="0"/>
          <a:stretch/>
        </p:blipFill>
        <p:spPr>
          <a:xfrm>
            <a:off x="9067800" y="215900"/>
            <a:ext cx="2311400" cy="1244600"/>
          </a:xfrm>
          <a:prstGeom prst="rect">
            <a:avLst/>
          </a:prstGeom>
          <a:noFill/>
          <a:ln>
            <a:noFill/>
          </a:ln>
        </p:spPr>
      </p:pic>
      <p:sp>
        <p:nvSpPr>
          <p:cNvPr id="1375" name="Google Shape;1375;p38"/>
          <p:cNvSpPr txBox="1"/>
          <p:nvPr/>
        </p:nvSpPr>
        <p:spPr>
          <a:xfrm>
            <a:off x="8785820" y="645795"/>
            <a:ext cx="74930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θS = 60°</a:t>
            </a:r>
            <a:endParaRPr b="0" i="0" sz="1300" u="none" cap="none" strike="noStrike">
              <a:solidFill>
                <a:schemeClr val="dk1"/>
              </a:solidFill>
              <a:latin typeface="Arial"/>
              <a:ea typeface="Arial"/>
              <a:cs typeface="Arial"/>
              <a:sym typeface="Arial"/>
            </a:endParaRPr>
          </a:p>
        </p:txBody>
      </p:sp>
      <p:sp>
        <p:nvSpPr>
          <p:cNvPr id="1376" name="Google Shape;1376;p38"/>
          <p:cNvSpPr txBox="1"/>
          <p:nvPr/>
        </p:nvSpPr>
        <p:spPr>
          <a:xfrm>
            <a:off x="10415191" y="1167190"/>
            <a:ext cx="654050" cy="2108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θE = 0°</a:t>
            </a:r>
            <a:endParaRPr b="0" i="0" sz="13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5"/>
                                        </p:tgtEl>
                                        <p:attrNameLst>
                                          <p:attrName>style.visibility</p:attrName>
                                        </p:attrNameLst>
                                      </p:cBhvr>
                                      <p:to>
                                        <p:strVal val="visible"/>
                                      </p:to>
                                    </p:set>
                                    <p:animEffect filter="fade" transition="in">
                                      <p:cBhvr>
                                        <p:cTn dur="500"/>
                                        <p:tgtEl>
                                          <p:spTgt spid="1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39"/>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TRY IT YOURSELF</a:t>
            </a:r>
            <a:endParaRPr b="0" i="0" sz="1200" u="none" cap="none" strike="noStrike">
              <a:solidFill>
                <a:schemeClr val="dk1"/>
              </a:solidFill>
              <a:latin typeface="Arial"/>
              <a:ea typeface="Arial"/>
              <a:cs typeface="Arial"/>
              <a:sym typeface="Arial"/>
            </a:endParaRPr>
          </a:p>
        </p:txBody>
      </p:sp>
      <p:sp>
        <p:nvSpPr>
          <p:cNvPr id="1383" name="Google Shape;1383;p39"/>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Try It Yourself #5</a:t>
            </a:r>
            <a:endParaRPr sz="2800"/>
          </a:p>
        </p:txBody>
      </p:sp>
      <p:sp>
        <p:nvSpPr>
          <p:cNvPr id="1384" name="Google Shape;1384;p39"/>
          <p:cNvSpPr txBox="1"/>
          <p:nvPr/>
        </p:nvSpPr>
        <p:spPr>
          <a:xfrm>
            <a:off x="812800" y="1503327"/>
            <a:ext cx="4578350"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Find the tip position (x, y, z).</a:t>
            </a:r>
            <a:endParaRPr b="0" i="0" sz="1900" u="none" cap="none" strike="noStrike">
              <a:solidFill>
                <a:schemeClr val="dk1"/>
              </a:solidFill>
              <a:latin typeface="Arial"/>
              <a:ea typeface="Arial"/>
              <a:cs typeface="Arial"/>
              <a:sym typeface="Arial"/>
            </a:endParaRPr>
          </a:p>
        </p:txBody>
      </p:sp>
      <p:sp>
        <p:nvSpPr>
          <p:cNvPr id="1385" name="Google Shape;1385;p39"/>
          <p:cNvSpPr/>
          <p:nvPr/>
        </p:nvSpPr>
        <p:spPr>
          <a:xfrm>
            <a:off x="815975" y="1962646"/>
            <a:ext cx="4438650" cy="1687513"/>
          </a:xfrm>
          <a:prstGeom prst="roundRect">
            <a:avLst>
              <a:gd fmla="val 5833"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9"/>
          <p:cNvSpPr txBox="1"/>
          <p:nvPr/>
        </p:nvSpPr>
        <p:spPr>
          <a:xfrm>
            <a:off x="1022350" y="2077952"/>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L₁ = L₂ = 250 mm</a:t>
            </a:r>
            <a:endParaRPr b="0" i="0" sz="1900" u="none" cap="none" strike="noStrike">
              <a:solidFill>
                <a:schemeClr val="dk1"/>
              </a:solidFill>
              <a:latin typeface="Arial"/>
              <a:ea typeface="Arial"/>
              <a:cs typeface="Arial"/>
              <a:sym typeface="Arial"/>
            </a:endParaRPr>
          </a:p>
        </p:txBody>
      </p:sp>
      <p:sp>
        <p:nvSpPr>
          <p:cNvPr id="1387" name="Google Shape;1387;p39"/>
          <p:cNvSpPr txBox="1"/>
          <p:nvPr/>
        </p:nvSpPr>
        <p:spPr>
          <a:xfrm>
            <a:off x="1022350" y="2441093"/>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θB = 120°</a:t>
            </a:r>
            <a:endParaRPr b="0" i="0" sz="1900" u="none" cap="none" strike="noStrike">
              <a:solidFill>
                <a:schemeClr val="dk1"/>
              </a:solidFill>
              <a:latin typeface="Arial"/>
              <a:ea typeface="Arial"/>
              <a:cs typeface="Arial"/>
              <a:sym typeface="Arial"/>
            </a:endParaRPr>
          </a:p>
        </p:txBody>
      </p:sp>
      <p:sp>
        <p:nvSpPr>
          <p:cNvPr id="1388" name="Google Shape;1388;p39"/>
          <p:cNvSpPr txBox="1"/>
          <p:nvPr/>
        </p:nvSpPr>
        <p:spPr>
          <a:xfrm>
            <a:off x="1022350" y="2804234"/>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θS = 0°</a:t>
            </a:r>
            <a:endParaRPr b="0" i="0" sz="1900" u="none" cap="none" strike="noStrike">
              <a:solidFill>
                <a:schemeClr val="dk1"/>
              </a:solidFill>
              <a:latin typeface="Arial"/>
              <a:ea typeface="Arial"/>
              <a:cs typeface="Arial"/>
              <a:sym typeface="Arial"/>
            </a:endParaRPr>
          </a:p>
        </p:txBody>
      </p:sp>
      <p:sp>
        <p:nvSpPr>
          <p:cNvPr id="1389" name="Google Shape;1389;p39"/>
          <p:cNvSpPr txBox="1"/>
          <p:nvPr/>
        </p:nvSpPr>
        <p:spPr>
          <a:xfrm>
            <a:off x="1022350" y="3167374"/>
            <a:ext cx="4146677" cy="3377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1900"/>
              <a:buFont typeface="Arial"/>
              <a:buNone/>
            </a:pPr>
            <a:r>
              <a:rPr b="1" i="0" lang="en-US" sz="1900" u="none" cap="none" strike="noStrike">
                <a:solidFill>
                  <a:srgbClr val="FF0000"/>
                </a:solidFill>
                <a:latin typeface="Arial"/>
                <a:ea typeface="Arial"/>
                <a:cs typeface="Arial"/>
                <a:sym typeface="Arial"/>
              </a:rPr>
              <a:t>θE = 90°</a:t>
            </a:r>
            <a:endParaRPr b="0" i="0" sz="1900" u="none" cap="none" strike="noStrike">
              <a:solidFill>
                <a:schemeClr val="dk1"/>
              </a:solidFill>
              <a:latin typeface="Arial"/>
              <a:ea typeface="Arial"/>
              <a:cs typeface="Arial"/>
              <a:sym typeface="Arial"/>
            </a:endParaRPr>
          </a:p>
        </p:txBody>
      </p:sp>
      <p:sp>
        <p:nvSpPr>
          <p:cNvPr id="1390" name="Google Shape;1390;p39"/>
          <p:cNvSpPr txBox="1"/>
          <p:nvPr/>
        </p:nvSpPr>
        <p:spPr>
          <a:xfrm>
            <a:off x="812800" y="3770656"/>
            <a:ext cx="4578350" cy="35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(x, y, z) = (?, ?, ?)</a:t>
            </a:r>
            <a:endParaRPr b="0" i="0" sz="2000" u="none" cap="none" strike="noStrike">
              <a:solidFill>
                <a:schemeClr val="dk1"/>
              </a:solidFill>
              <a:latin typeface="Arial"/>
              <a:ea typeface="Arial"/>
              <a:cs typeface="Arial"/>
              <a:sym typeface="Arial"/>
            </a:endParaRPr>
          </a:p>
        </p:txBody>
      </p:sp>
      <p:sp>
        <p:nvSpPr>
          <p:cNvPr id="1391" name="Google Shape;1391;p39"/>
          <p:cNvSpPr/>
          <p:nvPr/>
        </p:nvSpPr>
        <p:spPr>
          <a:xfrm>
            <a:off x="5664200" y="1518841"/>
            <a:ext cx="15240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9"/>
          <p:cNvSpPr txBox="1"/>
          <p:nvPr/>
        </p:nvSpPr>
        <p:spPr>
          <a:xfrm>
            <a:off x="5693664" y="1605572"/>
            <a:ext cx="1465072"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Joint</a:t>
            </a:r>
            <a:endParaRPr b="0" i="0" sz="1900" u="none" cap="none" strike="noStrike">
              <a:solidFill>
                <a:schemeClr val="dk1"/>
              </a:solidFill>
              <a:latin typeface="Arial"/>
              <a:ea typeface="Arial"/>
              <a:cs typeface="Arial"/>
              <a:sym typeface="Arial"/>
            </a:endParaRPr>
          </a:p>
        </p:txBody>
      </p:sp>
      <p:sp>
        <p:nvSpPr>
          <p:cNvPr id="1393" name="Google Shape;1393;p39"/>
          <p:cNvSpPr/>
          <p:nvPr/>
        </p:nvSpPr>
        <p:spPr>
          <a:xfrm>
            <a:off x="7239000" y="1518841"/>
            <a:ext cx="1460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9"/>
          <p:cNvSpPr txBox="1"/>
          <p:nvPr/>
        </p:nvSpPr>
        <p:spPr>
          <a:xfrm>
            <a:off x="7269417" y="1605572"/>
            <a:ext cx="139966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θ</a:t>
            </a:r>
            <a:endParaRPr b="0" i="0" sz="1900" u="none" cap="none" strike="noStrike">
              <a:solidFill>
                <a:schemeClr val="dk1"/>
              </a:solidFill>
              <a:latin typeface="Arial"/>
              <a:ea typeface="Arial"/>
              <a:cs typeface="Arial"/>
              <a:sym typeface="Arial"/>
            </a:endParaRPr>
          </a:p>
        </p:txBody>
      </p:sp>
      <p:sp>
        <p:nvSpPr>
          <p:cNvPr id="1395" name="Google Shape;1395;p39"/>
          <p:cNvSpPr/>
          <p:nvPr/>
        </p:nvSpPr>
        <p:spPr>
          <a:xfrm>
            <a:off x="87503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9"/>
          <p:cNvSpPr txBox="1"/>
          <p:nvPr/>
        </p:nvSpPr>
        <p:spPr>
          <a:xfrm>
            <a:off x="8790242"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d</a:t>
            </a:r>
            <a:endParaRPr b="0" i="0" sz="1900" u="none" cap="none" strike="noStrike">
              <a:solidFill>
                <a:schemeClr val="dk1"/>
              </a:solidFill>
              <a:latin typeface="Arial"/>
              <a:ea typeface="Arial"/>
              <a:cs typeface="Arial"/>
              <a:sym typeface="Arial"/>
            </a:endParaRPr>
          </a:p>
        </p:txBody>
      </p:sp>
      <p:sp>
        <p:nvSpPr>
          <p:cNvPr id="1397" name="Google Shape;1397;p39"/>
          <p:cNvSpPr/>
          <p:nvPr/>
        </p:nvSpPr>
        <p:spPr>
          <a:xfrm>
            <a:off x="96266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9"/>
          <p:cNvSpPr txBox="1"/>
          <p:nvPr/>
        </p:nvSpPr>
        <p:spPr>
          <a:xfrm>
            <a:off x="9666541"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a:t>
            </a:r>
            <a:endParaRPr b="0" i="0" sz="1900" u="none" cap="none" strike="noStrike">
              <a:solidFill>
                <a:schemeClr val="dk1"/>
              </a:solidFill>
              <a:latin typeface="Arial"/>
              <a:ea typeface="Arial"/>
              <a:cs typeface="Arial"/>
              <a:sym typeface="Arial"/>
            </a:endParaRPr>
          </a:p>
        </p:txBody>
      </p:sp>
      <p:sp>
        <p:nvSpPr>
          <p:cNvPr id="1399" name="Google Shape;1399;p39"/>
          <p:cNvSpPr/>
          <p:nvPr/>
        </p:nvSpPr>
        <p:spPr>
          <a:xfrm>
            <a:off x="10502900" y="1518841"/>
            <a:ext cx="825500" cy="540941"/>
          </a:xfrm>
          <a:prstGeom prst="roundRect">
            <a:avLst>
              <a:gd fmla="val 11739"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9"/>
          <p:cNvSpPr txBox="1"/>
          <p:nvPr/>
        </p:nvSpPr>
        <p:spPr>
          <a:xfrm>
            <a:off x="10542842" y="1605572"/>
            <a:ext cx="745617"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α</a:t>
            </a:r>
            <a:endParaRPr b="0" i="0" sz="1900" u="none" cap="none" strike="noStrike">
              <a:solidFill>
                <a:schemeClr val="dk1"/>
              </a:solidFill>
              <a:latin typeface="Arial"/>
              <a:ea typeface="Arial"/>
              <a:cs typeface="Arial"/>
              <a:sym typeface="Arial"/>
            </a:endParaRPr>
          </a:p>
        </p:txBody>
      </p:sp>
      <p:sp>
        <p:nvSpPr>
          <p:cNvPr id="1401" name="Google Shape;1401;p39"/>
          <p:cNvSpPr/>
          <p:nvPr/>
        </p:nvSpPr>
        <p:spPr>
          <a:xfrm>
            <a:off x="5667375" y="2113756"/>
            <a:ext cx="1517650" cy="699691"/>
          </a:xfrm>
          <a:prstGeom prst="roundRect">
            <a:avLst>
              <a:gd fmla="val 8622"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9"/>
          <p:cNvSpPr txBox="1"/>
          <p:nvPr/>
        </p:nvSpPr>
        <p:spPr>
          <a:xfrm>
            <a:off x="5772150" y="2299578"/>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1 · Base</a:t>
            </a:r>
            <a:endParaRPr b="0" i="0" sz="1500" u="none" cap="none" strike="noStrike">
              <a:solidFill>
                <a:schemeClr val="dk1"/>
              </a:solidFill>
              <a:latin typeface="Arial"/>
              <a:ea typeface="Arial"/>
              <a:cs typeface="Arial"/>
              <a:sym typeface="Arial"/>
            </a:endParaRPr>
          </a:p>
        </p:txBody>
      </p:sp>
      <p:sp>
        <p:nvSpPr>
          <p:cNvPr id="1403" name="Google Shape;1403;p39"/>
          <p:cNvSpPr/>
          <p:nvPr/>
        </p:nvSpPr>
        <p:spPr>
          <a:xfrm>
            <a:off x="7248525" y="2120106"/>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9"/>
          <p:cNvSpPr txBox="1"/>
          <p:nvPr/>
        </p:nvSpPr>
        <p:spPr>
          <a:xfrm>
            <a:off x="7289038" y="2279862"/>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05" name="Google Shape;1405;p39"/>
          <p:cNvSpPr/>
          <p:nvPr/>
        </p:nvSpPr>
        <p:spPr>
          <a:xfrm>
            <a:off x="8759825" y="2120106"/>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9"/>
          <p:cNvSpPr txBox="1"/>
          <p:nvPr/>
        </p:nvSpPr>
        <p:spPr>
          <a:xfrm>
            <a:off x="88098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407" name="Google Shape;1407;p39"/>
          <p:cNvSpPr/>
          <p:nvPr/>
        </p:nvSpPr>
        <p:spPr>
          <a:xfrm>
            <a:off x="9636125" y="2120106"/>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9"/>
          <p:cNvSpPr txBox="1"/>
          <p:nvPr/>
        </p:nvSpPr>
        <p:spPr>
          <a:xfrm>
            <a:off x="96861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409" name="Google Shape;1409;p39"/>
          <p:cNvSpPr/>
          <p:nvPr/>
        </p:nvSpPr>
        <p:spPr>
          <a:xfrm>
            <a:off x="10512425" y="2120106"/>
            <a:ext cx="806450" cy="686991"/>
          </a:xfrm>
          <a:prstGeom prst="roundRect">
            <a:avLst>
              <a:gd fmla="val 7857" name="adj"/>
            </a:avLst>
          </a:prstGeom>
          <a:solidFill>
            <a:srgbClr val="FFFFFF"/>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9"/>
          <p:cNvSpPr txBox="1"/>
          <p:nvPr/>
        </p:nvSpPr>
        <p:spPr>
          <a:xfrm>
            <a:off x="10562463" y="2279862"/>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1" i="0" lang="en-US" sz="1900" u="none" cap="none" strike="noStrike">
                <a:solidFill>
                  <a:srgbClr val="000000"/>
                </a:solidFill>
                <a:latin typeface="Arial"/>
                <a:ea typeface="Arial"/>
                <a:cs typeface="Arial"/>
                <a:sym typeface="Arial"/>
              </a:rPr>
              <a:t>90°</a:t>
            </a:r>
            <a:endParaRPr b="0" i="0" sz="1900" u="none" cap="none" strike="noStrike">
              <a:solidFill>
                <a:schemeClr val="dk1"/>
              </a:solidFill>
              <a:latin typeface="Arial"/>
              <a:ea typeface="Arial"/>
              <a:cs typeface="Arial"/>
              <a:sym typeface="Arial"/>
            </a:endParaRPr>
          </a:p>
        </p:txBody>
      </p:sp>
      <p:sp>
        <p:nvSpPr>
          <p:cNvPr id="1411" name="Google Shape;1411;p39"/>
          <p:cNvSpPr/>
          <p:nvPr/>
        </p:nvSpPr>
        <p:spPr>
          <a:xfrm>
            <a:off x="5667375" y="2870597"/>
            <a:ext cx="1517650" cy="699691"/>
          </a:xfrm>
          <a:prstGeom prst="roundRect">
            <a:avLst>
              <a:gd fmla="val 8622"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9"/>
          <p:cNvSpPr txBox="1"/>
          <p:nvPr/>
        </p:nvSpPr>
        <p:spPr>
          <a:xfrm>
            <a:off x="5772150" y="3056419"/>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2 · Shoulder</a:t>
            </a:r>
            <a:endParaRPr b="0" i="0" sz="1500" u="none" cap="none" strike="noStrike">
              <a:solidFill>
                <a:schemeClr val="dk1"/>
              </a:solidFill>
              <a:latin typeface="Arial"/>
              <a:ea typeface="Arial"/>
              <a:cs typeface="Arial"/>
              <a:sym typeface="Arial"/>
            </a:endParaRPr>
          </a:p>
        </p:txBody>
      </p:sp>
      <p:sp>
        <p:nvSpPr>
          <p:cNvPr id="1413" name="Google Shape;1413;p39"/>
          <p:cNvSpPr/>
          <p:nvPr/>
        </p:nvSpPr>
        <p:spPr>
          <a:xfrm>
            <a:off x="7248525" y="2876947"/>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9"/>
          <p:cNvSpPr txBox="1"/>
          <p:nvPr/>
        </p:nvSpPr>
        <p:spPr>
          <a:xfrm>
            <a:off x="7289038" y="3036703"/>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15" name="Google Shape;1415;p39"/>
          <p:cNvSpPr/>
          <p:nvPr/>
        </p:nvSpPr>
        <p:spPr>
          <a:xfrm>
            <a:off x="87598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9"/>
          <p:cNvSpPr txBox="1"/>
          <p:nvPr/>
        </p:nvSpPr>
        <p:spPr>
          <a:xfrm>
            <a:off x="88098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417" name="Google Shape;1417;p39"/>
          <p:cNvSpPr/>
          <p:nvPr/>
        </p:nvSpPr>
        <p:spPr>
          <a:xfrm>
            <a:off x="96361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9"/>
          <p:cNvSpPr txBox="1"/>
          <p:nvPr/>
        </p:nvSpPr>
        <p:spPr>
          <a:xfrm>
            <a:off x="96861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250</a:t>
            </a:r>
            <a:endParaRPr b="0" i="0" sz="1900" u="none" cap="none" strike="noStrike">
              <a:solidFill>
                <a:schemeClr val="dk1"/>
              </a:solidFill>
              <a:latin typeface="Arial"/>
              <a:ea typeface="Arial"/>
              <a:cs typeface="Arial"/>
              <a:sym typeface="Arial"/>
            </a:endParaRPr>
          </a:p>
        </p:txBody>
      </p:sp>
      <p:sp>
        <p:nvSpPr>
          <p:cNvPr id="1419" name="Google Shape;1419;p39"/>
          <p:cNvSpPr/>
          <p:nvPr/>
        </p:nvSpPr>
        <p:spPr>
          <a:xfrm>
            <a:off x="10512425" y="2876947"/>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9"/>
          <p:cNvSpPr txBox="1"/>
          <p:nvPr/>
        </p:nvSpPr>
        <p:spPr>
          <a:xfrm>
            <a:off x="10562463" y="3036703"/>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421" name="Google Shape;1421;p39"/>
          <p:cNvSpPr/>
          <p:nvPr/>
        </p:nvSpPr>
        <p:spPr>
          <a:xfrm>
            <a:off x="5667375" y="3627438"/>
            <a:ext cx="1517650" cy="699691"/>
          </a:xfrm>
          <a:prstGeom prst="roundRect">
            <a:avLst>
              <a:gd fmla="val 8622"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9"/>
          <p:cNvSpPr txBox="1"/>
          <p:nvPr/>
        </p:nvSpPr>
        <p:spPr>
          <a:xfrm>
            <a:off x="5772150" y="3813259"/>
            <a:ext cx="1347343" cy="2869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3 · Elbow</a:t>
            </a:r>
            <a:endParaRPr b="0" i="0" sz="1500" u="none" cap="none" strike="noStrike">
              <a:solidFill>
                <a:schemeClr val="dk1"/>
              </a:solidFill>
              <a:latin typeface="Arial"/>
              <a:ea typeface="Arial"/>
              <a:cs typeface="Arial"/>
              <a:sym typeface="Arial"/>
            </a:endParaRPr>
          </a:p>
        </p:txBody>
      </p:sp>
      <p:sp>
        <p:nvSpPr>
          <p:cNvPr id="1423" name="Google Shape;1423;p39"/>
          <p:cNvSpPr/>
          <p:nvPr/>
        </p:nvSpPr>
        <p:spPr>
          <a:xfrm>
            <a:off x="7248525" y="3633788"/>
            <a:ext cx="1441450" cy="686991"/>
          </a:xfrm>
          <a:prstGeom prst="roundRect">
            <a:avLst>
              <a:gd fmla="val 7857" name="adj"/>
            </a:avLst>
          </a:prstGeom>
          <a:solidFill>
            <a:srgbClr val="FFFFFF"/>
          </a:solidFill>
          <a:ln cap="flat" cmpd="sng" w="19050">
            <a:solidFill>
              <a:srgbClr val="FF0000"/>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9"/>
          <p:cNvSpPr txBox="1"/>
          <p:nvPr/>
        </p:nvSpPr>
        <p:spPr>
          <a:xfrm>
            <a:off x="7289038" y="3793544"/>
            <a:ext cx="136042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900"/>
              <a:buFont typeface="Arial"/>
              <a:buNone/>
            </a:pPr>
            <a:r>
              <a:rPr b="0" i="0" lang="en-US" sz="1900" u="none" cap="none" strike="noStrike">
                <a:solidFill>
                  <a:srgbClr val="FF0000"/>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25" name="Google Shape;1425;p39"/>
          <p:cNvSpPr/>
          <p:nvPr/>
        </p:nvSpPr>
        <p:spPr>
          <a:xfrm>
            <a:off x="87598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9"/>
          <p:cNvSpPr txBox="1"/>
          <p:nvPr/>
        </p:nvSpPr>
        <p:spPr>
          <a:xfrm>
            <a:off x="88098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sp>
        <p:nvSpPr>
          <p:cNvPr id="1427" name="Google Shape;1427;p39"/>
          <p:cNvSpPr/>
          <p:nvPr/>
        </p:nvSpPr>
        <p:spPr>
          <a:xfrm>
            <a:off x="96361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9"/>
          <p:cNvSpPr txBox="1"/>
          <p:nvPr/>
        </p:nvSpPr>
        <p:spPr>
          <a:xfrm>
            <a:off x="96861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250</a:t>
            </a:r>
            <a:endParaRPr b="0" i="0" sz="1900" u="none" cap="none" strike="noStrike">
              <a:solidFill>
                <a:schemeClr val="dk1"/>
              </a:solidFill>
              <a:latin typeface="Arial"/>
              <a:ea typeface="Arial"/>
              <a:cs typeface="Arial"/>
              <a:sym typeface="Arial"/>
            </a:endParaRPr>
          </a:p>
        </p:txBody>
      </p:sp>
      <p:sp>
        <p:nvSpPr>
          <p:cNvPr id="1429" name="Google Shape;1429;p39"/>
          <p:cNvSpPr/>
          <p:nvPr/>
        </p:nvSpPr>
        <p:spPr>
          <a:xfrm>
            <a:off x="10512425" y="3633788"/>
            <a:ext cx="806450" cy="686991"/>
          </a:xfrm>
          <a:prstGeom prst="roundRect">
            <a:avLst>
              <a:gd fmla="val 7857" name="adj"/>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9"/>
          <p:cNvSpPr txBox="1"/>
          <p:nvPr/>
        </p:nvSpPr>
        <p:spPr>
          <a:xfrm>
            <a:off x="10562463" y="3793544"/>
            <a:ext cx="706374" cy="3377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0°</a:t>
            </a:r>
            <a:endParaRPr b="0" i="0" sz="1900" u="none" cap="none" strike="noStrike">
              <a:solidFill>
                <a:schemeClr val="dk1"/>
              </a:solidFill>
              <a:latin typeface="Arial"/>
              <a:ea typeface="Arial"/>
              <a:cs typeface="Arial"/>
              <a:sym typeface="Arial"/>
            </a:endParaRPr>
          </a:p>
        </p:txBody>
      </p:sp>
      <p:grpSp>
        <p:nvGrpSpPr>
          <p:cNvPr id="1431" name="Google Shape;1431;p39"/>
          <p:cNvGrpSpPr/>
          <p:nvPr/>
        </p:nvGrpSpPr>
        <p:grpSpPr>
          <a:xfrm>
            <a:off x="812800" y="4635500"/>
            <a:ext cx="10566400" cy="1295301"/>
            <a:chOff x="812800" y="4635500"/>
            <a:chExt cx="10566400" cy="1295301"/>
          </a:xfrm>
        </p:grpSpPr>
        <p:sp>
          <p:nvSpPr>
            <p:cNvPr id="1432" name="Google Shape;1432;p39"/>
            <p:cNvSpPr/>
            <p:nvPr/>
          </p:nvSpPr>
          <p:spPr>
            <a:xfrm>
              <a:off x="812800" y="4635500"/>
              <a:ext cx="10566400" cy="1295301"/>
            </a:xfrm>
            <a:prstGeom prst="roundRect">
              <a:avLst>
                <a:gd fmla="val 784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9"/>
            <p:cNvSpPr txBox="1"/>
            <p:nvPr/>
          </p:nvSpPr>
          <p:spPr>
            <a:xfrm>
              <a:off x="1016000" y="4856349"/>
              <a:ext cx="457835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SOLUTION</a:t>
              </a:r>
              <a:endParaRPr b="0" i="0" sz="1200" u="none" cap="none" strike="noStrike">
                <a:solidFill>
                  <a:schemeClr val="dk1"/>
                </a:solidFill>
                <a:latin typeface="Arial"/>
                <a:ea typeface="Arial"/>
                <a:cs typeface="Arial"/>
                <a:sym typeface="Arial"/>
              </a:endParaRPr>
            </a:p>
          </p:txBody>
        </p:sp>
        <p:sp>
          <p:nvSpPr>
            <p:cNvPr id="1434" name="Google Shape;1434;p39"/>
            <p:cNvSpPr txBox="1"/>
            <p:nvPr/>
          </p:nvSpPr>
          <p:spPr>
            <a:xfrm>
              <a:off x="1016000" y="5128684"/>
              <a:ext cx="4578350" cy="2844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θ column: 120°, 90° − 0° = 90°, −90°</a:t>
              </a:r>
              <a:endParaRPr b="0" i="0" sz="1600" u="none" cap="none" strike="noStrike">
                <a:solidFill>
                  <a:schemeClr val="dk1"/>
                </a:solidFill>
                <a:latin typeface="Arial"/>
                <a:ea typeface="Arial"/>
                <a:cs typeface="Arial"/>
                <a:sym typeface="Arial"/>
              </a:endParaRPr>
            </a:p>
          </p:txBody>
        </p:sp>
        <p:sp>
          <p:nvSpPr>
            <p:cNvPr id="1435" name="Google Shape;1435;p39"/>
            <p:cNvSpPr txBox="1"/>
            <p:nvPr/>
          </p:nvSpPr>
          <p:spPr>
            <a:xfrm>
              <a:off x="1016000" y="5475556"/>
              <a:ext cx="4578350" cy="214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θB = 120° turns the arm past the y axis, so x is negative.</a:t>
              </a:r>
              <a:endParaRPr b="0" i="0" sz="1300" u="none" cap="none" strike="noStrike">
                <a:solidFill>
                  <a:schemeClr val="dk1"/>
                </a:solidFill>
                <a:latin typeface="Arial"/>
                <a:ea typeface="Arial"/>
                <a:cs typeface="Arial"/>
                <a:sym typeface="Arial"/>
              </a:endParaRPr>
            </a:p>
          </p:txBody>
        </p:sp>
        <p:sp>
          <p:nvSpPr>
            <p:cNvPr id="1436" name="Google Shape;1436;p39"/>
            <p:cNvSpPr txBox="1"/>
            <p:nvPr/>
          </p:nvSpPr>
          <p:spPr>
            <a:xfrm>
              <a:off x="5765800" y="4780843"/>
              <a:ext cx="5572506"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TIP POSITION (x, y, z) IN MM</a:t>
              </a:r>
              <a:endParaRPr b="0" i="0" sz="1200" u="none" cap="none" strike="noStrike">
                <a:solidFill>
                  <a:schemeClr val="dk1"/>
                </a:solidFill>
                <a:latin typeface="Arial"/>
                <a:ea typeface="Arial"/>
                <a:cs typeface="Arial"/>
                <a:sym typeface="Arial"/>
              </a:endParaRPr>
            </a:p>
          </p:txBody>
        </p:sp>
        <p:sp>
          <p:nvSpPr>
            <p:cNvPr id="1437" name="Google Shape;1437;p39"/>
            <p:cNvSpPr txBox="1"/>
            <p:nvPr/>
          </p:nvSpPr>
          <p:spPr>
            <a:xfrm>
              <a:off x="5765800" y="5036749"/>
              <a:ext cx="5572506" cy="44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(−125.00, 216.51, 250.00)</a:t>
              </a:r>
              <a:endParaRPr b="0" i="0" sz="2500" u="none" cap="none" strike="noStrike">
                <a:solidFill>
                  <a:schemeClr val="dk1"/>
                </a:solidFill>
                <a:latin typeface="Arial"/>
                <a:ea typeface="Arial"/>
                <a:cs typeface="Arial"/>
                <a:sym typeface="Arial"/>
              </a:endParaRPr>
            </a:p>
          </p:txBody>
        </p:sp>
        <p:sp>
          <p:nvSpPr>
            <p:cNvPr id="1438" name="Google Shape;1438;p39"/>
            <p:cNvSpPr txBox="1"/>
            <p:nvPr/>
          </p:nvSpPr>
          <p:spPr>
            <a:xfrm>
              <a:off x="5765800" y="5539155"/>
              <a:ext cx="5572506"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z = 250: the upper arm stands straight up and the forearm lies flat.</a:t>
              </a:r>
              <a:endParaRPr b="0" i="0" sz="1300" u="none" cap="none" strike="noStrike">
                <a:solidFill>
                  <a:schemeClr val="dk1"/>
                </a:solidFill>
                <a:latin typeface="Arial"/>
                <a:ea typeface="Arial"/>
                <a:cs typeface="Arial"/>
                <a:sym typeface="Arial"/>
              </a:endParaRPr>
            </a:p>
          </p:txBody>
        </p:sp>
      </p:grpSp>
      <p:pic>
        <p:nvPicPr>
          <p:cNvPr descr="Side view of the robotic arm: the upper arm is vertical and the forearm is horizontal" id="1439" name="Google Shape;1439;p39"/>
          <p:cNvPicPr preferRelativeResize="0"/>
          <p:nvPr/>
        </p:nvPicPr>
        <p:blipFill rotWithShape="1">
          <a:blip r:embed="rId3">
            <a:alphaModFix/>
          </a:blip>
          <a:srcRect b="0" l="0" r="0" t="0"/>
          <a:stretch/>
        </p:blipFill>
        <p:spPr>
          <a:xfrm>
            <a:off x="9377660" y="215900"/>
            <a:ext cx="2001441" cy="1244600"/>
          </a:xfrm>
          <a:prstGeom prst="rect">
            <a:avLst/>
          </a:prstGeom>
          <a:noFill/>
          <a:ln>
            <a:noFill/>
          </a:ln>
        </p:spPr>
      </p:pic>
      <p:pic>
        <p:nvPicPr>
          <p:cNvPr descr="The real arm in the pose of the practice problem; the tip position is the unknown" id="1440" name="Google Shape;1440;p39"/>
          <p:cNvPicPr preferRelativeResize="0"/>
          <p:nvPr/>
        </p:nvPicPr>
        <p:blipFill rotWithShape="1">
          <a:blip r:embed="rId4">
            <a:alphaModFix/>
          </a:blip>
          <a:srcRect b="0" l="0" r="0" t="0"/>
          <a:stretch/>
        </p:blipFill>
        <p:spPr>
          <a:xfrm>
            <a:off x="9372600" y="215900"/>
            <a:ext cx="2006600" cy="1244600"/>
          </a:xfrm>
          <a:prstGeom prst="rect">
            <a:avLst/>
          </a:prstGeom>
          <a:noFill/>
          <a:ln>
            <a:noFill/>
          </a:ln>
        </p:spPr>
      </p:pic>
      <p:sp>
        <p:nvSpPr>
          <p:cNvPr id="1441" name="Google Shape;1441;p39"/>
          <p:cNvSpPr txBox="1"/>
          <p:nvPr/>
        </p:nvSpPr>
        <p:spPr>
          <a:xfrm>
            <a:off x="9167416" y="943650"/>
            <a:ext cx="65405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θS = 0°</a:t>
            </a:r>
            <a:endParaRPr b="0" i="0" sz="1300" u="none" cap="none" strike="noStrike">
              <a:solidFill>
                <a:schemeClr val="dk1"/>
              </a:solidFill>
              <a:latin typeface="Arial"/>
              <a:ea typeface="Arial"/>
              <a:cs typeface="Arial"/>
              <a:sym typeface="Arial"/>
            </a:endParaRPr>
          </a:p>
        </p:txBody>
      </p:sp>
      <p:sp>
        <p:nvSpPr>
          <p:cNvPr id="1442" name="Google Shape;1442;p39"/>
          <p:cNvSpPr txBox="1"/>
          <p:nvPr/>
        </p:nvSpPr>
        <p:spPr>
          <a:xfrm>
            <a:off x="9135666" y="145435"/>
            <a:ext cx="749300" cy="2108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θE = 90°</a:t>
            </a:r>
            <a:endParaRPr b="0" i="0" sz="13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1"/>
                                        </p:tgtEl>
                                        <p:attrNameLst>
                                          <p:attrName>style.visibility</p:attrName>
                                        </p:attrNameLst>
                                      </p:cBhvr>
                                      <p:to>
                                        <p:strVal val="visible"/>
                                      </p:to>
                                    </p:set>
                                    <p:animEffect filter="fade" transition="in">
                                      <p:cBhvr>
                                        <p:cTn dur="500"/>
                                        <p:tgtEl>
                                          <p:spTgt spid="1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40"/>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CHECK WITH CODE</a:t>
            </a:r>
            <a:endParaRPr b="0" i="0" sz="1200" u="none" cap="none" strike="noStrike">
              <a:solidFill>
                <a:schemeClr val="dk1"/>
              </a:solidFill>
              <a:latin typeface="Arial"/>
              <a:ea typeface="Arial"/>
              <a:cs typeface="Arial"/>
              <a:sym typeface="Arial"/>
            </a:endParaRPr>
          </a:p>
        </p:txBody>
      </p:sp>
      <p:sp>
        <p:nvSpPr>
          <p:cNvPr id="1449" name="Google Shape;1449;p40"/>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Check It with Code</a:t>
            </a:r>
            <a:endParaRPr sz="2800"/>
          </a:p>
        </p:txBody>
      </p:sp>
      <p:sp>
        <p:nvSpPr>
          <p:cNvPr id="1450" name="Google Shape;1450;p40"/>
          <p:cNvSpPr/>
          <p:nvPr/>
        </p:nvSpPr>
        <p:spPr>
          <a:xfrm>
            <a:off x="812800" y="1518841"/>
            <a:ext cx="6096000" cy="2969220"/>
          </a:xfrm>
          <a:prstGeom prst="roundRect">
            <a:avLst>
              <a:gd fmla="val 3422"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0"/>
          <p:cNvSpPr txBox="1"/>
          <p:nvPr/>
        </p:nvSpPr>
        <p:spPr>
          <a:xfrm>
            <a:off x="1041400" y="1689584"/>
            <a:ext cx="580796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PYTHON</a:t>
            </a:r>
            <a:endParaRPr b="0" i="0" sz="1200" u="none" cap="none" strike="noStrike">
              <a:solidFill>
                <a:schemeClr val="dk1"/>
              </a:solidFill>
              <a:latin typeface="Arial"/>
              <a:ea typeface="Arial"/>
              <a:cs typeface="Arial"/>
              <a:sym typeface="Arial"/>
            </a:endParaRPr>
          </a:p>
        </p:txBody>
      </p:sp>
      <p:sp>
        <p:nvSpPr>
          <p:cNvPr id="1452" name="Google Shape;1452;p40"/>
          <p:cNvSpPr txBox="1"/>
          <p:nvPr/>
        </p:nvSpPr>
        <p:spPr>
          <a:xfrm>
            <a:off x="1041400" y="19085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93C47D"/>
              </a:buClr>
              <a:buSzPts val="1600"/>
              <a:buFont typeface="Consolas"/>
              <a:buNone/>
            </a:pPr>
            <a:r>
              <a:rPr b="0" i="0" lang="en-US" sz="1600" u="none" cap="none" strike="noStrike">
                <a:solidFill>
                  <a:srgbClr val="93C47D"/>
                </a:solidFill>
                <a:latin typeface="Consolas"/>
                <a:ea typeface="Consolas"/>
                <a:cs typeface="Consolas"/>
                <a:sym typeface="Consolas"/>
              </a:rPr>
              <a:t>from</a:t>
            </a:r>
            <a:r>
              <a:rPr b="0" i="0" lang="en-US" sz="1600" u="none" cap="none" strike="noStrike">
                <a:solidFill>
                  <a:srgbClr val="FFFFFF"/>
                </a:solidFill>
                <a:latin typeface="Consolas"/>
                <a:ea typeface="Consolas"/>
                <a:cs typeface="Consolas"/>
                <a:sym typeface="Consolas"/>
              </a:rPr>
              <a:t> dh_helper </a:t>
            </a:r>
            <a:r>
              <a:rPr b="0" i="0" lang="en-US" sz="1600" u="none" cap="none" strike="noStrike">
                <a:solidFill>
                  <a:srgbClr val="93C47D"/>
                </a:solidFill>
                <a:latin typeface="Consolas"/>
                <a:ea typeface="Consolas"/>
                <a:cs typeface="Consolas"/>
                <a:sym typeface="Consolas"/>
              </a:rPr>
              <a:t>import</a:t>
            </a:r>
            <a:r>
              <a:rPr b="0" i="0" lang="en-US" sz="1600" u="none" cap="none" strike="noStrike">
                <a:solidFill>
                  <a:srgbClr val="FFFFFF"/>
                </a:solidFill>
                <a:latin typeface="Consolas"/>
                <a:ea typeface="Consolas"/>
                <a:cs typeface="Consolas"/>
                <a:sym typeface="Consolas"/>
              </a:rPr>
              <a:t> dh_matrix, position</a:t>
            </a:r>
            <a:endParaRPr b="0" i="0" sz="1600" u="none" cap="none" strike="noStrike">
              <a:solidFill>
                <a:schemeClr val="dk1"/>
              </a:solidFill>
              <a:latin typeface="Arial"/>
              <a:ea typeface="Arial"/>
              <a:cs typeface="Arial"/>
              <a:sym typeface="Arial"/>
            </a:endParaRPr>
          </a:p>
        </p:txBody>
      </p:sp>
      <p:sp>
        <p:nvSpPr>
          <p:cNvPr id="1453" name="Google Shape;1453;p40"/>
          <p:cNvSpPr txBox="1"/>
          <p:nvPr/>
        </p:nvSpPr>
        <p:spPr>
          <a:xfrm>
            <a:off x="1041400" y="22514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thetaB, thetaS, thetaE = </a:t>
            </a:r>
            <a:r>
              <a:rPr b="0" i="0" lang="en-US" sz="1600" u="none" cap="none" strike="noStrike">
                <a:solidFill>
                  <a:srgbClr val="F1C232"/>
                </a:solidFill>
                <a:latin typeface="Consolas"/>
                <a:ea typeface="Consolas"/>
                <a:cs typeface="Consolas"/>
                <a:sym typeface="Consolas"/>
              </a:rPr>
              <a:t>45</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45</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45</a:t>
            </a:r>
            <a:endParaRPr b="0" i="0" sz="1600" u="none" cap="none" strike="noStrike">
              <a:solidFill>
                <a:schemeClr val="dk1"/>
              </a:solidFill>
              <a:latin typeface="Arial"/>
              <a:ea typeface="Arial"/>
              <a:cs typeface="Arial"/>
              <a:sym typeface="Arial"/>
            </a:endParaRPr>
          </a:p>
        </p:txBody>
      </p:sp>
      <p:sp>
        <p:nvSpPr>
          <p:cNvPr id="1454" name="Google Shape;1454;p40"/>
          <p:cNvSpPr txBox="1"/>
          <p:nvPr/>
        </p:nvSpPr>
        <p:spPr>
          <a:xfrm>
            <a:off x="1041400" y="25943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A1 = dh_matrix(thetaB,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90</a:t>
            </a:r>
            <a:r>
              <a:rPr b="0" i="0" lang="en-US" sz="1600" u="none" cap="none" strike="noStrike">
                <a:solidFill>
                  <a:srgbClr val="FFFFFF"/>
                </a:solidFill>
                <a:latin typeface="Consolas"/>
                <a:ea typeface="Consolas"/>
                <a:cs typeface="Consolas"/>
                <a:sym typeface="Consolas"/>
              </a:rPr>
              <a:t>)</a:t>
            </a:r>
            <a:endParaRPr b="0" i="0" sz="1600" u="none" cap="none" strike="noStrike">
              <a:solidFill>
                <a:schemeClr val="dk1"/>
              </a:solidFill>
              <a:latin typeface="Arial"/>
              <a:ea typeface="Arial"/>
              <a:cs typeface="Arial"/>
              <a:sym typeface="Arial"/>
            </a:endParaRPr>
          </a:p>
        </p:txBody>
      </p:sp>
      <p:sp>
        <p:nvSpPr>
          <p:cNvPr id="1455" name="Google Shape;1455;p40"/>
          <p:cNvSpPr txBox="1"/>
          <p:nvPr/>
        </p:nvSpPr>
        <p:spPr>
          <a:xfrm>
            <a:off x="1041400" y="29372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A2 = dh_matrix(</a:t>
            </a:r>
            <a:r>
              <a:rPr b="0" i="0" lang="en-US" sz="1600" u="none" cap="none" strike="noStrike">
                <a:solidFill>
                  <a:srgbClr val="F1C232"/>
                </a:solidFill>
                <a:latin typeface="Consolas"/>
                <a:ea typeface="Consolas"/>
                <a:cs typeface="Consolas"/>
                <a:sym typeface="Consolas"/>
              </a:rPr>
              <a:t>90</a:t>
            </a:r>
            <a:r>
              <a:rPr b="0" i="0" lang="en-US" sz="1600" u="none" cap="none" strike="noStrike">
                <a:solidFill>
                  <a:srgbClr val="FFFFFF"/>
                </a:solidFill>
                <a:latin typeface="Consolas"/>
                <a:ea typeface="Consolas"/>
                <a:cs typeface="Consolas"/>
                <a:sym typeface="Consolas"/>
              </a:rPr>
              <a:t> - thetaS,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250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a:t>
            </a:r>
            <a:endParaRPr b="0" i="0" sz="1600" u="none" cap="none" strike="noStrike">
              <a:solidFill>
                <a:schemeClr val="dk1"/>
              </a:solidFill>
              <a:latin typeface="Arial"/>
              <a:ea typeface="Arial"/>
              <a:cs typeface="Arial"/>
              <a:sym typeface="Arial"/>
            </a:endParaRPr>
          </a:p>
        </p:txBody>
      </p:sp>
      <p:sp>
        <p:nvSpPr>
          <p:cNvPr id="1456" name="Google Shape;1456;p40"/>
          <p:cNvSpPr txBox="1"/>
          <p:nvPr/>
        </p:nvSpPr>
        <p:spPr>
          <a:xfrm>
            <a:off x="1041400" y="32801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A3 = dh_matrix(-thetaE,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250</a:t>
            </a:r>
            <a:r>
              <a:rPr b="0" i="0" lang="en-US" sz="1600" u="none" cap="none" strike="noStrike">
                <a:solidFill>
                  <a:srgbClr val="FFFFFF"/>
                </a:solidFill>
                <a:latin typeface="Consolas"/>
                <a:ea typeface="Consolas"/>
                <a:cs typeface="Consolas"/>
                <a:sym typeface="Consolas"/>
              </a:rPr>
              <a:t>, </a:t>
            </a:r>
            <a:r>
              <a:rPr b="0" i="0" lang="en-US" sz="1600" u="none" cap="none" strike="noStrike">
                <a:solidFill>
                  <a:srgbClr val="F1C232"/>
                </a:solidFill>
                <a:latin typeface="Consolas"/>
                <a:ea typeface="Consolas"/>
                <a:cs typeface="Consolas"/>
                <a:sym typeface="Consolas"/>
              </a:rPr>
              <a:t>0</a:t>
            </a:r>
            <a:r>
              <a:rPr b="0" i="0" lang="en-US" sz="1600" u="none" cap="none" strike="noStrike">
                <a:solidFill>
                  <a:srgbClr val="FFFFFF"/>
                </a:solidFill>
                <a:latin typeface="Consolas"/>
                <a:ea typeface="Consolas"/>
                <a:cs typeface="Consolas"/>
                <a:sym typeface="Consolas"/>
              </a:rPr>
              <a:t>)</a:t>
            </a:r>
            <a:endParaRPr b="0" i="0" sz="1600" u="none" cap="none" strike="noStrike">
              <a:solidFill>
                <a:schemeClr val="dk1"/>
              </a:solidFill>
              <a:latin typeface="Arial"/>
              <a:ea typeface="Arial"/>
              <a:cs typeface="Arial"/>
              <a:sym typeface="Arial"/>
            </a:endParaRPr>
          </a:p>
        </p:txBody>
      </p:sp>
      <p:sp>
        <p:nvSpPr>
          <p:cNvPr id="1457" name="Google Shape;1457;p40"/>
          <p:cNvSpPr txBox="1"/>
          <p:nvPr/>
        </p:nvSpPr>
        <p:spPr>
          <a:xfrm>
            <a:off x="1041400" y="36230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T = A1 @ A2 @ A3</a:t>
            </a:r>
            <a:endParaRPr b="0" i="0" sz="1600" u="none" cap="none" strike="noStrike">
              <a:solidFill>
                <a:schemeClr val="dk1"/>
              </a:solidFill>
              <a:latin typeface="Arial"/>
              <a:ea typeface="Arial"/>
              <a:cs typeface="Arial"/>
              <a:sym typeface="Arial"/>
            </a:endParaRPr>
          </a:p>
        </p:txBody>
      </p:sp>
      <p:sp>
        <p:nvSpPr>
          <p:cNvPr id="1458" name="Google Shape;1458;p40"/>
          <p:cNvSpPr txBox="1"/>
          <p:nvPr/>
        </p:nvSpPr>
        <p:spPr>
          <a:xfrm>
            <a:off x="1041400" y="3965969"/>
            <a:ext cx="5638800" cy="34429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600"/>
              <a:buFont typeface="Consolas"/>
              <a:buNone/>
            </a:pPr>
            <a:r>
              <a:rPr b="0" i="0" lang="en-US" sz="1600" u="none" cap="none" strike="noStrike">
                <a:solidFill>
                  <a:srgbClr val="FFFFFF"/>
                </a:solidFill>
                <a:latin typeface="Consolas"/>
                <a:ea typeface="Consolas"/>
                <a:cs typeface="Consolas"/>
                <a:sym typeface="Consolas"/>
              </a:rPr>
              <a:t>print(position(T))</a:t>
            </a:r>
            <a:endParaRPr b="0" i="0" sz="1600" u="none" cap="none" strike="noStrike">
              <a:solidFill>
                <a:schemeClr val="dk1"/>
              </a:solidFill>
              <a:latin typeface="Arial"/>
              <a:ea typeface="Arial"/>
              <a:cs typeface="Arial"/>
              <a:sym typeface="Arial"/>
            </a:endParaRPr>
          </a:p>
        </p:txBody>
      </p:sp>
      <p:sp>
        <p:nvSpPr>
          <p:cNvPr id="1459" name="Google Shape;1459;p40"/>
          <p:cNvSpPr/>
          <p:nvPr/>
        </p:nvSpPr>
        <p:spPr>
          <a:xfrm>
            <a:off x="7213600" y="1518841"/>
            <a:ext cx="4165600" cy="1170781"/>
          </a:xfrm>
          <a:prstGeom prst="roundRect">
            <a:avLst>
              <a:gd fmla="val 8678"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0"/>
          <p:cNvSpPr txBox="1"/>
          <p:nvPr/>
        </p:nvSpPr>
        <p:spPr>
          <a:xfrm>
            <a:off x="7391400" y="1651484"/>
            <a:ext cx="39243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7A8"/>
              </a:buClr>
              <a:buSzPts val="1200"/>
              <a:buFont typeface="Arial"/>
              <a:buNone/>
            </a:pPr>
            <a:r>
              <a:rPr b="1" i="0" lang="en-US" sz="1200" u="none" cap="none" strike="noStrike">
                <a:solidFill>
                  <a:srgbClr val="B6D7A8"/>
                </a:solidFill>
                <a:latin typeface="Arial"/>
                <a:ea typeface="Arial"/>
                <a:cs typeface="Arial"/>
                <a:sym typeface="Arial"/>
              </a:rPr>
              <a:t>OUTPUT</a:t>
            </a:r>
            <a:endParaRPr b="0" i="0" sz="1200" u="none" cap="none" strike="noStrike">
              <a:solidFill>
                <a:schemeClr val="dk1"/>
              </a:solidFill>
              <a:latin typeface="Arial"/>
              <a:ea typeface="Arial"/>
              <a:cs typeface="Arial"/>
              <a:sym typeface="Arial"/>
            </a:endParaRPr>
          </a:p>
        </p:txBody>
      </p:sp>
      <p:sp>
        <p:nvSpPr>
          <p:cNvPr id="1461" name="Google Shape;1461;p40"/>
          <p:cNvSpPr txBox="1"/>
          <p:nvPr/>
        </p:nvSpPr>
        <p:spPr>
          <a:xfrm>
            <a:off x="7391400" y="1898711"/>
            <a:ext cx="3810000" cy="35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800"/>
              <a:buFont typeface="Consolas"/>
              <a:buNone/>
            </a:pPr>
            <a:r>
              <a:rPr b="1" i="0" lang="en-US" sz="1800" u="none" cap="none" strike="noStrike">
                <a:solidFill>
                  <a:srgbClr val="FFFFFF"/>
                </a:solidFill>
                <a:latin typeface="Consolas"/>
                <a:ea typeface="Consolas"/>
                <a:cs typeface="Consolas"/>
                <a:sym typeface="Consolas"/>
              </a:rPr>
              <a:t>[301.78, 301.78, 176.78]</a:t>
            </a:r>
            <a:endParaRPr b="0" i="0" sz="1800" u="none" cap="none" strike="noStrike">
              <a:solidFill>
                <a:schemeClr val="dk1"/>
              </a:solidFill>
              <a:latin typeface="Arial"/>
              <a:ea typeface="Arial"/>
              <a:cs typeface="Arial"/>
              <a:sym typeface="Arial"/>
            </a:endParaRPr>
          </a:p>
        </p:txBody>
      </p:sp>
      <p:sp>
        <p:nvSpPr>
          <p:cNvPr id="1462" name="Google Shape;1462;p40"/>
          <p:cNvSpPr txBox="1"/>
          <p:nvPr/>
        </p:nvSpPr>
        <p:spPr>
          <a:xfrm>
            <a:off x="7391400" y="2310676"/>
            <a:ext cx="3924300"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300"/>
              <a:buFont typeface="Arial"/>
              <a:buNone/>
            </a:pPr>
            <a:r>
              <a:rPr b="0" i="0" lang="en-US" sz="1300" u="none" cap="none" strike="noStrike">
                <a:solidFill>
                  <a:srgbClr val="CCCCCC"/>
                </a:solidFill>
                <a:latin typeface="Arial"/>
                <a:ea typeface="Arial"/>
                <a:cs typeface="Arial"/>
                <a:sym typeface="Arial"/>
              </a:rPr>
              <a:t>The same as the hand calculation.</a:t>
            </a:r>
            <a:endParaRPr b="0" i="0" sz="1300" u="none" cap="none" strike="noStrike">
              <a:solidFill>
                <a:schemeClr val="dk1"/>
              </a:solidFill>
              <a:latin typeface="Arial"/>
              <a:ea typeface="Arial"/>
              <a:cs typeface="Arial"/>
              <a:sym typeface="Arial"/>
            </a:endParaRPr>
          </a:p>
        </p:txBody>
      </p:sp>
      <p:sp>
        <p:nvSpPr>
          <p:cNvPr id="1463" name="Google Shape;1463;p40"/>
          <p:cNvSpPr/>
          <p:nvPr/>
        </p:nvSpPr>
        <p:spPr>
          <a:xfrm>
            <a:off x="7216775" y="2794397"/>
            <a:ext cx="4159250" cy="1045170"/>
          </a:xfrm>
          <a:prstGeom prst="roundRect">
            <a:avLst>
              <a:gd fmla="val 9417"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0"/>
          <p:cNvSpPr txBox="1"/>
          <p:nvPr/>
        </p:nvSpPr>
        <p:spPr>
          <a:xfrm>
            <a:off x="7397750" y="2930215"/>
            <a:ext cx="391121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CHECK YOUR ANSWERS</a:t>
            </a:r>
            <a:endParaRPr b="0" i="0" sz="1200" u="none" cap="none" strike="noStrike">
              <a:solidFill>
                <a:schemeClr val="dk1"/>
              </a:solidFill>
              <a:latin typeface="Arial"/>
              <a:ea typeface="Arial"/>
              <a:cs typeface="Arial"/>
              <a:sym typeface="Arial"/>
            </a:endParaRPr>
          </a:p>
        </p:txBody>
      </p:sp>
      <p:sp>
        <p:nvSpPr>
          <p:cNvPr id="1465" name="Google Shape;1465;p40"/>
          <p:cNvSpPr txBox="1"/>
          <p:nvPr/>
        </p:nvSpPr>
        <p:spPr>
          <a:xfrm>
            <a:off x="7397750" y="3184609"/>
            <a:ext cx="3898900" cy="5120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Change the three angles in line 2 to the values from Try It Yourself #4 and #5.</a:t>
            </a:r>
            <a:endParaRPr b="0" i="0" sz="1500" u="none" cap="none" strike="noStrike">
              <a:solidFill>
                <a:schemeClr val="dk1"/>
              </a:solidFill>
              <a:latin typeface="Arial"/>
              <a:ea typeface="Arial"/>
              <a:cs typeface="Arial"/>
              <a:sym typeface="Arial"/>
            </a:endParaRPr>
          </a:p>
        </p:txBody>
      </p:sp>
      <p:sp>
        <p:nvSpPr>
          <p:cNvPr id="1466" name="Google Shape;1466;p40"/>
          <p:cNvSpPr/>
          <p:nvPr/>
        </p:nvSpPr>
        <p:spPr>
          <a:xfrm>
            <a:off x="7216775" y="3947517"/>
            <a:ext cx="4159250" cy="1243112"/>
          </a:xfrm>
          <a:prstGeom prst="roundRect">
            <a:avLst>
              <a:gd fmla="val 7918" name="adj"/>
            </a:avLst>
          </a:prstGeom>
          <a:solidFill>
            <a:srgbClr val="FFFFF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0"/>
          <p:cNvSpPr txBox="1"/>
          <p:nvPr/>
        </p:nvSpPr>
        <p:spPr>
          <a:xfrm>
            <a:off x="7397750" y="4083336"/>
            <a:ext cx="3911219"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WHAT EACH PART DOES</a:t>
            </a:r>
            <a:endParaRPr b="0" i="0" sz="1200" u="none" cap="none" strike="noStrike">
              <a:solidFill>
                <a:schemeClr val="dk1"/>
              </a:solidFill>
              <a:latin typeface="Arial"/>
              <a:ea typeface="Arial"/>
              <a:cs typeface="Arial"/>
              <a:sym typeface="Arial"/>
            </a:endParaRPr>
          </a:p>
        </p:txBody>
      </p:sp>
      <p:sp>
        <p:nvSpPr>
          <p:cNvPr id="1468" name="Google Shape;1468;p40"/>
          <p:cNvSpPr txBox="1"/>
          <p:nvPr/>
        </p:nvSpPr>
        <p:spPr>
          <a:xfrm>
            <a:off x="7397750" y="4332498"/>
            <a:ext cx="3949192" cy="71525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dh_matrix builds one matrix from one row of the table. @ multiplies matrices. position reads the last column.</a:t>
            </a:r>
            <a:endParaRPr b="0" i="0" sz="1400" u="none" cap="none" strike="noStrike">
              <a:solidFill>
                <a:schemeClr val="dk1"/>
              </a:solidFill>
              <a:latin typeface="Arial"/>
              <a:ea typeface="Arial"/>
              <a:cs typeface="Arial"/>
              <a:sym typeface="Arial"/>
            </a:endParaRPr>
          </a:p>
        </p:txBody>
      </p:sp>
      <p:pic>
        <p:nvPicPr>
          <p:cNvPr descr="Three-quarter view of the robotic arm on its base with the upper arm raised and the forearm horizontal" id="1469" name="Google Shape;1469;p40"/>
          <p:cNvPicPr preferRelativeResize="0"/>
          <p:nvPr/>
        </p:nvPicPr>
        <p:blipFill rotWithShape="1">
          <a:blip r:embed="rId3">
            <a:alphaModFix/>
          </a:blip>
          <a:srcRect b="0" l="0" r="0" t="0"/>
          <a:stretch/>
        </p:blipFill>
        <p:spPr>
          <a:xfrm>
            <a:off x="9198570" y="215900"/>
            <a:ext cx="2180530" cy="1244600"/>
          </a:xfrm>
          <a:prstGeom prst="rect">
            <a:avLst/>
          </a:prstGeom>
          <a:noFill/>
          <a:ln>
            <a:noFill/>
          </a:ln>
        </p:spPr>
      </p:pic>
      <p:pic>
        <p:nvPicPr>
          <p:cNvPr descr="Three-quarter view of the real arm on its base with its joints marked" id="1470" name="Google Shape;1470;p40"/>
          <p:cNvPicPr preferRelativeResize="0"/>
          <p:nvPr/>
        </p:nvPicPr>
        <p:blipFill rotWithShape="1">
          <a:blip r:embed="rId4">
            <a:alphaModFix/>
          </a:blip>
          <a:srcRect b="0" l="0" r="0" t="0"/>
          <a:stretch/>
        </p:blipFill>
        <p:spPr>
          <a:xfrm>
            <a:off x="9194800" y="215900"/>
            <a:ext cx="2184400" cy="1244600"/>
          </a:xfrm>
          <a:prstGeom prst="rect">
            <a:avLst/>
          </a:prstGeom>
          <a:noFill/>
          <a:ln>
            <a:noFill/>
          </a:ln>
        </p:spPr>
      </p:pic>
      <p:sp>
        <p:nvSpPr>
          <p:cNvPr id="1471" name="Google Shape;1471;p40"/>
          <p:cNvSpPr txBox="1"/>
          <p:nvPr/>
        </p:nvSpPr>
        <p:spPr>
          <a:xfrm>
            <a:off x="10486281" y="74295"/>
            <a:ext cx="660400" cy="2108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0000"/>
              </a:buClr>
              <a:buSzPts val="1300"/>
              <a:buFont typeface="Arial"/>
              <a:buNone/>
            </a:pPr>
            <a:r>
              <a:rPr b="1" i="0" lang="en-US" sz="1300" u="none" cap="none" strike="noStrike">
                <a:solidFill>
                  <a:srgbClr val="FF0000"/>
                </a:solidFill>
                <a:latin typeface="Arial"/>
                <a:ea typeface="Arial"/>
                <a:cs typeface="Arial"/>
                <a:sym typeface="Arial"/>
              </a:rPr>
              <a:t>(x, y, z)</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41"/>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COMPARISON</a:t>
            </a:r>
            <a:endParaRPr b="0" i="0" sz="1200" u="none" cap="none" strike="noStrike">
              <a:solidFill>
                <a:schemeClr val="dk1"/>
              </a:solidFill>
              <a:latin typeface="Arial"/>
              <a:ea typeface="Arial"/>
              <a:cs typeface="Arial"/>
              <a:sym typeface="Arial"/>
            </a:endParaRPr>
          </a:p>
        </p:txBody>
      </p:sp>
      <p:sp>
        <p:nvSpPr>
          <p:cNvPr id="1478" name="Google Shape;1478;p41"/>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Trigonometry vs. DH Matrices</a:t>
            </a:r>
            <a:endParaRPr sz="2800"/>
          </a:p>
        </p:txBody>
      </p:sp>
      <p:sp>
        <p:nvSpPr>
          <p:cNvPr id="1479" name="Google Shape;1479;p41"/>
          <p:cNvSpPr/>
          <p:nvPr/>
        </p:nvSpPr>
        <p:spPr>
          <a:xfrm>
            <a:off x="815975" y="1522016"/>
            <a:ext cx="5175250" cy="2701230"/>
          </a:xfrm>
          <a:prstGeom prst="roundRect">
            <a:avLst>
              <a:gd fmla="val 3644"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1"/>
          <p:cNvSpPr txBox="1"/>
          <p:nvPr/>
        </p:nvSpPr>
        <p:spPr>
          <a:xfrm>
            <a:off x="1047750" y="1732925"/>
            <a:ext cx="4853051"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1" i="0" lang="en-US" sz="1300" u="none" cap="none" strike="noStrike">
                <a:solidFill>
                  <a:srgbClr val="666666"/>
                </a:solidFill>
                <a:latin typeface="Arial"/>
                <a:ea typeface="Arial"/>
                <a:cs typeface="Arial"/>
                <a:sym typeface="Arial"/>
              </a:rPr>
              <a:t>LESSON 3 · TRIGONOMETRY</a:t>
            </a:r>
            <a:endParaRPr b="0" i="0" sz="1300" u="none" cap="none" strike="noStrike">
              <a:solidFill>
                <a:schemeClr val="dk1"/>
              </a:solidFill>
              <a:latin typeface="Arial"/>
              <a:ea typeface="Arial"/>
              <a:cs typeface="Arial"/>
              <a:sym typeface="Arial"/>
            </a:endParaRPr>
          </a:p>
        </p:txBody>
      </p:sp>
      <p:sp>
        <p:nvSpPr>
          <p:cNvPr id="1481" name="Google Shape;1481;p41"/>
          <p:cNvSpPr/>
          <p:nvPr/>
        </p:nvSpPr>
        <p:spPr>
          <a:xfrm>
            <a:off x="1047750" y="2149971"/>
            <a:ext cx="330200" cy="3302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1"/>
          <p:cNvSpPr txBox="1"/>
          <p:nvPr/>
        </p:nvSpPr>
        <p:spPr>
          <a:xfrm>
            <a:off x="1042797" y="2138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83" name="Google Shape;1483;p41"/>
          <p:cNvSpPr txBox="1"/>
          <p:nvPr/>
        </p:nvSpPr>
        <p:spPr>
          <a:xfrm>
            <a:off x="1492250" y="2151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Quick for one or two joints</a:t>
            </a:r>
            <a:endParaRPr b="0" i="0" sz="1800" u="none" cap="none" strike="noStrike">
              <a:solidFill>
                <a:schemeClr val="dk1"/>
              </a:solidFill>
              <a:latin typeface="Arial"/>
              <a:ea typeface="Arial"/>
              <a:cs typeface="Arial"/>
              <a:sym typeface="Arial"/>
            </a:endParaRPr>
          </a:p>
        </p:txBody>
      </p:sp>
      <p:sp>
        <p:nvSpPr>
          <p:cNvPr id="1484" name="Google Shape;1484;p41"/>
          <p:cNvSpPr/>
          <p:nvPr/>
        </p:nvSpPr>
        <p:spPr>
          <a:xfrm>
            <a:off x="1047750" y="2657971"/>
            <a:ext cx="330200" cy="3302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1"/>
          <p:cNvSpPr txBox="1"/>
          <p:nvPr/>
        </p:nvSpPr>
        <p:spPr>
          <a:xfrm>
            <a:off x="1042797" y="2646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86" name="Google Shape;1486;p41"/>
          <p:cNvSpPr txBox="1"/>
          <p:nvPr/>
        </p:nvSpPr>
        <p:spPr>
          <a:xfrm>
            <a:off x="1492250" y="2659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Easy to picture with triangles</a:t>
            </a:r>
            <a:endParaRPr b="0" i="0" sz="1800" u="none" cap="none" strike="noStrike">
              <a:solidFill>
                <a:schemeClr val="dk1"/>
              </a:solidFill>
              <a:latin typeface="Arial"/>
              <a:ea typeface="Arial"/>
              <a:cs typeface="Arial"/>
              <a:sym typeface="Arial"/>
            </a:endParaRPr>
          </a:p>
        </p:txBody>
      </p:sp>
      <p:sp>
        <p:nvSpPr>
          <p:cNvPr id="1487" name="Google Shape;1487;p41"/>
          <p:cNvSpPr/>
          <p:nvPr/>
        </p:nvSpPr>
        <p:spPr>
          <a:xfrm>
            <a:off x="1047750" y="3165971"/>
            <a:ext cx="330200" cy="3302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1"/>
          <p:cNvSpPr txBox="1"/>
          <p:nvPr/>
        </p:nvSpPr>
        <p:spPr>
          <a:xfrm>
            <a:off x="1042797" y="3154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89" name="Google Shape;1489;p41"/>
          <p:cNvSpPr txBox="1"/>
          <p:nvPr/>
        </p:nvSpPr>
        <p:spPr>
          <a:xfrm>
            <a:off x="1492250" y="3167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New triangles for every new joint</a:t>
            </a:r>
            <a:endParaRPr b="0" i="0" sz="1800" u="none" cap="none" strike="noStrike">
              <a:solidFill>
                <a:schemeClr val="dk1"/>
              </a:solidFill>
              <a:latin typeface="Arial"/>
              <a:ea typeface="Arial"/>
              <a:cs typeface="Arial"/>
              <a:sym typeface="Arial"/>
            </a:endParaRPr>
          </a:p>
        </p:txBody>
      </p:sp>
      <p:sp>
        <p:nvSpPr>
          <p:cNvPr id="1490" name="Google Shape;1490;p41"/>
          <p:cNvSpPr/>
          <p:nvPr/>
        </p:nvSpPr>
        <p:spPr>
          <a:xfrm>
            <a:off x="1047750" y="3673971"/>
            <a:ext cx="330200" cy="3302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1"/>
          <p:cNvSpPr txBox="1"/>
          <p:nvPr/>
        </p:nvSpPr>
        <p:spPr>
          <a:xfrm>
            <a:off x="1042797" y="3662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92" name="Google Shape;1492;p41"/>
          <p:cNvSpPr txBox="1"/>
          <p:nvPr/>
        </p:nvSpPr>
        <p:spPr>
          <a:xfrm>
            <a:off x="1492250" y="3675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Gets messy when the arm tilts in 3D</a:t>
            </a:r>
            <a:endParaRPr b="0" i="0" sz="1800" u="none" cap="none" strike="noStrike">
              <a:solidFill>
                <a:schemeClr val="dk1"/>
              </a:solidFill>
              <a:latin typeface="Arial"/>
              <a:ea typeface="Arial"/>
              <a:cs typeface="Arial"/>
              <a:sym typeface="Arial"/>
            </a:endParaRPr>
          </a:p>
        </p:txBody>
      </p:sp>
      <p:sp>
        <p:nvSpPr>
          <p:cNvPr id="1493" name="Google Shape;1493;p41"/>
          <p:cNvSpPr/>
          <p:nvPr/>
        </p:nvSpPr>
        <p:spPr>
          <a:xfrm>
            <a:off x="6200775" y="1522016"/>
            <a:ext cx="5175250" cy="2701230"/>
          </a:xfrm>
          <a:prstGeom prst="roundRect">
            <a:avLst>
              <a:gd fmla="val 3644"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1"/>
          <p:cNvSpPr txBox="1"/>
          <p:nvPr/>
        </p:nvSpPr>
        <p:spPr>
          <a:xfrm>
            <a:off x="6432550" y="1732925"/>
            <a:ext cx="4853051" cy="231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300"/>
              <a:buFont typeface="Arial"/>
              <a:buNone/>
            </a:pPr>
            <a:r>
              <a:rPr b="1" i="0" lang="en-US" sz="1300" u="none" cap="none" strike="noStrike">
                <a:solidFill>
                  <a:srgbClr val="666666"/>
                </a:solidFill>
                <a:latin typeface="Arial"/>
                <a:ea typeface="Arial"/>
                <a:cs typeface="Arial"/>
                <a:sym typeface="Arial"/>
              </a:rPr>
              <a:t>LESSON 4 · DH MATRICES</a:t>
            </a:r>
            <a:endParaRPr b="0" i="0" sz="1300" u="none" cap="none" strike="noStrike">
              <a:solidFill>
                <a:schemeClr val="dk1"/>
              </a:solidFill>
              <a:latin typeface="Arial"/>
              <a:ea typeface="Arial"/>
              <a:cs typeface="Arial"/>
              <a:sym typeface="Arial"/>
            </a:endParaRPr>
          </a:p>
        </p:txBody>
      </p:sp>
      <p:sp>
        <p:nvSpPr>
          <p:cNvPr id="1495" name="Google Shape;1495;p41"/>
          <p:cNvSpPr/>
          <p:nvPr/>
        </p:nvSpPr>
        <p:spPr>
          <a:xfrm>
            <a:off x="6432550" y="2149971"/>
            <a:ext cx="330200" cy="3302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1"/>
          <p:cNvSpPr txBox="1"/>
          <p:nvPr/>
        </p:nvSpPr>
        <p:spPr>
          <a:xfrm>
            <a:off x="6427597" y="2138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497" name="Google Shape;1497;p41"/>
          <p:cNvSpPr txBox="1"/>
          <p:nvPr/>
        </p:nvSpPr>
        <p:spPr>
          <a:xfrm>
            <a:off x="6877050" y="2151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The same recipe for every joint</a:t>
            </a:r>
            <a:endParaRPr b="0" i="0" sz="1800" u="none" cap="none" strike="noStrike">
              <a:solidFill>
                <a:schemeClr val="dk1"/>
              </a:solidFill>
              <a:latin typeface="Arial"/>
              <a:ea typeface="Arial"/>
              <a:cs typeface="Arial"/>
              <a:sym typeface="Arial"/>
            </a:endParaRPr>
          </a:p>
        </p:txBody>
      </p:sp>
      <p:sp>
        <p:nvSpPr>
          <p:cNvPr id="1498" name="Google Shape;1498;p41"/>
          <p:cNvSpPr/>
          <p:nvPr/>
        </p:nvSpPr>
        <p:spPr>
          <a:xfrm>
            <a:off x="6432550" y="2657971"/>
            <a:ext cx="330200" cy="3302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1"/>
          <p:cNvSpPr txBox="1"/>
          <p:nvPr/>
        </p:nvSpPr>
        <p:spPr>
          <a:xfrm>
            <a:off x="6427597" y="2646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500" name="Google Shape;1500;p41"/>
          <p:cNvSpPr txBox="1"/>
          <p:nvPr/>
        </p:nvSpPr>
        <p:spPr>
          <a:xfrm>
            <a:off x="6877050" y="2659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 computer can do the multiplying</a:t>
            </a:r>
            <a:endParaRPr b="0" i="0" sz="1800" u="none" cap="none" strike="noStrike">
              <a:solidFill>
                <a:schemeClr val="dk1"/>
              </a:solidFill>
              <a:latin typeface="Arial"/>
              <a:ea typeface="Arial"/>
              <a:cs typeface="Arial"/>
              <a:sym typeface="Arial"/>
            </a:endParaRPr>
          </a:p>
        </p:txBody>
      </p:sp>
      <p:sp>
        <p:nvSpPr>
          <p:cNvPr id="1501" name="Google Shape;1501;p41"/>
          <p:cNvSpPr/>
          <p:nvPr/>
        </p:nvSpPr>
        <p:spPr>
          <a:xfrm>
            <a:off x="6432550" y="3165971"/>
            <a:ext cx="330200" cy="3302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1"/>
          <p:cNvSpPr txBox="1"/>
          <p:nvPr/>
        </p:nvSpPr>
        <p:spPr>
          <a:xfrm>
            <a:off x="6427597" y="3154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503" name="Google Shape;1503;p41"/>
          <p:cNvSpPr txBox="1"/>
          <p:nvPr/>
        </p:nvSpPr>
        <p:spPr>
          <a:xfrm>
            <a:off x="6877050" y="3167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 standard way to describe robot arms</a:t>
            </a:r>
            <a:endParaRPr b="0" i="0" sz="1800" u="none" cap="none" strike="noStrike">
              <a:solidFill>
                <a:schemeClr val="dk1"/>
              </a:solidFill>
              <a:latin typeface="Arial"/>
              <a:ea typeface="Arial"/>
              <a:cs typeface="Arial"/>
              <a:sym typeface="Arial"/>
            </a:endParaRPr>
          </a:p>
        </p:txBody>
      </p:sp>
      <p:sp>
        <p:nvSpPr>
          <p:cNvPr id="1504" name="Google Shape;1504;p41"/>
          <p:cNvSpPr/>
          <p:nvPr/>
        </p:nvSpPr>
        <p:spPr>
          <a:xfrm>
            <a:off x="6432550" y="3673971"/>
            <a:ext cx="330200" cy="3302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1"/>
          <p:cNvSpPr txBox="1"/>
          <p:nvPr/>
        </p:nvSpPr>
        <p:spPr>
          <a:xfrm>
            <a:off x="6427597" y="3662873"/>
            <a:ext cx="340106" cy="33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1506" name="Google Shape;1506;p41"/>
          <p:cNvSpPr txBox="1"/>
          <p:nvPr/>
        </p:nvSpPr>
        <p:spPr>
          <a:xfrm>
            <a:off x="6877050" y="3675392"/>
            <a:ext cx="4395216" cy="29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More setup: frames and a table</a:t>
            </a:r>
            <a:endParaRPr b="0" i="0" sz="1800" u="none" cap="none" strike="noStrike">
              <a:solidFill>
                <a:schemeClr val="dk1"/>
              </a:solidFill>
              <a:latin typeface="Arial"/>
              <a:ea typeface="Arial"/>
              <a:cs typeface="Arial"/>
              <a:sym typeface="Arial"/>
            </a:endParaRPr>
          </a:p>
        </p:txBody>
      </p:sp>
      <p:sp>
        <p:nvSpPr>
          <p:cNvPr id="1507" name="Google Shape;1507;p41"/>
          <p:cNvSpPr/>
          <p:nvPr/>
        </p:nvSpPr>
        <p:spPr>
          <a:xfrm>
            <a:off x="812800" y="4429621"/>
            <a:ext cx="10566400" cy="711200"/>
          </a:xfrm>
          <a:prstGeom prst="roundRect">
            <a:avLst>
              <a:gd fmla="val 14286"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1"/>
          <p:cNvSpPr txBox="1"/>
          <p:nvPr/>
        </p:nvSpPr>
        <p:spPr>
          <a:xfrm>
            <a:off x="1041400" y="4610444"/>
            <a:ext cx="103632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Both methods give the same answer. DH keeps working as the arm gets bigger.</a:t>
            </a:r>
            <a:endParaRPr b="0" i="0" sz="2000" u="none" cap="none" strike="noStrike">
              <a:solidFill>
                <a:schemeClr val="dk1"/>
              </a:solidFill>
              <a:latin typeface="Arial"/>
              <a:ea typeface="Arial"/>
              <a:cs typeface="Arial"/>
              <a:sym typeface="Arial"/>
            </a:endParaRPr>
          </a:p>
        </p:txBody>
      </p:sp>
      <p:pic>
        <p:nvPicPr>
          <p:cNvPr descr="Three-quarter view of the robotic arm on its base with the upper arm raised and the forearm horizontal" id="1509" name="Google Shape;1509;p41"/>
          <p:cNvPicPr preferRelativeResize="0"/>
          <p:nvPr/>
        </p:nvPicPr>
        <p:blipFill rotWithShape="1">
          <a:blip r:embed="rId3">
            <a:alphaModFix/>
          </a:blip>
          <a:srcRect b="0" l="0" r="0" t="0"/>
          <a:stretch/>
        </p:blipFill>
        <p:spPr>
          <a:xfrm>
            <a:off x="9198570" y="215900"/>
            <a:ext cx="2180530" cy="1244600"/>
          </a:xfrm>
          <a:prstGeom prst="rect">
            <a:avLst/>
          </a:prstGeom>
          <a:noFill/>
          <a:ln>
            <a:noFill/>
          </a:ln>
        </p:spPr>
      </p:pic>
      <p:pic>
        <p:nvPicPr>
          <p:cNvPr descr="Three-quarter view of the real arm on its base with its joints marked" id="1510" name="Google Shape;1510;p41"/>
          <p:cNvPicPr preferRelativeResize="0"/>
          <p:nvPr/>
        </p:nvPicPr>
        <p:blipFill rotWithShape="1">
          <a:blip r:embed="rId4">
            <a:alphaModFix/>
          </a:blip>
          <a:srcRect b="0" l="0" r="0" t="0"/>
          <a:stretch/>
        </p:blipFill>
        <p:spPr>
          <a:xfrm>
            <a:off x="9194800" y="215900"/>
            <a:ext cx="2184400" cy="1244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42"/>
          <p:cNvSpPr txBox="1"/>
          <p:nvPr/>
        </p:nvSpPr>
        <p:spPr>
          <a:xfrm>
            <a:off x="812800" y="653343"/>
            <a:ext cx="10820400"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761D"/>
              </a:buClr>
              <a:buSzPts val="1200"/>
              <a:buFont typeface="Arial"/>
              <a:buNone/>
            </a:pPr>
            <a:r>
              <a:rPr b="1" i="0" lang="en-US" sz="1200" u="none" cap="none" strike="noStrike">
                <a:solidFill>
                  <a:srgbClr val="38761D"/>
                </a:solidFill>
                <a:latin typeface="Arial"/>
                <a:ea typeface="Arial"/>
                <a:cs typeface="Arial"/>
                <a:sym typeface="Arial"/>
              </a:rPr>
              <a:t>DAY 2 · WRAP-UP</a:t>
            </a:r>
            <a:endParaRPr b="0" i="0" sz="1200" u="none" cap="none" strike="noStrike">
              <a:solidFill>
                <a:schemeClr val="dk1"/>
              </a:solidFill>
              <a:latin typeface="Arial"/>
              <a:ea typeface="Arial"/>
              <a:cs typeface="Arial"/>
              <a:sym typeface="Arial"/>
            </a:endParaRPr>
          </a:p>
        </p:txBody>
      </p:sp>
      <p:sp>
        <p:nvSpPr>
          <p:cNvPr id="1517" name="Google Shape;1517;p42"/>
          <p:cNvSpPr txBox="1"/>
          <p:nvPr>
            <p:ph type="title"/>
          </p:nvPr>
        </p:nvSpPr>
        <p:spPr>
          <a:xfrm>
            <a:off x="812800" y="884302"/>
            <a:ext cx="10820400" cy="43942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rgbClr val="000000"/>
              </a:buClr>
              <a:buSzPts val="2800"/>
              <a:buFont typeface="Arial"/>
              <a:buNone/>
            </a:pPr>
            <a:r>
              <a:rPr b="1" lang="en-US" sz="2800">
                <a:solidFill>
                  <a:srgbClr val="000000"/>
                </a:solidFill>
                <a:latin typeface="Arial"/>
                <a:ea typeface="Arial"/>
                <a:cs typeface="Arial"/>
                <a:sym typeface="Arial"/>
              </a:rPr>
              <a:t>What We Learned</a:t>
            </a:r>
            <a:endParaRPr sz="2800"/>
          </a:p>
        </p:txBody>
      </p:sp>
      <p:sp>
        <p:nvSpPr>
          <p:cNvPr id="1518" name="Google Shape;1518;p42"/>
          <p:cNvSpPr/>
          <p:nvPr/>
        </p:nvSpPr>
        <p:spPr>
          <a:xfrm>
            <a:off x="815975" y="1522016"/>
            <a:ext cx="6343650" cy="963811"/>
          </a:xfrm>
          <a:prstGeom prst="roundRect">
            <a:avLst>
              <a:gd fmla="val 10212"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2"/>
          <p:cNvSpPr/>
          <p:nvPr/>
        </p:nvSpPr>
        <p:spPr>
          <a:xfrm>
            <a:off x="1022350" y="1813421"/>
            <a:ext cx="381000" cy="3810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2"/>
          <p:cNvSpPr txBox="1"/>
          <p:nvPr/>
        </p:nvSpPr>
        <p:spPr>
          <a:xfrm>
            <a:off x="1016635" y="1805830"/>
            <a:ext cx="39243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521" name="Google Shape;1521;p42"/>
          <p:cNvSpPr txBox="1"/>
          <p:nvPr/>
        </p:nvSpPr>
        <p:spPr>
          <a:xfrm>
            <a:off x="1555750" y="1662682"/>
            <a:ext cx="5613400" cy="65486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Every joint becomes one matrix, built from four numbers: θ, d, a, α.</a:t>
            </a:r>
            <a:endParaRPr b="0" i="0" sz="1900" u="none" cap="none" strike="noStrike">
              <a:solidFill>
                <a:schemeClr val="dk1"/>
              </a:solidFill>
              <a:latin typeface="Arial"/>
              <a:ea typeface="Arial"/>
              <a:cs typeface="Arial"/>
              <a:sym typeface="Arial"/>
            </a:endParaRPr>
          </a:p>
        </p:txBody>
      </p:sp>
      <p:sp>
        <p:nvSpPr>
          <p:cNvPr id="1522" name="Google Shape;1522;p42"/>
          <p:cNvSpPr/>
          <p:nvPr/>
        </p:nvSpPr>
        <p:spPr>
          <a:xfrm>
            <a:off x="815975" y="2593777"/>
            <a:ext cx="6343650" cy="717550"/>
          </a:xfrm>
          <a:prstGeom prst="roundRect">
            <a:avLst>
              <a:gd fmla="val 13717"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2"/>
          <p:cNvSpPr/>
          <p:nvPr/>
        </p:nvSpPr>
        <p:spPr>
          <a:xfrm>
            <a:off x="1022350" y="2762052"/>
            <a:ext cx="381000" cy="3810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2"/>
          <p:cNvSpPr txBox="1"/>
          <p:nvPr/>
        </p:nvSpPr>
        <p:spPr>
          <a:xfrm>
            <a:off x="1016635" y="2754461"/>
            <a:ext cx="39243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1525" name="Google Shape;1525;p42"/>
          <p:cNvSpPr txBox="1"/>
          <p:nvPr/>
        </p:nvSpPr>
        <p:spPr>
          <a:xfrm>
            <a:off x="1555750" y="2780173"/>
            <a:ext cx="5559425"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Frames: z is the joint axis, x is the link.</a:t>
            </a:r>
            <a:endParaRPr b="0" i="0" sz="1900" u="none" cap="none" strike="noStrike">
              <a:solidFill>
                <a:schemeClr val="dk1"/>
              </a:solidFill>
              <a:latin typeface="Arial"/>
              <a:ea typeface="Arial"/>
              <a:cs typeface="Arial"/>
              <a:sym typeface="Arial"/>
            </a:endParaRPr>
          </a:p>
        </p:txBody>
      </p:sp>
      <p:sp>
        <p:nvSpPr>
          <p:cNvPr id="1526" name="Google Shape;1526;p42"/>
          <p:cNvSpPr/>
          <p:nvPr/>
        </p:nvSpPr>
        <p:spPr>
          <a:xfrm>
            <a:off x="815975" y="3419277"/>
            <a:ext cx="6343650" cy="717550"/>
          </a:xfrm>
          <a:prstGeom prst="roundRect">
            <a:avLst>
              <a:gd fmla="val 13717" name="adj"/>
            </a:avLst>
          </a:prstGeom>
          <a:solidFill>
            <a:srgbClr val="FFFFFF"/>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2"/>
          <p:cNvSpPr/>
          <p:nvPr/>
        </p:nvSpPr>
        <p:spPr>
          <a:xfrm>
            <a:off x="1022350" y="3587552"/>
            <a:ext cx="381000" cy="381000"/>
          </a:xfrm>
          <a:prstGeom prst="roundRect">
            <a:avLst>
              <a:gd fmla="val 50000" name="adj"/>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2"/>
          <p:cNvSpPr txBox="1"/>
          <p:nvPr/>
        </p:nvSpPr>
        <p:spPr>
          <a:xfrm>
            <a:off x="1016635" y="3579961"/>
            <a:ext cx="39243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1529" name="Google Shape;1529;p42"/>
          <p:cNvSpPr txBox="1"/>
          <p:nvPr/>
        </p:nvSpPr>
        <p:spPr>
          <a:xfrm>
            <a:off x="1555750" y="3605673"/>
            <a:ext cx="5397500"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Multiply the matrices in joint order: T = A₁ · A₂ · A₃.</a:t>
            </a:r>
            <a:endParaRPr b="0" i="0" sz="1900" u="none" cap="none" strike="noStrike">
              <a:solidFill>
                <a:schemeClr val="dk1"/>
              </a:solidFill>
              <a:latin typeface="Arial"/>
              <a:ea typeface="Arial"/>
              <a:cs typeface="Arial"/>
              <a:sym typeface="Arial"/>
            </a:endParaRPr>
          </a:p>
        </p:txBody>
      </p:sp>
      <p:sp>
        <p:nvSpPr>
          <p:cNvPr id="1530" name="Google Shape;1530;p42"/>
          <p:cNvSpPr/>
          <p:nvPr/>
        </p:nvSpPr>
        <p:spPr>
          <a:xfrm>
            <a:off x="815975" y="4244777"/>
            <a:ext cx="6343650" cy="717550"/>
          </a:xfrm>
          <a:prstGeom prst="roundRect">
            <a:avLst>
              <a:gd fmla="val 13717" name="adj"/>
            </a:avLst>
          </a:prstGeom>
          <a:solidFill>
            <a:srgbClr val="FFFFFF"/>
          </a:solid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2"/>
          <p:cNvSpPr/>
          <p:nvPr/>
        </p:nvSpPr>
        <p:spPr>
          <a:xfrm>
            <a:off x="1022350" y="4413052"/>
            <a:ext cx="381000" cy="381000"/>
          </a:xfrm>
          <a:prstGeom prst="roundRect">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2"/>
          <p:cNvSpPr txBox="1"/>
          <p:nvPr/>
        </p:nvSpPr>
        <p:spPr>
          <a:xfrm>
            <a:off x="1016635" y="4405461"/>
            <a:ext cx="39243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4</a:t>
            </a:r>
            <a:endParaRPr b="0" i="0" sz="1700" u="none" cap="none" strike="noStrike">
              <a:solidFill>
                <a:schemeClr val="dk1"/>
              </a:solidFill>
              <a:latin typeface="Arial"/>
              <a:ea typeface="Arial"/>
              <a:cs typeface="Arial"/>
              <a:sym typeface="Arial"/>
            </a:endParaRPr>
          </a:p>
        </p:txBody>
      </p:sp>
      <p:sp>
        <p:nvSpPr>
          <p:cNvPr id="1533" name="Google Shape;1533;p42"/>
          <p:cNvSpPr txBox="1"/>
          <p:nvPr/>
        </p:nvSpPr>
        <p:spPr>
          <a:xfrm>
            <a:off x="1555750" y="4431173"/>
            <a:ext cx="5559425" cy="3136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The last column of T is the tip position (x, y, z).</a:t>
            </a:r>
            <a:endParaRPr b="0" i="0" sz="1900" u="none" cap="none" strike="noStrike">
              <a:solidFill>
                <a:schemeClr val="dk1"/>
              </a:solidFill>
              <a:latin typeface="Arial"/>
              <a:ea typeface="Arial"/>
              <a:cs typeface="Arial"/>
              <a:sym typeface="Arial"/>
            </a:endParaRPr>
          </a:p>
        </p:txBody>
      </p:sp>
      <p:sp>
        <p:nvSpPr>
          <p:cNvPr id="1534" name="Google Shape;1534;p42"/>
          <p:cNvSpPr/>
          <p:nvPr/>
        </p:nvSpPr>
        <p:spPr>
          <a:xfrm>
            <a:off x="7569200" y="1518841"/>
            <a:ext cx="3810000" cy="2269927"/>
          </a:xfrm>
          <a:prstGeom prst="roundRect">
            <a:avLst>
              <a:gd fmla="val 4476"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2"/>
          <p:cNvSpPr txBox="1"/>
          <p:nvPr/>
        </p:nvSpPr>
        <p:spPr>
          <a:xfrm>
            <a:off x="7797800" y="1714984"/>
            <a:ext cx="3453384" cy="213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47D"/>
              </a:buClr>
              <a:buSzPts val="1200"/>
              <a:buFont typeface="Arial"/>
              <a:buNone/>
            </a:pPr>
            <a:r>
              <a:rPr b="1" i="0" lang="en-US" sz="1200" u="none" cap="none" strike="noStrike">
                <a:solidFill>
                  <a:srgbClr val="93C47D"/>
                </a:solidFill>
                <a:latin typeface="Arial"/>
                <a:ea typeface="Arial"/>
                <a:cs typeface="Arial"/>
                <a:sym typeface="Arial"/>
              </a:rPr>
              <a:t>NEXT TIME · LESSON 5</a:t>
            </a:r>
            <a:endParaRPr b="0" i="0" sz="1200" u="none" cap="none" strike="noStrike">
              <a:solidFill>
                <a:schemeClr val="dk1"/>
              </a:solidFill>
              <a:latin typeface="Arial"/>
              <a:ea typeface="Arial"/>
              <a:cs typeface="Arial"/>
              <a:sym typeface="Arial"/>
            </a:endParaRPr>
          </a:p>
        </p:txBody>
      </p:sp>
      <p:sp>
        <p:nvSpPr>
          <p:cNvPr id="1536" name="Google Shape;1536;p42"/>
          <p:cNvSpPr txBox="1"/>
          <p:nvPr/>
        </p:nvSpPr>
        <p:spPr>
          <a:xfrm>
            <a:off x="7797800" y="2017728"/>
            <a:ext cx="3454400" cy="70741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Code Implementation of FK &amp; Other Methods</a:t>
            </a:r>
            <a:endParaRPr b="0" i="0" sz="2400" u="none" cap="none" strike="noStrike">
              <a:solidFill>
                <a:schemeClr val="dk1"/>
              </a:solidFill>
              <a:latin typeface="Arial"/>
              <a:ea typeface="Arial"/>
              <a:cs typeface="Arial"/>
              <a:sym typeface="Arial"/>
            </a:endParaRPr>
          </a:p>
        </p:txBody>
      </p:sp>
      <p:sp>
        <p:nvSpPr>
          <p:cNvPr id="1537" name="Google Shape;1537;p42"/>
          <p:cNvSpPr txBox="1"/>
          <p:nvPr/>
        </p:nvSpPr>
        <p:spPr>
          <a:xfrm>
            <a:off x="7797800" y="2787734"/>
            <a:ext cx="3486912" cy="797833"/>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CCCCC"/>
              </a:buClr>
              <a:buSzPts val="1500"/>
              <a:buFont typeface="Arial"/>
              <a:buNone/>
            </a:pPr>
            <a:r>
              <a:rPr b="0" i="0" lang="en-US" sz="1500" u="none" cap="none" strike="noStrike">
                <a:solidFill>
                  <a:srgbClr val="CCCCCC"/>
                </a:solidFill>
                <a:latin typeface="Arial"/>
                <a:ea typeface="Arial"/>
                <a:cs typeface="Arial"/>
                <a:sym typeface="Arial"/>
              </a:rPr>
              <a:t>We turn forward kinematics into code, then take a short look at screw theory, another way to describe the same arm.</a:t>
            </a:r>
            <a:endParaRPr b="0" i="0" sz="1500" u="none" cap="none" strike="noStrike">
              <a:solidFill>
                <a:schemeClr val="dk1"/>
              </a:solidFill>
              <a:latin typeface="Arial"/>
              <a:ea typeface="Arial"/>
              <a:cs typeface="Arial"/>
              <a:sym typeface="Arial"/>
            </a:endParaRPr>
          </a:p>
        </p:txBody>
      </p:sp>
      <p:pic>
        <p:nvPicPr>
          <p:cNvPr descr="Three-quarter view of the robotic arm on its base with the upper arm raised and the forearm horizontal" id="1538" name="Google Shape;1538;p42"/>
          <p:cNvPicPr preferRelativeResize="0"/>
          <p:nvPr/>
        </p:nvPicPr>
        <p:blipFill rotWithShape="1">
          <a:blip r:embed="rId3">
            <a:alphaModFix/>
          </a:blip>
          <a:srcRect b="0" l="0" r="0" t="0"/>
          <a:stretch/>
        </p:blipFill>
        <p:spPr>
          <a:xfrm>
            <a:off x="7696200" y="3966567"/>
            <a:ext cx="3429000" cy="1956991"/>
          </a:xfrm>
          <a:prstGeom prst="rect">
            <a:avLst/>
          </a:prstGeom>
          <a:noFill/>
          <a:ln>
            <a:noFill/>
          </a:ln>
        </p:spPr>
      </p:pic>
      <p:pic>
        <p:nvPicPr>
          <p:cNvPr descr="Three-quarter view of the real arm on its base with the base, shoulder and elbow numbered 1, 2 and 3 and the tip marked T" id="1539" name="Google Shape;1539;p42"/>
          <p:cNvPicPr preferRelativeResize="0"/>
          <p:nvPr/>
        </p:nvPicPr>
        <p:blipFill rotWithShape="1">
          <a:blip r:embed="rId4">
            <a:alphaModFix/>
          </a:blip>
          <a:srcRect b="0" l="0" r="0" t="0"/>
          <a:stretch/>
        </p:blipFill>
        <p:spPr>
          <a:xfrm>
            <a:off x="7569200" y="3962400"/>
            <a:ext cx="3810000" cy="1987550"/>
          </a:xfrm>
          <a:prstGeom prst="rect">
            <a:avLst/>
          </a:prstGeom>
          <a:noFill/>
          <a:ln>
            <a:noFill/>
          </a:ln>
        </p:spPr>
      </p:pic>
      <p:sp>
        <p:nvSpPr>
          <p:cNvPr id="1540" name="Google Shape;1540;p42"/>
          <p:cNvSpPr/>
          <p:nvPr/>
        </p:nvSpPr>
        <p:spPr>
          <a:xfrm>
            <a:off x="8586391" y="5255617"/>
            <a:ext cx="184150" cy="1841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2"/>
          <p:cNvSpPr txBox="1"/>
          <p:nvPr/>
        </p:nvSpPr>
        <p:spPr>
          <a:xfrm>
            <a:off x="8593439" y="5241556"/>
            <a:ext cx="170053"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1542" name="Google Shape;1542;p42"/>
          <p:cNvSpPr/>
          <p:nvPr/>
        </p:nvSpPr>
        <p:spPr>
          <a:xfrm>
            <a:off x="8698210" y="5094883"/>
            <a:ext cx="184150" cy="184150"/>
          </a:xfrm>
          <a:prstGeom prst="roundRect">
            <a:avLst>
              <a:gd fmla="val 50000" name="adj"/>
            </a:avLst>
          </a:prstGeom>
          <a:solidFill>
            <a:srgbClr val="38761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2"/>
          <p:cNvSpPr txBox="1"/>
          <p:nvPr/>
        </p:nvSpPr>
        <p:spPr>
          <a:xfrm>
            <a:off x="8705259" y="5080821"/>
            <a:ext cx="170053"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544" name="Google Shape;1544;p42"/>
          <p:cNvSpPr/>
          <p:nvPr/>
        </p:nvSpPr>
        <p:spPr>
          <a:xfrm>
            <a:off x="9276655" y="4369098"/>
            <a:ext cx="184150" cy="184150"/>
          </a:xfrm>
          <a:prstGeom prst="roundRect">
            <a:avLst>
              <a:gd fmla="val 50000" name="adj"/>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2"/>
          <p:cNvSpPr txBox="1"/>
          <p:nvPr/>
        </p:nvSpPr>
        <p:spPr>
          <a:xfrm>
            <a:off x="9283704" y="4355036"/>
            <a:ext cx="170053" cy="1955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1546" name="Google Shape;1546;p42"/>
          <p:cNvSpPr txBox="1"/>
          <p:nvPr/>
        </p:nvSpPr>
        <p:spPr>
          <a:xfrm>
            <a:off x="10143381" y="4016903"/>
            <a:ext cx="222250" cy="226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Robotic Arm Course">
  <a:themeElements>
    <a:clrScheme name="Robotic Arm Course">
      <a:dk1>
        <a:srgbClr val="000000"/>
      </a:dk1>
      <a:lt1>
        <a:srgbClr val="FFFFFF"/>
      </a:lt1>
      <a:dk2>
        <a:srgbClr val="434343"/>
      </a:dk2>
      <a:lt2>
        <a:srgbClr val="F3F3F3"/>
      </a:lt2>
      <a:accent1>
        <a:srgbClr val="6AA84F"/>
      </a:accent1>
      <a:accent2>
        <a:srgbClr val="F1C232"/>
      </a:accent2>
      <a:accent3>
        <a:srgbClr val="FF0000"/>
      </a:accent3>
      <a:accent4>
        <a:srgbClr val="1155CC"/>
      </a:accent4>
      <a:accent5>
        <a:srgbClr val="666666"/>
      </a:accent5>
      <a:accent6>
        <a:srgbClr val="38761D"/>
      </a:accent6>
      <a:hlink>
        <a:srgbClr val="1155CC"/>
      </a:hlink>
      <a:folHlink>
        <a:srgbClr val="6666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