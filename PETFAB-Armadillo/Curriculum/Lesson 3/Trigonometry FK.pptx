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f5da7ea8ab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f5da7ea8a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f58fbe20a8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f58fbe20a8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f58fbe20a8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f58fbe20a8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f58fbe20a8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f58fbe20a8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f58fbe20a8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f58fbe20a8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58fbe20a8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f58fbe20a8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f58fbe20a8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f58fbe20a8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f58fbe20a8_0_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f58fbe20a8_0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f58fbe20a8_0_2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f58fbe20a8_0_2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f58fbe20a8_0_2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f58fbe20a8_0_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f58fbe20a8_0_2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f58fbe20a8_0_2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f58fbe20a8_0_3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f58fbe20a8_0_3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f58fbe20a8_0_3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3f58fbe20a8_0_3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f58fbe20a8_0_3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3f58fbe20a8_0_3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f58fbe20a8_0_4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3f58fbe20a8_0_4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f58fbe20a8_0_4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3f58fbe20a8_0_4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f58fbe20a8_0_4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3f58fbe20a8_0_4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f58fbe20a8_0_4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3f58fbe20a8_0_4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f58fbe20a8_0_5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3f58fbe20a8_0_5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f58fbe20a8_0_5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Google Shape;431;g3f58fbe20a8_0_5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3f58fbe20a8_0_5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3f58fbe20a8_0_5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f58fbe20a8_0_5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3f58fbe20a8_0_5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3f58fbe20a8_0_6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Google Shape;484;g3f58fbe20a8_0_6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3f58fbe20a8_0_6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7" name="Google Shape;507;g3f58fbe20a8_0_6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3f58fbe20a8_0_7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6" name="Google Shape;526;g3f58fbe20a8_0_7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3f58fbe20a8_0_7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9" name="Google Shape;559;g3f58fbe20a8_0_7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g3f58fbe20a8_0_8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2" name="Google Shape;582;g3f58fbe20a8_0_8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3f58fbe20a8_0_8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" name="Google Shape;612;g3f58fbe20a8_0_8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g3f58fbe20a8_0_8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4" name="Google Shape;634;g3f58fbe20a8_0_8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3f58fbe20a8_0_9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7" name="Google Shape;657;g3f58fbe20a8_0_9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g3f5a2339afd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2" name="Google Shape;682;g3f5a2339afd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g3f5a2339afd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5" name="Google Shape;705;g3f5a2339afd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g3f5ad01d2b5_2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0" name="Google Shape;730;g3f5ad01d2b5_2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7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5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5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6.png"/><Relationship Id="rId4" Type="http://schemas.openxmlformats.org/officeDocument/2006/relationships/image" Target="../media/image11.png"/><Relationship Id="rId5" Type="http://schemas.openxmlformats.org/officeDocument/2006/relationships/hyperlink" Target="https://www.desmos.com/3d/9bnvqc263x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96200" y="1361900"/>
            <a:ext cx="3639600" cy="3781599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>
            <p:ph type="ctrTitle"/>
          </p:nvPr>
        </p:nvSpPr>
        <p:spPr>
          <a:xfrm>
            <a:off x="0" y="0"/>
            <a:ext cx="9144000" cy="164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/>
              <a:t>The Trigonometric Approach to Forward Kinematics</a:t>
            </a:r>
            <a:endParaRPr b="1" sz="3000"/>
          </a:p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311700" y="961321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By Joseph Ruhan</a:t>
            </a:r>
            <a:endParaRPr sz="2000"/>
          </a:p>
        </p:txBody>
      </p:sp>
      <p:pic>
        <p:nvPicPr>
          <p:cNvPr id="57" name="Google Shape;57;p13" title="Main ASM (1).png"/>
          <p:cNvPicPr preferRelativeResize="0"/>
          <p:nvPr/>
        </p:nvPicPr>
        <p:blipFill rotWithShape="1">
          <a:blip r:embed="rId4">
            <a:alphaModFix/>
          </a:blip>
          <a:srcRect b="4707" l="0" r="2922" t="0"/>
          <a:stretch/>
        </p:blipFill>
        <p:spPr>
          <a:xfrm>
            <a:off x="0" y="1410912"/>
            <a:ext cx="4919752" cy="373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/>
        </p:nvSpPr>
        <p:spPr>
          <a:xfrm>
            <a:off x="0" y="0"/>
            <a:ext cx="594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Forward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63" name="Google Shape;63;p14"/>
          <p:cNvPicPr preferRelativeResize="0"/>
          <p:nvPr/>
        </p:nvPicPr>
        <p:blipFill rotWithShape="1">
          <a:blip r:embed="rId3">
            <a:alphaModFix/>
          </a:blip>
          <a:srcRect b="0" l="10217" r="0" t="0"/>
          <a:stretch/>
        </p:blipFill>
        <p:spPr>
          <a:xfrm>
            <a:off x="2346951" y="885101"/>
            <a:ext cx="6797048" cy="42584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/>
          <p:cNvSpPr/>
          <p:nvPr/>
        </p:nvSpPr>
        <p:spPr>
          <a:xfrm rot="-5400000">
            <a:off x="5071502" y="-41835"/>
            <a:ext cx="267900" cy="2212800"/>
          </a:xfrm>
          <a:prstGeom prst="rightBracket">
            <a:avLst>
              <a:gd fmla="val 0" name="adj"/>
            </a:avLst>
          </a:prstGeom>
          <a:noFill/>
          <a:ln cap="flat" cmpd="sng" w="73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8200" lIns="88200" spcFirstLastPara="1" rIns="88200" wrap="square" tIns="88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65" name="Google Shape;65;p14"/>
          <p:cNvSpPr txBox="1"/>
          <p:nvPr/>
        </p:nvSpPr>
        <p:spPr>
          <a:xfrm>
            <a:off x="4952024" y="485225"/>
            <a:ext cx="2989800" cy="4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88200" lIns="88200" spcFirstLastPara="1" rIns="88200" wrap="square" tIns="882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36">
                <a:solidFill>
                  <a:srgbClr val="FF0000"/>
                </a:solidFill>
              </a:rPr>
              <a:t>L</a:t>
            </a:r>
            <a:r>
              <a:rPr baseline="-25000" lang="en" sz="1736">
                <a:solidFill>
                  <a:srgbClr val="FF0000"/>
                </a:solidFill>
              </a:rPr>
              <a:t>2</a:t>
            </a:r>
            <a:endParaRPr baseline="-25000" sz="1736">
              <a:solidFill>
                <a:srgbClr val="FF0000"/>
              </a:solidFill>
            </a:endParaRPr>
          </a:p>
        </p:txBody>
      </p:sp>
      <p:sp>
        <p:nvSpPr>
          <p:cNvPr id="66" name="Google Shape;66;p14"/>
          <p:cNvSpPr/>
          <p:nvPr/>
        </p:nvSpPr>
        <p:spPr>
          <a:xfrm>
            <a:off x="6584800" y="1668700"/>
            <a:ext cx="267900" cy="2147400"/>
          </a:xfrm>
          <a:prstGeom prst="rightBracket">
            <a:avLst>
              <a:gd fmla="val 0" name="adj"/>
            </a:avLst>
          </a:prstGeom>
          <a:noFill/>
          <a:ln cap="flat" cmpd="sng" w="73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8200" lIns="88200" spcFirstLastPara="1" rIns="88200" wrap="square" tIns="88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67" name="Google Shape;67;p14"/>
          <p:cNvSpPr txBox="1"/>
          <p:nvPr/>
        </p:nvSpPr>
        <p:spPr>
          <a:xfrm>
            <a:off x="6873716" y="2486977"/>
            <a:ext cx="581400" cy="4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88200" lIns="88200" spcFirstLastPara="1" rIns="88200" wrap="square" tIns="882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36">
                <a:solidFill>
                  <a:srgbClr val="FF0000"/>
                </a:solidFill>
              </a:rPr>
              <a:t>L</a:t>
            </a:r>
            <a:r>
              <a:rPr baseline="-25000" lang="en" sz="1736">
                <a:solidFill>
                  <a:srgbClr val="FF0000"/>
                </a:solidFill>
              </a:rPr>
              <a:t>1</a:t>
            </a:r>
            <a:endParaRPr baseline="-25000" sz="1736">
              <a:solidFill>
                <a:srgbClr val="FF0000"/>
              </a:solidFill>
            </a:endParaRPr>
          </a:p>
        </p:txBody>
      </p:sp>
      <p:sp>
        <p:nvSpPr>
          <p:cNvPr id="68" name="Google Shape;68;p14"/>
          <p:cNvSpPr txBox="1"/>
          <p:nvPr/>
        </p:nvSpPr>
        <p:spPr>
          <a:xfrm>
            <a:off x="0" y="930736"/>
            <a:ext cx="2212800" cy="13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5625" lIns="115625" spcFirstLastPara="1" rIns="115625" wrap="square" tIns="1156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Where</a:t>
            </a:r>
            <a:br>
              <a:rPr lang="en" sz="2400"/>
            </a:br>
            <a:r>
              <a:rPr lang="en" sz="2400">
                <a:solidFill>
                  <a:srgbClr val="FF0000"/>
                </a:solidFill>
              </a:rPr>
              <a:t>L</a:t>
            </a:r>
            <a:r>
              <a:rPr baseline="-25000" lang="en" sz="2400">
                <a:solidFill>
                  <a:srgbClr val="FF0000"/>
                </a:solidFill>
              </a:rPr>
              <a:t>1</a:t>
            </a:r>
            <a:r>
              <a:rPr lang="en" sz="2400">
                <a:solidFill>
                  <a:srgbClr val="FF0000"/>
                </a:solidFill>
              </a:rPr>
              <a:t>=250mm</a:t>
            </a:r>
            <a:endParaRPr sz="24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FF0000"/>
                </a:solidFill>
              </a:rPr>
              <a:t>L</a:t>
            </a:r>
            <a:r>
              <a:rPr baseline="-25000" lang="en" sz="2400">
                <a:solidFill>
                  <a:srgbClr val="FF0000"/>
                </a:solidFill>
              </a:rPr>
              <a:t>2</a:t>
            </a:r>
            <a:r>
              <a:rPr lang="en" sz="2400">
                <a:solidFill>
                  <a:srgbClr val="FF0000"/>
                </a:solidFill>
              </a:rPr>
              <a:t>=250mm</a:t>
            </a:r>
            <a:endParaRPr sz="2400">
              <a:solidFill>
                <a:srgbClr val="FF0000"/>
              </a:solidFill>
            </a:endParaRPr>
          </a:p>
        </p:txBody>
      </p:sp>
      <p:sp>
        <p:nvSpPr>
          <p:cNvPr id="69" name="Google Shape;69;p14"/>
          <p:cNvSpPr txBox="1"/>
          <p:nvPr/>
        </p:nvSpPr>
        <p:spPr>
          <a:xfrm>
            <a:off x="0" y="2506400"/>
            <a:ext cx="2667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These are always known because they are a constant</a:t>
            </a:r>
            <a:endParaRPr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/>
        </p:nvSpPr>
        <p:spPr>
          <a:xfrm>
            <a:off x="0" y="0"/>
            <a:ext cx="5944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The arm can be described mathematically by defining its joints and links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75" name="Google Shape;75;p15"/>
          <p:cNvPicPr preferRelativeResize="0"/>
          <p:nvPr/>
        </p:nvPicPr>
        <p:blipFill rotWithShape="1">
          <a:blip r:embed="rId3">
            <a:alphaModFix/>
          </a:blip>
          <a:srcRect b="0" l="10217" r="0" t="0"/>
          <a:stretch/>
        </p:blipFill>
        <p:spPr>
          <a:xfrm>
            <a:off x="2346951" y="885101"/>
            <a:ext cx="6797048" cy="42584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/>
          <p:nvPr/>
        </p:nvSpPr>
        <p:spPr>
          <a:xfrm rot="-5400000">
            <a:off x="5071502" y="-41835"/>
            <a:ext cx="267900" cy="2212800"/>
          </a:xfrm>
          <a:prstGeom prst="rightBracket">
            <a:avLst>
              <a:gd fmla="val 0" name="adj"/>
            </a:avLst>
          </a:prstGeom>
          <a:noFill/>
          <a:ln cap="flat" cmpd="sng" w="73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8200" lIns="88200" spcFirstLastPara="1" rIns="88200" wrap="square" tIns="88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77" name="Google Shape;77;p15"/>
          <p:cNvSpPr txBox="1"/>
          <p:nvPr/>
        </p:nvSpPr>
        <p:spPr>
          <a:xfrm>
            <a:off x="4952024" y="485225"/>
            <a:ext cx="2989800" cy="4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88200" lIns="88200" spcFirstLastPara="1" rIns="88200" wrap="square" tIns="882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36">
                <a:solidFill>
                  <a:srgbClr val="FF0000"/>
                </a:solidFill>
              </a:rPr>
              <a:t>L</a:t>
            </a:r>
            <a:r>
              <a:rPr baseline="-25000" lang="en" sz="1736">
                <a:solidFill>
                  <a:srgbClr val="FF0000"/>
                </a:solidFill>
              </a:rPr>
              <a:t>2</a:t>
            </a:r>
            <a:endParaRPr baseline="-25000" sz="1736">
              <a:solidFill>
                <a:srgbClr val="FF0000"/>
              </a:solidFill>
            </a:endParaRPr>
          </a:p>
        </p:txBody>
      </p:sp>
      <p:sp>
        <p:nvSpPr>
          <p:cNvPr id="78" name="Google Shape;78;p15"/>
          <p:cNvSpPr/>
          <p:nvPr/>
        </p:nvSpPr>
        <p:spPr>
          <a:xfrm>
            <a:off x="6584800" y="1668700"/>
            <a:ext cx="267900" cy="2147400"/>
          </a:xfrm>
          <a:prstGeom prst="rightBracket">
            <a:avLst>
              <a:gd fmla="val 0" name="adj"/>
            </a:avLst>
          </a:prstGeom>
          <a:noFill/>
          <a:ln cap="flat" cmpd="sng" w="73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8200" lIns="88200" spcFirstLastPara="1" rIns="88200" wrap="square" tIns="88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79" name="Google Shape;79;p15"/>
          <p:cNvSpPr txBox="1"/>
          <p:nvPr/>
        </p:nvSpPr>
        <p:spPr>
          <a:xfrm>
            <a:off x="6873716" y="2486977"/>
            <a:ext cx="581400" cy="4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88200" lIns="88200" spcFirstLastPara="1" rIns="88200" wrap="square" tIns="882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36">
                <a:solidFill>
                  <a:srgbClr val="FF0000"/>
                </a:solidFill>
              </a:rPr>
              <a:t>L</a:t>
            </a:r>
            <a:r>
              <a:rPr baseline="-25000" lang="en" sz="1736">
                <a:solidFill>
                  <a:srgbClr val="FF0000"/>
                </a:solidFill>
              </a:rPr>
              <a:t>1</a:t>
            </a:r>
            <a:endParaRPr baseline="-25000" sz="1736">
              <a:solidFill>
                <a:srgbClr val="FF0000"/>
              </a:solidFill>
            </a:endParaRPr>
          </a:p>
        </p:txBody>
      </p:sp>
      <p:sp>
        <p:nvSpPr>
          <p:cNvPr id="80" name="Google Shape;80;p15"/>
          <p:cNvSpPr txBox="1"/>
          <p:nvPr/>
        </p:nvSpPr>
        <p:spPr>
          <a:xfrm>
            <a:off x="0" y="930736"/>
            <a:ext cx="2212800" cy="13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5625" lIns="115625" spcFirstLastPara="1" rIns="115625" wrap="square" tIns="1156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Where</a:t>
            </a:r>
            <a:br>
              <a:rPr lang="en" sz="2400"/>
            </a:br>
            <a:r>
              <a:rPr lang="en" sz="2400">
                <a:solidFill>
                  <a:srgbClr val="FF0000"/>
                </a:solidFill>
              </a:rPr>
              <a:t>L</a:t>
            </a:r>
            <a:r>
              <a:rPr baseline="-25000" lang="en" sz="2400">
                <a:solidFill>
                  <a:srgbClr val="FF0000"/>
                </a:solidFill>
              </a:rPr>
              <a:t>1</a:t>
            </a:r>
            <a:r>
              <a:rPr lang="en" sz="2400">
                <a:solidFill>
                  <a:srgbClr val="FF0000"/>
                </a:solidFill>
              </a:rPr>
              <a:t>=250mm</a:t>
            </a:r>
            <a:endParaRPr sz="24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FF0000"/>
                </a:solidFill>
              </a:rPr>
              <a:t>L</a:t>
            </a:r>
            <a:r>
              <a:rPr baseline="-25000" lang="en" sz="2400">
                <a:solidFill>
                  <a:srgbClr val="FF0000"/>
                </a:solidFill>
              </a:rPr>
              <a:t>2</a:t>
            </a:r>
            <a:r>
              <a:rPr lang="en" sz="2400">
                <a:solidFill>
                  <a:srgbClr val="FF0000"/>
                </a:solidFill>
              </a:rPr>
              <a:t>=250mm</a:t>
            </a:r>
            <a:endParaRPr sz="2400">
              <a:solidFill>
                <a:srgbClr val="FF0000"/>
              </a:solidFill>
            </a:endParaRPr>
          </a:p>
        </p:txBody>
      </p:sp>
      <p:sp>
        <p:nvSpPr>
          <p:cNvPr id="81" name="Google Shape;81;p15"/>
          <p:cNvSpPr txBox="1"/>
          <p:nvPr/>
        </p:nvSpPr>
        <p:spPr>
          <a:xfrm>
            <a:off x="0" y="2506400"/>
            <a:ext cx="2667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These are always known because they are a constant</a:t>
            </a:r>
            <a:endParaRPr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/>
        </p:nvSpPr>
        <p:spPr>
          <a:xfrm>
            <a:off x="0" y="0"/>
            <a:ext cx="5944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The arm can be described mathematically by defining its joints and links</a:t>
            </a:r>
            <a:endParaRPr sz="1800"/>
          </a:p>
        </p:txBody>
      </p:sp>
      <p:sp>
        <p:nvSpPr>
          <p:cNvPr id="87" name="Google Shape;87;p16"/>
          <p:cNvSpPr txBox="1"/>
          <p:nvPr/>
        </p:nvSpPr>
        <p:spPr>
          <a:xfrm>
            <a:off x="0" y="738900"/>
            <a:ext cx="4396800" cy="33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In this example</a:t>
            </a:r>
            <a:br>
              <a:rPr lang="en" sz="1800"/>
            </a:br>
            <a:r>
              <a:rPr lang="en" sz="1800">
                <a:solidFill>
                  <a:srgbClr val="FF0000"/>
                </a:solidFill>
              </a:rPr>
              <a:t>θ</a:t>
            </a:r>
            <a:r>
              <a:rPr baseline="-25000" lang="en" sz="1800">
                <a:solidFill>
                  <a:srgbClr val="FF0000"/>
                </a:solidFill>
              </a:rPr>
              <a:t>1</a:t>
            </a:r>
            <a:r>
              <a:rPr lang="en" sz="1800">
                <a:solidFill>
                  <a:srgbClr val="FF0000"/>
                </a:solidFill>
              </a:rPr>
              <a:t>=45°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θ</a:t>
            </a:r>
            <a:r>
              <a:rPr baseline="-25000" lang="en" sz="1800">
                <a:solidFill>
                  <a:srgbClr val="FF0000"/>
                </a:solidFill>
              </a:rPr>
              <a:t>2</a:t>
            </a:r>
            <a:r>
              <a:rPr lang="en" sz="1800">
                <a:solidFill>
                  <a:srgbClr val="FF0000"/>
                </a:solidFill>
              </a:rPr>
              <a:t>=45°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θ</a:t>
            </a:r>
            <a:r>
              <a:rPr baseline="-25000" lang="en" sz="1600"/>
              <a:t>1</a:t>
            </a:r>
            <a:r>
              <a:rPr lang="en" sz="1600"/>
              <a:t> is measured relative to a vertical projection above the shoulder motors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θ</a:t>
            </a:r>
            <a:r>
              <a:rPr baseline="-25000" lang="en" sz="1600"/>
              <a:t>1</a:t>
            </a:r>
            <a:r>
              <a:rPr lang="en" sz="1600"/>
              <a:t> is measured relative to a vertical projection from the upper arm segment</a:t>
            </a:r>
            <a:endParaRPr sz="1600"/>
          </a:p>
        </p:txBody>
      </p:sp>
      <p:pic>
        <p:nvPicPr>
          <p:cNvPr id="88" name="Google Shape;88;p16"/>
          <p:cNvPicPr preferRelativeResize="0"/>
          <p:nvPr/>
        </p:nvPicPr>
        <p:blipFill rotWithShape="1">
          <a:blip r:embed="rId3">
            <a:alphaModFix/>
          </a:blip>
          <a:srcRect b="0" l="0" r="0" t="8517"/>
          <a:stretch/>
        </p:blipFill>
        <p:spPr>
          <a:xfrm>
            <a:off x="1749600" y="1338575"/>
            <a:ext cx="7394400" cy="3804926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6"/>
          <p:cNvSpPr txBox="1"/>
          <p:nvPr/>
        </p:nvSpPr>
        <p:spPr>
          <a:xfrm>
            <a:off x="0" y="4125300"/>
            <a:ext cx="4980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These angles are variable.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However, because the encoder measures the rotation of the actuator, the angles are always known</a:t>
            </a:r>
            <a:endParaRPr sz="1600"/>
          </a:p>
        </p:txBody>
      </p:sp>
      <p:sp>
        <p:nvSpPr>
          <p:cNvPr id="90" name="Google Shape;90;p16"/>
          <p:cNvSpPr/>
          <p:nvPr/>
        </p:nvSpPr>
        <p:spPr>
          <a:xfrm flipH="1" rot="2700000">
            <a:off x="6298104" y="2571483"/>
            <a:ext cx="2285935" cy="2285935"/>
          </a:xfrm>
          <a:prstGeom prst="blockArc">
            <a:avLst>
              <a:gd fmla="val 18969520" name="adj1"/>
              <a:gd fmla="val 21574488" name="adj2"/>
              <a:gd fmla="val 4685" name="adj3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1" name="Google Shape;91;p16"/>
          <p:cNvCxnSpPr/>
          <p:nvPr/>
        </p:nvCxnSpPr>
        <p:spPr>
          <a:xfrm>
            <a:off x="5859775" y="2163600"/>
            <a:ext cx="1581300" cy="1585500"/>
          </a:xfrm>
          <a:prstGeom prst="straightConnector1">
            <a:avLst/>
          </a:prstGeom>
          <a:noFill/>
          <a:ln cap="flat" cmpd="sng" w="762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" name="Google Shape;92;p16"/>
          <p:cNvCxnSpPr/>
          <p:nvPr/>
        </p:nvCxnSpPr>
        <p:spPr>
          <a:xfrm>
            <a:off x="3583300" y="2163600"/>
            <a:ext cx="2314800" cy="0"/>
          </a:xfrm>
          <a:prstGeom prst="straightConnector1">
            <a:avLst/>
          </a:prstGeom>
          <a:noFill/>
          <a:ln cap="flat" cmpd="sng" w="762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" name="Google Shape;93;p16"/>
          <p:cNvCxnSpPr/>
          <p:nvPr/>
        </p:nvCxnSpPr>
        <p:spPr>
          <a:xfrm>
            <a:off x="7441075" y="2282200"/>
            <a:ext cx="0" cy="14670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94" name="Google Shape;94;p16"/>
          <p:cNvSpPr/>
          <p:nvPr/>
        </p:nvSpPr>
        <p:spPr>
          <a:xfrm flipH="1">
            <a:off x="4711939" y="984158"/>
            <a:ext cx="2286000" cy="2286000"/>
          </a:xfrm>
          <a:prstGeom prst="blockArc">
            <a:avLst>
              <a:gd fmla="val 18969520" name="adj1"/>
              <a:gd fmla="val 21574488" name="adj2"/>
              <a:gd fmla="val 4685" name="adj3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5" name="Google Shape;95;p16"/>
          <p:cNvCxnSpPr/>
          <p:nvPr/>
        </p:nvCxnSpPr>
        <p:spPr>
          <a:xfrm>
            <a:off x="4776400" y="1041900"/>
            <a:ext cx="1121700" cy="11217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96" name="Google Shape;96;p16"/>
          <p:cNvSpPr txBox="1"/>
          <p:nvPr/>
        </p:nvSpPr>
        <p:spPr>
          <a:xfrm>
            <a:off x="7044425" y="2725500"/>
            <a:ext cx="701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θ</a:t>
            </a:r>
            <a:r>
              <a:rPr baseline="-25000" lang="en" sz="1800">
                <a:solidFill>
                  <a:srgbClr val="FF0000"/>
                </a:solidFill>
              </a:rPr>
              <a:t>1</a:t>
            </a:r>
            <a:endParaRPr baseline="-25000" sz="1800">
              <a:solidFill>
                <a:srgbClr val="FF0000"/>
              </a:solidFill>
            </a:endParaRPr>
          </a:p>
        </p:txBody>
      </p:sp>
      <p:sp>
        <p:nvSpPr>
          <p:cNvPr id="97" name="Google Shape;97;p16"/>
          <p:cNvSpPr txBox="1"/>
          <p:nvPr/>
        </p:nvSpPr>
        <p:spPr>
          <a:xfrm>
            <a:off x="4929875" y="1538250"/>
            <a:ext cx="701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θ</a:t>
            </a:r>
            <a:r>
              <a:rPr baseline="-25000" lang="en" sz="1800">
                <a:solidFill>
                  <a:srgbClr val="FF0000"/>
                </a:solidFill>
              </a:rPr>
              <a:t>2</a:t>
            </a:r>
            <a:endParaRPr baseline="-25000"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7"/>
          <p:cNvSpPr txBox="1"/>
          <p:nvPr/>
        </p:nvSpPr>
        <p:spPr>
          <a:xfrm>
            <a:off x="0" y="0"/>
            <a:ext cx="594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The arm can therefore be represented as such:</a:t>
            </a:r>
            <a:endParaRPr sz="1800"/>
          </a:p>
        </p:txBody>
      </p:sp>
      <p:sp>
        <p:nvSpPr>
          <p:cNvPr id="103" name="Google Shape;103;p17"/>
          <p:cNvSpPr/>
          <p:nvPr/>
        </p:nvSpPr>
        <p:spPr>
          <a:xfrm flipH="1">
            <a:off x="4097356" y="4648200"/>
            <a:ext cx="5017800" cy="461700"/>
          </a:xfrm>
          <a:prstGeom prst="rect">
            <a:avLst/>
          </a:prstGeom>
          <a:solidFill>
            <a:srgbClr val="43434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7"/>
          <p:cNvSpPr/>
          <p:nvPr/>
        </p:nvSpPr>
        <p:spPr>
          <a:xfrm flipH="1" rot="2700000">
            <a:off x="6781305" y="3366033"/>
            <a:ext cx="2585041" cy="2585041"/>
          </a:xfrm>
          <a:prstGeom prst="blockArc">
            <a:avLst>
              <a:gd fmla="val 18969520" name="adj1"/>
              <a:gd fmla="val 21574488" name="adj2"/>
              <a:gd fmla="val 4685" name="adj3"/>
            </a:avLst>
          </a:prstGeom>
          <a:solidFill>
            <a:srgbClr val="FF0000"/>
          </a:solidFill>
          <a:ln cap="flat" cmpd="sng" w="10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3400" lIns="103400" spcFirstLastPara="1" rIns="103400" wrap="square" tIns="103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83"/>
          </a:p>
        </p:txBody>
      </p:sp>
      <p:cxnSp>
        <p:nvCxnSpPr>
          <p:cNvPr id="105" name="Google Shape;105;p17"/>
          <p:cNvCxnSpPr/>
          <p:nvPr/>
        </p:nvCxnSpPr>
        <p:spPr>
          <a:xfrm>
            <a:off x="6285431" y="2904687"/>
            <a:ext cx="1788300" cy="1793100"/>
          </a:xfrm>
          <a:prstGeom prst="straightConnector1">
            <a:avLst/>
          </a:prstGeom>
          <a:noFill/>
          <a:ln cap="flat" cmpd="sng" w="86175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" name="Google Shape;106;p17"/>
          <p:cNvCxnSpPr/>
          <p:nvPr/>
        </p:nvCxnSpPr>
        <p:spPr>
          <a:xfrm>
            <a:off x="3710951" y="2904687"/>
            <a:ext cx="2617800" cy="0"/>
          </a:xfrm>
          <a:prstGeom prst="straightConnector1">
            <a:avLst/>
          </a:prstGeom>
          <a:noFill/>
          <a:ln cap="flat" cmpd="sng" w="86175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" name="Google Shape;107;p17"/>
          <p:cNvCxnSpPr/>
          <p:nvPr/>
        </p:nvCxnSpPr>
        <p:spPr>
          <a:xfrm>
            <a:off x="8073733" y="3038813"/>
            <a:ext cx="0" cy="1659000"/>
          </a:xfrm>
          <a:prstGeom prst="straightConnector1">
            <a:avLst/>
          </a:prstGeom>
          <a:noFill/>
          <a:ln cap="flat" cmpd="sng" w="43100">
            <a:solidFill>
              <a:srgbClr val="6AA84F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08" name="Google Shape;108;p17"/>
          <p:cNvCxnSpPr/>
          <p:nvPr/>
        </p:nvCxnSpPr>
        <p:spPr>
          <a:xfrm>
            <a:off x="5060235" y="1636150"/>
            <a:ext cx="1268400" cy="1268400"/>
          </a:xfrm>
          <a:prstGeom prst="straightConnector1">
            <a:avLst/>
          </a:prstGeom>
          <a:noFill/>
          <a:ln cap="flat" cmpd="sng" w="43100">
            <a:solidFill>
              <a:srgbClr val="6AA84F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09" name="Google Shape;109;p17"/>
          <p:cNvSpPr txBox="1"/>
          <p:nvPr/>
        </p:nvSpPr>
        <p:spPr>
          <a:xfrm>
            <a:off x="7625159" y="3540144"/>
            <a:ext cx="792900" cy="5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3400" lIns="103400" spcFirstLastPara="1" rIns="103400" wrap="square" tIns="1034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36">
                <a:solidFill>
                  <a:srgbClr val="FF0000"/>
                </a:solidFill>
              </a:rPr>
              <a:t>θ</a:t>
            </a:r>
            <a:r>
              <a:rPr baseline="-25000" lang="en" sz="2036">
                <a:solidFill>
                  <a:srgbClr val="FF0000"/>
                </a:solidFill>
              </a:rPr>
              <a:t>1</a:t>
            </a:r>
            <a:endParaRPr baseline="-25000" sz="2036">
              <a:solidFill>
                <a:srgbClr val="FF0000"/>
              </a:solidFill>
            </a:endParaRPr>
          </a:p>
        </p:txBody>
      </p:sp>
      <p:sp>
        <p:nvSpPr>
          <p:cNvPr id="110" name="Google Shape;110;p17"/>
          <p:cNvSpPr txBox="1"/>
          <p:nvPr/>
        </p:nvSpPr>
        <p:spPr>
          <a:xfrm>
            <a:off x="5401626" y="2310600"/>
            <a:ext cx="792900" cy="5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3400" lIns="103400" spcFirstLastPara="1" rIns="103400" wrap="square" tIns="1034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36">
                <a:solidFill>
                  <a:srgbClr val="FF0000"/>
                </a:solidFill>
              </a:rPr>
              <a:t>θ</a:t>
            </a:r>
            <a:r>
              <a:rPr baseline="-25000" lang="en" sz="2036">
                <a:solidFill>
                  <a:srgbClr val="FF0000"/>
                </a:solidFill>
              </a:rPr>
              <a:t>2</a:t>
            </a:r>
            <a:endParaRPr baseline="-25000" sz="2036">
              <a:solidFill>
                <a:srgbClr val="FF0000"/>
              </a:solidFill>
            </a:endParaRPr>
          </a:p>
        </p:txBody>
      </p:sp>
      <p:sp>
        <p:nvSpPr>
          <p:cNvPr id="111" name="Google Shape;111;p17"/>
          <p:cNvSpPr/>
          <p:nvPr/>
        </p:nvSpPr>
        <p:spPr>
          <a:xfrm>
            <a:off x="7959429" y="4544249"/>
            <a:ext cx="228600" cy="228600"/>
          </a:xfrm>
          <a:prstGeom prst="ellipse">
            <a:avLst/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7"/>
          <p:cNvSpPr/>
          <p:nvPr/>
        </p:nvSpPr>
        <p:spPr>
          <a:xfrm>
            <a:off x="6183504" y="2790374"/>
            <a:ext cx="228600" cy="228600"/>
          </a:xfrm>
          <a:prstGeom prst="ellipse">
            <a:avLst/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7"/>
          <p:cNvSpPr/>
          <p:nvPr/>
        </p:nvSpPr>
        <p:spPr>
          <a:xfrm>
            <a:off x="3630804" y="2790374"/>
            <a:ext cx="228600" cy="228600"/>
          </a:xfrm>
          <a:prstGeom prst="ellipse">
            <a:avLst/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7"/>
          <p:cNvSpPr/>
          <p:nvPr/>
        </p:nvSpPr>
        <p:spPr>
          <a:xfrm>
            <a:off x="78754" y="1176574"/>
            <a:ext cx="228600" cy="228600"/>
          </a:xfrm>
          <a:prstGeom prst="ellipse">
            <a:avLst/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7"/>
          <p:cNvSpPr/>
          <p:nvPr/>
        </p:nvSpPr>
        <p:spPr>
          <a:xfrm flipH="1" rot="-5400000">
            <a:off x="4916575" y="1838025"/>
            <a:ext cx="172200" cy="2534100"/>
          </a:xfrm>
          <a:prstGeom prst="rightBracket">
            <a:avLst>
              <a:gd fmla="val 0" name="adj"/>
            </a:avLst>
          </a:prstGeom>
          <a:noFill/>
          <a:ln cap="flat" cmpd="sng" w="73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8200" lIns="88200" spcFirstLastPara="1" rIns="88200" wrap="square" tIns="88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116" name="Google Shape;116;p17"/>
          <p:cNvSpPr txBox="1"/>
          <p:nvPr/>
        </p:nvSpPr>
        <p:spPr>
          <a:xfrm>
            <a:off x="4709199" y="3332375"/>
            <a:ext cx="621300" cy="4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88200" lIns="88200" spcFirstLastPara="1" rIns="88200" wrap="square" tIns="882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36">
                <a:solidFill>
                  <a:srgbClr val="FF0000"/>
                </a:solidFill>
              </a:rPr>
              <a:t>L</a:t>
            </a:r>
            <a:r>
              <a:rPr baseline="-25000" lang="en" sz="1736">
                <a:solidFill>
                  <a:srgbClr val="FF0000"/>
                </a:solidFill>
              </a:rPr>
              <a:t>2</a:t>
            </a:r>
            <a:endParaRPr baseline="-25000" sz="1736">
              <a:solidFill>
                <a:srgbClr val="FF0000"/>
              </a:solidFill>
            </a:endParaRPr>
          </a:p>
        </p:txBody>
      </p:sp>
      <p:sp>
        <p:nvSpPr>
          <p:cNvPr id="117" name="Google Shape;117;p17"/>
          <p:cNvSpPr/>
          <p:nvPr/>
        </p:nvSpPr>
        <p:spPr>
          <a:xfrm flipH="1" rot="-2700000">
            <a:off x="6945826" y="2687246"/>
            <a:ext cx="172251" cy="2503158"/>
          </a:xfrm>
          <a:prstGeom prst="rightBracket">
            <a:avLst>
              <a:gd fmla="val 0" name="adj"/>
            </a:avLst>
          </a:prstGeom>
          <a:noFill/>
          <a:ln cap="flat" cmpd="sng" w="73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8200" lIns="88200" spcFirstLastPara="1" rIns="88200" wrap="square" tIns="88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118" name="Google Shape;118;p17"/>
          <p:cNvSpPr txBox="1"/>
          <p:nvPr/>
        </p:nvSpPr>
        <p:spPr>
          <a:xfrm>
            <a:off x="6501075" y="3837075"/>
            <a:ext cx="433500" cy="4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88200" lIns="88200" spcFirstLastPara="1" rIns="88200" wrap="square" tIns="882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36">
                <a:solidFill>
                  <a:srgbClr val="FF0000"/>
                </a:solidFill>
              </a:rPr>
              <a:t>L</a:t>
            </a:r>
            <a:r>
              <a:rPr baseline="-25000" lang="en" sz="1736">
                <a:solidFill>
                  <a:srgbClr val="FF0000"/>
                </a:solidFill>
              </a:rPr>
              <a:t>1</a:t>
            </a:r>
            <a:endParaRPr baseline="-25000" sz="1736">
              <a:solidFill>
                <a:srgbClr val="FF0000"/>
              </a:solidFill>
            </a:endParaRPr>
          </a:p>
        </p:txBody>
      </p:sp>
      <p:sp>
        <p:nvSpPr>
          <p:cNvPr id="119" name="Google Shape;119;p17"/>
          <p:cNvSpPr txBox="1"/>
          <p:nvPr/>
        </p:nvSpPr>
        <p:spPr>
          <a:xfrm>
            <a:off x="348650" y="1060025"/>
            <a:ext cx="4896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= a joint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0" name="Google Shape;120;p17"/>
          <p:cNvSpPr txBox="1"/>
          <p:nvPr/>
        </p:nvSpPr>
        <p:spPr>
          <a:xfrm>
            <a:off x="78750" y="1046475"/>
            <a:ext cx="4896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1" name="Google Shape;121;p17"/>
          <p:cNvSpPr txBox="1"/>
          <p:nvPr/>
        </p:nvSpPr>
        <p:spPr>
          <a:xfrm>
            <a:off x="0" y="1900811"/>
            <a:ext cx="2212800" cy="13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5625" lIns="115625" spcFirstLastPara="1" rIns="115625" wrap="square" tIns="1156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L</a:t>
            </a:r>
            <a:r>
              <a:rPr baseline="-25000" lang="en" sz="1800">
                <a:solidFill>
                  <a:srgbClr val="FF0000"/>
                </a:solidFill>
              </a:rPr>
              <a:t>1</a:t>
            </a:r>
            <a:r>
              <a:rPr lang="en" sz="1800">
                <a:solidFill>
                  <a:srgbClr val="FF0000"/>
                </a:solidFill>
              </a:rPr>
              <a:t>=250mm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L</a:t>
            </a:r>
            <a:r>
              <a:rPr baseline="-25000" lang="en" sz="1800">
                <a:solidFill>
                  <a:srgbClr val="FF0000"/>
                </a:solidFill>
              </a:rPr>
              <a:t>2</a:t>
            </a:r>
            <a:r>
              <a:rPr lang="en" sz="1800">
                <a:solidFill>
                  <a:srgbClr val="FF0000"/>
                </a:solidFill>
              </a:rPr>
              <a:t>=250mm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FF0000"/>
                </a:solidFill>
              </a:rPr>
              <a:t>θ</a:t>
            </a:r>
            <a:r>
              <a:rPr baseline="-25000" lang="en" sz="1800">
                <a:solidFill>
                  <a:srgbClr val="FF0000"/>
                </a:solidFill>
              </a:rPr>
              <a:t>1</a:t>
            </a:r>
            <a:r>
              <a:rPr lang="en" sz="1800">
                <a:solidFill>
                  <a:srgbClr val="FF0000"/>
                </a:solidFill>
              </a:rPr>
              <a:t>=45°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FF0000"/>
                </a:solidFill>
              </a:rPr>
              <a:t>θ</a:t>
            </a:r>
            <a:r>
              <a:rPr baseline="-25000" lang="en" sz="1800">
                <a:solidFill>
                  <a:srgbClr val="FF0000"/>
                </a:solidFill>
              </a:rPr>
              <a:t>2</a:t>
            </a:r>
            <a:r>
              <a:rPr lang="en" sz="1800">
                <a:solidFill>
                  <a:srgbClr val="FF0000"/>
                </a:solidFill>
              </a:rPr>
              <a:t>=45°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122" name="Google Shape;122;p17"/>
          <p:cNvSpPr/>
          <p:nvPr/>
        </p:nvSpPr>
        <p:spPr>
          <a:xfrm flipH="1">
            <a:off x="5154789" y="1727658"/>
            <a:ext cx="2286000" cy="2286000"/>
          </a:xfrm>
          <a:prstGeom prst="blockArc">
            <a:avLst>
              <a:gd fmla="val 18969520" name="adj1"/>
              <a:gd fmla="val 21574488" name="adj2"/>
              <a:gd fmla="val 4685" name="adj3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8"/>
          <p:cNvSpPr txBox="1"/>
          <p:nvPr/>
        </p:nvSpPr>
        <p:spPr>
          <a:xfrm>
            <a:off x="0" y="0"/>
            <a:ext cx="594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The arm can therefore be represented as such:</a:t>
            </a:r>
            <a:endParaRPr sz="1800"/>
          </a:p>
        </p:txBody>
      </p:sp>
      <p:sp>
        <p:nvSpPr>
          <p:cNvPr id="128" name="Google Shape;128;p18"/>
          <p:cNvSpPr/>
          <p:nvPr/>
        </p:nvSpPr>
        <p:spPr>
          <a:xfrm flipH="1">
            <a:off x="4097356" y="4648200"/>
            <a:ext cx="5017800" cy="461700"/>
          </a:xfrm>
          <a:prstGeom prst="rect">
            <a:avLst/>
          </a:prstGeom>
          <a:solidFill>
            <a:srgbClr val="43434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8"/>
          <p:cNvSpPr/>
          <p:nvPr/>
        </p:nvSpPr>
        <p:spPr>
          <a:xfrm flipH="1" rot="2700000">
            <a:off x="6781305" y="3366033"/>
            <a:ext cx="2585041" cy="2585041"/>
          </a:xfrm>
          <a:prstGeom prst="blockArc">
            <a:avLst>
              <a:gd fmla="val 18969520" name="adj1"/>
              <a:gd fmla="val 21574488" name="adj2"/>
              <a:gd fmla="val 4685" name="adj3"/>
            </a:avLst>
          </a:prstGeom>
          <a:solidFill>
            <a:srgbClr val="FF0000"/>
          </a:solidFill>
          <a:ln cap="flat" cmpd="sng" w="10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3400" lIns="103400" spcFirstLastPara="1" rIns="103400" wrap="square" tIns="103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83"/>
          </a:p>
        </p:txBody>
      </p:sp>
      <p:cxnSp>
        <p:nvCxnSpPr>
          <p:cNvPr id="130" name="Google Shape;130;p18"/>
          <p:cNvCxnSpPr/>
          <p:nvPr/>
        </p:nvCxnSpPr>
        <p:spPr>
          <a:xfrm>
            <a:off x="6285431" y="2904687"/>
            <a:ext cx="1788300" cy="1793100"/>
          </a:xfrm>
          <a:prstGeom prst="straightConnector1">
            <a:avLst/>
          </a:prstGeom>
          <a:noFill/>
          <a:ln cap="flat" cmpd="sng" w="86175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1" name="Google Shape;131;p18"/>
          <p:cNvCxnSpPr/>
          <p:nvPr/>
        </p:nvCxnSpPr>
        <p:spPr>
          <a:xfrm>
            <a:off x="3710951" y="2904687"/>
            <a:ext cx="2617800" cy="0"/>
          </a:xfrm>
          <a:prstGeom prst="straightConnector1">
            <a:avLst/>
          </a:prstGeom>
          <a:noFill/>
          <a:ln cap="flat" cmpd="sng" w="86175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" name="Google Shape;132;p18"/>
          <p:cNvCxnSpPr/>
          <p:nvPr/>
        </p:nvCxnSpPr>
        <p:spPr>
          <a:xfrm>
            <a:off x="8073733" y="3038813"/>
            <a:ext cx="0" cy="1659000"/>
          </a:xfrm>
          <a:prstGeom prst="straightConnector1">
            <a:avLst/>
          </a:prstGeom>
          <a:noFill/>
          <a:ln cap="flat" cmpd="sng" w="43100">
            <a:solidFill>
              <a:srgbClr val="6AA84F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33" name="Google Shape;133;p18"/>
          <p:cNvCxnSpPr/>
          <p:nvPr/>
        </p:nvCxnSpPr>
        <p:spPr>
          <a:xfrm>
            <a:off x="5060235" y="1636150"/>
            <a:ext cx="1268400" cy="1268400"/>
          </a:xfrm>
          <a:prstGeom prst="straightConnector1">
            <a:avLst/>
          </a:prstGeom>
          <a:noFill/>
          <a:ln cap="flat" cmpd="sng" w="43100">
            <a:solidFill>
              <a:srgbClr val="6AA84F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34" name="Google Shape;134;p18"/>
          <p:cNvSpPr txBox="1"/>
          <p:nvPr/>
        </p:nvSpPr>
        <p:spPr>
          <a:xfrm>
            <a:off x="7625159" y="3540144"/>
            <a:ext cx="792900" cy="5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3400" lIns="103400" spcFirstLastPara="1" rIns="103400" wrap="square" tIns="1034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36">
                <a:solidFill>
                  <a:srgbClr val="FF0000"/>
                </a:solidFill>
              </a:rPr>
              <a:t>θ</a:t>
            </a:r>
            <a:r>
              <a:rPr baseline="-25000" lang="en" sz="2036">
                <a:solidFill>
                  <a:srgbClr val="FF0000"/>
                </a:solidFill>
              </a:rPr>
              <a:t>1</a:t>
            </a:r>
            <a:endParaRPr baseline="-25000" sz="2036">
              <a:solidFill>
                <a:srgbClr val="FF0000"/>
              </a:solidFill>
            </a:endParaRPr>
          </a:p>
        </p:txBody>
      </p:sp>
      <p:sp>
        <p:nvSpPr>
          <p:cNvPr id="135" name="Google Shape;135;p18"/>
          <p:cNvSpPr/>
          <p:nvPr/>
        </p:nvSpPr>
        <p:spPr>
          <a:xfrm>
            <a:off x="6183504" y="2790374"/>
            <a:ext cx="228600" cy="228600"/>
          </a:xfrm>
          <a:prstGeom prst="ellipse">
            <a:avLst/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8"/>
          <p:cNvSpPr/>
          <p:nvPr/>
        </p:nvSpPr>
        <p:spPr>
          <a:xfrm>
            <a:off x="3630804" y="2790374"/>
            <a:ext cx="228600" cy="228600"/>
          </a:xfrm>
          <a:prstGeom prst="ellipse">
            <a:avLst/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8"/>
          <p:cNvSpPr/>
          <p:nvPr/>
        </p:nvSpPr>
        <p:spPr>
          <a:xfrm>
            <a:off x="78754" y="1176574"/>
            <a:ext cx="228600" cy="228600"/>
          </a:xfrm>
          <a:prstGeom prst="ellipse">
            <a:avLst/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8"/>
          <p:cNvSpPr txBox="1"/>
          <p:nvPr/>
        </p:nvSpPr>
        <p:spPr>
          <a:xfrm>
            <a:off x="348650" y="1060025"/>
            <a:ext cx="4896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= a joint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9" name="Google Shape;139;p18"/>
          <p:cNvSpPr txBox="1"/>
          <p:nvPr/>
        </p:nvSpPr>
        <p:spPr>
          <a:xfrm>
            <a:off x="78750" y="1046475"/>
            <a:ext cx="4896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0" name="Google Shape;140;p18"/>
          <p:cNvSpPr txBox="1"/>
          <p:nvPr/>
        </p:nvSpPr>
        <p:spPr>
          <a:xfrm>
            <a:off x="0" y="1900811"/>
            <a:ext cx="2212800" cy="13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5625" lIns="115625" spcFirstLastPara="1" rIns="115625" wrap="square" tIns="1156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L</a:t>
            </a:r>
            <a:r>
              <a:rPr baseline="-25000" lang="en" sz="1800">
                <a:solidFill>
                  <a:srgbClr val="FF0000"/>
                </a:solidFill>
              </a:rPr>
              <a:t>1</a:t>
            </a:r>
            <a:r>
              <a:rPr lang="en" sz="1800">
                <a:solidFill>
                  <a:srgbClr val="FF0000"/>
                </a:solidFill>
              </a:rPr>
              <a:t>=250mm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L</a:t>
            </a:r>
            <a:r>
              <a:rPr baseline="-25000" lang="en" sz="1800">
                <a:solidFill>
                  <a:srgbClr val="FF0000"/>
                </a:solidFill>
              </a:rPr>
              <a:t>2</a:t>
            </a:r>
            <a:r>
              <a:rPr lang="en" sz="1800">
                <a:solidFill>
                  <a:srgbClr val="FF0000"/>
                </a:solidFill>
              </a:rPr>
              <a:t>=250mm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θ</a:t>
            </a:r>
            <a:r>
              <a:rPr baseline="-25000" lang="en" sz="1800">
                <a:solidFill>
                  <a:srgbClr val="FF0000"/>
                </a:solidFill>
              </a:rPr>
              <a:t>1</a:t>
            </a:r>
            <a:r>
              <a:rPr lang="en" sz="1800">
                <a:solidFill>
                  <a:srgbClr val="FF0000"/>
                </a:solidFill>
              </a:rPr>
              <a:t>=45°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θ</a:t>
            </a:r>
            <a:r>
              <a:rPr baseline="-25000" lang="en" sz="1800">
                <a:solidFill>
                  <a:srgbClr val="FF0000"/>
                </a:solidFill>
              </a:rPr>
              <a:t>2</a:t>
            </a:r>
            <a:r>
              <a:rPr lang="en" sz="1800">
                <a:solidFill>
                  <a:srgbClr val="FF0000"/>
                </a:solidFill>
              </a:rPr>
              <a:t>=45°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141" name="Google Shape;141;p18"/>
          <p:cNvSpPr txBox="1"/>
          <p:nvPr/>
        </p:nvSpPr>
        <p:spPr>
          <a:xfrm>
            <a:off x="3368050" y="2324100"/>
            <a:ext cx="87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(X, Y)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142" name="Google Shape;142;p18"/>
          <p:cNvSpPr txBox="1"/>
          <p:nvPr/>
        </p:nvSpPr>
        <p:spPr>
          <a:xfrm>
            <a:off x="0" y="3909300"/>
            <a:ext cx="3655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The location of the end effector is the </a:t>
            </a:r>
            <a:r>
              <a:rPr lang="en" sz="1800"/>
              <a:t>unknown</a:t>
            </a:r>
            <a:r>
              <a:rPr lang="en" sz="1800"/>
              <a:t> variable</a:t>
            </a:r>
            <a:endParaRPr sz="1800"/>
          </a:p>
        </p:txBody>
      </p:sp>
      <p:sp>
        <p:nvSpPr>
          <p:cNvPr id="143" name="Google Shape;143;p18"/>
          <p:cNvSpPr/>
          <p:nvPr/>
        </p:nvSpPr>
        <p:spPr>
          <a:xfrm flipH="1">
            <a:off x="5154789" y="1727658"/>
            <a:ext cx="2286000" cy="2286000"/>
          </a:xfrm>
          <a:prstGeom prst="blockArc">
            <a:avLst>
              <a:gd fmla="val 18969520" name="adj1"/>
              <a:gd fmla="val 21574488" name="adj2"/>
              <a:gd fmla="val 4685" name="adj3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8"/>
          <p:cNvSpPr txBox="1"/>
          <p:nvPr/>
        </p:nvSpPr>
        <p:spPr>
          <a:xfrm>
            <a:off x="5401626" y="2310600"/>
            <a:ext cx="792900" cy="5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3400" lIns="103400" spcFirstLastPara="1" rIns="103400" wrap="square" tIns="1034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36">
                <a:solidFill>
                  <a:srgbClr val="FF0000"/>
                </a:solidFill>
              </a:rPr>
              <a:t>θ</a:t>
            </a:r>
            <a:r>
              <a:rPr baseline="-25000" lang="en" sz="2036">
                <a:solidFill>
                  <a:srgbClr val="FF0000"/>
                </a:solidFill>
              </a:rPr>
              <a:t>2</a:t>
            </a:r>
            <a:endParaRPr baseline="-25000" sz="2036">
              <a:solidFill>
                <a:srgbClr val="FF0000"/>
              </a:solidFill>
            </a:endParaRPr>
          </a:p>
        </p:txBody>
      </p:sp>
      <p:cxnSp>
        <p:nvCxnSpPr>
          <p:cNvPr id="145" name="Google Shape;145;p18"/>
          <p:cNvCxnSpPr>
            <a:stCxn id="142" idx="0"/>
            <a:endCxn id="136" idx="2"/>
          </p:cNvCxnSpPr>
          <p:nvPr/>
        </p:nvCxnSpPr>
        <p:spPr>
          <a:xfrm flipH="1" rot="10800000">
            <a:off x="1827900" y="2904600"/>
            <a:ext cx="1803000" cy="10047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6" name="Google Shape;146;p18"/>
          <p:cNvSpPr txBox="1"/>
          <p:nvPr/>
        </p:nvSpPr>
        <p:spPr>
          <a:xfrm>
            <a:off x="8188025" y="4282050"/>
            <a:ext cx="792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(0, 0)</a:t>
            </a:r>
            <a:endParaRPr sz="1800">
              <a:solidFill>
                <a:srgbClr val="FF0000"/>
              </a:solidFill>
            </a:endParaRPr>
          </a:p>
        </p:txBody>
      </p:sp>
      <p:cxnSp>
        <p:nvCxnSpPr>
          <p:cNvPr id="147" name="Google Shape;147;p18"/>
          <p:cNvCxnSpPr/>
          <p:nvPr/>
        </p:nvCxnSpPr>
        <p:spPr>
          <a:xfrm rot="10800000">
            <a:off x="8075113" y="2245641"/>
            <a:ext cx="0" cy="2521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8" name="Google Shape;148;p18"/>
          <p:cNvCxnSpPr/>
          <p:nvPr/>
        </p:nvCxnSpPr>
        <p:spPr>
          <a:xfrm rot="10800000">
            <a:off x="5664800" y="4648191"/>
            <a:ext cx="251850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9" name="Google Shape;149;p18"/>
          <p:cNvSpPr txBox="1"/>
          <p:nvPr/>
        </p:nvSpPr>
        <p:spPr>
          <a:xfrm flipH="1">
            <a:off x="8075122" y="2754875"/>
            <a:ext cx="35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Y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150" name="Google Shape;150;p18"/>
          <p:cNvSpPr txBox="1"/>
          <p:nvPr/>
        </p:nvSpPr>
        <p:spPr>
          <a:xfrm flipH="1">
            <a:off x="6247784" y="4648200"/>
            <a:ext cx="35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X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151" name="Google Shape;151;p18"/>
          <p:cNvSpPr/>
          <p:nvPr/>
        </p:nvSpPr>
        <p:spPr>
          <a:xfrm>
            <a:off x="7959429" y="4544249"/>
            <a:ext cx="228600" cy="228600"/>
          </a:xfrm>
          <a:prstGeom prst="ellipse">
            <a:avLst/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 txBox="1"/>
          <p:nvPr/>
        </p:nvSpPr>
        <p:spPr>
          <a:xfrm>
            <a:off x="0" y="0"/>
            <a:ext cx="594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The arm can therefore be represented as such:</a:t>
            </a:r>
            <a:endParaRPr sz="1800"/>
          </a:p>
        </p:txBody>
      </p:sp>
      <p:sp>
        <p:nvSpPr>
          <p:cNvPr id="157" name="Google Shape;157;p19"/>
          <p:cNvSpPr/>
          <p:nvPr/>
        </p:nvSpPr>
        <p:spPr>
          <a:xfrm flipH="1">
            <a:off x="4097356" y="4648200"/>
            <a:ext cx="5017800" cy="461700"/>
          </a:xfrm>
          <a:prstGeom prst="rect">
            <a:avLst/>
          </a:prstGeom>
          <a:solidFill>
            <a:srgbClr val="43434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9"/>
          <p:cNvSpPr/>
          <p:nvPr/>
        </p:nvSpPr>
        <p:spPr>
          <a:xfrm flipH="1" rot="2700000">
            <a:off x="6781305" y="3366033"/>
            <a:ext cx="2585041" cy="2585041"/>
          </a:xfrm>
          <a:prstGeom prst="blockArc">
            <a:avLst>
              <a:gd fmla="val 18969520" name="adj1"/>
              <a:gd fmla="val 21574488" name="adj2"/>
              <a:gd fmla="val 4685" name="adj3"/>
            </a:avLst>
          </a:prstGeom>
          <a:solidFill>
            <a:srgbClr val="FF0000"/>
          </a:solidFill>
          <a:ln cap="flat" cmpd="sng" w="107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3400" lIns="103400" spcFirstLastPara="1" rIns="103400" wrap="square" tIns="103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83"/>
          </a:p>
        </p:txBody>
      </p:sp>
      <p:cxnSp>
        <p:nvCxnSpPr>
          <p:cNvPr id="159" name="Google Shape;159;p19"/>
          <p:cNvCxnSpPr/>
          <p:nvPr/>
        </p:nvCxnSpPr>
        <p:spPr>
          <a:xfrm>
            <a:off x="6285431" y="2904687"/>
            <a:ext cx="1788300" cy="1793100"/>
          </a:xfrm>
          <a:prstGeom prst="straightConnector1">
            <a:avLst/>
          </a:prstGeom>
          <a:noFill/>
          <a:ln cap="flat" cmpd="sng" w="86175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0" name="Google Shape;160;p19"/>
          <p:cNvCxnSpPr/>
          <p:nvPr/>
        </p:nvCxnSpPr>
        <p:spPr>
          <a:xfrm>
            <a:off x="3710951" y="2904687"/>
            <a:ext cx="2617800" cy="0"/>
          </a:xfrm>
          <a:prstGeom prst="straightConnector1">
            <a:avLst/>
          </a:prstGeom>
          <a:noFill/>
          <a:ln cap="flat" cmpd="sng" w="86175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1" name="Google Shape;161;p19"/>
          <p:cNvCxnSpPr/>
          <p:nvPr/>
        </p:nvCxnSpPr>
        <p:spPr>
          <a:xfrm>
            <a:off x="8073733" y="3038813"/>
            <a:ext cx="0" cy="1659000"/>
          </a:xfrm>
          <a:prstGeom prst="straightConnector1">
            <a:avLst/>
          </a:prstGeom>
          <a:noFill/>
          <a:ln cap="flat" cmpd="sng" w="43100">
            <a:solidFill>
              <a:srgbClr val="6AA84F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62" name="Google Shape;162;p19"/>
          <p:cNvCxnSpPr/>
          <p:nvPr/>
        </p:nvCxnSpPr>
        <p:spPr>
          <a:xfrm>
            <a:off x="5060235" y="1636150"/>
            <a:ext cx="1268400" cy="1268400"/>
          </a:xfrm>
          <a:prstGeom prst="straightConnector1">
            <a:avLst/>
          </a:prstGeom>
          <a:noFill/>
          <a:ln cap="flat" cmpd="sng" w="43100">
            <a:solidFill>
              <a:srgbClr val="6AA84F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63" name="Google Shape;163;p19"/>
          <p:cNvSpPr txBox="1"/>
          <p:nvPr/>
        </p:nvSpPr>
        <p:spPr>
          <a:xfrm>
            <a:off x="7625159" y="3540144"/>
            <a:ext cx="792900" cy="5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3400" lIns="103400" spcFirstLastPara="1" rIns="103400" wrap="square" tIns="1034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36">
                <a:solidFill>
                  <a:srgbClr val="FF0000"/>
                </a:solidFill>
              </a:rPr>
              <a:t>θ</a:t>
            </a:r>
            <a:r>
              <a:rPr baseline="-25000" lang="en" sz="2036">
                <a:solidFill>
                  <a:srgbClr val="FF0000"/>
                </a:solidFill>
              </a:rPr>
              <a:t>1</a:t>
            </a:r>
            <a:endParaRPr baseline="-25000" sz="2036">
              <a:solidFill>
                <a:srgbClr val="FF0000"/>
              </a:solidFill>
            </a:endParaRPr>
          </a:p>
        </p:txBody>
      </p:sp>
      <p:sp>
        <p:nvSpPr>
          <p:cNvPr id="164" name="Google Shape;164;p19"/>
          <p:cNvSpPr/>
          <p:nvPr/>
        </p:nvSpPr>
        <p:spPr>
          <a:xfrm>
            <a:off x="7959429" y="4544249"/>
            <a:ext cx="228600" cy="228600"/>
          </a:xfrm>
          <a:prstGeom prst="ellipse">
            <a:avLst/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9"/>
          <p:cNvSpPr/>
          <p:nvPr/>
        </p:nvSpPr>
        <p:spPr>
          <a:xfrm>
            <a:off x="6183504" y="2790374"/>
            <a:ext cx="228600" cy="228600"/>
          </a:xfrm>
          <a:prstGeom prst="ellipse">
            <a:avLst/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9"/>
          <p:cNvSpPr/>
          <p:nvPr/>
        </p:nvSpPr>
        <p:spPr>
          <a:xfrm>
            <a:off x="3630804" y="2790374"/>
            <a:ext cx="228600" cy="228600"/>
          </a:xfrm>
          <a:prstGeom prst="ellipse">
            <a:avLst/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9"/>
          <p:cNvSpPr/>
          <p:nvPr/>
        </p:nvSpPr>
        <p:spPr>
          <a:xfrm>
            <a:off x="78754" y="1176574"/>
            <a:ext cx="228600" cy="228600"/>
          </a:xfrm>
          <a:prstGeom prst="ellipse">
            <a:avLst/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9"/>
          <p:cNvSpPr txBox="1"/>
          <p:nvPr/>
        </p:nvSpPr>
        <p:spPr>
          <a:xfrm>
            <a:off x="348650" y="1060025"/>
            <a:ext cx="4896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= a joint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69" name="Google Shape;169;p19"/>
          <p:cNvSpPr txBox="1"/>
          <p:nvPr/>
        </p:nvSpPr>
        <p:spPr>
          <a:xfrm>
            <a:off x="0" y="1900811"/>
            <a:ext cx="2212800" cy="13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5625" lIns="115625" spcFirstLastPara="1" rIns="115625" wrap="square" tIns="1156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L</a:t>
            </a:r>
            <a:r>
              <a:rPr baseline="-25000" lang="en" sz="1800">
                <a:solidFill>
                  <a:srgbClr val="FF0000"/>
                </a:solidFill>
              </a:rPr>
              <a:t>1</a:t>
            </a:r>
            <a:r>
              <a:rPr lang="en" sz="1800">
                <a:solidFill>
                  <a:srgbClr val="FF0000"/>
                </a:solidFill>
              </a:rPr>
              <a:t>=250mm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L</a:t>
            </a:r>
            <a:r>
              <a:rPr baseline="-25000" lang="en" sz="1800">
                <a:solidFill>
                  <a:srgbClr val="FF0000"/>
                </a:solidFill>
              </a:rPr>
              <a:t>2</a:t>
            </a:r>
            <a:r>
              <a:rPr lang="en" sz="1800">
                <a:solidFill>
                  <a:srgbClr val="FF0000"/>
                </a:solidFill>
              </a:rPr>
              <a:t>=250mm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θ</a:t>
            </a:r>
            <a:r>
              <a:rPr baseline="-25000" lang="en" sz="1800">
                <a:solidFill>
                  <a:srgbClr val="FF0000"/>
                </a:solidFill>
              </a:rPr>
              <a:t>1</a:t>
            </a:r>
            <a:r>
              <a:rPr lang="en" sz="1800">
                <a:solidFill>
                  <a:srgbClr val="FF0000"/>
                </a:solidFill>
              </a:rPr>
              <a:t>=45°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θ</a:t>
            </a:r>
            <a:r>
              <a:rPr baseline="-25000" lang="en" sz="1800">
                <a:solidFill>
                  <a:srgbClr val="FF0000"/>
                </a:solidFill>
              </a:rPr>
              <a:t>2</a:t>
            </a:r>
            <a:r>
              <a:rPr lang="en" sz="1800">
                <a:solidFill>
                  <a:srgbClr val="FF0000"/>
                </a:solidFill>
              </a:rPr>
              <a:t>=45°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170" name="Google Shape;170;p19"/>
          <p:cNvSpPr txBox="1"/>
          <p:nvPr/>
        </p:nvSpPr>
        <p:spPr>
          <a:xfrm>
            <a:off x="3368050" y="2324100"/>
            <a:ext cx="87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(X, Y)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171" name="Google Shape;171;p19"/>
          <p:cNvSpPr txBox="1"/>
          <p:nvPr/>
        </p:nvSpPr>
        <p:spPr>
          <a:xfrm>
            <a:off x="0" y="3816900"/>
            <a:ext cx="36558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The </a:t>
            </a:r>
            <a:r>
              <a:rPr lang="en" sz="1800"/>
              <a:t>position</a:t>
            </a:r>
            <a:r>
              <a:rPr lang="en" sz="1800"/>
              <a:t> of the end effector will be a sum of the vertical and horizontal displacement of each joint</a:t>
            </a:r>
            <a:endParaRPr sz="1800"/>
          </a:p>
        </p:txBody>
      </p:sp>
      <p:sp>
        <p:nvSpPr>
          <p:cNvPr id="172" name="Google Shape;172;p19"/>
          <p:cNvSpPr/>
          <p:nvPr/>
        </p:nvSpPr>
        <p:spPr>
          <a:xfrm flipH="1">
            <a:off x="5154789" y="1727658"/>
            <a:ext cx="2286000" cy="2286000"/>
          </a:xfrm>
          <a:prstGeom prst="blockArc">
            <a:avLst>
              <a:gd fmla="val 18969520" name="adj1"/>
              <a:gd fmla="val 21574488" name="adj2"/>
              <a:gd fmla="val 4685" name="adj3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9"/>
          <p:cNvSpPr txBox="1"/>
          <p:nvPr/>
        </p:nvSpPr>
        <p:spPr>
          <a:xfrm>
            <a:off x="5401626" y="2310600"/>
            <a:ext cx="792900" cy="5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3400" lIns="103400" spcFirstLastPara="1" rIns="103400" wrap="square" tIns="1034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36">
                <a:solidFill>
                  <a:srgbClr val="FF0000"/>
                </a:solidFill>
              </a:rPr>
              <a:t>θ</a:t>
            </a:r>
            <a:r>
              <a:rPr baseline="-25000" lang="en" sz="2036">
                <a:solidFill>
                  <a:srgbClr val="FF0000"/>
                </a:solidFill>
              </a:rPr>
              <a:t>2</a:t>
            </a:r>
            <a:endParaRPr baseline="-25000" sz="2036">
              <a:solidFill>
                <a:srgbClr val="FF0000"/>
              </a:solidFill>
            </a:endParaRPr>
          </a:p>
        </p:txBody>
      </p:sp>
      <p:sp>
        <p:nvSpPr>
          <p:cNvPr id="174" name="Google Shape;174;p19"/>
          <p:cNvSpPr/>
          <p:nvPr/>
        </p:nvSpPr>
        <p:spPr>
          <a:xfrm flipH="1" rot="10800000">
            <a:off x="8342275" y="2767875"/>
            <a:ext cx="172200" cy="1870800"/>
          </a:xfrm>
          <a:prstGeom prst="rightBracket">
            <a:avLst>
              <a:gd fmla="val 0" name="adj"/>
            </a:avLst>
          </a:prstGeom>
          <a:noFill/>
          <a:ln cap="flat" cmpd="sng" w="73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8200" lIns="88200" spcFirstLastPara="1" rIns="88200" wrap="square" tIns="88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175" name="Google Shape;175;p19"/>
          <p:cNvSpPr txBox="1"/>
          <p:nvPr/>
        </p:nvSpPr>
        <p:spPr>
          <a:xfrm>
            <a:off x="8533525" y="3281850"/>
            <a:ext cx="61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ΔY</a:t>
            </a:r>
            <a:r>
              <a:rPr baseline="-25000" lang="en" sz="1800">
                <a:solidFill>
                  <a:srgbClr val="FF0000"/>
                </a:solidFill>
              </a:rPr>
              <a:t>1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176" name="Google Shape;176;p19"/>
          <p:cNvSpPr/>
          <p:nvPr/>
        </p:nvSpPr>
        <p:spPr>
          <a:xfrm flipH="1" rot="5400000">
            <a:off x="7106125" y="1503450"/>
            <a:ext cx="172200" cy="1813500"/>
          </a:xfrm>
          <a:prstGeom prst="rightBracket">
            <a:avLst>
              <a:gd fmla="val 0" name="adj"/>
            </a:avLst>
          </a:prstGeom>
          <a:noFill/>
          <a:ln cap="flat" cmpd="sng" w="73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8200" lIns="88200" spcFirstLastPara="1" rIns="88200" wrap="square" tIns="88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177" name="Google Shape;177;p19"/>
          <p:cNvSpPr txBox="1"/>
          <p:nvPr/>
        </p:nvSpPr>
        <p:spPr>
          <a:xfrm>
            <a:off x="6886975" y="1755250"/>
            <a:ext cx="61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ΔX</a:t>
            </a:r>
            <a:r>
              <a:rPr baseline="-25000" lang="en" sz="1800">
                <a:solidFill>
                  <a:srgbClr val="FF0000"/>
                </a:solidFill>
              </a:rPr>
              <a:t>1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178" name="Google Shape;178;p19"/>
          <p:cNvSpPr/>
          <p:nvPr/>
        </p:nvSpPr>
        <p:spPr>
          <a:xfrm rot="5400000">
            <a:off x="4933750" y="1865850"/>
            <a:ext cx="172200" cy="2581500"/>
          </a:xfrm>
          <a:prstGeom prst="rightBracket">
            <a:avLst>
              <a:gd fmla="val 0" name="adj"/>
            </a:avLst>
          </a:prstGeom>
          <a:noFill/>
          <a:ln cap="flat" cmpd="sng" w="73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8200" lIns="88200" spcFirstLastPara="1" rIns="88200" wrap="square" tIns="88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179" name="Google Shape;179;p19"/>
          <p:cNvSpPr txBox="1"/>
          <p:nvPr/>
        </p:nvSpPr>
        <p:spPr>
          <a:xfrm>
            <a:off x="4635050" y="3281850"/>
            <a:ext cx="61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ΔX</a:t>
            </a:r>
            <a:r>
              <a:rPr baseline="-25000" lang="en" sz="1800">
                <a:solidFill>
                  <a:srgbClr val="FF0000"/>
                </a:solidFill>
              </a:rPr>
              <a:t>2</a:t>
            </a:r>
            <a:endParaRPr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4" name="Google Shape;184;p20"/>
          <p:cNvCxnSpPr/>
          <p:nvPr/>
        </p:nvCxnSpPr>
        <p:spPr>
          <a:xfrm>
            <a:off x="8086575" y="2861575"/>
            <a:ext cx="0" cy="1836300"/>
          </a:xfrm>
          <a:prstGeom prst="straightConnector1">
            <a:avLst/>
          </a:prstGeom>
          <a:noFill/>
          <a:ln cap="flat" cmpd="sng" w="86175">
            <a:solidFill>
              <a:srgbClr val="6AA84F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85" name="Google Shape;185;p20"/>
          <p:cNvCxnSpPr/>
          <p:nvPr/>
        </p:nvCxnSpPr>
        <p:spPr>
          <a:xfrm>
            <a:off x="3745100" y="334175"/>
            <a:ext cx="0" cy="2554800"/>
          </a:xfrm>
          <a:prstGeom prst="straightConnector1">
            <a:avLst/>
          </a:prstGeom>
          <a:noFill/>
          <a:ln cap="flat" cmpd="sng" w="86175">
            <a:solidFill>
              <a:srgbClr val="6AA84F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86" name="Google Shape;186;p20"/>
          <p:cNvCxnSpPr/>
          <p:nvPr/>
        </p:nvCxnSpPr>
        <p:spPr>
          <a:xfrm>
            <a:off x="3736550" y="343875"/>
            <a:ext cx="2560800" cy="2560800"/>
          </a:xfrm>
          <a:prstGeom prst="straightConnector1">
            <a:avLst/>
          </a:prstGeom>
          <a:noFill/>
          <a:ln cap="flat" cmpd="sng" w="86175">
            <a:solidFill>
              <a:srgbClr val="6AA84F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87" name="Google Shape;187;p20"/>
          <p:cNvCxnSpPr/>
          <p:nvPr/>
        </p:nvCxnSpPr>
        <p:spPr>
          <a:xfrm>
            <a:off x="6297375" y="2903775"/>
            <a:ext cx="1835700" cy="0"/>
          </a:xfrm>
          <a:prstGeom prst="straightConnector1">
            <a:avLst/>
          </a:prstGeom>
          <a:noFill/>
          <a:ln cap="flat" cmpd="sng" w="86175">
            <a:solidFill>
              <a:srgbClr val="6AA84F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88" name="Google Shape;188;p20"/>
          <p:cNvSpPr txBox="1"/>
          <p:nvPr/>
        </p:nvSpPr>
        <p:spPr>
          <a:xfrm>
            <a:off x="0" y="0"/>
            <a:ext cx="594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The arm can therefore be represented as such:</a:t>
            </a:r>
            <a:endParaRPr sz="1800"/>
          </a:p>
        </p:txBody>
      </p:sp>
      <p:sp>
        <p:nvSpPr>
          <p:cNvPr id="189" name="Google Shape;189;p20"/>
          <p:cNvSpPr/>
          <p:nvPr/>
        </p:nvSpPr>
        <p:spPr>
          <a:xfrm flipH="1">
            <a:off x="4097356" y="4648200"/>
            <a:ext cx="5017800" cy="461700"/>
          </a:xfrm>
          <a:prstGeom prst="rect">
            <a:avLst/>
          </a:prstGeom>
          <a:solidFill>
            <a:srgbClr val="43434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0" name="Google Shape;190;p20"/>
          <p:cNvCxnSpPr/>
          <p:nvPr/>
        </p:nvCxnSpPr>
        <p:spPr>
          <a:xfrm>
            <a:off x="6285431" y="2904687"/>
            <a:ext cx="1788300" cy="1793100"/>
          </a:xfrm>
          <a:prstGeom prst="straightConnector1">
            <a:avLst/>
          </a:prstGeom>
          <a:noFill/>
          <a:ln cap="flat" cmpd="sng" w="86175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1" name="Google Shape;191;p20"/>
          <p:cNvCxnSpPr/>
          <p:nvPr/>
        </p:nvCxnSpPr>
        <p:spPr>
          <a:xfrm>
            <a:off x="3710951" y="2904687"/>
            <a:ext cx="2617800" cy="0"/>
          </a:xfrm>
          <a:prstGeom prst="straightConnector1">
            <a:avLst/>
          </a:prstGeom>
          <a:noFill/>
          <a:ln cap="flat" cmpd="sng" w="86175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2" name="Google Shape;192;p20"/>
          <p:cNvSpPr txBox="1"/>
          <p:nvPr/>
        </p:nvSpPr>
        <p:spPr>
          <a:xfrm>
            <a:off x="7677284" y="3816894"/>
            <a:ext cx="792900" cy="5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3400" lIns="103400" spcFirstLastPara="1" rIns="103400" wrap="square" tIns="1034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36">
                <a:solidFill>
                  <a:srgbClr val="FF0000"/>
                </a:solidFill>
              </a:rPr>
              <a:t>θ</a:t>
            </a:r>
            <a:r>
              <a:rPr baseline="-25000" lang="en" sz="2036">
                <a:solidFill>
                  <a:srgbClr val="FF0000"/>
                </a:solidFill>
              </a:rPr>
              <a:t>1</a:t>
            </a:r>
            <a:endParaRPr baseline="-25000" sz="2036">
              <a:solidFill>
                <a:srgbClr val="FF0000"/>
              </a:solidFill>
            </a:endParaRPr>
          </a:p>
        </p:txBody>
      </p:sp>
      <p:sp>
        <p:nvSpPr>
          <p:cNvPr id="193" name="Google Shape;193;p20"/>
          <p:cNvSpPr/>
          <p:nvPr/>
        </p:nvSpPr>
        <p:spPr>
          <a:xfrm>
            <a:off x="7959429" y="4544249"/>
            <a:ext cx="228600" cy="228600"/>
          </a:xfrm>
          <a:prstGeom prst="ellipse">
            <a:avLst/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20"/>
          <p:cNvSpPr/>
          <p:nvPr/>
        </p:nvSpPr>
        <p:spPr>
          <a:xfrm>
            <a:off x="6183504" y="2790374"/>
            <a:ext cx="228600" cy="228600"/>
          </a:xfrm>
          <a:prstGeom prst="ellipse">
            <a:avLst/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20"/>
          <p:cNvSpPr/>
          <p:nvPr/>
        </p:nvSpPr>
        <p:spPr>
          <a:xfrm>
            <a:off x="3630804" y="2790374"/>
            <a:ext cx="228600" cy="228600"/>
          </a:xfrm>
          <a:prstGeom prst="ellipse">
            <a:avLst/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20"/>
          <p:cNvSpPr/>
          <p:nvPr/>
        </p:nvSpPr>
        <p:spPr>
          <a:xfrm>
            <a:off x="78754" y="1176574"/>
            <a:ext cx="228600" cy="228600"/>
          </a:xfrm>
          <a:prstGeom prst="ellipse">
            <a:avLst/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20"/>
          <p:cNvSpPr txBox="1"/>
          <p:nvPr/>
        </p:nvSpPr>
        <p:spPr>
          <a:xfrm>
            <a:off x="348650" y="1060025"/>
            <a:ext cx="4896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= a joint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98" name="Google Shape;198;p20"/>
          <p:cNvSpPr txBox="1"/>
          <p:nvPr/>
        </p:nvSpPr>
        <p:spPr>
          <a:xfrm>
            <a:off x="0" y="1900811"/>
            <a:ext cx="2212800" cy="13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5625" lIns="115625" spcFirstLastPara="1" rIns="115625" wrap="square" tIns="1156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L</a:t>
            </a:r>
            <a:r>
              <a:rPr baseline="-25000" lang="en" sz="1800">
                <a:solidFill>
                  <a:srgbClr val="FF0000"/>
                </a:solidFill>
              </a:rPr>
              <a:t>1</a:t>
            </a:r>
            <a:r>
              <a:rPr lang="en" sz="1800">
                <a:solidFill>
                  <a:srgbClr val="FF0000"/>
                </a:solidFill>
              </a:rPr>
              <a:t>=250mm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L</a:t>
            </a:r>
            <a:r>
              <a:rPr baseline="-25000" lang="en" sz="1800">
                <a:solidFill>
                  <a:srgbClr val="FF0000"/>
                </a:solidFill>
              </a:rPr>
              <a:t>2</a:t>
            </a:r>
            <a:r>
              <a:rPr lang="en" sz="1800">
                <a:solidFill>
                  <a:srgbClr val="FF0000"/>
                </a:solidFill>
              </a:rPr>
              <a:t>=250mm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θ</a:t>
            </a:r>
            <a:r>
              <a:rPr baseline="-25000" lang="en" sz="1800">
                <a:solidFill>
                  <a:srgbClr val="FF0000"/>
                </a:solidFill>
              </a:rPr>
              <a:t>1</a:t>
            </a:r>
            <a:r>
              <a:rPr lang="en" sz="1800">
                <a:solidFill>
                  <a:srgbClr val="FF0000"/>
                </a:solidFill>
              </a:rPr>
              <a:t>=45°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θ</a:t>
            </a:r>
            <a:r>
              <a:rPr baseline="-25000" lang="en" sz="1800">
                <a:solidFill>
                  <a:srgbClr val="FF0000"/>
                </a:solidFill>
              </a:rPr>
              <a:t>2</a:t>
            </a:r>
            <a:r>
              <a:rPr lang="en" sz="1800">
                <a:solidFill>
                  <a:srgbClr val="FF0000"/>
                </a:solidFill>
              </a:rPr>
              <a:t>=45°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199" name="Google Shape;199;p20"/>
          <p:cNvSpPr txBox="1"/>
          <p:nvPr/>
        </p:nvSpPr>
        <p:spPr>
          <a:xfrm>
            <a:off x="2837900" y="2673825"/>
            <a:ext cx="792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(X, Y)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0" y="3816900"/>
            <a:ext cx="3655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The displacement can be represented by triangles</a:t>
            </a:r>
            <a:endParaRPr sz="1800"/>
          </a:p>
        </p:txBody>
      </p:sp>
      <p:sp>
        <p:nvSpPr>
          <p:cNvPr id="201" name="Google Shape;201;p20"/>
          <p:cNvSpPr txBox="1"/>
          <p:nvPr/>
        </p:nvSpPr>
        <p:spPr>
          <a:xfrm>
            <a:off x="8188025" y="3434250"/>
            <a:ext cx="61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ΔY</a:t>
            </a:r>
            <a:r>
              <a:rPr baseline="-25000" lang="en" sz="1800">
                <a:solidFill>
                  <a:srgbClr val="FF0000"/>
                </a:solidFill>
              </a:rPr>
              <a:t>1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202" name="Google Shape;202;p20"/>
          <p:cNvSpPr txBox="1"/>
          <p:nvPr/>
        </p:nvSpPr>
        <p:spPr>
          <a:xfrm>
            <a:off x="7066775" y="2328675"/>
            <a:ext cx="61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ΔX</a:t>
            </a:r>
            <a:r>
              <a:rPr baseline="-25000" lang="en" sz="1800">
                <a:solidFill>
                  <a:srgbClr val="FF0000"/>
                </a:solidFill>
              </a:rPr>
              <a:t>1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203" name="Google Shape;203;p20"/>
          <p:cNvSpPr txBox="1"/>
          <p:nvPr/>
        </p:nvSpPr>
        <p:spPr>
          <a:xfrm>
            <a:off x="4716200" y="3018975"/>
            <a:ext cx="61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ΔX</a:t>
            </a:r>
            <a:r>
              <a:rPr baseline="-25000" lang="en" sz="1800">
                <a:solidFill>
                  <a:srgbClr val="FF0000"/>
                </a:solidFill>
              </a:rPr>
              <a:t>2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204" name="Google Shape;204;p20"/>
          <p:cNvSpPr txBox="1"/>
          <p:nvPr/>
        </p:nvSpPr>
        <p:spPr>
          <a:xfrm>
            <a:off x="5492526" y="2382375"/>
            <a:ext cx="792900" cy="5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3400" lIns="103400" spcFirstLastPara="1" rIns="103400" wrap="square" tIns="1034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36">
                <a:solidFill>
                  <a:srgbClr val="FF0000"/>
                </a:solidFill>
              </a:rPr>
              <a:t>θ</a:t>
            </a:r>
            <a:r>
              <a:rPr baseline="-25000" lang="en" sz="2036">
                <a:solidFill>
                  <a:srgbClr val="FF0000"/>
                </a:solidFill>
              </a:rPr>
              <a:t>2</a:t>
            </a:r>
            <a:endParaRPr baseline="-25000" sz="2036">
              <a:solidFill>
                <a:srgbClr val="FF0000"/>
              </a:solidFill>
            </a:endParaRPr>
          </a:p>
        </p:txBody>
      </p:sp>
      <p:sp>
        <p:nvSpPr>
          <p:cNvPr id="205" name="Google Shape;205;p20"/>
          <p:cNvSpPr txBox="1"/>
          <p:nvPr/>
        </p:nvSpPr>
        <p:spPr>
          <a:xfrm>
            <a:off x="8188025" y="4282050"/>
            <a:ext cx="792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(0, 0)</a:t>
            </a:r>
            <a:endParaRPr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0" name="Google Shape;210;p21"/>
          <p:cNvCxnSpPr/>
          <p:nvPr/>
        </p:nvCxnSpPr>
        <p:spPr>
          <a:xfrm>
            <a:off x="8086575" y="2861575"/>
            <a:ext cx="0" cy="1836300"/>
          </a:xfrm>
          <a:prstGeom prst="straightConnector1">
            <a:avLst/>
          </a:prstGeom>
          <a:noFill/>
          <a:ln cap="flat" cmpd="sng" w="86175">
            <a:solidFill>
              <a:srgbClr val="6AA84F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11" name="Google Shape;211;p21"/>
          <p:cNvCxnSpPr/>
          <p:nvPr/>
        </p:nvCxnSpPr>
        <p:spPr>
          <a:xfrm>
            <a:off x="3745100" y="334175"/>
            <a:ext cx="0" cy="2554800"/>
          </a:xfrm>
          <a:prstGeom prst="straightConnector1">
            <a:avLst/>
          </a:prstGeom>
          <a:noFill/>
          <a:ln cap="flat" cmpd="sng" w="86175">
            <a:solidFill>
              <a:srgbClr val="6AA84F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12" name="Google Shape;212;p21"/>
          <p:cNvCxnSpPr/>
          <p:nvPr/>
        </p:nvCxnSpPr>
        <p:spPr>
          <a:xfrm>
            <a:off x="3736550" y="343875"/>
            <a:ext cx="2560800" cy="2560800"/>
          </a:xfrm>
          <a:prstGeom prst="straightConnector1">
            <a:avLst/>
          </a:prstGeom>
          <a:noFill/>
          <a:ln cap="flat" cmpd="sng" w="86175">
            <a:solidFill>
              <a:srgbClr val="6AA84F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13" name="Google Shape;213;p21"/>
          <p:cNvCxnSpPr/>
          <p:nvPr/>
        </p:nvCxnSpPr>
        <p:spPr>
          <a:xfrm>
            <a:off x="6297375" y="2903775"/>
            <a:ext cx="1835700" cy="0"/>
          </a:xfrm>
          <a:prstGeom prst="straightConnector1">
            <a:avLst/>
          </a:prstGeom>
          <a:noFill/>
          <a:ln cap="flat" cmpd="sng" w="86175">
            <a:solidFill>
              <a:srgbClr val="6AA84F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14" name="Google Shape;214;p21"/>
          <p:cNvSpPr txBox="1"/>
          <p:nvPr/>
        </p:nvSpPr>
        <p:spPr>
          <a:xfrm>
            <a:off x="0" y="0"/>
            <a:ext cx="594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To calculate the position of the end point:</a:t>
            </a:r>
            <a:endParaRPr sz="1800"/>
          </a:p>
        </p:txBody>
      </p:sp>
      <p:sp>
        <p:nvSpPr>
          <p:cNvPr id="215" name="Google Shape;215;p21"/>
          <p:cNvSpPr/>
          <p:nvPr/>
        </p:nvSpPr>
        <p:spPr>
          <a:xfrm flipH="1">
            <a:off x="4097356" y="4648200"/>
            <a:ext cx="5017800" cy="461700"/>
          </a:xfrm>
          <a:prstGeom prst="rect">
            <a:avLst/>
          </a:prstGeom>
          <a:solidFill>
            <a:srgbClr val="43434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6" name="Google Shape;216;p21"/>
          <p:cNvCxnSpPr/>
          <p:nvPr/>
        </p:nvCxnSpPr>
        <p:spPr>
          <a:xfrm>
            <a:off x="6285431" y="2904687"/>
            <a:ext cx="1788300" cy="1793100"/>
          </a:xfrm>
          <a:prstGeom prst="straightConnector1">
            <a:avLst/>
          </a:prstGeom>
          <a:noFill/>
          <a:ln cap="flat" cmpd="sng" w="86175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7" name="Google Shape;217;p21"/>
          <p:cNvCxnSpPr/>
          <p:nvPr/>
        </p:nvCxnSpPr>
        <p:spPr>
          <a:xfrm>
            <a:off x="3710951" y="2904687"/>
            <a:ext cx="2617800" cy="0"/>
          </a:xfrm>
          <a:prstGeom prst="straightConnector1">
            <a:avLst/>
          </a:prstGeom>
          <a:noFill/>
          <a:ln cap="flat" cmpd="sng" w="86175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8" name="Google Shape;218;p21"/>
          <p:cNvSpPr txBox="1"/>
          <p:nvPr/>
        </p:nvSpPr>
        <p:spPr>
          <a:xfrm>
            <a:off x="7641484" y="3816894"/>
            <a:ext cx="792900" cy="5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3400" lIns="103400" spcFirstLastPara="1" rIns="103400" wrap="square" tIns="1034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36">
                <a:solidFill>
                  <a:srgbClr val="FF0000"/>
                </a:solidFill>
              </a:rPr>
              <a:t>θ</a:t>
            </a:r>
            <a:r>
              <a:rPr baseline="-25000" lang="en" sz="2036">
                <a:solidFill>
                  <a:srgbClr val="FF0000"/>
                </a:solidFill>
              </a:rPr>
              <a:t>1</a:t>
            </a:r>
            <a:endParaRPr baseline="-25000" sz="2036">
              <a:solidFill>
                <a:srgbClr val="FF0000"/>
              </a:solidFill>
            </a:endParaRPr>
          </a:p>
        </p:txBody>
      </p:sp>
      <p:sp>
        <p:nvSpPr>
          <p:cNvPr id="219" name="Google Shape;219;p21"/>
          <p:cNvSpPr/>
          <p:nvPr/>
        </p:nvSpPr>
        <p:spPr>
          <a:xfrm>
            <a:off x="7959429" y="4544249"/>
            <a:ext cx="228600" cy="228600"/>
          </a:xfrm>
          <a:prstGeom prst="ellipse">
            <a:avLst/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21"/>
          <p:cNvSpPr/>
          <p:nvPr/>
        </p:nvSpPr>
        <p:spPr>
          <a:xfrm>
            <a:off x="6183504" y="2790374"/>
            <a:ext cx="228600" cy="228600"/>
          </a:xfrm>
          <a:prstGeom prst="ellipse">
            <a:avLst/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1"/>
          <p:cNvSpPr/>
          <p:nvPr/>
        </p:nvSpPr>
        <p:spPr>
          <a:xfrm>
            <a:off x="3630804" y="2790374"/>
            <a:ext cx="228600" cy="228600"/>
          </a:xfrm>
          <a:prstGeom prst="ellipse">
            <a:avLst/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1"/>
          <p:cNvSpPr txBox="1"/>
          <p:nvPr/>
        </p:nvSpPr>
        <p:spPr>
          <a:xfrm>
            <a:off x="0" y="461711"/>
            <a:ext cx="2212800" cy="13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115625" lIns="115625" spcFirstLastPara="1" rIns="115625" wrap="square" tIns="1156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L</a:t>
            </a:r>
            <a:r>
              <a:rPr baseline="-25000" lang="en" sz="1800">
                <a:solidFill>
                  <a:srgbClr val="FF0000"/>
                </a:solidFill>
              </a:rPr>
              <a:t>1</a:t>
            </a:r>
            <a:r>
              <a:rPr lang="en" sz="1800">
                <a:solidFill>
                  <a:srgbClr val="FF0000"/>
                </a:solidFill>
              </a:rPr>
              <a:t>=250mm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L</a:t>
            </a:r>
            <a:r>
              <a:rPr baseline="-25000" lang="en" sz="1800">
                <a:solidFill>
                  <a:srgbClr val="FF0000"/>
                </a:solidFill>
              </a:rPr>
              <a:t>2</a:t>
            </a:r>
            <a:r>
              <a:rPr lang="en" sz="1800">
                <a:solidFill>
                  <a:srgbClr val="FF0000"/>
                </a:solidFill>
              </a:rPr>
              <a:t>=250mm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θ</a:t>
            </a:r>
            <a:r>
              <a:rPr baseline="-25000" lang="en" sz="1800">
                <a:solidFill>
                  <a:srgbClr val="FF0000"/>
                </a:solidFill>
              </a:rPr>
              <a:t>1</a:t>
            </a:r>
            <a:r>
              <a:rPr lang="en" sz="1800">
                <a:solidFill>
                  <a:srgbClr val="FF0000"/>
                </a:solidFill>
              </a:rPr>
              <a:t>=45°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θ</a:t>
            </a:r>
            <a:r>
              <a:rPr baseline="-25000" lang="en" sz="1800">
                <a:solidFill>
                  <a:srgbClr val="FF0000"/>
                </a:solidFill>
              </a:rPr>
              <a:t>2</a:t>
            </a:r>
            <a:r>
              <a:rPr lang="en" sz="1800">
                <a:solidFill>
                  <a:srgbClr val="FF0000"/>
                </a:solidFill>
              </a:rPr>
              <a:t>=45°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223" name="Google Shape;223;p21"/>
          <p:cNvSpPr txBox="1"/>
          <p:nvPr/>
        </p:nvSpPr>
        <p:spPr>
          <a:xfrm>
            <a:off x="2837900" y="2673825"/>
            <a:ext cx="792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(X, Y)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224" name="Google Shape;224;p21"/>
          <p:cNvSpPr txBox="1"/>
          <p:nvPr/>
        </p:nvSpPr>
        <p:spPr>
          <a:xfrm>
            <a:off x="0" y="1803600"/>
            <a:ext cx="4208400" cy="3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In this example, </a:t>
            </a:r>
            <a:r>
              <a:rPr lang="en" sz="1800">
                <a:solidFill>
                  <a:srgbClr val="FF0000"/>
                </a:solidFill>
              </a:rPr>
              <a:t>L</a:t>
            </a:r>
            <a:r>
              <a:rPr baseline="-25000" lang="en" sz="1800">
                <a:solidFill>
                  <a:srgbClr val="FF0000"/>
                </a:solidFill>
              </a:rPr>
              <a:t>1</a:t>
            </a:r>
            <a:r>
              <a:rPr lang="en" sz="1800"/>
              <a:t> is 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the hypotenuse of a 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triangle.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Using sin(</a:t>
            </a:r>
            <a:r>
              <a:rPr lang="en" sz="1800">
                <a:solidFill>
                  <a:srgbClr val="FF0000"/>
                </a:solidFill>
              </a:rPr>
              <a:t>θ</a:t>
            </a:r>
            <a:r>
              <a:rPr baseline="-25000" lang="en" sz="1800">
                <a:solidFill>
                  <a:srgbClr val="FF0000"/>
                </a:solidFill>
              </a:rPr>
              <a:t>1</a:t>
            </a:r>
            <a:r>
              <a:rPr lang="en" sz="1800"/>
              <a:t>):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sin(</a:t>
            </a:r>
            <a:r>
              <a:rPr lang="en" sz="1800">
                <a:solidFill>
                  <a:srgbClr val="FF0000"/>
                </a:solidFill>
              </a:rPr>
              <a:t>θ</a:t>
            </a:r>
            <a:r>
              <a:rPr baseline="-25000" lang="en" sz="1800">
                <a:solidFill>
                  <a:srgbClr val="FF0000"/>
                </a:solidFill>
              </a:rPr>
              <a:t>1</a:t>
            </a:r>
            <a:r>
              <a:rPr lang="en" sz="1800">
                <a:solidFill>
                  <a:schemeClr val="dk1"/>
                </a:solidFill>
              </a:rPr>
              <a:t>) = </a:t>
            </a:r>
            <a:r>
              <a:rPr lang="en" sz="1800">
                <a:solidFill>
                  <a:srgbClr val="FF0000"/>
                </a:solidFill>
              </a:rPr>
              <a:t>ΔX</a:t>
            </a:r>
            <a:r>
              <a:rPr baseline="-25000" lang="en" sz="1800">
                <a:solidFill>
                  <a:srgbClr val="FF0000"/>
                </a:solidFill>
              </a:rPr>
              <a:t>1</a:t>
            </a:r>
            <a:r>
              <a:rPr lang="en" sz="1800">
                <a:solidFill>
                  <a:schemeClr val="dk1"/>
                </a:solidFill>
              </a:rPr>
              <a:t>/</a:t>
            </a:r>
            <a:r>
              <a:rPr lang="en" sz="1800">
                <a:solidFill>
                  <a:srgbClr val="FF0000"/>
                </a:solidFill>
              </a:rPr>
              <a:t>L</a:t>
            </a:r>
            <a:r>
              <a:rPr baseline="-25000" lang="en" sz="1800">
                <a:solidFill>
                  <a:srgbClr val="FF0000"/>
                </a:solidFill>
              </a:rPr>
              <a:t>1</a:t>
            </a:r>
            <a:endParaRPr sz="18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L</a:t>
            </a:r>
            <a:r>
              <a:rPr baseline="-25000" lang="en" sz="1800">
                <a:solidFill>
                  <a:srgbClr val="FF0000"/>
                </a:solidFill>
              </a:rPr>
              <a:t>1</a:t>
            </a:r>
            <a:r>
              <a:rPr lang="en" sz="1800">
                <a:solidFill>
                  <a:schemeClr val="dk1"/>
                </a:solidFill>
              </a:rPr>
              <a:t>sin(</a:t>
            </a:r>
            <a:r>
              <a:rPr lang="en" sz="1800">
                <a:solidFill>
                  <a:srgbClr val="FF0000"/>
                </a:solidFill>
              </a:rPr>
              <a:t>θ</a:t>
            </a:r>
            <a:r>
              <a:rPr baseline="-25000" lang="en" sz="1800">
                <a:solidFill>
                  <a:srgbClr val="FF0000"/>
                </a:solidFill>
              </a:rPr>
              <a:t>1</a:t>
            </a:r>
            <a:r>
              <a:rPr lang="en" sz="1800">
                <a:solidFill>
                  <a:schemeClr val="dk1"/>
                </a:solidFill>
              </a:rPr>
              <a:t>) = </a:t>
            </a:r>
            <a:r>
              <a:rPr lang="en" sz="1800">
                <a:solidFill>
                  <a:srgbClr val="FF0000"/>
                </a:solidFill>
              </a:rPr>
              <a:t>ΔX</a:t>
            </a:r>
            <a:r>
              <a:rPr baseline="-25000" lang="en" sz="1800">
                <a:solidFill>
                  <a:srgbClr val="FF0000"/>
                </a:solidFill>
              </a:rPr>
              <a:t>1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250*(√2/2) = </a:t>
            </a:r>
            <a:r>
              <a:rPr lang="en" sz="1800">
                <a:solidFill>
                  <a:srgbClr val="FF0000"/>
                </a:solidFill>
              </a:rPr>
              <a:t>ΔX</a:t>
            </a:r>
            <a:r>
              <a:rPr baseline="-25000" lang="en" sz="1800">
                <a:solidFill>
                  <a:srgbClr val="FF0000"/>
                </a:solidFill>
              </a:rPr>
              <a:t>1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FF0000"/>
                </a:solidFill>
              </a:rPr>
              <a:t>ΔX</a:t>
            </a:r>
            <a:r>
              <a:rPr baseline="-25000" lang="en" sz="1800">
                <a:solidFill>
                  <a:srgbClr val="FF0000"/>
                </a:solidFill>
              </a:rPr>
              <a:t>1</a:t>
            </a:r>
            <a:r>
              <a:rPr lang="en" sz="1800">
                <a:solidFill>
                  <a:schemeClr val="dk1"/>
                </a:solidFill>
              </a:rPr>
              <a:t> = 176.777mm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25" name="Google Shape;225;p21"/>
          <p:cNvSpPr txBox="1"/>
          <p:nvPr/>
        </p:nvSpPr>
        <p:spPr>
          <a:xfrm>
            <a:off x="8188025" y="3434250"/>
            <a:ext cx="61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ΔY</a:t>
            </a:r>
            <a:r>
              <a:rPr baseline="-25000" lang="en" sz="1800">
                <a:solidFill>
                  <a:srgbClr val="FF0000"/>
                </a:solidFill>
              </a:rPr>
              <a:t>1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226" name="Google Shape;226;p21"/>
          <p:cNvSpPr txBox="1"/>
          <p:nvPr/>
        </p:nvSpPr>
        <p:spPr>
          <a:xfrm>
            <a:off x="7066775" y="2328675"/>
            <a:ext cx="61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ΔX</a:t>
            </a:r>
            <a:r>
              <a:rPr baseline="-25000" lang="en" sz="1800">
                <a:solidFill>
                  <a:srgbClr val="FF0000"/>
                </a:solidFill>
              </a:rPr>
              <a:t>1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227" name="Google Shape;227;p21"/>
          <p:cNvSpPr txBox="1"/>
          <p:nvPr/>
        </p:nvSpPr>
        <p:spPr>
          <a:xfrm>
            <a:off x="4716200" y="3018975"/>
            <a:ext cx="61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ΔX</a:t>
            </a:r>
            <a:r>
              <a:rPr baseline="-25000" lang="en" sz="1800">
                <a:solidFill>
                  <a:srgbClr val="FF0000"/>
                </a:solidFill>
              </a:rPr>
              <a:t>2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228" name="Google Shape;228;p21"/>
          <p:cNvSpPr txBox="1"/>
          <p:nvPr/>
        </p:nvSpPr>
        <p:spPr>
          <a:xfrm>
            <a:off x="5390601" y="2328675"/>
            <a:ext cx="792900" cy="5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3400" lIns="103400" spcFirstLastPara="1" rIns="103400" wrap="square" tIns="1034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36">
                <a:solidFill>
                  <a:srgbClr val="FF0000"/>
                </a:solidFill>
              </a:rPr>
              <a:t>θ</a:t>
            </a:r>
            <a:r>
              <a:rPr baseline="-25000" lang="en" sz="2036">
                <a:solidFill>
                  <a:srgbClr val="FF0000"/>
                </a:solidFill>
              </a:rPr>
              <a:t>2</a:t>
            </a:r>
            <a:endParaRPr baseline="-25000" sz="2036">
              <a:solidFill>
                <a:srgbClr val="FF0000"/>
              </a:solidFill>
            </a:endParaRPr>
          </a:p>
        </p:txBody>
      </p:sp>
      <p:sp>
        <p:nvSpPr>
          <p:cNvPr id="229" name="Google Shape;229;p21"/>
          <p:cNvSpPr txBox="1"/>
          <p:nvPr/>
        </p:nvSpPr>
        <p:spPr>
          <a:xfrm>
            <a:off x="8188025" y="4282050"/>
            <a:ext cx="792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(0, 0)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230" name="Google Shape;230;p21"/>
          <p:cNvSpPr txBox="1"/>
          <p:nvPr/>
        </p:nvSpPr>
        <p:spPr>
          <a:xfrm>
            <a:off x="6699950" y="3637050"/>
            <a:ext cx="433500" cy="4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88200" lIns="88200" spcFirstLastPara="1" rIns="88200" wrap="square" tIns="882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36">
                <a:solidFill>
                  <a:srgbClr val="FF0000"/>
                </a:solidFill>
              </a:rPr>
              <a:t>L</a:t>
            </a:r>
            <a:r>
              <a:rPr baseline="-25000" lang="en" sz="1736">
                <a:solidFill>
                  <a:srgbClr val="FF0000"/>
                </a:solidFill>
              </a:rPr>
              <a:t>1</a:t>
            </a:r>
            <a:endParaRPr baseline="-25000" sz="1736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5" name="Google Shape;235;p22"/>
          <p:cNvCxnSpPr/>
          <p:nvPr/>
        </p:nvCxnSpPr>
        <p:spPr>
          <a:xfrm>
            <a:off x="8086575" y="2861575"/>
            <a:ext cx="0" cy="1836300"/>
          </a:xfrm>
          <a:prstGeom prst="straightConnector1">
            <a:avLst/>
          </a:prstGeom>
          <a:noFill/>
          <a:ln cap="flat" cmpd="sng" w="86175">
            <a:solidFill>
              <a:srgbClr val="6AA84F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36" name="Google Shape;236;p22"/>
          <p:cNvCxnSpPr/>
          <p:nvPr/>
        </p:nvCxnSpPr>
        <p:spPr>
          <a:xfrm>
            <a:off x="3745100" y="334175"/>
            <a:ext cx="0" cy="2554800"/>
          </a:xfrm>
          <a:prstGeom prst="straightConnector1">
            <a:avLst/>
          </a:prstGeom>
          <a:noFill/>
          <a:ln cap="flat" cmpd="sng" w="86175">
            <a:solidFill>
              <a:srgbClr val="6AA84F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37" name="Google Shape;237;p22"/>
          <p:cNvCxnSpPr/>
          <p:nvPr/>
        </p:nvCxnSpPr>
        <p:spPr>
          <a:xfrm>
            <a:off x="3736550" y="343875"/>
            <a:ext cx="2560800" cy="2560800"/>
          </a:xfrm>
          <a:prstGeom prst="straightConnector1">
            <a:avLst/>
          </a:prstGeom>
          <a:noFill/>
          <a:ln cap="flat" cmpd="sng" w="86175">
            <a:solidFill>
              <a:srgbClr val="6AA84F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38" name="Google Shape;238;p22"/>
          <p:cNvCxnSpPr/>
          <p:nvPr/>
        </p:nvCxnSpPr>
        <p:spPr>
          <a:xfrm>
            <a:off x="6297375" y="2903775"/>
            <a:ext cx="1835700" cy="0"/>
          </a:xfrm>
          <a:prstGeom prst="straightConnector1">
            <a:avLst/>
          </a:prstGeom>
          <a:noFill/>
          <a:ln cap="flat" cmpd="sng" w="86175">
            <a:solidFill>
              <a:srgbClr val="6AA84F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39" name="Google Shape;239;p22"/>
          <p:cNvSpPr txBox="1"/>
          <p:nvPr/>
        </p:nvSpPr>
        <p:spPr>
          <a:xfrm>
            <a:off x="0" y="0"/>
            <a:ext cx="594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To calculate the position of the end point:</a:t>
            </a:r>
            <a:endParaRPr sz="1800"/>
          </a:p>
        </p:txBody>
      </p:sp>
      <p:sp>
        <p:nvSpPr>
          <p:cNvPr id="240" name="Google Shape;240;p22"/>
          <p:cNvSpPr/>
          <p:nvPr/>
        </p:nvSpPr>
        <p:spPr>
          <a:xfrm flipH="1">
            <a:off x="4097356" y="4648200"/>
            <a:ext cx="5017800" cy="461700"/>
          </a:xfrm>
          <a:prstGeom prst="rect">
            <a:avLst/>
          </a:prstGeom>
          <a:solidFill>
            <a:srgbClr val="43434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1" name="Google Shape;241;p22"/>
          <p:cNvCxnSpPr/>
          <p:nvPr/>
        </p:nvCxnSpPr>
        <p:spPr>
          <a:xfrm>
            <a:off x="6285431" y="2904687"/>
            <a:ext cx="1788300" cy="1793100"/>
          </a:xfrm>
          <a:prstGeom prst="straightConnector1">
            <a:avLst/>
          </a:prstGeom>
          <a:noFill/>
          <a:ln cap="flat" cmpd="sng" w="86175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2" name="Google Shape;242;p22"/>
          <p:cNvCxnSpPr/>
          <p:nvPr/>
        </p:nvCxnSpPr>
        <p:spPr>
          <a:xfrm>
            <a:off x="3710951" y="2904687"/>
            <a:ext cx="2617800" cy="0"/>
          </a:xfrm>
          <a:prstGeom prst="straightConnector1">
            <a:avLst/>
          </a:prstGeom>
          <a:noFill/>
          <a:ln cap="flat" cmpd="sng" w="86175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3" name="Google Shape;243;p22"/>
          <p:cNvSpPr txBox="1"/>
          <p:nvPr/>
        </p:nvSpPr>
        <p:spPr>
          <a:xfrm>
            <a:off x="7641484" y="3816894"/>
            <a:ext cx="792900" cy="5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3400" lIns="103400" spcFirstLastPara="1" rIns="103400" wrap="square" tIns="1034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36">
                <a:solidFill>
                  <a:srgbClr val="FF0000"/>
                </a:solidFill>
              </a:rPr>
              <a:t>θ</a:t>
            </a:r>
            <a:r>
              <a:rPr baseline="-25000" lang="en" sz="2036">
                <a:solidFill>
                  <a:srgbClr val="FF0000"/>
                </a:solidFill>
              </a:rPr>
              <a:t>1</a:t>
            </a:r>
            <a:endParaRPr baseline="-25000" sz="2036">
              <a:solidFill>
                <a:srgbClr val="FF0000"/>
              </a:solidFill>
            </a:endParaRPr>
          </a:p>
        </p:txBody>
      </p:sp>
      <p:sp>
        <p:nvSpPr>
          <p:cNvPr id="244" name="Google Shape;244;p22"/>
          <p:cNvSpPr/>
          <p:nvPr/>
        </p:nvSpPr>
        <p:spPr>
          <a:xfrm>
            <a:off x="7959429" y="4544249"/>
            <a:ext cx="228600" cy="228600"/>
          </a:xfrm>
          <a:prstGeom prst="ellipse">
            <a:avLst/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22"/>
          <p:cNvSpPr/>
          <p:nvPr/>
        </p:nvSpPr>
        <p:spPr>
          <a:xfrm>
            <a:off x="6183504" y="2790374"/>
            <a:ext cx="228600" cy="228600"/>
          </a:xfrm>
          <a:prstGeom prst="ellipse">
            <a:avLst/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2"/>
          <p:cNvSpPr/>
          <p:nvPr/>
        </p:nvSpPr>
        <p:spPr>
          <a:xfrm>
            <a:off x="3630804" y="2790374"/>
            <a:ext cx="228600" cy="228600"/>
          </a:xfrm>
          <a:prstGeom prst="ellipse">
            <a:avLst/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22"/>
          <p:cNvSpPr txBox="1"/>
          <p:nvPr/>
        </p:nvSpPr>
        <p:spPr>
          <a:xfrm>
            <a:off x="-19050" y="305611"/>
            <a:ext cx="2212800" cy="4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15625" lIns="115625" spcFirstLastPara="1" rIns="115625" wrap="square" tIns="1156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0000"/>
                </a:solidFill>
              </a:rPr>
              <a:t>ΔX</a:t>
            </a:r>
            <a:r>
              <a:rPr baseline="-25000" lang="en" sz="1600">
                <a:solidFill>
                  <a:srgbClr val="FF0000"/>
                </a:solidFill>
              </a:rPr>
              <a:t>1</a:t>
            </a:r>
            <a:r>
              <a:rPr lang="en" sz="1600">
                <a:solidFill>
                  <a:schemeClr val="dk1"/>
                </a:solidFill>
              </a:rPr>
              <a:t> = 176.777mm</a:t>
            </a:r>
            <a:endParaRPr sz="1600">
              <a:solidFill>
                <a:srgbClr val="FF0000"/>
              </a:solidFill>
            </a:endParaRPr>
          </a:p>
        </p:txBody>
      </p:sp>
      <p:sp>
        <p:nvSpPr>
          <p:cNvPr id="248" name="Google Shape;248;p22"/>
          <p:cNvSpPr txBox="1"/>
          <p:nvPr/>
        </p:nvSpPr>
        <p:spPr>
          <a:xfrm>
            <a:off x="2837900" y="2673825"/>
            <a:ext cx="792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(X, Y)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249" name="Google Shape;249;p22"/>
          <p:cNvSpPr txBox="1"/>
          <p:nvPr/>
        </p:nvSpPr>
        <p:spPr>
          <a:xfrm>
            <a:off x="0" y="749700"/>
            <a:ext cx="4208400" cy="44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For cos(</a:t>
            </a:r>
            <a:r>
              <a:rPr lang="en" sz="1600">
                <a:solidFill>
                  <a:srgbClr val="FF0000"/>
                </a:solidFill>
              </a:rPr>
              <a:t>θ</a:t>
            </a:r>
            <a:r>
              <a:rPr baseline="-25000" lang="en" sz="1600">
                <a:solidFill>
                  <a:srgbClr val="FF0000"/>
                </a:solidFill>
              </a:rPr>
              <a:t>1</a:t>
            </a:r>
            <a:r>
              <a:rPr lang="en" sz="1600"/>
              <a:t>):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cos(</a:t>
            </a:r>
            <a:r>
              <a:rPr lang="en" sz="1600">
                <a:solidFill>
                  <a:srgbClr val="FF0000"/>
                </a:solidFill>
              </a:rPr>
              <a:t>θ</a:t>
            </a:r>
            <a:r>
              <a:rPr baseline="-25000" lang="en" sz="1600">
                <a:solidFill>
                  <a:srgbClr val="FF0000"/>
                </a:solidFill>
              </a:rPr>
              <a:t>1</a:t>
            </a:r>
            <a:r>
              <a:rPr lang="en" sz="1600">
                <a:solidFill>
                  <a:schemeClr val="dk1"/>
                </a:solidFill>
              </a:rPr>
              <a:t>) = </a:t>
            </a:r>
            <a:r>
              <a:rPr lang="en" sz="1600">
                <a:solidFill>
                  <a:srgbClr val="FF0000"/>
                </a:solidFill>
              </a:rPr>
              <a:t>ΔY</a:t>
            </a:r>
            <a:r>
              <a:rPr baseline="-25000" lang="en" sz="1600">
                <a:solidFill>
                  <a:srgbClr val="FF0000"/>
                </a:solidFill>
              </a:rPr>
              <a:t>1</a:t>
            </a:r>
            <a:r>
              <a:rPr lang="en" sz="1600">
                <a:solidFill>
                  <a:schemeClr val="dk1"/>
                </a:solidFill>
              </a:rPr>
              <a:t>/</a:t>
            </a:r>
            <a:r>
              <a:rPr lang="en" sz="1600">
                <a:solidFill>
                  <a:srgbClr val="FF0000"/>
                </a:solidFill>
              </a:rPr>
              <a:t>L</a:t>
            </a:r>
            <a:r>
              <a:rPr baseline="-25000" lang="en" sz="1600">
                <a:solidFill>
                  <a:srgbClr val="FF0000"/>
                </a:solidFill>
              </a:rPr>
              <a:t>1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0000"/>
                </a:solidFill>
              </a:rPr>
              <a:t>L</a:t>
            </a:r>
            <a:r>
              <a:rPr baseline="-25000" lang="en" sz="1600">
                <a:solidFill>
                  <a:srgbClr val="FF0000"/>
                </a:solidFill>
              </a:rPr>
              <a:t>1</a:t>
            </a:r>
            <a:r>
              <a:rPr lang="en" sz="1600">
                <a:solidFill>
                  <a:schemeClr val="dk1"/>
                </a:solidFill>
              </a:rPr>
              <a:t>sin(</a:t>
            </a:r>
            <a:r>
              <a:rPr lang="en" sz="1600">
                <a:solidFill>
                  <a:srgbClr val="FF0000"/>
                </a:solidFill>
              </a:rPr>
              <a:t>θ</a:t>
            </a:r>
            <a:r>
              <a:rPr baseline="-25000" lang="en" sz="1600">
                <a:solidFill>
                  <a:srgbClr val="FF0000"/>
                </a:solidFill>
              </a:rPr>
              <a:t>1</a:t>
            </a:r>
            <a:r>
              <a:rPr lang="en" sz="1600">
                <a:solidFill>
                  <a:schemeClr val="dk1"/>
                </a:solidFill>
              </a:rPr>
              <a:t>) = </a:t>
            </a:r>
            <a:r>
              <a:rPr lang="en" sz="1600">
                <a:solidFill>
                  <a:srgbClr val="FF0000"/>
                </a:solidFill>
              </a:rPr>
              <a:t>ΔY</a:t>
            </a:r>
            <a:r>
              <a:rPr baseline="-25000" lang="en" sz="1600">
                <a:solidFill>
                  <a:srgbClr val="FF0000"/>
                </a:solidFill>
              </a:rPr>
              <a:t>1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250*(√2/2) = </a:t>
            </a:r>
            <a:r>
              <a:rPr lang="en" sz="1600">
                <a:solidFill>
                  <a:srgbClr val="FF0000"/>
                </a:solidFill>
              </a:rPr>
              <a:t>ΔY</a:t>
            </a:r>
            <a:r>
              <a:rPr baseline="-25000" lang="en" sz="1600">
                <a:solidFill>
                  <a:srgbClr val="FF0000"/>
                </a:solidFill>
              </a:rPr>
              <a:t>1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0000"/>
                </a:solidFill>
              </a:rPr>
              <a:t>ΔY</a:t>
            </a:r>
            <a:r>
              <a:rPr baseline="-25000" lang="en" sz="1600">
                <a:solidFill>
                  <a:srgbClr val="FF0000"/>
                </a:solidFill>
              </a:rPr>
              <a:t>1</a:t>
            </a:r>
            <a:r>
              <a:rPr lang="en" sz="1600">
                <a:solidFill>
                  <a:schemeClr val="dk1"/>
                </a:solidFill>
              </a:rPr>
              <a:t> = 176.777mm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And cos(</a:t>
            </a:r>
            <a:r>
              <a:rPr lang="en" sz="1600">
                <a:solidFill>
                  <a:srgbClr val="FF0000"/>
                </a:solidFill>
              </a:rPr>
              <a:t>θ</a:t>
            </a:r>
            <a:r>
              <a:rPr baseline="-25000" lang="en" sz="1600">
                <a:solidFill>
                  <a:srgbClr val="FF0000"/>
                </a:solidFill>
              </a:rPr>
              <a:t>2</a:t>
            </a:r>
            <a:r>
              <a:rPr lang="en" sz="1600">
                <a:solidFill>
                  <a:schemeClr val="dk1"/>
                </a:solidFill>
              </a:rPr>
              <a:t>):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cos(</a:t>
            </a:r>
            <a:r>
              <a:rPr lang="en" sz="1600">
                <a:solidFill>
                  <a:srgbClr val="FF0000"/>
                </a:solidFill>
              </a:rPr>
              <a:t>θ</a:t>
            </a:r>
            <a:r>
              <a:rPr baseline="-25000" lang="en" sz="1600">
                <a:solidFill>
                  <a:srgbClr val="FF0000"/>
                </a:solidFill>
              </a:rPr>
              <a:t>2</a:t>
            </a:r>
            <a:r>
              <a:rPr lang="en" sz="1600">
                <a:solidFill>
                  <a:schemeClr val="dk1"/>
                </a:solidFill>
              </a:rPr>
              <a:t>) = </a:t>
            </a:r>
            <a:r>
              <a:rPr lang="en" sz="1600">
                <a:solidFill>
                  <a:srgbClr val="FF0000"/>
                </a:solidFill>
              </a:rPr>
              <a:t>ΔX</a:t>
            </a:r>
            <a:r>
              <a:rPr baseline="-25000" lang="en" sz="1600">
                <a:solidFill>
                  <a:srgbClr val="FF0000"/>
                </a:solidFill>
              </a:rPr>
              <a:t>2</a:t>
            </a:r>
            <a:r>
              <a:rPr lang="en" sz="1600">
                <a:solidFill>
                  <a:schemeClr val="dk1"/>
                </a:solidFill>
              </a:rPr>
              <a:t>/</a:t>
            </a:r>
            <a:r>
              <a:rPr lang="en" sz="1600">
                <a:solidFill>
                  <a:srgbClr val="FF0000"/>
                </a:solidFill>
              </a:rPr>
              <a:t>L</a:t>
            </a:r>
            <a:r>
              <a:rPr baseline="-25000" lang="en" sz="1600">
                <a:solidFill>
                  <a:srgbClr val="FF0000"/>
                </a:solidFill>
              </a:rPr>
              <a:t>2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0000"/>
                </a:solidFill>
              </a:rPr>
              <a:t>L</a:t>
            </a:r>
            <a:r>
              <a:rPr baseline="-25000" lang="en" sz="1600">
                <a:solidFill>
                  <a:srgbClr val="FF0000"/>
                </a:solidFill>
              </a:rPr>
              <a:t>2</a:t>
            </a:r>
            <a:r>
              <a:rPr lang="en" sz="1600">
                <a:solidFill>
                  <a:schemeClr val="dk1"/>
                </a:solidFill>
              </a:rPr>
              <a:t>cos(</a:t>
            </a:r>
            <a:r>
              <a:rPr lang="en" sz="1600">
                <a:solidFill>
                  <a:srgbClr val="FF0000"/>
                </a:solidFill>
              </a:rPr>
              <a:t>θ</a:t>
            </a:r>
            <a:r>
              <a:rPr baseline="-25000" lang="en" sz="1600">
                <a:solidFill>
                  <a:srgbClr val="FF0000"/>
                </a:solidFill>
              </a:rPr>
              <a:t>1</a:t>
            </a:r>
            <a:r>
              <a:rPr lang="en" sz="1600">
                <a:solidFill>
                  <a:schemeClr val="dk1"/>
                </a:solidFill>
              </a:rPr>
              <a:t>) = </a:t>
            </a:r>
            <a:r>
              <a:rPr lang="en" sz="1600">
                <a:solidFill>
                  <a:srgbClr val="FF0000"/>
                </a:solidFill>
              </a:rPr>
              <a:t>ΔX</a:t>
            </a:r>
            <a:r>
              <a:rPr baseline="-25000" lang="en" sz="1600">
                <a:solidFill>
                  <a:srgbClr val="FF0000"/>
                </a:solidFill>
              </a:rPr>
              <a:t>2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250*(1) = </a:t>
            </a:r>
            <a:r>
              <a:rPr lang="en" sz="1600">
                <a:solidFill>
                  <a:srgbClr val="FF0000"/>
                </a:solidFill>
              </a:rPr>
              <a:t>ΔX</a:t>
            </a:r>
            <a:r>
              <a:rPr baseline="-25000" lang="en" sz="1600">
                <a:solidFill>
                  <a:srgbClr val="FF0000"/>
                </a:solidFill>
              </a:rPr>
              <a:t>2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0000"/>
                </a:solidFill>
              </a:rPr>
              <a:t>ΔX</a:t>
            </a:r>
            <a:r>
              <a:rPr baseline="-25000" lang="en" sz="1600">
                <a:solidFill>
                  <a:srgbClr val="FF0000"/>
                </a:solidFill>
              </a:rPr>
              <a:t>2</a:t>
            </a:r>
            <a:r>
              <a:rPr lang="en" sz="1600">
                <a:solidFill>
                  <a:schemeClr val="dk1"/>
                </a:solidFill>
              </a:rPr>
              <a:t> = 250mm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And sin(</a:t>
            </a:r>
            <a:r>
              <a:rPr lang="en" sz="1600">
                <a:solidFill>
                  <a:srgbClr val="FF0000"/>
                </a:solidFill>
              </a:rPr>
              <a:t>θ</a:t>
            </a:r>
            <a:r>
              <a:rPr baseline="-25000" lang="en" sz="1600">
                <a:solidFill>
                  <a:srgbClr val="FF0000"/>
                </a:solidFill>
              </a:rPr>
              <a:t>2</a:t>
            </a:r>
            <a:r>
              <a:rPr lang="en" sz="1600">
                <a:solidFill>
                  <a:schemeClr val="dk1"/>
                </a:solidFill>
              </a:rPr>
              <a:t>):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cos(</a:t>
            </a:r>
            <a:r>
              <a:rPr lang="en" sz="1600">
                <a:solidFill>
                  <a:srgbClr val="FF0000"/>
                </a:solidFill>
              </a:rPr>
              <a:t>θ</a:t>
            </a:r>
            <a:r>
              <a:rPr baseline="-25000" lang="en" sz="1600">
                <a:solidFill>
                  <a:srgbClr val="FF0000"/>
                </a:solidFill>
              </a:rPr>
              <a:t>2</a:t>
            </a:r>
            <a:r>
              <a:rPr lang="en" sz="1600">
                <a:solidFill>
                  <a:schemeClr val="dk1"/>
                </a:solidFill>
              </a:rPr>
              <a:t>) = </a:t>
            </a:r>
            <a:r>
              <a:rPr lang="en" sz="1600">
                <a:solidFill>
                  <a:srgbClr val="FF0000"/>
                </a:solidFill>
              </a:rPr>
              <a:t>ΔY</a:t>
            </a:r>
            <a:r>
              <a:rPr baseline="-25000" lang="en" sz="1600">
                <a:solidFill>
                  <a:srgbClr val="FF0000"/>
                </a:solidFill>
              </a:rPr>
              <a:t>2</a:t>
            </a:r>
            <a:r>
              <a:rPr lang="en" sz="1600">
                <a:solidFill>
                  <a:schemeClr val="dk1"/>
                </a:solidFill>
              </a:rPr>
              <a:t>/</a:t>
            </a:r>
            <a:r>
              <a:rPr lang="en" sz="1600">
                <a:solidFill>
                  <a:srgbClr val="FF0000"/>
                </a:solidFill>
              </a:rPr>
              <a:t>L</a:t>
            </a:r>
            <a:r>
              <a:rPr baseline="-25000" lang="en" sz="1600">
                <a:solidFill>
                  <a:srgbClr val="FF0000"/>
                </a:solidFill>
              </a:rPr>
              <a:t>2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0000"/>
                </a:solidFill>
              </a:rPr>
              <a:t>L</a:t>
            </a:r>
            <a:r>
              <a:rPr baseline="-25000" lang="en" sz="1600">
                <a:solidFill>
                  <a:srgbClr val="FF0000"/>
                </a:solidFill>
              </a:rPr>
              <a:t>2</a:t>
            </a:r>
            <a:r>
              <a:rPr lang="en" sz="1600">
                <a:solidFill>
                  <a:schemeClr val="dk1"/>
                </a:solidFill>
              </a:rPr>
              <a:t>cos(</a:t>
            </a:r>
            <a:r>
              <a:rPr lang="en" sz="1600">
                <a:solidFill>
                  <a:srgbClr val="FF0000"/>
                </a:solidFill>
              </a:rPr>
              <a:t>θ</a:t>
            </a:r>
            <a:r>
              <a:rPr baseline="-25000" lang="en" sz="1600">
                <a:solidFill>
                  <a:srgbClr val="FF0000"/>
                </a:solidFill>
              </a:rPr>
              <a:t>1</a:t>
            </a:r>
            <a:r>
              <a:rPr lang="en" sz="1600">
                <a:solidFill>
                  <a:schemeClr val="dk1"/>
                </a:solidFill>
              </a:rPr>
              <a:t>) = </a:t>
            </a:r>
            <a:r>
              <a:rPr lang="en" sz="1600">
                <a:solidFill>
                  <a:srgbClr val="FF0000"/>
                </a:solidFill>
              </a:rPr>
              <a:t>ΔY</a:t>
            </a:r>
            <a:r>
              <a:rPr baseline="-25000" lang="en" sz="1600">
                <a:solidFill>
                  <a:srgbClr val="FF0000"/>
                </a:solidFill>
              </a:rPr>
              <a:t>2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250*(0) = </a:t>
            </a:r>
            <a:r>
              <a:rPr lang="en" sz="1600">
                <a:solidFill>
                  <a:srgbClr val="FF0000"/>
                </a:solidFill>
              </a:rPr>
              <a:t>ΔY</a:t>
            </a:r>
            <a:r>
              <a:rPr baseline="-25000" lang="en" sz="1600">
                <a:solidFill>
                  <a:srgbClr val="FF0000"/>
                </a:solidFill>
              </a:rPr>
              <a:t>2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0000"/>
                </a:solidFill>
              </a:rPr>
              <a:t>ΔY</a:t>
            </a:r>
            <a:r>
              <a:rPr baseline="-25000" lang="en" sz="1600">
                <a:solidFill>
                  <a:srgbClr val="FF0000"/>
                </a:solidFill>
              </a:rPr>
              <a:t>2</a:t>
            </a:r>
            <a:r>
              <a:rPr lang="en" sz="1600">
                <a:solidFill>
                  <a:schemeClr val="dk1"/>
                </a:solidFill>
              </a:rPr>
              <a:t> = 0mm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250" name="Google Shape;250;p22"/>
          <p:cNvSpPr txBox="1"/>
          <p:nvPr/>
        </p:nvSpPr>
        <p:spPr>
          <a:xfrm>
            <a:off x="8188025" y="3434250"/>
            <a:ext cx="61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ΔY</a:t>
            </a:r>
            <a:r>
              <a:rPr baseline="-25000" lang="en" sz="1800">
                <a:solidFill>
                  <a:srgbClr val="FF0000"/>
                </a:solidFill>
              </a:rPr>
              <a:t>1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251" name="Google Shape;251;p22"/>
          <p:cNvSpPr txBox="1"/>
          <p:nvPr/>
        </p:nvSpPr>
        <p:spPr>
          <a:xfrm>
            <a:off x="7066775" y="2328675"/>
            <a:ext cx="61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ΔX</a:t>
            </a:r>
            <a:r>
              <a:rPr baseline="-25000" lang="en" sz="1800">
                <a:solidFill>
                  <a:srgbClr val="FF0000"/>
                </a:solidFill>
              </a:rPr>
              <a:t>1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252" name="Google Shape;252;p22"/>
          <p:cNvSpPr txBox="1"/>
          <p:nvPr/>
        </p:nvSpPr>
        <p:spPr>
          <a:xfrm>
            <a:off x="4716200" y="3018975"/>
            <a:ext cx="61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ΔX</a:t>
            </a:r>
            <a:r>
              <a:rPr baseline="-25000" lang="en" sz="1800">
                <a:solidFill>
                  <a:srgbClr val="FF0000"/>
                </a:solidFill>
              </a:rPr>
              <a:t>2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253" name="Google Shape;253;p22"/>
          <p:cNvSpPr txBox="1"/>
          <p:nvPr/>
        </p:nvSpPr>
        <p:spPr>
          <a:xfrm>
            <a:off x="5390601" y="2328675"/>
            <a:ext cx="792900" cy="5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3400" lIns="103400" spcFirstLastPara="1" rIns="103400" wrap="square" tIns="1034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36">
                <a:solidFill>
                  <a:srgbClr val="FF0000"/>
                </a:solidFill>
              </a:rPr>
              <a:t>θ</a:t>
            </a:r>
            <a:r>
              <a:rPr baseline="-25000" lang="en" sz="2036">
                <a:solidFill>
                  <a:srgbClr val="FF0000"/>
                </a:solidFill>
              </a:rPr>
              <a:t>2</a:t>
            </a:r>
            <a:endParaRPr baseline="-25000" sz="2036">
              <a:solidFill>
                <a:srgbClr val="FF0000"/>
              </a:solidFill>
            </a:endParaRPr>
          </a:p>
        </p:txBody>
      </p:sp>
      <p:sp>
        <p:nvSpPr>
          <p:cNvPr id="254" name="Google Shape;254;p22"/>
          <p:cNvSpPr txBox="1"/>
          <p:nvPr/>
        </p:nvSpPr>
        <p:spPr>
          <a:xfrm>
            <a:off x="8188025" y="4282050"/>
            <a:ext cx="792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(0, 0)</a:t>
            </a:r>
            <a:endParaRPr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9" name="Google Shape;259;p23"/>
          <p:cNvCxnSpPr/>
          <p:nvPr/>
        </p:nvCxnSpPr>
        <p:spPr>
          <a:xfrm>
            <a:off x="8086575" y="2861575"/>
            <a:ext cx="0" cy="1836300"/>
          </a:xfrm>
          <a:prstGeom prst="straightConnector1">
            <a:avLst/>
          </a:prstGeom>
          <a:noFill/>
          <a:ln cap="flat" cmpd="sng" w="86175">
            <a:solidFill>
              <a:srgbClr val="6AA84F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60" name="Google Shape;260;p23"/>
          <p:cNvCxnSpPr/>
          <p:nvPr/>
        </p:nvCxnSpPr>
        <p:spPr>
          <a:xfrm>
            <a:off x="3745100" y="334175"/>
            <a:ext cx="0" cy="2554800"/>
          </a:xfrm>
          <a:prstGeom prst="straightConnector1">
            <a:avLst/>
          </a:prstGeom>
          <a:noFill/>
          <a:ln cap="flat" cmpd="sng" w="86175">
            <a:solidFill>
              <a:srgbClr val="6AA84F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61" name="Google Shape;261;p23"/>
          <p:cNvCxnSpPr/>
          <p:nvPr/>
        </p:nvCxnSpPr>
        <p:spPr>
          <a:xfrm>
            <a:off x="3736550" y="343875"/>
            <a:ext cx="2560800" cy="2560800"/>
          </a:xfrm>
          <a:prstGeom prst="straightConnector1">
            <a:avLst/>
          </a:prstGeom>
          <a:noFill/>
          <a:ln cap="flat" cmpd="sng" w="86175">
            <a:solidFill>
              <a:srgbClr val="6AA84F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62" name="Google Shape;262;p23"/>
          <p:cNvCxnSpPr/>
          <p:nvPr/>
        </p:nvCxnSpPr>
        <p:spPr>
          <a:xfrm>
            <a:off x="6297375" y="2903775"/>
            <a:ext cx="1835700" cy="0"/>
          </a:xfrm>
          <a:prstGeom prst="straightConnector1">
            <a:avLst/>
          </a:prstGeom>
          <a:noFill/>
          <a:ln cap="flat" cmpd="sng" w="86175">
            <a:solidFill>
              <a:srgbClr val="6AA84F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63" name="Google Shape;263;p23"/>
          <p:cNvSpPr txBox="1"/>
          <p:nvPr/>
        </p:nvSpPr>
        <p:spPr>
          <a:xfrm>
            <a:off x="0" y="0"/>
            <a:ext cx="594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To calculate the position of the end point:</a:t>
            </a:r>
            <a:endParaRPr sz="1800"/>
          </a:p>
        </p:txBody>
      </p:sp>
      <p:sp>
        <p:nvSpPr>
          <p:cNvPr id="264" name="Google Shape;264;p23"/>
          <p:cNvSpPr/>
          <p:nvPr/>
        </p:nvSpPr>
        <p:spPr>
          <a:xfrm flipH="1">
            <a:off x="4097356" y="4648200"/>
            <a:ext cx="5017800" cy="461700"/>
          </a:xfrm>
          <a:prstGeom prst="rect">
            <a:avLst/>
          </a:prstGeom>
          <a:solidFill>
            <a:srgbClr val="43434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5" name="Google Shape;265;p23"/>
          <p:cNvCxnSpPr/>
          <p:nvPr/>
        </p:nvCxnSpPr>
        <p:spPr>
          <a:xfrm>
            <a:off x="6285431" y="2904687"/>
            <a:ext cx="1788300" cy="1793100"/>
          </a:xfrm>
          <a:prstGeom prst="straightConnector1">
            <a:avLst/>
          </a:prstGeom>
          <a:noFill/>
          <a:ln cap="flat" cmpd="sng" w="86175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6" name="Google Shape;266;p23"/>
          <p:cNvCxnSpPr/>
          <p:nvPr/>
        </p:nvCxnSpPr>
        <p:spPr>
          <a:xfrm>
            <a:off x="3710951" y="2904687"/>
            <a:ext cx="2617800" cy="0"/>
          </a:xfrm>
          <a:prstGeom prst="straightConnector1">
            <a:avLst/>
          </a:prstGeom>
          <a:noFill/>
          <a:ln cap="flat" cmpd="sng" w="86175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7" name="Google Shape;267;p23"/>
          <p:cNvSpPr txBox="1"/>
          <p:nvPr/>
        </p:nvSpPr>
        <p:spPr>
          <a:xfrm>
            <a:off x="7641484" y="3816894"/>
            <a:ext cx="792900" cy="5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3400" lIns="103400" spcFirstLastPara="1" rIns="103400" wrap="square" tIns="1034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36">
                <a:solidFill>
                  <a:srgbClr val="FF0000"/>
                </a:solidFill>
              </a:rPr>
              <a:t>θ</a:t>
            </a:r>
            <a:r>
              <a:rPr baseline="-25000" lang="en" sz="2036">
                <a:solidFill>
                  <a:srgbClr val="FF0000"/>
                </a:solidFill>
              </a:rPr>
              <a:t>1</a:t>
            </a:r>
            <a:endParaRPr baseline="-25000" sz="2036">
              <a:solidFill>
                <a:srgbClr val="FF0000"/>
              </a:solidFill>
            </a:endParaRPr>
          </a:p>
        </p:txBody>
      </p:sp>
      <p:sp>
        <p:nvSpPr>
          <p:cNvPr id="268" name="Google Shape;268;p23"/>
          <p:cNvSpPr/>
          <p:nvPr/>
        </p:nvSpPr>
        <p:spPr>
          <a:xfrm>
            <a:off x="7959429" y="4544249"/>
            <a:ext cx="228600" cy="228600"/>
          </a:xfrm>
          <a:prstGeom prst="ellipse">
            <a:avLst/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23"/>
          <p:cNvSpPr/>
          <p:nvPr/>
        </p:nvSpPr>
        <p:spPr>
          <a:xfrm>
            <a:off x="6183504" y="2790374"/>
            <a:ext cx="228600" cy="228600"/>
          </a:xfrm>
          <a:prstGeom prst="ellipse">
            <a:avLst/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23"/>
          <p:cNvSpPr/>
          <p:nvPr/>
        </p:nvSpPr>
        <p:spPr>
          <a:xfrm>
            <a:off x="3630804" y="2790374"/>
            <a:ext cx="228600" cy="228600"/>
          </a:xfrm>
          <a:prstGeom prst="ellipse">
            <a:avLst/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23"/>
          <p:cNvSpPr txBox="1"/>
          <p:nvPr/>
        </p:nvSpPr>
        <p:spPr>
          <a:xfrm>
            <a:off x="0" y="461711"/>
            <a:ext cx="2212800" cy="17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115625" lIns="115625" spcFirstLastPara="1" rIns="115625" wrap="square" tIns="1156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ΔX</a:t>
            </a:r>
            <a:r>
              <a:rPr baseline="-25000" lang="en" sz="1800">
                <a:solidFill>
                  <a:srgbClr val="FF0000"/>
                </a:solidFill>
              </a:rPr>
              <a:t>1</a:t>
            </a:r>
            <a:r>
              <a:rPr lang="en" sz="1800">
                <a:solidFill>
                  <a:schemeClr val="dk1"/>
                </a:solidFill>
              </a:rPr>
              <a:t> = 176.777mm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ΔY</a:t>
            </a:r>
            <a:r>
              <a:rPr baseline="-25000" lang="en" sz="1800">
                <a:solidFill>
                  <a:srgbClr val="FF0000"/>
                </a:solidFill>
              </a:rPr>
              <a:t>1</a:t>
            </a:r>
            <a:r>
              <a:rPr lang="en" sz="1800">
                <a:solidFill>
                  <a:schemeClr val="dk1"/>
                </a:solidFill>
              </a:rPr>
              <a:t> = 176.777mm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ΔX</a:t>
            </a:r>
            <a:r>
              <a:rPr baseline="-25000" lang="en" sz="1800">
                <a:solidFill>
                  <a:srgbClr val="FF0000"/>
                </a:solidFill>
              </a:rPr>
              <a:t>2</a:t>
            </a:r>
            <a:r>
              <a:rPr lang="en" sz="1800">
                <a:solidFill>
                  <a:schemeClr val="dk1"/>
                </a:solidFill>
              </a:rPr>
              <a:t> = 250mm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ΔY</a:t>
            </a:r>
            <a:r>
              <a:rPr baseline="-25000" lang="en" sz="1800">
                <a:solidFill>
                  <a:srgbClr val="FF0000"/>
                </a:solidFill>
              </a:rPr>
              <a:t>2</a:t>
            </a:r>
            <a:r>
              <a:rPr lang="en" sz="1800">
                <a:solidFill>
                  <a:schemeClr val="dk1"/>
                </a:solidFill>
              </a:rPr>
              <a:t> = 0mm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72" name="Google Shape;272;p23"/>
          <p:cNvSpPr txBox="1"/>
          <p:nvPr/>
        </p:nvSpPr>
        <p:spPr>
          <a:xfrm>
            <a:off x="2837900" y="2673825"/>
            <a:ext cx="792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(X, Y)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273" name="Google Shape;273;p23"/>
          <p:cNvSpPr txBox="1"/>
          <p:nvPr/>
        </p:nvSpPr>
        <p:spPr>
          <a:xfrm>
            <a:off x="8188025" y="3434250"/>
            <a:ext cx="61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ΔY</a:t>
            </a:r>
            <a:r>
              <a:rPr baseline="-25000" lang="en" sz="1800">
                <a:solidFill>
                  <a:srgbClr val="FF0000"/>
                </a:solidFill>
              </a:rPr>
              <a:t>1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274" name="Google Shape;274;p23"/>
          <p:cNvSpPr txBox="1"/>
          <p:nvPr/>
        </p:nvSpPr>
        <p:spPr>
          <a:xfrm>
            <a:off x="7066775" y="2328675"/>
            <a:ext cx="61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ΔX</a:t>
            </a:r>
            <a:r>
              <a:rPr baseline="-25000" lang="en" sz="1800">
                <a:solidFill>
                  <a:srgbClr val="FF0000"/>
                </a:solidFill>
              </a:rPr>
              <a:t>1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275" name="Google Shape;275;p23"/>
          <p:cNvSpPr txBox="1"/>
          <p:nvPr/>
        </p:nvSpPr>
        <p:spPr>
          <a:xfrm>
            <a:off x="4716200" y="3018975"/>
            <a:ext cx="61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ΔX</a:t>
            </a:r>
            <a:r>
              <a:rPr baseline="-25000" lang="en" sz="1800">
                <a:solidFill>
                  <a:srgbClr val="FF0000"/>
                </a:solidFill>
              </a:rPr>
              <a:t>2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276" name="Google Shape;276;p23"/>
          <p:cNvSpPr txBox="1"/>
          <p:nvPr/>
        </p:nvSpPr>
        <p:spPr>
          <a:xfrm>
            <a:off x="5390601" y="2328675"/>
            <a:ext cx="792900" cy="5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3400" lIns="103400" spcFirstLastPara="1" rIns="103400" wrap="square" tIns="1034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36">
                <a:solidFill>
                  <a:srgbClr val="FF0000"/>
                </a:solidFill>
              </a:rPr>
              <a:t>θ</a:t>
            </a:r>
            <a:r>
              <a:rPr baseline="-25000" lang="en" sz="2036">
                <a:solidFill>
                  <a:srgbClr val="FF0000"/>
                </a:solidFill>
              </a:rPr>
              <a:t>2</a:t>
            </a:r>
            <a:endParaRPr baseline="-25000" sz="2036">
              <a:solidFill>
                <a:srgbClr val="FF0000"/>
              </a:solidFill>
            </a:endParaRPr>
          </a:p>
        </p:txBody>
      </p:sp>
      <p:sp>
        <p:nvSpPr>
          <p:cNvPr id="277" name="Google Shape;277;p23"/>
          <p:cNvSpPr txBox="1"/>
          <p:nvPr/>
        </p:nvSpPr>
        <p:spPr>
          <a:xfrm>
            <a:off x="0" y="3434250"/>
            <a:ext cx="3069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(X,Y) = (</a:t>
            </a:r>
            <a:r>
              <a:rPr lang="en" sz="1800">
                <a:solidFill>
                  <a:srgbClr val="FF0000"/>
                </a:solidFill>
              </a:rPr>
              <a:t>ΔX</a:t>
            </a:r>
            <a:r>
              <a:rPr baseline="-25000" lang="en" sz="1800">
                <a:solidFill>
                  <a:srgbClr val="FF0000"/>
                </a:solidFill>
              </a:rPr>
              <a:t>1</a:t>
            </a:r>
            <a:r>
              <a:rPr lang="en" sz="1800">
                <a:solidFill>
                  <a:srgbClr val="FF0000"/>
                </a:solidFill>
              </a:rPr>
              <a:t>+</a:t>
            </a:r>
            <a:r>
              <a:rPr lang="en" sz="1800">
                <a:solidFill>
                  <a:srgbClr val="FF0000"/>
                </a:solidFill>
              </a:rPr>
              <a:t>ΔX</a:t>
            </a:r>
            <a:r>
              <a:rPr baseline="-25000" lang="en" sz="1800">
                <a:solidFill>
                  <a:srgbClr val="FF0000"/>
                </a:solidFill>
              </a:rPr>
              <a:t>2</a:t>
            </a:r>
            <a:r>
              <a:rPr lang="en" sz="1800">
                <a:solidFill>
                  <a:srgbClr val="FF0000"/>
                </a:solidFill>
              </a:rPr>
              <a:t>,</a:t>
            </a:r>
            <a:r>
              <a:rPr lang="en" sz="1800">
                <a:solidFill>
                  <a:srgbClr val="FF0000"/>
                </a:solidFill>
              </a:rPr>
              <a:t>ΔY</a:t>
            </a:r>
            <a:r>
              <a:rPr baseline="-25000" lang="en" sz="1800">
                <a:solidFill>
                  <a:srgbClr val="FF0000"/>
                </a:solidFill>
              </a:rPr>
              <a:t>1</a:t>
            </a:r>
            <a:r>
              <a:rPr lang="en" sz="1800">
                <a:solidFill>
                  <a:srgbClr val="FF0000"/>
                </a:solidFill>
              </a:rPr>
              <a:t>+ </a:t>
            </a:r>
            <a:r>
              <a:rPr lang="en" sz="1800">
                <a:solidFill>
                  <a:srgbClr val="FF0000"/>
                </a:solidFill>
              </a:rPr>
              <a:t>ΔY</a:t>
            </a:r>
            <a:r>
              <a:rPr baseline="-25000" lang="en" sz="1800">
                <a:solidFill>
                  <a:srgbClr val="FF0000"/>
                </a:solidFill>
              </a:rPr>
              <a:t>2</a:t>
            </a:r>
            <a:r>
              <a:rPr lang="en" sz="1800">
                <a:solidFill>
                  <a:srgbClr val="FF0000"/>
                </a:solidFill>
              </a:rPr>
              <a:t>)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FF0000"/>
                </a:solidFill>
              </a:rPr>
              <a:t>(X,Y) = (426.777, 176.777)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278" name="Google Shape;278;p23"/>
          <p:cNvSpPr txBox="1"/>
          <p:nvPr/>
        </p:nvSpPr>
        <p:spPr>
          <a:xfrm>
            <a:off x="8188025" y="4282050"/>
            <a:ext cx="792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(0, 0)</a:t>
            </a:r>
            <a:endParaRPr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p24"/>
          <p:cNvPicPr preferRelativeResize="0"/>
          <p:nvPr/>
        </p:nvPicPr>
        <p:blipFill rotWithShape="1">
          <a:blip r:embed="rId3">
            <a:alphaModFix/>
          </a:blip>
          <a:srcRect b="0" l="0" r="0" t="8517"/>
          <a:stretch/>
        </p:blipFill>
        <p:spPr>
          <a:xfrm>
            <a:off x="1749600" y="1338575"/>
            <a:ext cx="7394400" cy="3804926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4"/>
          <p:cNvSpPr txBox="1"/>
          <p:nvPr/>
        </p:nvSpPr>
        <p:spPr>
          <a:xfrm>
            <a:off x="0" y="0"/>
            <a:ext cx="594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Completed Variables</a:t>
            </a:r>
            <a:endParaRPr sz="1800"/>
          </a:p>
        </p:txBody>
      </p:sp>
      <p:sp>
        <p:nvSpPr>
          <p:cNvPr id="285" name="Google Shape;285;p24"/>
          <p:cNvSpPr txBox="1"/>
          <p:nvPr/>
        </p:nvSpPr>
        <p:spPr>
          <a:xfrm>
            <a:off x="0" y="3524700"/>
            <a:ext cx="3080400" cy="16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15625" lIns="115625" spcFirstLastPara="1" rIns="115625" wrap="square" tIns="1156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L</a:t>
            </a:r>
            <a:r>
              <a:rPr baseline="-25000" lang="en" sz="1800">
                <a:solidFill>
                  <a:srgbClr val="FF0000"/>
                </a:solidFill>
              </a:rPr>
              <a:t>1</a:t>
            </a:r>
            <a:r>
              <a:rPr lang="en" sz="1800">
                <a:solidFill>
                  <a:srgbClr val="FF0000"/>
                </a:solidFill>
              </a:rPr>
              <a:t>=250mm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L</a:t>
            </a:r>
            <a:r>
              <a:rPr baseline="-25000" lang="en" sz="1800">
                <a:solidFill>
                  <a:srgbClr val="FF0000"/>
                </a:solidFill>
              </a:rPr>
              <a:t>2</a:t>
            </a:r>
            <a:r>
              <a:rPr lang="en" sz="1800">
                <a:solidFill>
                  <a:srgbClr val="FF0000"/>
                </a:solidFill>
              </a:rPr>
              <a:t>=250mm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θ</a:t>
            </a:r>
            <a:r>
              <a:rPr baseline="-25000" lang="en" sz="1800">
                <a:solidFill>
                  <a:srgbClr val="FF0000"/>
                </a:solidFill>
              </a:rPr>
              <a:t>1</a:t>
            </a:r>
            <a:r>
              <a:rPr lang="en" sz="1800">
                <a:solidFill>
                  <a:srgbClr val="FF0000"/>
                </a:solidFill>
              </a:rPr>
              <a:t>=45°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θ</a:t>
            </a:r>
            <a:r>
              <a:rPr baseline="-25000" lang="en" sz="1800">
                <a:solidFill>
                  <a:srgbClr val="FF0000"/>
                </a:solidFill>
              </a:rPr>
              <a:t>2</a:t>
            </a:r>
            <a:r>
              <a:rPr lang="en" sz="1800">
                <a:solidFill>
                  <a:srgbClr val="FF0000"/>
                </a:solidFill>
              </a:rPr>
              <a:t>=45°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(X,Y) = (426.777, 176.777)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286" name="Google Shape;286;p24"/>
          <p:cNvSpPr txBox="1"/>
          <p:nvPr/>
        </p:nvSpPr>
        <p:spPr>
          <a:xfrm>
            <a:off x="2563600" y="2923925"/>
            <a:ext cx="22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(426.777, 176.777)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287" name="Google Shape;287;p24"/>
          <p:cNvSpPr/>
          <p:nvPr/>
        </p:nvSpPr>
        <p:spPr>
          <a:xfrm flipH="1" rot="2700000">
            <a:off x="6298104" y="2571483"/>
            <a:ext cx="2285935" cy="2285935"/>
          </a:xfrm>
          <a:prstGeom prst="blockArc">
            <a:avLst>
              <a:gd fmla="val 18969520" name="adj1"/>
              <a:gd fmla="val 21574488" name="adj2"/>
              <a:gd fmla="val 4685" name="adj3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88" name="Google Shape;288;p24"/>
          <p:cNvCxnSpPr/>
          <p:nvPr/>
        </p:nvCxnSpPr>
        <p:spPr>
          <a:xfrm>
            <a:off x="5859775" y="2163600"/>
            <a:ext cx="1581300" cy="1585500"/>
          </a:xfrm>
          <a:prstGeom prst="straightConnector1">
            <a:avLst/>
          </a:prstGeom>
          <a:noFill/>
          <a:ln cap="flat" cmpd="sng" w="762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9" name="Google Shape;289;p24"/>
          <p:cNvCxnSpPr/>
          <p:nvPr/>
        </p:nvCxnSpPr>
        <p:spPr>
          <a:xfrm>
            <a:off x="3583300" y="2163600"/>
            <a:ext cx="2314800" cy="0"/>
          </a:xfrm>
          <a:prstGeom prst="straightConnector1">
            <a:avLst/>
          </a:prstGeom>
          <a:noFill/>
          <a:ln cap="flat" cmpd="sng" w="762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0" name="Google Shape;290;p24"/>
          <p:cNvCxnSpPr/>
          <p:nvPr/>
        </p:nvCxnSpPr>
        <p:spPr>
          <a:xfrm>
            <a:off x="7441075" y="2282200"/>
            <a:ext cx="0" cy="14670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91" name="Google Shape;291;p24"/>
          <p:cNvSpPr/>
          <p:nvPr/>
        </p:nvSpPr>
        <p:spPr>
          <a:xfrm flipH="1">
            <a:off x="4711939" y="984158"/>
            <a:ext cx="2286000" cy="2286000"/>
          </a:xfrm>
          <a:prstGeom prst="blockArc">
            <a:avLst>
              <a:gd fmla="val 18969520" name="adj1"/>
              <a:gd fmla="val 21574488" name="adj2"/>
              <a:gd fmla="val 4685" name="adj3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92" name="Google Shape;292;p24"/>
          <p:cNvCxnSpPr/>
          <p:nvPr/>
        </p:nvCxnSpPr>
        <p:spPr>
          <a:xfrm>
            <a:off x="4776400" y="1041900"/>
            <a:ext cx="1121700" cy="11217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93" name="Google Shape;293;p24"/>
          <p:cNvSpPr txBox="1"/>
          <p:nvPr/>
        </p:nvSpPr>
        <p:spPr>
          <a:xfrm>
            <a:off x="7044425" y="2725500"/>
            <a:ext cx="701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θ</a:t>
            </a:r>
            <a:r>
              <a:rPr baseline="-25000" lang="en" sz="1800">
                <a:solidFill>
                  <a:srgbClr val="FF0000"/>
                </a:solidFill>
              </a:rPr>
              <a:t>1</a:t>
            </a:r>
            <a:endParaRPr baseline="-25000" sz="1800">
              <a:solidFill>
                <a:srgbClr val="FF0000"/>
              </a:solidFill>
            </a:endParaRPr>
          </a:p>
        </p:txBody>
      </p:sp>
      <p:sp>
        <p:nvSpPr>
          <p:cNvPr id="294" name="Google Shape;294;p24"/>
          <p:cNvSpPr txBox="1"/>
          <p:nvPr/>
        </p:nvSpPr>
        <p:spPr>
          <a:xfrm>
            <a:off x="4929875" y="1538250"/>
            <a:ext cx="701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θ</a:t>
            </a:r>
            <a:r>
              <a:rPr baseline="-25000" lang="en" sz="1800">
                <a:solidFill>
                  <a:srgbClr val="FF0000"/>
                </a:solidFill>
              </a:rPr>
              <a:t>2</a:t>
            </a:r>
            <a:endParaRPr baseline="-25000" sz="1800">
              <a:solidFill>
                <a:srgbClr val="FF0000"/>
              </a:solidFill>
            </a:endParaRPr>
          </a:p>
        </p:txBody>
      </p:sp>
      <p:sp>
        <p:nvSpPr>
          <p:cNvPr id="295" name="Google Shape;295;p24"/>
          <p:cNvSpPr/>
          <p:nvPr/>
        </p:nvSpPr>
        <p:spPr>
          <a:xfrm>
            <a:off x="3506979" y="2049299"/>
            <a:ext cx="228600" cy="228600"/>
          </a:xfrm>
          <a:prstGeom prst="ellipse">
            <a:avLst/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24"/>
          <p:cNvSpPr/>
          <p:nvPr/>
        </p:nvSpPr>
        <p:spPr>
          <a:xfrm>
            <a:off x="5740654" y="2049299"/>
            <a:ext cx="228600" cy="228600"/>
          </a:xfrm>
          <a:prstGeom prst="ellipse">
            <a:avLst/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24"/>
          <p:cNvSpPr/>
          <p:nvPr/>
        </p:nvSpPr>
        <p:spPr>
          <a:xfrm>
            <a:off x="7326779" y="3600149"/>
            <a:ext cx="228600" cy="228600"/>
          </a:xfrm>
          <a:prstGeom prst="ellipse">
            <a:avLst/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98" name="Google Shape;298;p24"/>
          <p:cNvCxnSpPr>
            <a:stCxn id="286" idx="0"/>
            <a:endCxn id="295" idx="4"/>
          </p:cNvCxnSpPr>
          <p:nvPr/>
        </p:nvCxnSpPr>
        <p:spPr>
          <a:xfrm rot="10800000">
            <a:off x="3621400" y="2278025"/>
            <a:ext cx="48600" cy="6459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3" name="Google Shape;303;p25"/>
          <p:cNvPicPr preferRelativeResize="0"/>
          <p:nvPr/>
        </p:nvPicPr>
        <p:blipFill rotWithShape="1">
          <a:blip r:embed="rId3">
            <a:alphaModFix/>
          </a:blip>
          <a:srcRect b="0" l="34989" r="0" t="0"/>
          <a:stretch/>
        </p:blipFill>
        <p:spPr>
          <a:xfrm>
            <a:off x="3199500" y="29225"/>
            <a:ext cx="59445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25"/>
          <p:cNvSpPr txBox="1"/>
          <p:nvPr/>
        </p:nvSpPr>
        <p:spPr>
          <a:xfrm>
            <a:off x="0" y="0"/>
            <a:ext cx="594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Try It Yourself:</a:t>
            </a:r>
            <a:endParaRPr sz="1800"/>
          </a:p>
        </p:txBody>
      </p:sp>
      <p:sp>
        <p:nvSpPr>
          <p:cNvPr id="305" name="Google Shape;305;p25"/>
          <p:cNvSpPr txBox="1"/>
          <p:nvPr/>
        </p:nvSpPr>
        <p:spPr>
          <a:xfrm>
            <a:off x="19900" y="461700"/>
            <a:ext cx="3080400" cy="16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15625" lIns="115625" spcFirstLastPara="1" rIns="115625" wrap="square" tIns="1156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L</a:t>
            </a:r>
            <a:r>
              <a:rPr baseline="-25000" lang="en" sz="1800">
                <a:solidFill>
                  <a:srgbClr val="FF0000"/>
                </a:solidFill>
              </a:rPr>
              <a:t>1</a:t>
            </a:r>
            <a:r>
              <a:rPr lang="en" sz="1800">
                <a:solidFill>
                  <a:srgbClr val="FF0000"/>
                </a:solidFill>
              </a:rPr>
              <a:t>=250mm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L</a:t>
            </a:r>
            <a:r>
              <a:rPr baseline="-25000" lang="en" sz="1800">
                <a:solidFill>
                  <a:srgbClr val="FF0000"/>
                </a:solidFill>
              </a:rPr>
              <a:t>2</a:t>
            </a:r>
            <a:r>
              <a:rPr lang="en" sz="1800">
                <a:solidFill>
                  <a:srgbClr val="FF0000"/>
                </a:solidFill>
              </a:rPr>
              <a:t>=250mm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θ</a:t>
            </a:r>
            <a:r>
              <a:rPr baseline="-25000" lang="en" sz="1800">
                <a:solidFill>
                  <a:srgbClr val="FF0000"/>
                </a:solidFill>
              </a:rPr>
              <a:t>1</a:t>
            </a:r>
            <a:r>
              <a:rPr lang="en" sz="1800">
                <a:solidFill>
                  <a:srgbClr val="FF0000"/>
                </a:solidFill>
              </a:rPr>
              <a:t>=30°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θ</a:t>
            </a:r>
            <a:r>
              <a:rPr baseline="-25000" lang="en" sz="1800">
                <a:solidFill>
                  <a:srgbClr val="FF0000"/>
                </a:solidFill>
              </a:rPr>
              <a:t>2</a:t>
            </a:r>
            <a:r>
              <a:rPr lang="en" sz="1800">
                <a:solidFill>
                  <a:srgbClr val="FF0000"/>
                </a:solidFill>
              </a:rPr>
              <a:t>=30°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(X,Y) = (?,?)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306" name="Google Shape;306;p25"/>
          <p:cNvSpPr txBox="1"/>
          <p:nvPr/>
        </p:nvSpPr>
        <p:spPr>
          <a:xfrm>
            <a:off x="3080400" y="2049300"/>
            <a:ext cx="22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(X,Y)</a:t>
            </a:r>
            <a:endParaRPr sz="1800">
              <a:solidFill>
                <a:srgbClr val="FF0000"/>
              </a:solidFill>
            </a:endParaRPr>
          </a:p>
        </p:txBody>
      </p:sp>
      <p:cxnSp>
        <p:nvCxnSpPr>
          <p:cNvPr id="307" name="Google Shape;307;p25"/>
          <p:cNvCxnSpPr/>
          <p:nvPr/>
        </p:nvCxnSpPr>
        <p:spPr>
          <a:xfrm>
            <a:off x="6551182" y="2098052"/>
            <a:ext cx="1041600" cy="1793700"/>
          </a:xfrm>
          <a:prstGeom prst="straightConnector1">
            <a:avLst/>
          </a:prstGeom>
          <a:noFill/>
          <a:ln cap="flat" cmpd="sng" w="762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8" name="Google Shape;308;p25"/>
          <p:cNvCxnSpPr/>
          <p:nvPr/>
        </p:nvCxnSpPr>
        <p:spPr>
          <a:xfrm>
            <a:off x="4806900" y="1062800"/>
            <a:ext cx="1744200" cy="1064400"/>
          </a:xfrm>
          <a:prstGeom prst="straightConnector1">
            <a:avLst/>
          </a:prstGeom>
          <a:noFill/>
          <a:ln cap="flat" cmpd="sng" w="762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9" name="Google Shape;309;p25"/>
          <p:cNvCxnSpPr/>
          <p:nvPr/>
        </p:nvCxnSpPr>
        <p:spPr>
          <a:xfrm>
            <a:off x="7555375" y="2310850"/>
            <a:ext cx="0" cy="14670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10" name="Google Shape;310;p25"/>
          <p:cNvSpPr/>
          <p:nvPr/>
        </p:nvSpPr>
        <p:spPr>
          <a:xfrm flipH="1" rot="1801033">
            <a:off x="5526423" y="985996"/>
            <a:ext cx="2286011" cy="2286011"/>
          </a:xfrm>
          <a:prstGeom prst="blockArc">
            <a:avLst>
              <a:gd fmla="val 20053194" name="adj1"/>
              <a:gd fmla="val 21574488" name="adj2"/>
              <a:gd fmla="val 4685" name="adj3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11" name="Google Shape;311;p25"/>
          <p:cNvCxnSpPr/>
          <p:nvPr/>
        </p:nvCxnSpPr>
        <p:spPr>
          <a:xfrm>
            <a:off x="5966053" y="1020050"/>
            <a:ext cx="663900" cy="11499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12" name="Google Shape;312;p25"/>
          <p:cNvSpPr txBox="1"/>
          <p:nvPr/>
        </p:nvSpPr>
        <p:spPr>
          <a:xfrm>
            <a:off x="7204825" y="2652925"/>
            <a:ext cx="701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θ</a:t>
            </a:r>
            <a:r>
              <a:rPr baseline="-25000" lang="en" sz="1800">
                <a:solidFill>
                  <a:srgbClr val="FF0000"/>
                </a:solidFill>
              </a:rPr>
              <a:t>1</a:t>
            </a:r>
            <a:endParaRPr baseline="-25000" sz="1800">
              <a:solidFill>
                <a:srgbClr val="FF0000"/>
              </a:solidFill>
            </a:endParaRPr>
          </a:p>
        </p:txBody>
      </p:sp>
      <p:sp>
        <p:nvSpPr>
          <p:cNvPr id="313" name="Google Shape;313;p25"/>
          <p:cNvSpPr txBox="1"/>
          <p:nvPr/>
        </p:nvSpPr>
        <p:spPr>
          <a:xfrm>
            <a:off x="5902100" y="1247975"/>
            <a:ext cx="701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θ</a:t>
            </a:r>
            <a:r>
              <a:rPr baseline="-25000" lang="en" sz="1800">
                <a:solidFill>
                  <a:srgbClr val="FF0000"/>
                </a:solidFill>
              </a:rPr>
              <a:t>2</a:t>
            </a:r>
            <a:endParaRPr baseline="-25000" sz="1800">
              <a:solidFill>
                <a:srgbClr val="FF0000"/>
              </a:solidFill>
            </a:endParaRPr>
          </a:p>
        </p:txBody>
      </p:sp>
      <p:sp>
        <p:nvSpPr>
          <p:cNvPr id="314" name="Google Shape;314;p25"/>
          <p:cNvSpPr/>
          <p:nvPr/>
        </p:nvSpPr>
        <p:spPr>
          <a:xfrm>
            <a:off x="4701279" y="984149"/>
            <a:ext cx="228600" cy="228600"/>
          </a:xfrm>
          <a:prstGeom prst="ellipse">
            <a:avLst/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25"/>
          <p:cNvSpPr/>
          <p:nvPr/>
        </p:nvSpPr>
        <p:spPr>
          <a:xfrm>
            <a:off x="6453254" y="2049299"/>
            <a:ext cx="228600" cy="228600"/>
          </a:xfrm>
          <a:prstGeom prst="ellipse">
            <a:avLst/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25"/>
          <p:cNvSpPr/>
          <p:nvPr/>
        </p:nvSpPr>
        <p:spPr>
          <a:xfrm>
            <a:off x="7441079" y="3749199"/>
            <a:ext cx="228600" cy="228600"/>
          </a:xfrm>
          <a:prstGeom prst="ellipse">
            <a:avLst/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17" name="Google Shape;317;p25"/>
          <p:cNvCxnSpPr>
            <a:stCxn id="306" idx="0"/>
            <a:endCxn id="314" idx="4"/>
          </p:cNvCxnSpPr>
          <p:nvPr/>
        </p:nvCxnSpPr>
        <p:spPr>
          <a:xfrm flipH="1" rot="10800000">
            <a:off x="4186800" y="1212600"/>
            <a:ext cx="628800" cy="8367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8" name="Google Shape;318;p25"/>
          <p:cNvSpPr/>
          <p:nvPr/>
        </p:nvSpPr>
        <p:spPr>
          <a:xfrm flipH="1" rot="3598351">
            <a:off x="6363042" y="2545760"/>
            <a:ext cx="2285901" cy="2285901"/>
          </a:xfrm>
          <a:prstGeom prst="blockArc">
            <a:avLst>
              <a:gd fmla="val 19713424" name="adj1"/>
              <a:gd fmla="val 21574488" name="adj2"/>
              <a:gd fmla="val 4685" name="adj3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3" name="Google Shape;323;p26"/>
          <p:cNvPicPr preferRelativeResize="0"/>
          <p:nvPr/>
        </p:nvPicPr>
        <p:blipFill rotWithShape="1">
          <a:blip r:embed="rId3">
            <a:alphaModFix/>
          </a:blip>
          <a:srcRect b="0" l="34989" r="0" t="0"/>
          <a:stretch/>
        </p:blipFill>
        <p:spPr>
          <a:xfrm>
            <a:off x="3199500" y="29225"/>
            <a:ext cx="59445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26"/>
          <p:cNvSpPr txBox="1"/>
          <p:nvPr/>
        </p:nvSpPr>
        <p:spPr>
          <a:xfrm>
            <a:off x="0" y="0"/>
            <a:ext cx="594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Try It Yourself:</a:t>
            </a:r>
            <a:endParaRPr sz="1800"/>
          </a:p>
        </p:txBody>
      </p:sp>
      <p:sp>
        <p:nvSpPr>
          <p:cNvPr id="325" name="Google Shape;325;p26"/>
          <p:cNvSpPr txBox="1"/>
          <p:nvPr/>
        </p:nvSpPr>
        <p:spPr>
          <a:xfrm>
            <a:off x="19900" y="461700"/>
            <a:ext cx="3080400" cy="16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15625" lIns="115625" spcFirstLastPara="1" rIns="115625" wrap="square" tIns="1156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L</a:t>
            </a:r>
            <a:r>
              <a:rPr baseline="-25000" lang="en" sz="1800">
                <a:solidFill>
                  <a:srgbClr val="FF0000"/>
                </a:solidFill>
              </a:rPr>
              <a:t>1</a:t>
            </a:r>
            <a:r>
              <a:rPr lang="en" sz="1800">
                <a:solidFill>
                  <a:srgbClr val="FF0000"/>
                </a:solidFill>
              </a:rPr>
              <a:t>=250mm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L</a:t>
            </a:r>
            <a:r>
              <a:rPr baseline="-25000" lang="en" sz="1800">
                <a:solidFill>
                  <a:srgbClr val="FF0000"/>
                </a:solidFill>
              </a:rPr>
              <a:t>2</a:t>
            </a:r>
            <a:r>
              <a:rPr lang="en" sz="1800">
                <a:solidFill>
                  <a:srgbClr val="FF0000"/>
                </a:solidFill>
              </a:rPr>
              <a:t>=250mm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θ</a:t>
            </a:r>
            <a:r>
              <a:rPr baseline="-25000" lang="en" sz="1800">
                <a:solidFill>
                  <a:srgbClr val="FF0000"/>
                </a:solidFill>
              </a:rPr>
              <a:t>1</a:t>
            </a:r>
            <a:r>
              <a:rPr lang="en" sz="1800">
                <a:solidFill>
                  <a:srgbClr val="FF0000"/>
                </a:solidFill>
              </a:rPr>
              <a:t>=30°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θ</a:t>
            </a:r>
            <a:r>
              <a:rPr baseline="-25000" lang="en" sz="1800">
                <a:solidFill>
                  <a:srgbClr val="FF0000"/>
                </a:solidFill>
              </a:rPr>
              <a:t>2</a:t>
            </a:r>
            <a:r>
              <a:rPr lang="en" sz="1800">
                <a:solidFill>
                  <a:srgbClr val="FF0000"/>
                </a:solidFill>
              </a:rPr>
              <a:t>=30°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(X,Y) = (?,?)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326" name="Google Shape;326;p26"/>
          <p:cNvSpPr txBox="1"/>
          <p:nvPr/>
        </p:nvSpPr>
        <p:spPr>
          <a:xfrm>
            <a:off x="3080400" y="2049300"/>
            <a:ext cx="22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(X,Y)</a:t>
            </a:r>
            <a:endParaRPr sz="1800">
              <a:solidFill>
                <a:srgbClr val="FF0000"/>
              </a:solidFill>
            </a:endParaRPr>
          </a:p>
        </p:txBody>
      </p:sp>
      <p:cxnSp>
        <p:nvCxnSpPr>
          <p:cNvPr id="327" name="Google Shape;327;p26"/>
          <p:cNvCxnSpPr/>
          <p:nvPr/>
        </p:nvCxnSpPr>
        <p:spPr>
          <a:xfrm>
            <a:off x="6551182" y="2098052"/>
            <a:ext cx="1041600" cy="1793700"/>
          </a:xfrm>
          <a:prstGeom prst="straightConnector1">
            <a:avLst/>
          </a:prstGeom>
          <a:noFill/>
          <a:ln cap="flat" cmpd="sng" w="762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8" name="Google Shape;328;p26"/>
          <p:cNvCxnSpPr/>
          <p:nvPr/>
        </p:nvCxnSpPr>
        <p:spPr>
          <a:xfrm>
            <a:off x="4806900" y="1062800"/>
            <a:ext cx="1744200" cy="1064400"/>
          </a:xfrm>
          <a:prstGeom prst="straightConnector1">
            <a:avLst/>
          </a:prstGeom>
          <a:noFill/>
          <a:ln cap="flat" cmpd="sng" w="762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9" name="Google Shape;329;p26"/>
          <p:cNvCxnSpPr/>
          <p:nvPr/>
        </p:nvCxnSpPr>
        <p:spPr>
          <a:xfrm>
            <a:off x="7555375" y="2310850"/>
            <a:ext cx="0" cy="14670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30" name="Google Shape;330;p26"/>
          <p:cNvSpPr/>
          <p:nvPr/>
        </p:nvSpPr>
        <p:spPr>
          <a:xfrm flipH="1" rot="1801033">
            <a:off x="5526423" y="985996"/>
            <a:ext cx="2286011" cy="2286011"/>
          </a:xfrm>
          <a:prstGeom prst="blockArc">
            <a:avLst>
              <a:gd fmla="val 20053194" name="adj1"/>
              <a:gd fmla="val 21574488" name="adj2"/>
              <a:gd fmla="val 4685" name="adj3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31" name="Google Shape;331;p26"/>
          <p:cNvCxnSpPr/>
          <p:nvPr/>
        </p:nvCxnSpPr>
        <p:spPr>
          <a:xfrm>
            <a:off x="5966053" y="1020050"/>
            <a:ext cx="663900" cy="11499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32" name="Google Shape;332;p26"/>
          <p:cNvSpPr txBox="1"/>
          <p:nvPr/>
        </p:nvSpPr>
        <p:spPr>
          <a:xfrm>
            <a:off x="7204825" y="2652925"/>
            <a:ext cx="701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θ</a:t>
            </a:r>
            <a:r>
              <a:rPr baseline="-25000" lang="en" sz="1800">
                <a:solidFill>
                  <a:srgbClr val="FF0000"/>
                </a:solidFill>
              </a:rPr>
              <a:t>1</a:t>
            </a:r>
            <a:endParaRPr baseline="-25000" sz="1800">
              <a:solidFill>
                <a:srgbClr val="FF0000"/>
              </a:solidFill>
            </a:endParaRPr>
          </a:p>
        </p:txBody>
      </p:sp>
      <p:sp>
        <p:nvSpPr>
          <p:cNvPr id="333" name="Google Shape;333;p26"/>
          <p:cNvSpPr txBox="1"/>
          <p:nvPr/>
        </p:nvSpPr>
        <p:spPr>
          <a:xfrm>
            <a:off x="5902100" y="1247975"/>
            <a:ext cx="701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θ</a:t>
            </a:r>
            <a:r>
              <a:rPr baseline="-25000" lang="en" sz="1800">
                <a:solidFill>
                  <a:srgbClr val="FF0000"/>
                </a:solidFill>
              </a:rPr>
              <a:t>2</a:t>
            </a:r>
            <a:endParaRPr baseline="-25000" sz="1800">
              <a:solidFill>
                <a:srgbClr val="FF0000"/>
              </a:solidFill>
            </a:endParaRPr>
          </a:p>
        </p:txBody>
      </p:sp>
      <p:sp>
        <p:nvSpPr>
          <p:cNvPr id="334" name="Google Shape;334;p26"/>
          <p:cNvSpPr/>
          <p:nvPr/>
        </p:nvSpPr>
        <p:spPr>
          <a:xfrm>
            <a:off x="4701279" y="984149"/>
            <a:ext cx="228600" cy="228600"/>
          </a:xfrm>
          <a:prstGeom prst="ellipse">
            <a:avLst/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26"/>
          <p:cNvSpPr/>
          <p:nvPr/>
        </p:nvSpPr>
        <p:spPr>
          <a:xfrm>
            <a:off x="6453254" y="2049299"/>
            <a:ext cx="228600" cy="228600"/>
          </a:xfrm>
          <a:prstGeom prst="ellipse">
            <a:avLst/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26"/>
          <p:cNvSpPr/>
          <p:nvPr/>
        </p:nvSpPr>
        <p:spPr>
          <a:xfrm>
            <a:off x="7441079" y="3749199"/>
            <a:ext cx="228600" cy="228600"/>
          </a:xfrm>
          <a:prstGeom prst="ellipse">
            <a:avLst/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37" name="Google Shape;337;p26"/>
          <p:cNvCxnSpPr>
            <a:stCxn id="326" idx="0"/>
            <a:endCxn id="334" idx="4"/>
          </p:cNvCxnSpPr>
          <p:nvPr/>
        </p:nvCxnSpPr>
        <p:spPr>
          <a:xfrm flipH="1" rot="10800000">
            <a:off x="4186800" y="1212600"/>
            <a:ext cx="628800" cy="8367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8" name="Google Shape;338;p26"/>
          <p:cNvSpPr/>
          <p:nvPr/>
        </p:nvSpPr>
        <p:spPr>
          <a:xfrm flipH="1" rot="3598351">
            <a:off x="6363042" y="2545760"/>
            <a:ext cx="2285901" cy="2285901"/>
          </a:xfrm>
          <a:prstGeom prst="blockArc">
            <a:avLst>
              <a:gd fmla="val 19713424" name="adj1"/>
              <a:gd fmla="val 21574488" name="adj2"/>
              <a:gd fmla="val 4685" name="adj3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26"/>
          <p:cNvSpPr txBox="1"/>
          <p:nvPr/>
        </p:nvSpPr>
        <p:spPr>
          <a:xfrm>
            <a:off x="0" y="2571750"/>
            <a:ext cx="59445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Solution</a:t>
            </a:r>
            <a:r>
              <a:rPr lang="en" sz="1800"/>
              <a:t>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FF0000"/>
                </a:solidFill>
              </a:rPr>
              <a:t>(X,Y) = (341.506, 341.506)</a:t>
            </a:r>
            <a:endParaRPr sz="1800"/>
          </a:p>
        </p:txBody>
      </p:sp>
      <p:sp>
        <p:nvSpPr>
          <p:cNvPr id="340" name="Google Shape;340;p26"/>
          <p:cNvSpPr/>
          <p:nvPr/>
        </p:nvSpPr>
        <p:spPr>
          <a:xfrm>
            <a:off x="0" y="3114625"/>
            <a:ext cx="3009900" cy="697500"/>
          </a:xfrm>
          <a:prstGeom prst="rect">
            <a:avLst/>
          </a:prstGeom>
          <a:solidFill>
            <a:srgbClr val="66666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6AA84F"/>
                </a:solidFill>
              </a:rPr>
              <a:t>Click To Reveal</a:t>
            </a:r>
            <a:endParaRPr b="1" sz="1600">
              <a:solidFill>
                <a:srgbClr val="6AA84F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5" name="Google Shape;345;p27"/>
          <p:cNvPicPr preferRelativeResize="0"/>
          <p:nvPr/>
        </p:nvPicPr>
        <p:blipFill rotWithShape="1">
          <a:blip r:embed="rId3">
            <a:alphaModFix/>
          </a:blip>
          <a:srcRect b="0" l="16276" r="0" t="0"/>
          <a:stretch/>
        </p:blipFill>
        <p:spPr>
          <a:xfrm>
            <a:off x="2323361" y="567500"/>
            <a:ext cx="6882064" cy="4623624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27"/>
          <p:cNvSpPr txBox="1"/>
          <p:nvPr/>
        </p:nvSpPr>
        <p:spPr>
          <a:xfrm>
            <a:off x="0" y="0"/>
            <a:ext cx="594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Try It Yourself 2:</a:t>
            </a:r>
            <a:endParaRPr sz="1800"/>
          </a:p>
        </p:txBody>
      </p:sp>
      <p:sp>
        <p:nvSpPr>
          <p:cNvPr id="347" name="Google Shape;347;p27"/>
          <p:cNvSpPr txBox="1"/>
          <p:nvPr/>
        </p:nvSpPr>
        <p:spPr>
          <a:xfrm>
            <a:off x="19900" y="461700"/>
            <a:ext cx="3080400" cy="16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15625" lIns="115625" spcFirstLastPara="1" rIns="115625" wrap="square" tIns="1156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L</a:t>
            </a:r>
            <a:r>
              <a:rPr baseline="-25000" lang="en" sz="1800">
                <a:solidFill>
                  <a:srgbClr val="FF0000"/>
                </a:solidFill>
              </a:rPr>
              <a:t>1</a:t>
            </a:r>
            <a:r>
              <a:rPr lang="en" sz="1800">
                <a:solidFill>
                  <a:srgbClr val="FF0000"/>
                </a:solidFill>
              </a:rPr>
              <a:t>=250mm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L</a:t>
            </a:r>
            <a:r>
              <a:rPr baseline="-25000" lang="en" sz="1800">
                <a:solidFill>
                  <a:srgbClr val="FF0000"/>
                </a:solidFill>
              </a:rPr>
              <a:t>2</a:t>
            </a:r>
            <a:r>
              <a:rPr lang="en" sz="1800">
                <a:solidFill>
                  <a:srgbClr val="FF0000"/>
                </a:solidFill>
              </a:rPr>
              <a:t>=250mm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θ</a:t>
            </a:r>
            <a:r>
              <a:rPr baseline="-25000" lang="en" sz="1800">
                <a:solidFill>
                  <a:srgbClr val="FF0000"/>
                </a:solidFill>
              </a:rPr>
              <a:t>1</a:t>
            </a:r>
            <a:r>
              <a:rPr lang="en" sz="1800">
                <a:solidFill>
                  <a:srgbClr val="FF0000"/>
                </a:solidFill>
              </a:rPr>
              <a:t>=60°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θ</a:t>
            </a:r>
            <a:r>
              <a:rPr baseline="-25000" lang="en" sz="1800">
                <a:solidFill>
                  <a:srgbClr val="FF0000"/>
                </a:solidFill>
              </a:rPr>
              <a:t>2</a:t>
            </a:r>
            <a:r>
              <a:rPr lang="en" sz="1800">
                <a:solidFill>
                  <a:srgbClr val="FF0000"/>
                </a:solidFill>
              </a:rPr>
              <a:t>=0°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(X,Y) = (?,?)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348" name="Google Shape;348;p27"/>
          <p:cNvSpPr txBox="1"/>
          <p:nvPr/>
        </p:nvSpPr>
        <p:spPr>
          <a:xfrm>
            <a:off x="2411725" y="2496575"/>
            <a:ext cx="960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(X,Y)</a:t>
            </a:r>
            <a:endParaRPr sz="1800">
              <a:solidFill>
                <a:srgbClr val="FF0000"/>
              </a:solidFill>
            </a:endParaRPr>
          </a:p>
        </p:txBody>
      </p:sp>
      <p:cxnSp>
        <p:nvCxnSpPr>
          <p:cNvPr id="349" name="Google Shape;349;p27"/>
          <p:cNvCxnSpPr/>
          <p:nvPr/>
        </p:nvCxnSpPr>
        <p:spPr>
          <a:xfrm>
            <a:off x="5788775" y="2821825"/>
            <a:ext cx="1803900" cy="1069800"/>
          </a:xfrm>
          <a:prstGeom prst="straightConnector1">
            <a:avLst/>
          </a:prstGeom>
          <a:noFill/>
          <a:ln cap="flat" cmpd="sng" w="762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0" name="Google Shape;350;p27"/>
          <p:cNvCxnSpPr/>
          <p:nvPr/>
        </p:nvCxnSpPr>
        <p:spPr>
          <a:xfrm>
            <a:off x="3980388" y="1735200"/>
            <a:ext cx="1859700" cy="1122900"/>
          </a:xfrm>
          <a:prstGeom prst="straightConnector1">
            <a:avLst/>
          </a:prstGeom>
          <a:noFill/>
          <a:ln cap="flat" cmpd="sng" w="762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1" name="Google Shape;351;p27"/>
          <p:cNvCxnSpPr/>
          <p:nvPr/>
        </p:nvCxnSpPr>
        <p:spPr>
          <a:xfrm>
            <a:off x="7555375" y="2310850"/>
            <a:ext cx="0" cy="14670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52" name="Google Shape;352;p27"/>
          <p:cNvSpPr txBox="1"/>
          <p:nvPr/>
        </p:nvSpPr>
        <p:spPr>
          <a:xfrm>
            <a:off x="7204825" y="2652925"/>
            <a:ext cx="701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θ</a:t>
            </a:r>
            <a:r>
              <a:rPr baseline="-25000" lang="en" sz="1800">
                <a:solidFill>
                  <a:srgbClr val="FF0000"/>
                </a:solidFill>
              </a:rPr>
              <a:t>1</a:t>
            </a:r>
            <a:endParaRPr baseline="-25000" sz="1800">
              <a:solidFill>
                <a:srgbClr val="FF0000"/>
              </a:solidFill>
            </a:endParaRPr>
          </a:p>
        </p:txBody>
      </p:sp>
      <p:sp>
        <p:nvSpPr>
          <p:cNvPr id="353" name="Google Shape;353;p27"/>
          <p:cNvSpPr/>
          <p:nvPr/>
        </p:nvSpPr>
        <p:spPr>
          <a:xfrm>
            <a:off x="3872604" y="1645649"/>
            <a:ext cx="228600" cy="228600"/>
          </a:xfrm>
          <a:prstGeom prst="ellipse">
            <a:avLst/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27"/>
          <p:cNvSpPr/>
          <p:nvPr/>
        </p:nvSpPr>
        <p:spPr>
          <a:xfrm>
            <a:off x="5682579" y="2711074"/>
            <a:ext cx="228600" cy="228600"/>
          </a:xfrm>
          <a:prstGeom prst="ellipse">
            <a:avLst/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27"/>
          <p:cNvSpPr/>
          <p:nvPr/>
        </p:nvSpPr>
        <p:spPr>
          <a:xfrm>
            <a:off x="7441079" y="3749199"/>
            <a:ext cx="228600" cy="228600"/>
          </a:xfrm>
          <a:prstGeom prst="ellipse">
            <a:avLst/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56" name="Google Shape;356;p27"/>
          <p:cNvCxnSpPr>
            <a:endCxn id="353" idx="3"/>
          </p:cNvCxnSpPr>
          <p:nvPr/>
        </p:nvCxnSpPr>
        <p:spPr>
          <a:xfrm flipH="1" rot="10800000">
            <a:off x="3351682" y="1840771"/>
            <a:ext cx="554400" cy="8703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57" name="Google Shape;357;p27"/>
          <p:cNvSpPr/>
          <p:nvPr/>
        </p:nvSpPr>
        <p:spPr>
          <a:xfrm flipH="1" rot="3598351">
            <a:off x="6363042" y="2545760"/>
            <a:ext cx="2285901" cy="2285901"/>
          </a:xfrm>
          <a:prstGeom prst="blockArc">
            <a:avLst>
              <a:gd fmla="val 19713424" name="adj1"/>
              <a:gd fmla="val 2056961" name="adj2"/>
              <a:gd fmla="val 4567" name="adj3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2" name="Google Shape;362;p28"/>
          <p:cNvPicPr preferRelativeResize="0"/>
          <p:nvPr/>
        </p:nvPicPr>
        <p:blipFill rotWithShape="1">
          <a:blip r:embed="rId3">
            <a:alphaModFix/>
          </a:blip>
          <a:srcRect b="0" l="16276" r="0" t="0"/>
          <a:stretch/>
        </p:blipFill>
        <p:spPr>
          <a:xfrm>
            <a:off x="2323361" y="567500"/>
            <a:ext cx="6882064" cy="4623624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28"/>
          <p:cNvSpPr txBox="1"/>
          <p:nvPr/>
        </p:nvSpPr>
        <p:spPr>
          <a:xfrm>
            <a:off x="0" y="0"/>
            <a:ext cx="594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Try It Yourself 2:</a:t>
            </a:r>
            <a:endParaRPr sz="1800"/>
          </a:p>
        </p:txBody>
      </p:sp>
      <p:sp>
        <p:nvSpPr>
          <p:cNvPr id="364" name="Google Shape;364;p28"/>
          <p:cNvSpPr txBox="1"/>
          <p:nvPr/>
        </p:nvSpPr>
        <p:spPr>
          <a:xfrm>
            <a:off x="19900" y="461700"/>
            <a:ext cx="3080400" cy="16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15625" lIns="115625" spcFirstLastPara="1" rIns="115625" wrap="square" tIns="1156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L</a:t>
            </a:r>
            <a:r>
              <a:rPr baseline="-25000" lang="en" sz="1800">
                <a:solidFill>
                  <a:srgbClr val="FF0000"/>
                </a:solidFill>
              </a:rPr>
              <a:t>1</a:t>
            </a:r>
            <a:r>
              <a:rPr lang="en" sz="1800">
                <a:solidFill>
                  <a:srgbClr val="FF0000"/>
                </a:solidFill>
              </a:rPr>
              <a:t>=250mm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L</a:t>
            </a:r>
            <a:r>
              <a:rPr baseline="-25000" lang="en" sz="1800">
                <a:solidFill>
                  <a:srgbClr val="FF0000"/>
                </a:solidFill>
              </a:rPr>
              <a:t>2</a:t>
            </a:r>
            <a:r>
              <a:rPr lang="en" sz="1800">
                <a:solidFill>
                  <a:srgbClr val="FF0000"/>
                </a:solidFill>
              </a:rPr>
              <a:t>=250mm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θ</a:t>
            </a:r>
            <a:r>
              <a:rPr baseline="-25000" lang="en" sz="1800">
                <a:solidFill>
                  <a:srgbClr val="FF0000"/>
                </a:solidFill>
              </a:rPr>
              <a:t>1</a:t>
            </a:r>
            <a:r>
              <a:rPr lang="en" sz="1800">
                <a:solidFill>
                  <a:srgbClr val="FF0000"/>
                </a:solidFill>
              </a:rPr>
              <a:t>=60°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θ</a:t>
            </a:r>
            <a:r>
              <a:rPr baseline="-25000" lang="en" sz="1800">
                <a:solidFill>
                  <a:srgbClr val="FF0000"/>
                </a:solidFill>
              </a:rPr>
              <a:t>2</a:t>
            </a:r>
            <a:r>
              <a:rPr lang="en" sz="1800">
                <a:solidFill>
                  <a:srgbClr val="FF0000"/>
                </a:solidFill>
              </a:rPr>
              <a:t>=0°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(X,Y) = (?,?)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365" name="Google Shape;365;p28"/>
          <p:cNvSpPr txBox="1"/>
          <p:nvPr/>
        </p:nvSpPr>
        <p:spPr>
          <a:xfrm>
            <a:off x="2411725" y="2496575"/>
            <a:ext cx="960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(X,Y)</a:t>
            </a:r>
            <a:endParaRPr sz="1800">
              <a:solidFill>
                <a:srgbClr val="FF0000"/>
              </a:solidFill>
            </a:endParaRPr>
          </a:p>
        </p:txBody>
      </p:sp>
      <p:cxnSp>
        <p:nvCxnSpPr>
          <p:cNvPr id="366" name="Google Shape;366;p28"/>
          <p:cNvCxnSpPr/>
          <p:nvPr/>
        </p:nvCxnSpPr>
        <p:spPr>
          <a:xfrm>
            <a:off x="5788775" y="2821825"/>
            <a:ext cx="1803900" cy="1069800"/>
          </a:xfrm>
          <a:prstGeom prst="straightConnector1">
            <a:avLst/>
          </a:prstGeom>
          <a:noFill/>
          <a:ln cap="flat" cmpd="sng" w="762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7" name="Google Shape;367;p28"/>
          <p:cNvCxnSpPr/>
          <p:nvPr/>
        </p:nvCxnSpPr>
        <p:spPr>
          <a:xfrm>
            <a:off x="3980388" y="1735200"/>
            <a:ext cx="1859700" cy="1122900"/>
          </a:xfrm>
          <a:prstGeom prst="straightConnector1">
            <a:avLst/>
          </a:prstGeom>
          <a:noFill/>
          <a:ln cap="flat" cmpd="sng" w="762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8" name="Google Shape;368;p28"/>
          <p:cNvCxnSpPr/>
          <p:nvPr/>
        </p:nvCxnSpPr>
        <p:spPr>
          <a:xfrm>
            <a:off x="7555375" y="2310850"/>
            <a:ext cx="0" cy="14670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69" name="Google Shape;369;p28"/>
          <p:cNvSpPr txBox="1"/>
          <p:nvPr/>
        </p:nvSpPr>
        <p:spPr>
          <a:xfrm>
            <a:off x="7204825" y="2652925"/>
            <a:ext cx="701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θ</a:t>
            </a:r>
            <a:r>
              <a:rPr baseline="-25000" lang="en" sz="1800">
                <a:solidFill>
                  <a:srgbClr val="FF0000"/>
                </a:solidFill>
              </a:rPr>
              <a:t>1</a:t>
            </a:r>
            <a:endParaRPr baseline="-25000" sz="1800">
              <a:solidFill>
                <a:srgbClr val="FF0000"/>
              </a:solidFill>
            </a:endParaRPr>
          </a:p>
        </p:txBody>
      </p:sp>
      <p:sp>
        <p:nvSpPr>
          <p:cNvPr id="370" name="Google Shape;370;p28"/>
          <p:cNvSpPr/>
          <p:nvPr/>
        </p:nvSpPr>
        <p:spPr>
          <a:xfrm>
            <a:off x="3872604" y="1645649"/>
            <a:ext cx="228600" cy="228600"/>
          </a:xfrm>
          <a:prstGeom prst="ellipse">
            <a:avLst/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28"/>
          <p:cNvSpPr/>
          <p:nvPr/>
        </p:nvSpPr>
        <p:spPr>
          <a:xfrm>
            <a:off x="5682579" y="2711074"/>
            <a:ext cx="228600" cy="228600"/>
          </a:xfrm>
          <a:prstGeom prst="ellipse">
            <a:avLst/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28"/>
          <p:cNvSpPr/>
          <p:nvPr/>
        </p:nvSpPr>
        <p:spPr>
          <a:xfrm>
            <a:off x="7441079" y="3749199"/>
            <a:ext cx="228600" cy="228600"/>
          </a:xfrm>
          <a:prstGeom prst="ellipse">
            <a:avLst/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73" name="Google Shape;373;p28"/>
          <p:cNvCxnSpPr>
            <a:endCxn id="370" idx="3"/>
          </p:cNvCxnSpPr>
          <p:nvPr/>
        </p:nvCxnSpPr>
        <p:spPr>
          <a:xfrm flipH="1" rot="10800000">
            <a:off x="3351682" y="1840771"/>
            <a:ext cx="554400" cy="8703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74" name="Google Shape;374;p28"/>
          <p:cNvSpPr/>
          <p:nvPr/>
        </p:nvSpPr>
        <p:spPr>
          <a:xfrm flipH="1" rot="3598351">
            <a:off x="6363042" y="2545760"/>
            <a:ext cx="2285901" cy="2285901"/>
          </a:xfrm>
          <a:prstGeom prst="blockArc">
            <a:avLst>
              <a:gd fmla="val 19713424" name="adj1"/>
              <a:gd fmla="val 2056961" name="adj2"/>
              <a:gd fmla="val 4567" name="adj3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28"/>
          <p:cNvSpPr txBox="1"/>
          <p:nvPr/>
        </p:nvSpPr>
        <p:spPr>
          <a:xfrm>
            <a:off x="0" y="2571750"/>
            <a:ext cx="59445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Solution: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(X,Y) = (</a:t>
            </a:r>
            <a:r>
              <a:rPr lang="en" sz="1800">
                <a:solidFill>
                  <a:srgbClr val="FF0000"/>
                </a:solidFill>
              </a:rPr>
              <a:t>433.013</a:t>
            </a:r>
            <a:r>
              <a:rPr lang="en" sz="1800">
                <a:solidFill>
                  <a:srgbClr val="FF0000"/>
                </a:solidFill>
              </a:rPr>
              <a:t>, 250)</a:t>
            </a:r>
            <a:endParaRPr sz="1800"/>
          </a:p>
        </p:txBody>
      </p:sp>
      <p:sp>
        <p:nvSpPr>
          <p:cNvPr id="376" name="Google Shape;376;p28"/>
          <p:cNvSpPr/>
          <p:nvPr/>
        </p:nvSpPr>
        <p:spPr>
          <a:xfrm>
            <a:off x="0" y="3114625"/>
            <a:ext cx="3009900" cy="697500"/>
          </a:xfrm>
          <a:prstGeom prst="rect">
            <a:avLst/>
          </a:prstGeom>
          <a:solidFill>
            <a:srgbClr val="66666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6AA84F"/>
                </a:solidFill>
              </a:rPr>
              <a:t>Click To Reveal</a:t>
            </a:r>
            <a:endParaRPr b="1" sz="1600">
              <a:solidFill>
                <a:srgbClr val="6AA84F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29"/>
          <p:cNvSpPr txBox="1"/>
          <p:nvPr/>
        </p:nvSpPr>
        <p:spPr>
          <a:xfrm>
            <a:off x="0" y="0"/>
            <a:ext cx="5944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Forward Kinematics With Base Rotation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382" name="Google Shape;382;p29"/>
          <p:cNvPicPr preferRelativeResize="0"/>
          <p:nvPr/>
        </p:nvPicPr>
        <p:blipFill rotWithShape="1">
          <a:blip r:embed="rId3">
            <a:alphaModFix/>
          </a:blip>
          <a:srcRect b="0" l="0" r="10250" t="0"/>
          <a:stretch/>
        </p:blipFill>
        <p:spPr>
          <a:xfrm>
            <a:off x="2160225" y="766500"/>
            <a:ext cx="6983776" cy="4376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30"/>
          <p:cNvSpPr txBox="1"/>
          <p:nvPr/>
        </p:nvSpPr>
        <p:spPr>
          <a:xfrm>
            <a:off x="0" y="0"/>
            <a:ext cx="59445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The arm’s forward kinematics with base rotation is dependent on rotation around the center point of the base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388" name="Google Shape;388;p30"/>
          <p:cNvSpPr txBox="1"/>
          <p:nvPr/>
        </p:nvSpPr>
        <p:spPr>
          <a:xfrm>
            <a:off x="0" y="3432300"/>
            <a:ext cx="3749100" cy="1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115625" lIns="115625" spcFirstLastPara="1" rIns="115625" wrap="square" tIns="1156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Where</a:t>
            </a:r>
            <a:br>
              <a:rPr lang="en" sz="2400"/>
            </a:br>
            <a:r>
              <a:rPr lang="en" sz="2400">
                <a:solidFill>
                  <a:srgbClr val="FF0000"/>
                </a:solidFill>
              </a:rPr>
              <a:t>R = Horizontal distance from end effector to base center point</a:t>
            </a:r>
            <a:endParaRPr sz="2400">
              <a:solidFill>
                <a:srgbClr val="FF0000"/>
              </a:solidFill>
            </a:endParaRPr>
          </a:p>
        </p:txBody>
      </p:sp>
      <p:pic>
        <p:nvPicPr>
          <p:cNvPr id="389" name="Google Shape;38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94650" y="1684450"/>
            <a:ext cx="6149352" cy="345905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0" name="Google Shape;390;p30"/>
          <p:cNvCxnSpPr>
            <a:stCxn id="391" idx="6"/>
            <a:endCxn id="392" idx="2"/>
          </p:cNvCxnSpPr>
          <p:nvPr/>
        </p:nvCxnSpPr>
        <p:spPr>
          <a:xfrm rot="10800000">
            <a:off x="4374454" y="4056699"/>
            <a:ext cx="3072900" cy="0"/>
          </a:xfrm>
          <a:prstGeom prst="straightConnector1">
            <a:avLst/>
          </a:prstGeom>
          <a:noFill/>
          <a:ln cap="flat" cmpd="sng" w="762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1" name="Google Shape;391;p30"/>
          <p:cNvSpPr/>
          <p:nvPr/>
        </p:nvSpPr>
        <p:spPr>
          <a:xfrm>
            <a:off x="7218754" y="3942399"/>
            <a:ext cx="228600" cy="228600"/>
          </a:xfrm>
          <a:prstGeom prst="ellipse">
            <a:avLst/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30"/>
          <p:cNvSpPr txBox="1"/>
          <p:nvPr/>
        </p:nvSpPr>
        <p:spPr>
          <a:xfrm>
            <a:off x="3210400" y="1633925"/>
            <a:ext cx="731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(X,Y)</a:t>
            </a:r>
            <a:endParaRPr sz="1800">
              <a:solidFill>
                <a:srgbClr val="FF0000"/>
              </a:solidFill>
            </a:endParaRPr>
          </a:p>
        </p:txBody>
      </p:sp>
      <p:cxnSp>
        <p:nvCxnSpPr>
          <p:cNvPr id="394" name="Google Shape;394;p30"/>
          <p:cNvCxnSpPr>
            <a:stCxn id="393" idx="2"/>
            <a:endCxn id="395" idx="1"/>
          </p:cNvCxnSpPr>
          <p:nvPr/>
        </p:nvCxnSpPr>
        <p:spPr>
          <a:xfrm>
            <a:off x="3575950" y="2095625"/>
            <a:ext cx="831900" cy="6606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96" name="Google Shape;396;p30"/>
          <p:cNvSpPr txBox="1"/>
          <p:nvPr/>
        </p:nvSpPr>
        <p:spPr>
          <a:xfrm>
            <a:off x="5560100" y="3191225"/>
            <a:ext cx="569400" cy="4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88200" lIns="88200" spcFirstLastPara="1" rIns="88200" wrap="square" tIns="882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36">
                <a:solidFill>
                  <a:srgbClr val="FF0000"/>
                </a:solidFill>
              </a:rPr>
              <a:t>R</a:t>
            </a:r>
            <a:endParaRPr baseline="-25000" sz="1736">
              <a:solidFill>
                <a:srgbClr val="FF0000"/>
              </a:solidFill>
            </a:endParaRPr>
          </a:p>
        </p:txBody>
      </p:sp>
      <p:cxnSp>
        <p:nvCxnSpPr>
          <p:cNvPr id="397" name="Google Shape;397;p30"/>
          <p:cNvCxnSpPr>
            <a:stCxn id="392" idx="4"/>
            <a:endCxn id="395" idx="0"/>
          </p:cNvCxnSpPr>
          <p:nvPr/>
        </p:nvCxnSpPr>
        <p:spPr>
          <a:xfrm rot="10800000">
            <a:off x="4488704" y="2722599"/>
            <a:ext cx="0" cy="14484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95" name="Google Shape;395;p30"/>
          <p:cNvSpPr/>
          <p:nvPr/>
        </p:nvSpPr>
        <p:spPr>
          <a:xfrm>
            <a:off x="4374404" y="2722724"/>
            <a:ext cx="228600" cy="228600"/>
          </a:xfrm>
          <a:prstGeom prst="ellipse">
            <a:avLst/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30"/>
          <p:cNvSpPr/>
          <p:nvPr/>
        </p:nvSpPr>
        <p:spPr>
          <a:xfrm>
            <a:off x="4374404" y="3942399"/>
            <a:ext cx="228600" cy="228600"/>
          </a:xfrm>
          <a:prstGeom prst="ellipse">
            <a:avLst/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30"/>
          <p:cNvSpPr/>
          <p:nvPr/>
        </p:nvSpPr>
        <p:spPr>
          <a:xfrm rot="-5400000">
            <a:off x="5777102" y="2291900"/>
            <a:ext cx="267600" cy="2846400"/>
          </a:xfrm>
          <a:prstGeom prst="rightBracket">
            <a:avLst>
              <a:gd fmla="val 0" name="adj"/>
            </a:avLst>
          </a:prstGeom>
          <a:noFill/>
          <a:ln cap="flat" cmpd="sng" w="73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8200" lIns="88200" spcFirstLastPara="1" rIns="88200" wrap="square" tIns="88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3" name="Google Shape;403;p31"/>
          <p:cNvPicPr preferRelativeResize="0"/>
          <p:nvPr/>
        </p:nvPicPr>
        <p:blipFill rotWithShape="1">
          <a:blip r:embed="rId3">
            <a:alphaModFix/>
          </a:blip>
          <a:srcRect b="0" l="22383" r="20225" t="0"/>
          <a:stretch/>
        </p:blipFill>
        <p:spPr>
          <a:xfrm flipH="1">
            <a:off x="4206252" y="303875"/>
            <a:ext cx="4937748" cy="48396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04" name="Google Shape;404;p31"/>
          <p:cNvCxnSpPr>
            <a:stCxn id="405" idx="5"/>
            <a:endCxn id="406" idx="1"/>
          </p:cNvCxnSpPr>
          <p:nvPr/>
        </p:nvCxnSpPr>
        <p:spPr>
          <a:xfrm rot="10800000">
            <a:off x="5749451" y="1765121"/>
            <a:ext cx="2124600" cy="2143800"/>
          </a:xfrm>
          <a:prstGeom prst="straightConnector1">
            <a:avLst/>
          </a:prstGeom>
          <a:noFill/>
          <a:ln cap="flat" cmpd="sng" w="1143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6" name="Google Shape;406;p31"/>
          <p:cNvSpPr/>
          <p:nvPr/>
        </p:nvSpPr>
        <p:spPr>
          <a:xfrm>
            <a:off x="5715904" y="1731774"/>
            <a:ext cx="228600" cy="228600"/>
          </a:xfrm>
          <a:prstGeom prst="ellipse">
            <a:avLst/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31"/>
          <p:cNvSpPr/>
          <p:nvPr/>
        </p:nvSpPr>
        <p:spPr>
          <a:xfrm>
            <a:off x="7678929" y="3713799"/>
            <a:ext cx="228600" cy="228600"/>
          </a:xfrm>
          <a:prstGeom prst="ellipse">
            <a:avLst/>
          </a:prstGeom>
          <a:solidFill>
            <a:srgbClr val="F1C23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31"/>
          <p:cNvSpPr/>
          <p:nvPr/>
        </p:nvSpPr>
        <p:spPr>
          <a:xfrm rot="-2700000">
            <a:off x="6864694" y="1246491"/>
            <a:ext cx="267711" cy="2799719"/>
          </a:xfrm>
          <a:prstGeom prst="rightBracket">
            <a:avLst>
              <a:gd fmla="val 0" name="adj"/>
            </a:avLst>
          </a:prstGeom>
          <a:noFill/>
          <a:ln cap="flat" cmpd="sng" w="73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8200" lIns="88200" spcFirstLastPara="1" rIns="88200" wrap="square" tIns="882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/>
          </a:p>
        </p:txBody>
      </p:sp>
      <p:sp>
        <p:nvSpPr>
          <p:cNvPr id="408" name="Google Shape;408;p31"/>
          <p:cNvSpPr txBox="1"/>
          <p:nvPr/>
        </p:nvSpPr>
        <p:spPr>
          <a:xfrm>
            <a:off x="0" y="0"/>
            <a:ext cx="48969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R</a:t>
            </a:r>
            <a:r>
              <a:rPr lang="en" sz="1800">
                <a:solidFill>
                  <a:schemeClr val="dk1"/>
                </a:solidFill>
              </a:rPr>
              <a:t> is variable because the end effector can move away or closer to the base center point, horizontally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409" name="Google Shape;409;p31"/>
          <p:cNvPicPr preferRelativeResize="0"/>
          <p:nvPr/>
        </p:nvPicPr>
        <p:blipFill rotWithShape="1">
          <a:blip r:embed="rId4">
            <a:alphaModFix/>
          </a:blip>
          <a:srcRect b="0" l="19010" r="21360" t="0"/>
          <a:stretch/>
        </p:blipFill>
        <p:spPr>
          <a:xfrm flipH="1">
            <a:off x="-1" y="935025"/>
            <a:ext cx="4461284" cy="42084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0" name="Google Shape;410;p31"/>
          <p:cNvCxnSpPr/>
          <p:nvPr/>
        </p:nvCxnSpPr>
        <p:spPr>
          <a:xfrm rot="10800000">
            <a:off x="1505359" y="2367193"/>
            <a:ext cx="1365300" cy="1340100"/>
          </a:xfrm>
          <a:prstGeom prst="straightConnector1">
            <a:avLst/>
          </a:prstGeom>
          <a:noFill/>
          <a:ln cap="flat" cmpd="sng" w="1062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1" name="Google Shape;411;p31"/>
          <p:cNvSpPr/>
          <p:nvPr/>
        </p:nvSpPr>
        <p:spPr>
          <a:xfrm>
            <a:off x="1440339" y="2294152"/>
            <a:ext cx="212400" cy="212400"/>
          </a:xfrm>
          <a:prstGeom prst="ellipse">
            <a:avLst/>
          </a:prstGeom>
          <a:solidFill>
            <a:srgbClr val="F1C232"/>
          </a:solidFill>
          <a:ln cap="flat" cmpd="sng" w="88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950" lIns="84950" spcFirstLastPara="1" rIns="84950" wrap="square" tIns="84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1"/>
          </a:p>
        </p:txBody>
      </p:sp>
      <p:sp>
        <p:nvSpPr>
          <p:cNvPr id="412" name="Google Shape;412;p31"/>
          <p:cNvSpPr/>
          <p:nvPr/>
        </p:nvSpPr>
        <p:spPr>
          <a:xfrm>
            <a:off x="2732046" y="3585866"/>
            <a:ext cx="212400" cy="212400"/>
          </a:xfrm>
          <a:prstGeom prst="ellipse">
            <a:avLst/>
          </a:prstGeom>
          <a:solidFill>
            <a:srgbClr val="F1C232"/>
          </a:solidFill>
          <a:ln cap="flat" cmpd="sng" w="88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950" lIns="84950" spcFirstLastPara="1" rIns="84950" wrap="square" tIns="84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1"/>
          </a:p>
        </p:txBody>
      </p:sp>
      <p:sp>
        <p:nvSpPr>
          <p:cNvPr id="413" name="Google Shape;413;p31"/>
          <p:cNvSpPr/>
          <p:nvPr/>
        </p:nvSpPr>
        <p:spPr>
          <a:xfrm rot="-2700000">
            <a:off x="2344816" y="2009686"/>
            <a:ext cx="241406" cy="1798880"/>
          </a:xfrm>
          <a:prstGeom prst="rightBracket">
            <a:avLst>
              <a:gd fmla="val 0" name="adj"/>
            </a:avLst>
          </a:prstGeom>
          <a:noFill/>
          <a:ln cap="flat" cmpd="sng" w="662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9500" lIns="79500" spcFirstLastPara="1" rIns="79500" wrap="square" tIns="795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17"/>
          </a:p>
        </p:txBody>
      </p:sp>
      <p:sp>
        <p:nvSpPr>
          <p:cNvPr id="414" name="Google Shape;414;p31"/>
          <p:cNvSpPr txBox="1"/>
          <p:nvPr/>
        </p:nvSpPr>
        <p:spPr>
          <a:xfrm rot="2700000">
            <a:off x="2558863" y="2357206"/>
            <a:ext cx="558756" cy="529906"/>
          </a:xfrm>
          <a:prstGeom prst="rect">
            <a:avLst/>
          </a:prstGeom>
          <a:noFill/>
          <a:ln>
            <a:noFill/>
          </a:ln>
        </p:spPr>
        <p:txBody>
          <a:bodyPr anchorCtr="0" anchor="t" bIns="79500" lIns="79500" spcFirstLastPara="1" rIns="79500" wrap="square" tIns="795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0000"/>
                </a:solidFill>
              </a:rPr>
              <a:t>R</a:t>
            </a:r>
            <a:r>
              <a:rPr baseline="-25000" lang="en" sz="2400">
                <a:solidFill>
                  <a:srgbClr val="FF0000"/>
                </a:solidFill>
              </a:rPr>
              <a:t>1</a:t>
            </a:r>
            <a:endParaRPr baseline="-25000" sz="2400">
              <a:solidFill>
                <a:srgbClr val="FF0000"/>
              </a:solidFill>
            </a:endParaRPr>
          </a:p>
        </p:txBody>
      </p:sp>
      <p:sp>
        <p:nvSpPr>
          <p:cNvPr id="415" name="Google Shape;415;p31"/>
          <p:cNvSpPr txBox="1"/>
          <p:nvPr/>
        </p:nvSpPr>
        <p:spPr>
          <a:xfrm rot="2700000">
            <a:off x="6946938" y="1954156"/>
            <a:ext cx="558756" cy="529906"/>
          </a:xfrm>
          <a:prstGeom prst="rect">
            <a:avLst/>
          </a:prstGeom>
          <a:noFill/>
          <a:ln>
            <a:noFill/>
          </a:ln>
        </p:spPr>
        <p:txBody>
          <a:bodyPr anchorCtr="0" anchor="t" bIns="79500" lIns="79500" spcFirstLastPara="1" rIns="79500" wrap="square" tIns="795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0000"/>
                </a:solidFill>
              </a:rPr>
              <a:t>R</a:t>
            </a:r>
            <a:r>
              <a:rPr baseline="-25000" lang="en" sz="2400">
                <a:solidFill>
                  <a:srgbClr val="FF0000"/>
                </a:solidFill>
              </a:rPr>
              <a:t>2</a:t>
            </a:r>
            <a:endParaRPr baseline="-25000" sz="2400">
              <a:solidFill>
                <a:srgbClr val="FF0000"/>
              </a:solidFill>
            </a:endParaRPr>
          </a:p>
        </p:txBody>
      </p:sp>
      <p:sp>
        <p:nvSpPr>
          <p:cNvPr id="416" name="Google Shape;416;p31"/>
          <p:cNvSpPr txBox="1"/>
          <p:nvPr/>
        </p:nvSpPr>
        <p:spPr>
          <a:xfrm>
            <a:off x="4556613" y="2446638"/>
            <a:ext cx="1262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0000"/>
                </a:solidFill>
              </a:rPr>
              <a:t>R</a:t>
            </a:r>
            <a:r>
              <a:rPr baseline="-25000" lang="en" sz="2400">
                <a:solidFill>
                  <a:srgbClr val="FF0000"/>
                </a:solidFill>
              </a:rPr>
              <a:t>1</a:t>
            </a:r>
            <a:r>
              <a:rPr lang="en" sz="2400">
                <a:solidFill>
                  <a:srgbClr val="FF0000"/>
                </a:solidFill>
              </a:rPr>
              <a:t> &lt; R</a:t>
            </a:r>
            <a:r>
              <a:rPr baseline="-25000" lang="en" sz="2400">
                <a:solidFill>
                  <a:srgbClr val="FF0000"/>
                </a:solidFill>
              </a:rPr>
              <a:t>2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2"/>
          <p:cNvSpPr txBox="1"/>
          <p:nvPr/>
        </p:nvSpPr>
        <p:spPr>
          <a:xfrm>
            <a:off x="0" y="0"/>
            <a:ext cx="4896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R</a:t>
            </a:r>
            <a:r>
              <a:rPr lang="en" sz="1800">
                <a:solidFill>
                  <a:schemeClr val="dk1"/>
                </a:solidFill>
              </a:rPr>
              <a:t> forms a circle around the center of the base when rotated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422" name="Google Shape;422;p32"/>
          <p:cNvPicPr preferRelativeResize="0"/>
          <p:nvPr/>
        </p:nvPicPr>
        <p:blipFill rotWithShape="1">
          <a:blip r:embed="rId3">
            <a:alphaModFix/>
          </a:blip>
          <a:srcRect b="0" l="19010" r="21360" t="0"/>
          <a:stretch/>
        </p:blipFill>
        <p:spPr>
          <a:xfrm>
            <a:off x="4147405" y="0"/>
            <a:ext cx="4996596" cy="471345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23" name="Google Shape;423;p32"/>
          <p:cNvCxnSpPr/>
          <p:nvPr/>
        </p:nvCxnSpPr>
        <p:spPr>
          <a:xfrm flipH="1" rot="10800000">
            <a:off x="5928890" y="1604013"/>
            <a:ext cx="1529100" cy="1500900"/>
          </a:xfrm>
          <a:prstGeom prst="straightConnector1">
            <a:avLst/>
          </a:prstGeom>
          <a:noFill/>
          <a:ln cap="flat" cmpd="sng" w="11895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4" name="Google Shape;424;p32"/>
          <p:cNvSpPr/>
          <p:nvPr/>
        </p:nvSpPr>
        <p:spPr>
          <a:xfrm flipH="1">
            <a:off x="5846234" y="2968916"/>
            <a:ext cx="237900" cy="237900"/>
          </a:xfrm>
          <a:prstGeom prst="ellipse">
            <a:avLst/>
          </a:prstGeom>
          <a:solidFill>
            <a:srgbClr val="F1C232"/>
          </a:solidFill>
          <a:ln cap="flat" cmpd="sng" w="9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150" lIns="95150" spcFirstLastPara="1" rIns="95150" wrap="square" tIns="95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7"/>
          </a:p>
        </p:txBody>
      </p:sp>
      <p:sp>
        <p:nvSpPr>
          <p:cNvPr id="425" name="Google Shape;425;p32"/>
          <p:cNvSpPr/>
          <p:nvPr/>
        </p:nvSpPr>
        <p:spPr>
          <a:xfrm flipH="1" rot="2700000">
            <a:off x="6247518" y="1203637"/>
            <a:ext cx="270256" cy="2014830"/>
          </a:xfrm>
          <a:prstGeom prst="rightBracket">
            <a:avLst>
              <a:gd fmla="val 0" name="adj"/>
            </a:avLst>
          </a:prstGeom>
          <a:noFill/>
          <a:ln cap="flat" cmpd="sng" w="74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9050" lIns="89050" spcFirstLastPara="1" rIns="89050" wrap="square" tIns="89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63"/>
          </a:p>
        </p:txBody>
      </p:sp>
      <p:sp>
        <p:nvSpPr>
          <p:cNvPr id="426" name="Google Shape;426;p32"/>
          <p:cNvSpPr/>
          <p:nvPr/>
        </p:nvSpPr>
        <p:spPr>
          <a:xfrm flipH="1">
            <a:off x="3908393" y="1032239"/>
            <a:ext cx="4113600" cy="4111200"/>
          </a:xfrm>
          <a:prstGeom prst="ellipse">
            <a:avLst/>
          </a:prstGeom>
          <a:noFill/>
          <a:ln cap="flat" cmpd="sng" w="85350">
            <a:solidFill>
              <a:srgbClr val="6AA84F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102400" lIns="102400" spcFirstLastPara="1" rIns="102400" wrap="square" tIns="102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68"/>
          </a:p>
        </p:txBody>
      </p:sp>
      <p:sp>
        <p:nvSpPr>
          <p:cNvPr id="427" name="Google Shape;427;p32"/>
          <p:cNvSpPr/>
          <p:nvPr/>
        </p:nvSpPr>
        <p:spPr>
          <a:xfrm flipH="1">
            <a:off x="7292933" y="1522210"/>
            <a:ext cx="237900" cy="237900"/>
          </a:xfrm>
          <a:prstGeom prst="ellipse">
            <a:avLst/>
          </a:prstGeom>
          <a:solidFill>
            <a:srgbClr val="F1C232"/>
          </a:solidFill>
          <a:ln cap="flat" cmpd="sng" w="9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150" lIns="95150" spcFirstLastPara="1" rIns="95150" wrap="square" tIns="95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7"/>
          </a:p>
        </p:txBody>
      </p:sp>
      <p:sp>
        <p:nvSpPr>
          <p:cNvPr id="428" name="Google Shape;428;p32"/>
          <p:cNvSpPr txBox="1"/>
          <p:nvPr/>
        </p:nvSpPr>
        <p:spPr>
          <a:xfrm flipH="1" rot="-2700000">
            <a:off x="5933587" y="1571414"/>
            <a:ext cx="489176" cy="449720"/>
          </a:xfrm>
          <a:prstGeom prst="rect">
            <a:avLst/>
          </a:prstGeom>
          <a:noFill/>
          <a:ln>
            <a:noFill/>
          </a:ln>
        </p:spPr>
        <p:txBody>
          <a:bodyPr anchorCtr="0" anchor="t" bIns="89050" lIns="89050" spcFirstLastPara="1" rIns="89050" wrap="square" tIns="8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52">
                <a:solidFill>
                  <a:srgbClr val="FF0000"/>
                </a:solidFill>
              </a:rPr>
              <a:t>R</a:t>
            </a:r>
            <a:endParaRPr baseline="-25000" sz="1752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33"/>
          <p:cNvSpPr/>
          <p:nvPr/>
        </p:nvSpPr>
        <p:spPr>
          <a:xfrm flipH="1">
            <a:off x="3908393" y="1032239"/>
            <a:ext cx="4113600" cy="4111200"/>
          </a:xfrm>
          <a:prstGeom prst="ellipse">
            <a:avLst/>
          </a:prstGeom>
          <a:noFill/>
          <a:ln cap="flat" cmpd="sng" w="85350">
            <a:solidFill>
              <a:srgbClr val="6AA84F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102400" lIns="102400" spcFirstLastPara="1" rIns="102400" wrap="square" tIns="102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68"/>
          </a:p>
        </p:txBody>
      </p:sp>
      <p:sp>
        <p:nvSpPr>
          <p:cNvPr id="434" name="Google Shape;434;p33"/>
          <p:cNvSpPr txBox="1"/>
          <p:nvPr/>
        </p:nvSpPr>
        <p:spPr>
          <a:xfrm>
            <a:off x="0" y="0"/>
            <a:ext cx="4896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θ</a:t>
            </a:r>
            <a:r>
              <a:rPr baseline="-25000" lang="en" sz="1800">
                <a:solidFill>
                  <a:srgbClr val="FF0000"/>
                </a:solidFill>
              </a:rPr>
              <a:t>3</a:t>
            </a:r>
            <a:r>
              <a:rPr lang="en" sz="1800">
                <a:solidFill>
                  <a:srgbClr val="FF0000"/>
                </a:solidFill>
              </a:rPr>
              <a:t> </a:t>
            </a:r>
            <a:r>
              <a:rPr lang="en" sz="1800"/>
              <a:t>is known because we can measure the rotation of the base actuator with its encoder</a:t>
            </a:r>
            <a:endParaRPr sz="1800"/>
          </a:p>
        </p:txBody>
      </p:sp>
      <p:pic>
        <p:nvPicPr>
          <p:cNvPr id="435" name="Google Shape;435;p33"/>
          <p:cNvPicPr preferRelativeResize="0"/>
          <p:nvPr/>
        </p:nvPicPr>
        <p:blipFill rotWithShape="1">
          <a:blip r:embed="rId3">
            <a:alphaModFix/>
          </a:blip>
          <a:srcRect b="0" l="19010" r="21360" t="0"/>
          <a:stretch/>
        </p:blipFill>
        <p:spPr>
          <a:xfrm>
            <a:off x="4147405" y="0"/>
            <a:ext cx="4996596" cy="471345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36" name="Google Shape;436;p33"/>
          <p:cNvCxnSpPr/>
          <p:nvPr/>
        </p:nvCxnSpPr>
        <p:spPr>
          <a:xfrm flipH="1" rot="10800000">
            <a:off x="5928890" y="1604013"/>
            <a:ext cx="1529100" cy="1500900"/>
          </a:xfrm>
          <a:prstGeom prst="straightConnector1">
            <a:avLst/>
          </a:prstGeom>
          <a:noFill/>
          <a:ln cap="flat" cmpd="sng" w="11895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7" name="Google Shape;437;p33"/>
          <p:cNvSpPr/>
          <p:nvPr/>
        </p:nvSpPr>
        <p:spPr>
          <a:xfrm flipH="1">
            <a:off x="7292933" y="1522210"/>
            <a:ext cx="237900" cy="237900"/>
          </a:xfrm>
          <a:prstGeom prst="ellipse">
            <a:avLst/>
          </a:prstGeom>
          <a:solidFill>
            <a:srgbClr val="F1C232"/>
          </a:solidFill>
          <a:ln cap="flat" cmpd="sng" w="9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150" lIns="95150" spcFirstLastPara="1" rIns="95150" wrap="square" tIns="95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7"/>
          </a:p>
        </p:txBody>
      </p:sp>
      <p:cxnSp>
        <p:nvCxnSpPr>
          <p:cNvPr id="438" name="Google Shape;438;p33"/>
          <p:cNvCxnSpPr>
            <a:stCxn id="439" idx="4"/>
          </p:cNvCxnSpPr>
          <p:nvPr/>
        </p:nvCxnSpPr>
        <p:spPr>
          <a:xfrm rot="10800000">
            <a:off x="5936684" y="1040816"/>
            <a:ext cx="28500" cy="21660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40" name="Google Shape;440;p33"/>
          <p:cNvSpPr/>
          <p:nvPr/>
        </p:nvSpPr>
        <p:spPr>
          <a:xfrm flipH="1" rot="7495862">
            <a:off x="4816167" y="1768938"/>
            <a:ext cx="2285929" cy="2285929"/>
          </a:xfrm>
          <a:prstGeom prst="blockArc">
            <a:avLst>
              <a:gd fmla="val 20805679" name="adj1"/>
              <a:gd fmla="val 2056961" name="adj2"/>
              <a:gd fmla="val 4567" name="adj3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33"/>
          <p:cNvSpPr txBox="1"/>
          <p:nvPr/>
        </p:nvSpPr>
        <p:spPr>
          <a:xfrm>
            <a:off x="5965175" y="1953950"/>
            <a:ext cx="701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θ</a:t>
            </a:r>
            <a:r>
              <a:rPr baseline="-25000" lang="en" sz="1800">
                <a:solidFill>
                  <a:srgbClr val="FF0000"/>
                </a:solidFill>
              </a:rPr>
              <a:t>3</a:t>
            </a:r>
            <a:endParaRPr baseline="-25000" sz="1800">
              <a:solidFill>
                <a:srgbClr val="FF0000"/>
              </a:solidFill>
            </a:endParaRPr>
          </a:p>
        </p:txBody>
      </p:sp>
      <p:sp>
        <p:nvSpPr>
          <p:cNvPr id="442" name="Google Shape;442;p33"/>
          <p:cNvSpPr txBox="1"/>
          <p:nvPr/>
        </p:nvSpPr>
        <p:spPr>
          <a:xfrm flipH="1" rot="-2700000">
            <a:off x="6661887" y="2522739"/>
            <a:ext cx="489176" cy="449720"/>
          </a:xfrm>
          <a:prstGeom prst="rect">
            <a:avLst/>
          </a:prstGeom>
          <a:noFill/>
          <a:ln>
            <a:noFill/>
          </a:ln>
        </p:spPr>
        <p:txBody>
          <a:bodyPr anchorCtr="0" anchor="t" bIns="89050" lIns="89050" spcFirstLastPara="1" rIns="89050" wrap="square" tIns="8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52">
                <a:solidFill>
                  <a:srgbClr val="FF0000"/>
                </a:solidFill>
              </a:rPr>
              <a:t>R</a:t>
            </a:r>
            <a:endParaRPr baseline="-25000" sz="1752">
              <a:solidFill>
                <a:srgbClr val="FF0000"/>
              </a:solidFill>
            </a:endParaRPr>
          </a:p>
        </p:txBody>
      </p:sp>
      <p:sp>
        <p:nvSpPr>
          <p:cNvPr id="439" name="Google Shape;439;p33"/>
          <p:cNvSpPr/>
          <p:nvPr/>
        </p:nvSpPr>
        <p:spPr>
          <a:xfrm flipH="1">
            <a:off x="5846234" y="2968916"/>
            <a:ext cx="237900" cy="237900"/>
          </a:xfrm>
          <a:prstGeom prst="ellipse">
            <a:avLst/>
          </a:prstGeom>
          <a:solidFill>
            <a:srgbClr val="F1C232"/>
          </a:solidFill>
          <a:ln cap="flat" cmpd="sng" w="9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150" lIns="95150" spcFirstLastPara="1" rIns="95150" wrap="square" tIns="95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7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34"/>
          <p:cNvSpPr/>
          <p:nvPr/>
        </p:nvSpPr>
        <p:spPr>
          <a:xfrm flipH="1">
            <a:off x="3908393" y="1032239"/>
            <a:ext cx="4113600" cy="4111200"/>
          </a:xfrm>
          <a:prstGeom prst="ellipse">
            <a:avLst/>
          </a:prstGeom>
          <a:noFill/>
          <a:ln cap="flat" cmpd="sng" w="85350">
            <a:solidFill>
              <a:srgbClr val="6AA84F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102400" lIns="102400" spcFirstLastPara="1" rIns="102400" wrap="square" tIns="102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68"/>
          </a:p>
        </p:txBody>
      </p:sp>
      <p:sp>
        <p:nvSpPr>
          <p:cNvPr id="448" name="Google Shape;448;p34"/>
          <p:cNvSpPr txBox="1"/>
          <p:nvPr/>
        </p:nvSpPr>
        <p:spPr>
          <a:xfrm>
            <a:off x="0" y="0"/>
            <a:ext cx="4896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So if </a:t>
            </a:r>
            <a:r>
              <a:rPr lang="en" sz="1800">
                <a:solidFill>
                  <a:srgbClr val="FF0000"/>
                </a:solidFill>
              </a:rPr>
              <a:t>R</a:t>
            </a:r>
            <a:r>
              <a:rPr lang="en" sz="1800">
                <a:solidFill>
                  <a:schemeClr val="dk1"/>
                </a:solidFill>
              </a:rPr>
              <a:t> is calculated, the position of the end effector in 3D space can be determined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449" name="Google Shape;449;p34"/>
          <p:cNvPicPr preferRelativeResize="0"/>
          <p:nvPr/>
        </p:nvPicPr>
        <p:blipFill rotWithShape="1">
          <a:blip r:embed="rId3">
            <a:alphaModFix/>
          </a:blip>
          <a:srcRect b="0" l="19010" r="21360" t="0"/>
          <a:stretch/>
        </p:blipFill>
        <p:spPr>
          <a:xfrm>
            <a:off x="4147405" y="0"/>
            <a:ext cx="4996596" cy="471345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50" name="Google Shape;450;p34"/>
          <p:cNvCxnSpPr/>
          <p:nvPr/>
        </p:nvCxnSpPr>
        <p:spPr>
          <a:xfrm flipH="1" rot="10800000">
            <a:off x="5928890" y="1604013"/>
            <a:ext cx="1529100" cy="1500900"/>
          </a:xfrm>
          <a:prstGeom prst="straightConnector1">
            <a:avLst/>
          </a:prstGeom>
          <a:noFill/>
          <a:ln cap="flat" cmpd="sng" w="11895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1" name="Google Shape;451;p34"/>
          <p:cNvCxnSpPr>
            <a:stCxn id="452" idx="4"/>
          </p:cNvCxnSpPr>
          <p:nvPr/>
        </p:nvCxnSpPr>
        <p:spPr>
          <a:xfrm rot="10800000">
            <a:off x="5965184" y="1048616"/>
            <a:ext cx="0" cy="21582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53" name="Google Shape;453;p34"/>
          <p:cNvCxnSpPr>
            <a:stCxn id="452" idx="4"/>
          </p:cNvCxnSpPr>
          <p:nvPr/>
        </p:nvCxnSpPr>
        <p:spPr>
          <a:xfrm rot="10800000">
            <a:off x="5965184" y="685316"/>
            <a:ext cx="0" cy="2521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54" name="Google Shape;454;p34"/>
          <p:cNvCxnSpPr>
            <a:stCxn id="452" idx="6"/>
          </p:cNvCxnSpPr>
          <p:nvPr/>
        </p:nvCxnSpPr>
        <p:spPr>
          <a:xfrm>
            <a:off x="5846234" y="3087866"/>
            <a:ext cx="251850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52" name="Google Shape;452;p34"/>
          <p:cNvSpPr/>
          <p:nvPr/>
        </p:nvSpPr>
        <p:spPr>
          <a:xfrm flipH="1">
            <a:off x="5846234" y="2968916"/>
            <a:ext cx="237900" cy="237900"/>
          </a:xfrm>
          <a:prstGeom prst="ellipse">
            <a:avLst/>
          </a:prstGeom>
          <a:solidFill>
            <a:srgbClr val="F1C232"/>
          </a:solidFill>
          <a:ln cap="flat" cmpd="sng" w="9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150" lIns="95150" spcFirstLastPara="1" rIns="95150" wrap="square" tIns="95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7"/>
          </a:p>
        </p:txBody>
      </p:sp>
      <p:sp>
        <p:nvSpPr>
          <p:cNvPr id="455" name="Google Shape;455;p34"/>
          <p:cNvSpPr/>
          <p:nvPr/>
        </p:nvSpPr>
        <p:spPr>
          <a:xfrm flipH="1">
            <a:off x="7292933" y="1522210"/>
            <a:ext cx="237900" cy="237900"/>
          </a:xfrm>
          <a:prstGeom prst="ellipse">
            <a:avLst/>
          </a:prstGeom>
          <a:solidFill>
            <a:srgbClr val="F1C232"/>
          </a:solidFill>
          <a:ln cap="flat" cmpd="sng" w="9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150" lIns="95150" spcFirstLastPara="1" rIns="95150" wrap="square" tIns="95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7"/>
          </a:p>
        </p:txBody>
      </p:sp>
      <p:sp>
        <p:nvSpPr>
          <p:cNvPr id="456" name="Google Shape;456;p34"/>
          <p:cNvSpPr/>
          <p:nvPr/>
        </p:nvSpPr>
        <p:spPr>
          <a:xfrm flipH="1" rot="7495862">
            <a:off x="4816167" y="1768938"/>
            <a:ext cx="2285929" cy="2285929"/>
          </a:xfrm>
          <a:prstGeom prst="blockArc">
            <a:avLst>
              <a:gd fmla="val 20805679" name="adj1"/>
              <a:gd fmla="val 2056961" name="adj2"/>
              <a:gd fmla="val 4567" name="adj3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34"/>
          <p:cNvSpPr txBox="1"/>
          <p:nvPr/>
        </p:nvSpPr>
        <p:spPr>
          <a:xfrm>
            <a:off x="5965175" y="1953950"/>
            <a:ext cx="701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θ</a:t>
            </a:r>
            <a:r>
              <a:rPr baseline="-25000" lang="en" sz="1800">
                <a:solidFill>
                  <a:srgbClr val="FF0000"/>
                </a:solidFill>
              </a:rPr>
              <a:t>3</a:t>
            </a:r>
            <a:endParaRPr baseline="-25000" sz="1800">
              <a:solidFill>
                <a:srgbClr val="FF0000"/>
              </a:solidFill>
            </a:endParaRPr>
          </a:p>
        </p:txBody>
      </p:sp>
      <p:sp>
        <p:nvSpPr>
          <p:cNvPr id="458" name="Google Shape;458;p34"/>
          <p:cNvSpPr txBox="1"/>
          <p:nvPr/>
        </p:nvSpPr>
        <p:spPr>
          <a:xfrm flipH="1" rot="-2700000">
            <a:off x="6664687" y="2522739"/>
            <a:ext cx="489176" cy="449720"/>
          </a:xfrm>
          <a:prstGeom prst="rect">
            <a:avLst/>
          </a:prstGeom>
          <a:noFill/>
          <a:ln>
            <a:noFill/>
          </a:ln>
        </p:spPr>
        <p:txBody>
          <a:bodyPr anchorCtr="0" anchor="t" bIns="89050" lIns="89050" spcFirstLastPara="1" rIns="89050" wrap="square" tIns="8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52">
                <a:solidFill>
                  <a:srgbClr val="FF0000"/>
                </a:solidFill>
              </a:rPr>
              <a:t>R</a:t>
            </a:r>
            <a:endParaRPr baseline="-25000" sz="1752">
              <a:solidFill>
                <a:srgbClr val="FF0000"/>
              </a:solidFill>
            </a:endParaRPr>
          </a:p>
        </p:txBody>
      </p:sp>
      <p:sp>
        <p:nvSpPr>
          <p:cNvPr id="459" name="Google Shape;459;p34"/>
          <p:cNvSpPr txBox="1"/>
          <p:nvPr/>
        </p:nvSpPr>
        <p:spPr>
          <a:xfrm>
            <a:off x="5846225" y="109925"/>
            <a:ext cx="731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(X,Z)</a:t>
            </a:r>
            <a:endParaRPr sz="1800">
              <a:solidFill>
                <a:srgbClr val="FF0000"/>
              </a:solidFill>
            </a:endParaRPr>
          </a:p>
        </p:txBody>
      </p:sp>
      <p:cxnSp>
        <p:nvCxnSpPr>
          <p:cNvPr id="460" name="Google Shape;460;p34"/>
          <p:cNvCxnSpPr>
            <a:stCxn id="459" idx="2"/>
          </p:cNvCxnSpPr>
          <p:nvPr/>
        </p:nvCxnSpPr>
        <p:spPr>
          <a:xfrm>
            <a:off x="6211775" y="571625"/>
            <a:ext cx="1116000" cy="985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61" name="Google Shape;461;p34"/>
          <p:cNvSpPr txBox="1"/>
          <p:nvPr/>
        </p:nvSpPr>
        <p:spPr>
          <a:xfrm>
            <a:off x="5611475" y="1194550"/>
            <a:ext cx="353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</a:t>
            </a:r>
            <a:endParaRPr/>
          </a:p>
        </p:txBody>
      </p:sp>
      <p:sp>
        <p:nvSpPr>
          <p:cNvPr id="462" name="Google Shape;462;p34"/>
          <p:cNvSpPr txBox="1"/>
          <p:nvPr/>
        </p:nvSpPr>
        <p:spPr>
          <a:xfrm>
            <a:off x="7428050" y="3087875"/>
            <a:ext cx="35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Z</a:t>
            </a:r>
            <a:endParaRPr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35"/>
          <p:cNvSpPr/>
          <p:nvPr/>
        </p:nvSpPr>
        <p:spPr>
          <a:xfrm flipH="1">
            <a:off x="2343831" y="977302"/>
            <a:ext cx="4113600" cy="4111200"/>
          </a:xfrm>
          <a:prstGeom prst="ellipse">
            <a:avLst/>
          </a:prstGeom>
          <a:noFill/>
          <a:ln cap="flat" cmpd="sng" w="85350">
            <a:solidFill>
              <a:srgbClr val="6AA84F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102400" lIns="102400" spcFirstLastPara="1" rIns="102400" wrap="square" tIns="102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68"/>
          </a:p>
        </p:txBody>
      </p:sp>
      <p:sp>
        <p:nvSpPr>
          <p:cNvPr id="468" name="Google Shape;468;p35"/>
          <p:cNvSpPr txBox="1"/>
          <p:nvPr/>
        </p:nvSpPr>
        <p:spPr>
          <a:xfrm>
            <a:off x="0" y="0"/>
            <a:ext cx="29541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The problem can be represented as a circle with a radius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To find </a:t>
            </a:r>
            <a:r>
              <a:rPr lang="en" sz="1800">
                <a:solidFill>
                  <a:srgbClr val="FF0000"/>
                </a:solidFill>
              </a:rPr>
              <a:t>(X,Z)</a:t>
            </a:r>
            <a:br>
              <a:rPr lang="en" sz="1800">
                <a:solidFill>
                  <a:schemeClr val="dk1"/>
                </a:solidFill>
              </a:rPr>
            </a:br>
            <a:r>
              <a:rPr lang="en" sz="1800">
                <a:solidFill>
                  <a:schemeClr val="dk1"/>
                </a:solidFill>
              </a:rPr>
              <a:t>1. Find </a:t>
            </a:r>
            <a:r>
              <a:rPr lang="en" sz="1800">
                <a:solidFill>
                  <a:srgbClr val="FF0000"/>
                </a:solidFill>
              </a:rPr>
              <a:t>R</a:t>
            </a:r>
            <a:br>
              <a:rPr lang="en" sz="1800">
                <a:solidFill>
                  <a:schemeClr val="dk1"/>
                </a:solidFill>
              </a:rPr>
            </a:br>
            <a:r>
              <a:rPr lang="en" sz="1800">
                <a:solidFill>
                  <a:schemeClr val="dk1"/>
                </a:solidFill>
              </a:rPr>
              <a:t>2. Calculate the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location of </a:t>
            </a:r>
            <a:r>
              <a:rPr lang="en" sz="1800">
                <a:solidFill>
                  <a:srgbClr val="FF0000"/>
                </a:solidFill>
              </a:rPr>
              <a:t>R</a:t>
            </a:r>
            <a:r>
              <a:rPr lang="en" sz="1800">
                <a:solidFill>
                  <a:schemeClr val="dk1"/>
                </a:solidFill>
              </a:rPr>
              <a:t> on the</a:t>
            </a:r>
            <a:br>
              <a:rPr lang="en" sz="1800">
                <a:solidFill>
                  <a:schemeClr val="dk1"/>
                </a:solidFill>
              </a:rPr>
            </a:br>
            <a:r>
              <a:rPr lang="en" sz="1800">
                <a:solidFill>
                  <a:schemeClr val="dk1"/>
                </a:solidFill>
              </a:rPr>
              <a:t>circle</a:t>
            </a:r>
            <a:endParaRPr sz="1800">
              <a:solidFill>
                <a:schemeClr val="dk1"/>
              </a:solidFill>
            </a:endParaRPr>
          </a:p>
        </p:txBody>
      </p:sp>
      <p:cxnSp>
        <p:nvCxnSpPr>
          <p:cNvPr id="469" name="Google Shape;469;p35"/>
          <p:cNvCxnSpPr/>
          <p:nvPr/>
        </p:nvCxnSpPr>
        <p:spPr>
          <a:xfrm flipH="1" rot="10800000">
            <a:off x="4364327" y="1549076"/>
            <a:ext cx="1529100" cy="1500900"/>
          </a:xfrm>
          <a:prstGeom prst="straightConnector1">
            <a:avLst/>
          </a:prstGeom>
          <a:noFill/>
          <a:ln cap="flat" cmpd="sng" w="11895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0" name="Google Shape;470;p35"/>
          <p:cNvCxnSpPr>
            <a:stCxn id="471" idx="4"/>
          </p:cNvCxnSpPr>
          <p:nvPr/>
        </p:nvCxnSpPr>
        <p:spPr>
          <a:xfrm rot="10800000">
            <a:off x="4400622" y="993678"/>
            <a:ext cx="0" cy="21582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72" name="Google Shape;472;p35"/>
          <p:cNvCxnSpPr>
            <a:stCxn id="471" idx="4"/>
          </p:cNvCxnSpPr>
          <p:nvPr/>
        </p:nvCxnSpPr>
        <p:spPr>
          <a:xfrm rot="10800000">
            <a:off x="4400622" y="659778"/>
            <a:ext cx="0" cy="24921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73" name="Google Shape;473;p35"/>
          <p:cNvCxnSpPr>
            <a:stCxn id="471" idx="6"/>
          </p:cNvCxnSpPr>
          <p:nvPr/>
        </p:nvCxnSpPr>
        <p:spPr>
          <a:xfrm>
            <a:off x="4281672" y="3032928"/>
            <a:ext cx="251850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71" name="Google Shape;471;p35"/>
          <p:cNvSpPr/>
          <p:nvPr/>
        </p:nvSpPr>
        <p:spPr>
          <a:xfrm flipH="1">
            <a:off x="4281672" y="2913978"/>
            <a:ext cx="237900" cy="237900"/>
          </a:xfrm>
          <a:prstGeom prst="ellipse">
            <a:avLst/>
          </a:prstGeom>
          <a:solidFill>
            <a:srgbClr val="F1C232"/>
          </a:solidFill>
          <a:ln cap="flat" cmpd="sng" w="9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150" lIns="95150" spcFirstLastPara="1" rIns="95150" wrap="square" tIns="95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7"/>
          </a:p>
        </p:txBody>
      </p:sp>
      <p:sp>
        <p:nvSpPr>
          <p:cNvPr id="474" name="Google Shape;474;p35"/>
          <p:cNvSpPr/>
          <p:nvPr/>
        </p:nvSpPr>
        <p:spPr>
          <a:xfrm flipH="1">
            <a:off x="5728371" y="1467272"/>
            <a:ext cx="237900" cy="237900"/>
          </a:xfrm>
          <a:prstGeom prst="ellipse">
            <a:avLst/>
          </a:prstGeom>
          <a:solidFill>
            <a:srgbClr val="F1C232"/>
          </a:solidFill>
          <a:ln cap="flat" cmpd="sng" w="9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150" lIns="95150" spcFirstLastPara="1" rIns="95150" wrap="square" tIns="95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7"/>
          </a:p>
        </p:txBody>
      </p:sp>
      <p:sp>
        <p:nvSpPr>
          <p:cNvPr id="475" name="Google Shape;475;p35"/>
          <p:cNvSpPr/>
          <p:nvPr/>
        </p:nvSpPr>
        <p:spPr>
          <a:xfrm flipH="1" rot="7495862">
            <a:off x="3251604" y="1714000"/>
            <a:ext cx="2285929" cy="2285929"/>
          </a:xfrm>
          <a:prstGeom prst="blockArc">
            <a:avLst>
              <a:gd fmla="val 20805679" name="adj1"/>
              <a:gd fmla="val 2056961" name="adj2"/>
              <a:gd fmla="val 4567" name="adj3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35"/>
          <p:cNvSpPr txBox="1"/>
          <p:nvPr/>
        </p:nvSpPr>
        <p:spPr>
          <a:xfrm>
            <a:off x="4400613" y="1899013"/>
            <a:ext cx="701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θ</a:t>
            </a:r>
            <a:r>
              <a:rPr baseline="-25000" lang="en" sz="1800">
                <a:solidFill>
                  <a:srgbClr val="FF0000"/>
                </a:solidFill>
              </a:rPr>
              <a:t>3</a:t>
            </a:r>
            <a:endParaRPr baseline="-25000" sz="1800">
              <a:solidFill>
                <a:srgbClr val="FF0000"/>
              </a:solidFill>
            </a:endParaRPr>
          </a:p>
        </p:txBody>
      </p:sp>
      <p:sp>
        <p:nvSpPr>
          <p:cNvPr id="477" name="Google Shape;477;p35"/>
          <p:cNvSpPr txBox="1"/>
          <p:nvPr/>
        </p:nvSpPr>
        <p:spPr>
          <a:xfrm flipH="1" rot="-2700000">
            <a:off x="5100125" y="2141501"/>
            <a:ext cx="489176" cy="449720"/>
          </a:xfrm>
          <a:prstGeom prst="rect">
            <a:avLst/>
          </a:prstGeom>
          <a:noFill/>
          <a:ln>
            <a:noFill/>
          </a:ln>
        </p:spPr>
        <p:txBody>
          <a:bodyPr anchorCtr="0" anchor="t" bIns="89050" lIns="89050" spcFirstLastPara="1" rIns="89050" wrap="square" tIns="890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52">
                <a:solidFill>
                  <a:srgbClr val="FF0000"/>
                </a:solidFill>
              </a:rPr>
              <a:t>R</a:t>
            </a:r>
            <a:endParaRPr baseline="-25000" sz="1752">
              <a:solidFill>
                <a:srgbClr val="FF0000"/>
              </a:solidFill>
            </a:endParaRPr>
          </a:p>
        </p:txBody>
      </p:sp>
      <p:sp>
        <p:nvSpPr>
          <p:cNvPr id="478" name="Google Shape;478;p35"/>
          <p:cNvSpPr txBox="1"/>
          <p:nvPr/>
        </p:nvSpPr>
        <p:spPr>
          <a:xfrm>
            <a:off x="4281663" y="54988"/>
            <a:ext cx="731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(X,Z)</a:t>
            </a:r>
            <a:endParaRPr sz="1800">
              <a:solidFill>
                <a:srgbClr val="FF0000"/>
              </a:solidFill>
            </a:endParaRPr>
          </a:p>
        </p:txBody>
      </p:sp>
      <p:cxnSp>
        <p:nvCxnSpPr>
          <p:cNvPr id="479" name="Google Shape;479;p35"/>
          <p:cNvCxnSpPr>
            <a:stCxn id="478" idx="2"/>
          </p:cNvCxnSpPr>
          <p:nvPr/>
        </p:nvCxnSpPr>
        <p:spPr>
          <a:xfrm>
            <a:off x="4647213" y="516688"/>
            <a:ext cx="1116000" cy="9855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80" name="Google Shape;480;p35"/>
          <p:cNvSpPr txBox="1"/>
          <p:nvPr/>
        </p:nvSpPr>
        <p:spPr>
          <a:xfrm>
            <a:off x="4046913" y="1139613"/>
            <a:ext cx="35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X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481" name="Google Shape;481;p35"/>
          <p:cNvSpPr txBox="1"/>
          <p:nvPr/>
        </p:nvSpPr>
        <p:spPr>
          <a:xfrm>
            <a:off x="5863488" y="3032938"/>
            <a:ext cx="35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Z</a:t>
            </a:r>
            <a:endParaRPr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36"/>
          <p:cNvSpPr txBox="1"/>
          <p:nvPr/>
        </p:nvSpPr>
        <p:spPr>
          <a:xfrm>
            <a:off x="0" y="0"/>
            <a:ext cx="295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Example Problem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487" name="Google Shape;487;p36"/>
          <p:cNvPicPr preferRelativeResize="0"/>
          <p:nvPr/>
        </p:nvPicPr>
        <p:blipFill rotWithShape="1">
          <a:blip r:embed="rId3">
            <a:alphaModFix/>
          </a:blip>
          <a:srcRect b="0" l="0" r="1517" t="0"/>
          <a:stretch/>
        </p:blipFill>
        <p:spPr>
          <a:xfrm>
            <a:off x="1480975" y="766500"/>
            <a:ext cx="7663024" cy="43769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88" name="Google Shape;488;p36"/>
          <p:cNvCxnSpPr/>
          <p:nvPr/>
        </p:nvCxnSpPr>
        <p:spPr>
          <a:xfrm flipH="1">
            <a:off x="3158875" y="3531225"/>
            <a:ext cx="3571500" cy="5925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489" name="Google Shape;489;p36"/>
          <p:cNvCxnSpPr/>
          <p:nvPr/>
        </p:nvCxnSpPr>
        <p:spPr>
          <a:xfrm rot="10800000">
            <a:off x="6724025" y="747450"/>
            <a:ext cx="0" cy="27912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490" name="Google Shape;490;p36"/>
          <p:cNvCxnSpPr/>
          <p:nvPr/>
        </p:nvCxnSpPr>
        <p:spPr>
          <a:xfrm rot="10800000">
            <a:off x="4735150" y="2383825"/>
            <a:ext cx="2005800" cy="11580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491" name="Google Shape;491;p36"/>
          <p:cNvCxnSpPr>
            <a:stCxn id="492" idx="2"/>
            <a:endCxn id="493" idx="6"/>
          </p:cNvCxnSpPr>
          <p:nvPr/>
        </p:nvCxnSpPr>
        <p:spPr>
          <a:xfrm rot="10800000">
            <a:off x="3221384" y="3228291"/>
            <a:ext cx="3621600" cy="297600"/>
          </a:xfrm>
          <a:prstGeom prst="straightConnector1">
            <a:avLst/>
          </a:prstGeom>
          <a:noFill/>
          <a:ln cap="flat" cmpd="sng" w="762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4" name="Google Shape;494;p36"/>
          <p:cNvCxnSpPr/>
          <p:nvPr/>
        </p:nvCxnSpPr>
        <p:spPr>
          <a:xfrm rot="10800000">
            <a:off x="5384375" y="1861150"/>
            <a:ext cx="1361100" cy="1680000"/>
          </a:xfrm>
          <a:prstGeom prst="straightConnector1">
            <a:avLst/>
          </a:prstGeom>
          <a:noFill/>
          <a:ln cap="flat" cmpd="sng" w="762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5" name="Google Shape;495;p36"/>
          <p:cNvCxnSpPr>
            <a:stCxn id="496" idx="2"/>
            <a:endCxn id="497" idx="6"/>
          </p:cNvCxnSpPr>
          <p:nvPr/>
        </p:nvCxnSpPr>
        <p:spPr>
          <a:xfrm rot="10800000">
            <a:off x="3249334" y="1695316"/>
            <a:ext cx="2274000" cy="180300"/>
          </a:xfrm>
          <a:prstGeom prst="straightConnector1">
            <a:avLst/>
          </a:prstGeom>
          <a:noFill/>
          <a:ln cap="flat" cmpd="sng" w="762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2" name="Google Shape;492;p36"/>
          <p:cNvSpPr/>
          <p:nvPr/>
        </p:nvSpPr>
        <p:spPr>
          <a:xfrm flipH="1">
            <a:off x="6605084" y="3406941"/>
            <a:ext cx="237900" cy="237900"/>
          </a:xfrm>
          <a:prstGeom prst="ellipse">
            <a:avLst/>
          </a:prstGeom>
          <a:solidFill>
            <a:srgbClr val="F1C232"/>
          </a:solidFill>
          <a:ln cap="flat" cmpd="sng" w="9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150" lIns="95150" spcFirstLastPara="1" rIns="95150" wrap="square" tIns="95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7"/>
          </a:p>
        </p:txBody>
      </p:sp>
      <p:sp>
        <p:nvSpPr>
          <p:cNvPr id="496" name="Google Shape;496;p36"/>
          <p:cNvSpPr/>
          <p:nvPr/>
        </p:nvSpPr>
        <p:spPr>
          <a:xfrm flipH="1">
            <a:off x="5285434" y="1756666"/>
            <a:ext cx="237900" cy="237900"/>
          </a:xfrm>
          <a:prstGeom prst="ellipse">
            <a:avLst/>
          </a:prstGeom>
          <a:solidFill>
            <a:srgbClr val="F1C232"/>
          </a:solidFill>
          <a:ln cap="flat" cmpd="sng" w="9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150" lIns="95150" spcFirstLastPara="1" rIns="95150" wrap="square" tIns="95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7"/>
          </a:p>
        </p:txBody>
      </p:sp>
      <p:cxnSp>
        <p:nvCxnSpPr>
          <p:cNvPr id="498" name="Google Shape;498;p36"/>
          <p:cNvCxnSpPr>
            <a:stCxn id="497" idx="0"/>
            <a:endCxn id="493" idx="4"/>
          </p:cNvCxnSpPr>
          <p:nvPr/>
        </p:nvCxnSpPr>
        <p:spPr>
          <a:xfrm flipH="1">
            <a:off x="3340384" y="1576366"/>
            <a:ext cx="27900" cy="17709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93" name="Google Shape;493;p36"/>
          <p:cNvSpPr/>
          <p:nvPr/>
        </p:nvSpPr>
        <p:spPr>
          <a:xfrm flipH="1">
            <a:off x="3221310" y="3109294"/>
            <a:ext cx="237900" cy="237900"/>
          </a:xfrm>
          <a:prstGeom prst="ellipse">
            <a:avLst/>
          </a:prstGeom>
          <a:solidFill>
            <a:srgbClr val="F1C232"/>
          </a:solidFill>
          <a:ln cap="flat" cmpd="sng" w="9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150" lIns="95150" spcFirstLastPara="1" rIns="95150" wrap="square" tIns="95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7"/>
          </a:p>
        </p:txBody>
      </p:sp>
      <p:sp>
        <p:nvSpPr>
          <p:cNvPr id="497" name="Google Shape;497;p36"/>
          <p:cNvSpPr/>
          <p:nvPr/>
        </p:nvSpPr>
        <p:spPr>
          <a:xfrm flipH="1">
            <a:off x="3249334" y="1576366"/>
            <a:ext cx="237900" cy="237900"/>
          </a:xfrm>
          <a:prstGeom prst="ellipse">
            <a:avLst/>
          </a:prstGeom>
          <a:solidFill>
            <a:srgbClr val="F1C232"/>
          </a:solidFill>
          <a:ln cap="flat" cmpd="sng" w="9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150" lIns="95150" spcFirstLastPara="1" rIns="95150" wrap="square" tIns="95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7"/>
          </a:p>
        </p:txBody>
      </p:sp>
      <p:sp>
        <p:nvSpPr>
          <p:cNvPr id="499" name="Google Shape;499;p36"/>
          <p:cNvSpPr/>
          <p:nvPr/>
        </p:nvSpPr>
        <p:spPr>
          <a:xfrm flipH="1">
            <a:off x="4460475" y="1695325"/>
            <a:ext cx="4361100" cy="3458400"/>
          </a:xfrm>
          <a:prstGeom prst="blockArc">
            <a:avLst>
              <a:gd fmla="val 21519197" name="adj1"/>
              <a:gd fmla="val 739516" name="adj2"/>
              <a:gd fmla="val 2252" name="adj3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36"/>
          <p:cNvSpPr txBox="1"/>
          <p:nvPr/>
        </p:nvSpPr>
        <p:spPr>
          <a:xfrm>
            <a:off x="4558375" y="3367963"/>
            <a:ext cx="701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θ</a:t>
            </a:r>
            <a:r>
              <a:rPr baseline="-25000" lang="en" sz="1800">
                <a:solidFill>
                  <a:srgbClr val="FF0000"/>
                </a:solidFill>
              </a:rPr>
              <a:t>3</a:t>
            </a:r>
            <a:endParaRPr baseline="-25000" sz="1800">
              <a:solidFill>
                <a:srgbClr val="FF0000"/>
              </a:solidFill>
            </a:endParaRPr>
          </a:p>
        </p:txBody>
      </p:sp>
      <p:sp>
        <p:nvSpPr>
          <p:cNvPr id="501" name="Google Shape;501;p36"/>
          <p:cNvSpPr txBox="1"/>
          <p:nvPr/>
        </p:nvSpPr>
        <p:spPr>
          <a:xfrm>
            <a:off x="13450" y="3242275"/>
            <a:ext cx="3080400" cy="18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15625" lIns="115625" spcFirstLastPara="1" rIns="115625" wrap="square" tIns="1156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L</a:t>
            </a:r>
            <a:r>
              <a:rPr baseline="-25000" lang="en" sz="1800">
                <a:solidFill>
                  <a:srgbClr val="FF0000"/>
                </a:solidFill>
              </a:rPr>
              <a:t>1</a:t>
            </a:r>
            <a:r>
              <a:rPr lang="en" sz="1800">
                <a:solidFill>
                  <a:srgbClr val="FF0000"/>
                </a:solidFill>
              </a:rPr>
              <a:t>=250mm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L</a:t>
            </a:r>
            <a:r>
              <a:rPr baseline="-25000" lang="en" sz="1800">
                <a:solidFill>
                  <a:srgbClr val="FF0000"/>
                </a:solidFill>
              </a:rPr>
              <a:t>2</a:t>
            </a:r>
            <a:r>
              <a:rPr lang="en" sz="1800">
                <a:solidFill>
                  <a:srgbClr val="FF0000"/>
                </a:solidFill>
              </a:rPr>
              <a:t>=250mm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θ</a:t>
            </a:r>
            <a:r>
              <a:rPr baseline="-25000" lang="en" sz="1800">
                <a:solidFill>
                  <a:srgbClr val="FF0000"/>
                </a:solidFill>
              </a:rPr>
              <a:t>1</a:t>
            </a:r>
            <a:r>
              <a:rPr lang="en" sz="1800">
                <a:solidFill>
                  <a:srgbClr val="FF0000"/>
                </a:solidFill>
              </a:rPr>
              <a:t>=45°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θ</a:t>
            </a:r>
            <a:r>
              <a:rPr baseline="-25000" lang="en" sz="1800">
                <a:solidFill>
                  <a:srgbClr val="FF0000"/>
                </a:solidFill>
              </a:rPr>
              <a:t>2</a:t>
            </a:r>
            <a:r>
              <a:rPr lang="en" sz="1800">
                <a:solidFill>
                  <a:srgbClr val="FF0000"/>
                </a:solidFill>
              </a:rPr>
              <a:t>=45°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FF0000"/>
                </a:solidFill>
              </a:rPr>
              <a:t>θ</a:t>
            </a:r>
            <a:r>
              <a:rPr baseline="-25000" lang="en" sz="1800">
                <a:solidFill>
                  <a:srgbClr val="FF0000"/>
                </a:solidFill>
              </a:rPr>
              <a:t>3</a:t>
            </a:r>
            <a:r>
              <a:rPr lang="en" sz="1800">
                <a:solidFill>
                  <a:srgbClr val="FF0000"/>
                </a:solidFill>
              </a:rPr>
              <a:t>=45°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(X,Y,Z) = (?,?,?)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502" name="Google Shape;502;p36"/>
          <p:cNvSpPr txBox="1"/>
          <p:nvPr/>
        </p:nvSpPr>
        <p:spPr>
          <a:xfrm>
            <a:off x="3869275" y="4008975"/>
            <a:ext cx="35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X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503" name="Google Shape;503;p36"/>
          <p:cNvSpPr txBox="1"/>
          <p:nvPr/>
        </p:nvSpPr>
        <p:spPr>
          <a:xfrm>
            <a:off x="6765275" y="1413925"/>
            <a:ext cx="35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Y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504" name="Google Shape;504;p36"/>
          <p:cNvSpPr txBox="1"/>
          <p:nvPr/>
        </p:nvSpPr>
        <p:spPr>
          <a:xfrm>
            <a:off x="4530700" y="2390950"/>
            <a:ext cx="35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Z</a:t>
            </a:r>
            <a:endParaRPr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37"/>
          <p:cNvSpPr/>
          <p:nvPr/>
        </p:nvSpPr>
        <p:spPr>
          <a:xfrm rot="-5400000">
            <a:off x="3306150" y="-389000"/>
            <a:ext cx="4139400" cy="6202800"/>
          </a:xfrm>
          <a:prstGeom prst="parallelogram">
            <a:avLst>
              <a:gd fmla="val 11778" name="adj"/>
            </a:avLst>
          </a:prstGeom>
          <a:solidFill>
            <a:srgbClr val="FFDD00">
              <a:alpha val="1000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37"/>
          <p:cNvSpPr txBox="1"/>
          <p:nvPr/>
        </p:nvSpPr>
        <p:spPr>
          <a:xfrm>
            <a:off x="0" y="0"/>
            <a:ext cx="2954100" cy="51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This problem can be split into two 2D problems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Solving for R: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along the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XZ Plane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Solving for X and Z:</a:t>
            </a:r>
            <a:br>
              <a:rPr lang="en" sz="1800">
                <a:solidFill>
                  <a:schemeClr val="dk1"/>
                </a:solidFill>
              </a:rPr>
            </a:br>
            <a:r>
              <a:rPr lang="en" sz="1800">
                <a:solidFill>
                  <a:schemeClr val="dk1"/>
                </a:solidFill>
              </a:rPr>
              <a:t>Along an XY plane relative to the arm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511" name="Google Shape;511;p37"/>
          <p:cNvPicPr preferRelativeResize="0"/>
          <p:nvPr/>
        </p:nvPicPr>
        <p:blipFill rotWithShape="1">
          <a:blip r:embed="rId3">
            <a:alphaModFix/>
          </a:blip>
          <a:srcRect b="0" l="0" r="1517" t="0"/>
          <a:stretch/>
        </p:blipFill>
        <p:spPr>
          <a:xfrm>
            <a:off x="1480975" y="766500"/>
            <a:ext cx="7663024" cy="43769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12" name="Google Shape;512;p37"/>
          <p:cNvCxnSpPr/>
          <p:nvPr/>
        </p:nvCxnSpPr>
        <p:spPr>
          <a:xfrm rot="10800000">
            <a:off x="3430875" y="3242275"/>
            <a:ext cx="3306900" cy="282600"/>
          </a:xfrm>
          <a:prstGeom prst="straightConnector1">
            <a:avLst/>
          </a:prstGeom>
          <a:noFill/>
          <a:ln cap="flat" cmpd="sng" w="762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3" name="Google Shape;513;p37"/>
          <p:cNvCxnSpPr/>
          <p:nvPr/>
        </p:nvCxnSpPr>
        <p:spPr>
          <a:xfrm rot="10800000">
            <a:off x="4735150" y="2383825"/>
            <a:ext cx="2005800" cy="11580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14" name="Google Shape;514;p37"/>
          <p:cNvCxnSpPr/>
          <p:nvPr/>
        </p:nvCxnSpPr>
        <p:spPr>
          <a:xfrm flipH="1">
            <a:off x="3158875" y="3531225"/>
            <a:ext cx="3571500" cy="5925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15" name="Google Shape;515;p37"/>
          <p:cNvCxnSpPr/>
          <p:nvPr/>
        </p:nvCxnSpPr>
        <p:spPr>
          <a:xfrm rot="10800000">
            <a:off x="6724025" y="747450"/>
            <a:ext cx="0" cy="27912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16" name="Google Shape;516;p37"/>
          <p:cNvCxnSpPr/>
          <p:nvPr/>
        </p:nvCxnSpPr>
        <p:spPr>
          <a:xfrm rot="10800000">
            <a:off x="5384375" y="1861150"/>
            <a:ext cx="1361100" cy="1680000"/>
          </a:xfrm>
          <a:prstGeom prst="straightConnector1">
            <a:avLst/>
          </a:prstGeom>
          <a:noFill/>
          <a:ln cap="flat" cmpd="sng" w="762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7" name="Google Shape;517;p37"/>
          <p:cNvCxnSpPr>
            <a:stCxn id="518" idx="2"/>
            <a:endCxn id="519" idx="6"/>
          </p:cNvCxnSpPr>
          <p:nvPr/>
        </p:nvCxnSpPr>
        <p:spPr>
          <a:xfrm rot="10800000">
            <a:off x="3249334" y="1695316"/>
            <a:ext cx="2274000" cy="180300"/>
          </a:xfrm>
          <a:prstGeom prst="straightConnector1">
            <a:avLst/>
          </a:prstGeom>
          <a:noFill/>
          <a:ln cap="flat" cmpd="sng" w="762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0" name="Google Shape;520;p37"/>
          <p:cNvSpPr/>
          <p:nvPr/>
        </p:nvSpPr>
        <p:spPr>
          <a:xfrm flipH="1">
            <a:off x="6605084" y="3406941"/>
            <a:ext cx="237900" cy="237900"/>
          </a:xfrm>
          <a:prstGeom prst="ellipse">
            <a:avLst/>
          </a:prstGeom>
          <a:solidFill>
            <a:srgbClr val="F1C232"/>
          </a:solidFill>
          <a:ln cap="flat" cmpd="sng" w="9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150" lIns="95150" spcFirstLastPara="1" rIns="95150" wrap="square" tIns="95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7"/>
          </a:p>
        </p:txBody>
      </p:sp>
      <p:sp>
        <p:nvSpPr>
          <p:cNvPr id="518" name="Google Shape;518;p37"/>
          <p:cNvSpPr/>
          <p:nvPr/>
        </p:nvSpPr>
        <p:spPr>
          <a:xfrm flipH="1">
            <a:off x="5285434" y="1756666"/>
            <a:ext cx="237900" cy="237900"/>
          </a:xfrm>
          <a:prstGeom prst="ellipse">
            <a:avLst/>
          </a:prstGeom>
          <a:solidFill>
            <a:srgbClr val="F1C232"/>
          </a:solidFill>
          <a:ln cap="flat" cmpd="sng" w="9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150" lIns="95150" spcFirstLastPara="1" rIns="95150" wrap="square" tIns="95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7"/>
          </a:p>
        </p:txBody>
      </p:sp>
      <p:cxnSp>
        <p:nvCxnSpPr>
          <p:cNvPr id="521" name="Google Shape;521;p37"/>
          <p:cNvCxnSpPr>
            <a:stCxn id="519" idx="0"/>
            <a:endCxn id="522" idx="4"/>
          </p:cNvCxnSpPr>
          <p:nvPr/>
        </p:nvCxnSpPr>
        <p:spPr>
          <a:xfrm flipH="1">
            <a:off x="3333484" y="1576366"/>
            <a:ext cx="34800" cy="17715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522" name="Google Shape;522;p37"/>
          <p:cNvSpPr/>
          <p:nvPr/>
        </p:nvSpPr>
        <p:spPr>
          <a:xfrm flipH="1">
            <a:off x="3214560" y="3110017"/>
            <a:ext cx="237900" cy="237900"/>
          </a:xfrm>
          <a:prstGeom prst="ellipse">
            <a:avLst/>
          </a:prstGeom>
          <a:solidFill>
            <a:srgbClr val="F1C232"/>
          </a:solidFill>
          <a:ln cap="flat" cmpd="sng" w="9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150" lIns="95150" spcFirstLastPara="1" rIns="95150" wrap="square" tIns="95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7"/>
          </a:p>
        </p:txBody>
      </p:sp>
      <p:sp>
        <p:nvSpPr>
          <p:cNvPr id="519" name="Google Shape;519;p37"/>
          <p:cNvSpPr/>
          <p:nvPr/>
        </p:nvSpPr>
        <p:spPr>
          <a:xfrm flipH="1">
            <a:off x="3249334" y="1576366"/>
            <a:ext cx="237900" cy="237900"/>
          </a:xfrm>
          <a:prstGeom prst="ellipse">
            <a:avLst/>
          </a:prstGeom>
          <a:solidFill>
            <a:srgbClr val="F1C232"/>
          </a:solidFill>
          <a:ln cap="flat" cmpd="sng" w="9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150" lIns="95150" spcFirstLastPara="1" rIns="95150" wrap="square" tIns="95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7"/>
          </a:p>
        </p:txBody>
      </p:sp>
      <p:sp>
        <p:nvSpPr>
          <p:cNvPr id="523" name="Google Shape;523;p37"/>
          <p:cNvSpPr/>
          <p:nvPr/>
        </p:nvSpPr>
        <p:spPr>
          <a:xfrm flipH="1" rot="-701495">
            <a:off x="4839033" y="3083401"/>
            <a:ext cx="4204431" cy="1421248"/>
          </a:xfrm>
          <a:prstGeom prst="parallelogram">
            <a:avLst>
              <a:gd fmla="val 135279" name="adj"/>
            </a:avLst>
          </a:prstGeom>
          <a:solidFill>
            <a:srgbClr val="00FF00">
              <a:alpha val="1509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38"/>
          <p:cNvSpPr txBox="1"/>
          <p:nvPr/>
        </p:nvSpPr>
        <p:spPr>
          <a:xfrm>
            <a:off x="0" y="0"/>
            <a:ext cx="2954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The problem can be solved along these two planes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529" name="Google Shape;529;p38"/>
          <p:cNvPicPr preferRelativeResize="0"/>
          <p:nvPr/>
        </p:nvPicPr>
        <p:blipFill rotWithShape="1">
          <a:blip r:embed="rId3">
            <a:alphaModFix/>
          </a:blip>
          <a:srcRect b="0" l="0" r="0" t="8517"/>
          <a:stretch/>
        </p:blipFill>
        <p:spPr>
          <a:xfrm>
            <a:off x="0" y="2452379"/>
            <a:ext cx="4984376" cy="2564809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38"/>
          <p:cNvSpPr/>
          <p:nvPr/>
        </p:nvSpPr>
        <p:spPr>
          <a:xfrm flipH="1" rot="2700000">
            <a:off x="3065985" y="3283435"/>
            <a:ext cx="1540927" cy="1540927"/>
          </a:xfrm>
          <a:prstGeom prst="blockArc">
            <a:avLst>
              <a:gd fmla="val 18969520" name="adj1"/>
              <a:gd fmla="val 21574488" name="adj2"/>
              <a:gd fmla="val 4685" name="adj3"/>
            </a:avLst>
          </a:prstGeom>
          <a:solidFill>
            <a:srgbClr val="FF0000"/>
          </a:solidFill>
          <a:ln cap="flat" cmpd="sng" w="64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1625" lIns="61625" spcFirstLastPara="1" rIns="61625" wrap="square" tIns="61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44"/>
          </a:p>
        </p:txBody>
      </p:sp>
      <p:cxnSp>
        <p:nvCxnSpPr>
          <p:cNvPr id="531" name="Google Shape;531;p38"/>
          <p:cNvCxnSpPr/>
          <p:nvPr/>
        </p:nvCxnSpPr>
        <p:spPr>
          <a:xfrm>
            <a:off x="2770563" y="3008509"/>
            <a:ext cx="1065900" cy="1068600"/>
          </a:xfrm>
          <a:prstGeom prst="straightConnector1">
            <a:avLst/>
          </a:prstGeom>
          <a:noFill/>
          <a:ln cap="flat" cmpd="sng" w="51375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2" name="Google Shape;532;p38"/>
          <p:cNvCxnSpPr/>
          <p:nvPr/>
        </p:nvCxnSpPr>
        <p:spPr>
          <a:xfrm>
            <a:off x="1236050" y="3008509"/>
            <a:ext cx="1560300" cy="0"/>
          </a:xfrm>
          <a:prstGeom prst="straightConnector1">
            <a:avLst/>
          </a:prstGeom>
          <a:noFill/>
          <a:ln cap="flat" cmpd="sng" w="51375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3" name="Google Shape;533;p38"/>
          <p:cNvCxnSpPr/>
          <p:nvPr/>
        </p:nvCxnSpPr>
        <p:spPr>
          <a:xfrm>
            <a:off x="3836477" y="3088454"/>
            <a:ext cx="0" cy="988800"/>
          </a:xfrm>
          <a:prstGeom prst="straightConnector1">
            <a:avLst/>
          </a:prstGeom>
          <a:noFill/>
          <a:ln cap="flat" cmpd="sng" w="25675">
            <a:solidFill>
              <a:srgbClr val="6AA84F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534" name="Google Shape;534;p38"/>
          <p:cNvSpPr/>
          <p:nvPr/>
        </p:nvSpPr>
        <p:spPr>
          <a:xfrm flipH="1">
            <a:off x="1996970" y="2213475"/>
            <a:ext cx="1540800" cy="1540800"/>
          </a:xfrm>
          <a:prstGeom prst="blockArc">
            <a:avLst>
              <a:gd fmla="val 18969520" name="adj1"/>
              <a:gd fmla="val 21574488" name="adj2"/>
              <a:gd fmla="val 4685" name="adj3"/>
            </a:avLst>
          </a:prstGeom>
          <a:solidFill>
            <a:srgbClr val="FF0000"/>
          </a:solidFill>
          <a:ln cap="flat" cmpd="sng" w="64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1625" lIns="61625" spcFirstLastPara="1" rIns="61625" wrap="square" tIns="616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44"/>
          </a:p>
        </p:txBody>
      </p:sp>
      <p:cxnSp>
        <p:nvCxnSpPr>
          <p:cNvPr id="535" name="Google Shape;535;p38"/>
          <p:cNvCxnSpPr/>
          <p:nvPr/>
        </p:nvCxnSpPr>
        <p:spPr>
          <a:xfrm>
            <a:off x="2040288" y="2252398"/>
            <a:ext cx="756000" cy="756000"/>
          </a:xfrm>
          <a:prstGeom prst="straightConnector1">
            <a:avLst/>
          </a:prstGeom>
          <a:noFill/>
          <a:ln cap="flat" cmpd="sng" w="25675">
            <a:solidFill>
              <a:srgbClr val="6AA84F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536" name="Google Shape;536;p38"/>
          <p:cNvSpPr txBox="1"/>
          <p:nvPr/>
        </p:nvSpPr>
        <p:spPr>
          <a:xfrm>
            <a:off x="3569105" y="3387272"/>
            <a:ext cx="472500" cy="3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61625" lIns="61625" spcFirstLastPara="1" rIns="61625" wrap="square" tIns="616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13">
                <a:solidFill>
                  <a:srgbClr val="FF0000"/>
                </a:solidFill>
              </a:rPr>
              <a:t>θ</a:t>
            </a:r>
            <a:r>
              <a:rPr baseline="-25000" lang="en" sz="1213">
                <a:solidFill>
                  <a:srgbClr val="FF0000"/>
                </a:solidFill>
              </a:rPr>
              <a:t>1</a:t>
            </a:r>
            <a:endParaRPr baseline="-25000" sz="1213">
              <a:solidFill>
                <a:srgbClr val="FF0000"/>
              </a:solidFill>
            </a:endParaRPr>
          </a:p>
        </p:txBody>
      </p:sp>
      <p:sp>
        <p:nvSpPr>
          <p:cNvPr id="537" name="Google Shape;537;p38"/>
          <p:cNvSpPr txBox="1"/>
          <p:nvPr/>
        </p:nvSpPr>
        <p:spPr>
          <a:xfrm>
            <a:off x="2143742" y="2586975"/>
            <a:ext cx="472500" cy="3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61625" lIns="61625" spcFirstLastPara="1" rIns="61625" wrap="square" tIns="616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13">
                <a:solidFill>
                  <a:srgbClr val="FF0000"/>
                </a:solidFill>
              </a:rPr>
              <a:t>θ</a:t>
            </a:r>
            <a:r>
              <a:rPr baseline="-25000" lang="en" sz="1213">
                <a:solidFill>
                  <a:srgbClr val="FF0000"/>
                </a:solidFill>
              </a:rPr>
              <a:t>2</a:t>
            </a:r>
            <a:endParaRPr baseline="-25000" sz="1213">
              <a:solidFill>
                <a:srgbClr val="FF0000"/>
              </a:solidFill>
            </a:endParaRPr>
          </a:p>
        </p:txBody>
      </p:sp>
      <p:sp>
        <p:nvSpPr>
          <p:cNvPr id="538" name="Google Shape;538;p38"/>
          <p:cNvSpPr/>
          <p:nvPr/>
        </p:nvSpPr>
        <p:spPr>
          <a:xfrm flipH="1">
            <a:off x="5608044" y="1881297"/>
            <a:ext cx="3264000" cy="3262200"/>
          </a:xfrm>
          <a:prstGeom prst="ellipse">
            <a:avLst/>
          </a:prstGeom>
          <a:noFill/>
          <a:ln cap="flat" cmpd="sng" w="67725">
            <a:solidFill>
              <a:srgbClr val="6AA84F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81250" lIns="81250" spcFirstLastPara="1" rIns="81250" wrap="square" tIns="81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4"/>
          </a:p>
        </p:txBody>
      </p:sp>
      <p:cxnSp>
        <p:nvCxnSpPr>
          <p:cNvPr id="539" name="Google Shape;539;p38"/>
          <p:cNvCxnSpPr/>
          <p:nvPr/>
        </p:nvCxnSpPr>
        <p:spPr>
          <a:xfrm flipH="1" rot="10800000">
            <a:off x="7211217" y="2334909"/>
            <a:ext cx="1213200" cy="1191000"/>
          </a:xfrm>
          <a:prstGeom prst="straightConnector1">
            <a:avLst/>
          </a:prstGeom>
          <a:noFill/>
          <a:ln cap="flat" cmpd="sng" w="94375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0" name="Google Shape;540;p38"/>
          <p:cNvCxnSpPr>
            <a:stCxn id="541" idx="4"/>
          </p:cNvCxnSpPr>
          <p:nvPr/>
        </p:nvCxnSpPr>
        <p:spPr>
          <a:xfrm rot="10800000">
            <a:off x="7240050" y="1894299"/>
            <a:ext cx="0" cy="1712400"/>
          </a:xfrm>
          <a:prstGeom prst="straightConnector1">
            <a:avLst/>
          </a:prstGeom>
          <a:noFill/>
          <a:ln cap="flat" cmpd="sng" w="30225">
            <a:solidFill>
              <a:srgbClr val="6AA84F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42" name="Google Shape;542;p38"/>
          <p:cNvCxnSpPr>
            <a:stCxn id="541" idx="4"/>
          </p:cNvCxnSpPr>
          <p:nvPr/>
        </p:nvCxnSpPr>
        <p:spPr>
          <a:xfrm rot="10800000">
            <a:off x="7240050" y="1629399"/>
            <a:ext cx="0" cy="1977300"/>
          </a:xfrm>
          <a:prstGeom prst="straightConnector1">
            <a:avLst/>
          </a:prstGeom>
          <a:noFill/>
          <a:ln cap="flat" cmpd="sng" w="302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43" name="Google Shape;543;p38"/>
          <p:cNvCxnSpPr>
            <a:stCxn id="541" idx="6"/>
          </p:cNvCxnSpPr>
          <p:nvPr/>
        </p:nvCxnSpPr>
        <p:spPr>
          <a:xfrm>
            <a:off x="7145700" y="3512349"/>
            <a:ext cx="1998300" cy="0"/>
          </a:xfrm>
          <a:prstGeom prst="straightConnector1">
            <a:avLst/>
          </a:prstGeom>
          <a:noFill/>
          <a:ln cap="flat" cmpd="sng" w="302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41" name="Google Shape;541;p38"/>
          <p:cNvSpPr/>
          <p:nvPr/>
        </p:nvSpPr>
        <p:spPr>
          <a:xfrm flipH="1">
            <a:off x="7145700" y="3417999"/>
            <a:ext cx="188700" cy="188700"/>
          </a:xfrm>
          <a:prstGeom prst="ellipse">
            <a:avLst/>
          </a:prstGeom>
          <a:solidFill>
            <a:srgbClr val="F1C232"/>
          </a:solidFill>
          <a:ln cap="flat" cmpd="sng" w="78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500" lIns="75500" spcFirstLastPara="1" rIns="75500" wrap="square" tIns="755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6"/>
          </a:p>
        </p:txBody>
      </p:sp>
      <p:sp>
        <p:nvSpPr>
          <p:cNvPr id="544" name="Google Shape;544;p38"/>
          <p:cNvSpPr/>
          <p:nvPr/>
        </p:nvSpPr>
        <p:spPr>
          <a:xfrm flipH="1">
            <a:off x="8293621" y="2270075"/>
            <a:ext cx="188700" cy="188700"/>
          </a:xfrm>
          <a:prstGeom prst="ellipse">
            <a:avLst/>
          </a:prstGeom>
          <a:solidFill>
            <a:srgbClr val="F1C232"/>
          </a:solidFill>
          <a:ln cap="flat" cmpd="sng" w="78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500" lIns="75500" spcFirstLastPara="1" rIns="75500" wrap="square" tIns="755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6"/>
          </a:p>
        </p:txBody>
      </p:sp>
      <p:sp>
        <p:nvSpPr>
          <p:cNvPr id="545" name="Google Shape;545;p38"/>
          <p:cNvSpPr/>
          <p:nvPr/>
        </p:nvSpPr>
        <p:spPr>
          <a:xfrm flipH="1" rot="7495841">
            <a:off x="6328260" y="2465783"/>
            <a:ext cx="1813879" cy="1813879"/>
          </a:xfrm>
          <a:prstGeom prst="blockArc">
            <a:avLst>
              <a:gd fmla="val 20805679" name="adj1"/>
              <a:gd fmla="val 2056961" name="adj2"/>
              <a:gd fmla="val 4567" name="adj3"/>
            </a:avLst>
          </a:prstGeom>
          <a:solidFill>
            <a:srgbClr val="FF0000"/>
          </a:solidFill>
          <a:ln cap="flat" cmpd="sng" w="75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550" lIns="72550" spcFirstLastPara="1" rIns="72550" wrap="square" tIns="725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11"/>
          </a:p>
        </p:txBody>
      </p:sp>
      <p:sp>
        <p:nvSpPr>
          <p:cNvPr id="546" name="Google Shape;546;p38"/>
          <p:cNvSpPr txBox="1"/>
          <p:nvPr/>
        </p:nvSpPr>
        <p:spPr>
          <a:xfrm>
            <a:off x="7240008" y="2612650"/>
            <a:ext cx="556200" cy="3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72550" lIns="72550" spcFirstLastPara="1" rIns="72550" wrap="square" tIns="725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28">
                <a:solidFill>
                  <a:srgbClr val="FF0000"/>
                </a:solidFill>
              </a:rPr>
              <a:t>θ</a:t>
            </a:r>
            <a:r>
              <a:rPr baseline="-25000" lang="en" sz="1428">
                <a:solidFill>
                  <a:srgbClr val="FF0000"/>
                </a:solidFill>
              </a:rPr>
              <a:t>3</a:t>
            </a:r>
            <a:endParaRPr baseline="-25000" sz="1428">
              <a:solidFill>
                <a:srgbClr val="FF0000"/>
              </a:solidFill>
            </a:endParaRPr>
          </a:p>
        </p:txBody>
      </p:sp>
      <p:sp>
        <p:nvSpPr>
          <p:cNvPr id="547" name="Google Shape;547;p38"/>
          <p:cNvSpPr txBox="1"/>
          <p:nvPr/>
        </p:nvSpPr>
        <p:spPr>
          <a:xfrm flipH="1" rot="-2700000">
            <a:off x="7794998" y="2805082"/>
            <a:ext cx="388202" cy="356806"/>
          </a:xfrm>
          <a:prstGeom prst="rect">
            <a:avLst/>
          </a:prstGeom>
          <a:noFill/>
          <a:ln>
            <a:noFill/>
          </a:ln>
        </p:spPr>
        <p:txBody>
          <a:bodyPr anchorCtr="0" anchor="t" bIns="70650" lIns="70650" spcFirstLastPara="1" rIns="70650" wrap="square" tIns="706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90">
                <a:solidFill>
                  <a:srgbClr val="FF0000"/>
                </a:solidFill>
              </a:rPr>
              <a:t>R</a:t>
            </a:r>
            <a:endParaRPr baseline="-25000" sz="1390">
              <a:solidFill>
                <a:srgbClr val="FF0000"/>
              </a:solidFill>
            </a:endParaRPr>
          </a:p>
        </p:txBody>
      </p:sp>
      <p:sp>
        <p:nvSpPr>
          <p:cNvPr id="548" name="Google Shape;548;p38"/>
          <p:cNvSpPr txBox="1"/>
          <p:nvPr/>
        </p:nvSpPr>
        <p:spPr>
          <a:xfrm>
            <a:off x="6959356" y="2010086"/>
            <a:ext cx="280800" cy="3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72550" lIns="72550" spcFirstLastPara="1" rIns="72550" wrap="square" tIns="725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28">
                <a:solidFill>
                  <a:srgbClr val="FF0000"/>
                </a:solidFill>
              </a:rPr>
              <a:t>X</a:t>
            </a:r>
            <a:endParaRPr sz="1428">
              <a:solidFill>
                <a:srgbClr val="FF0000"/>
              </a:solidFill>
            </a:endParaRPr>
          </a:p>
        </p:txBody>
      </p:sp>
      <p:sp>
        <p:nvSpPr>
          <p:cNvPr id="549" name="Google Shape;549;p38"/>
          <p:cNvSpPr txBox="1"/>
          <p:nvPr/>
        </p:nvSpPr>
        <p:spPr>
          <a:xfrm>
            <a:off x="8400765" y="3512389"/>
            <a:ext cx="280800" cy="3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72550" lIns="72550" spcFirstLastPara="1" rIns="72550" wrap="square" tIns="725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28">
                <a:solidFill>
                  <a:srgbClr val="FF0000"/>
                </a:solidFill>
              </a:rPr>
              <a:t>Z</a:t>
            </a:r>
            <a:endParaRPr sz="1428">
              <a:solidFill>
                <a:srgbClr val="FF0000"/>
              </a:solidFill>
            </a:endParaRPr>
          </a:p>
        </p:txBody>
      </p:sp>
      <p:cxnSp>
        <p:nvCxnSpPr>
          <p:cNvPr id="550" name="Google Shape;550;p38"/>
          <p:cNvCxnSpPr>
            <a:endCxn id="551" idx="2"/>
          </p:cNvCxnSpPr>
          <p:nvPr/>
        </p:nvCxnSpPr>
        <p:spPr>
          <a:xfrm rot="10800000">
            <a:off x="1191388" y="4099306"/>
            <a:ext cx="2601600" cy="0"/>
          </a:xfrm>
          <a:prstGeom prst="straightConnector1">
            <a:avLst/>
          </a:prstGeom>
          <a:noFill/>
          <a:ln cap="flat" cmpd="sng" w="64525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2" name="Google Shape;552;p38"/>
          <p:cNvCxnSpPr>
            <a:stCxn id="551" idx="4"/>
          </p:cNvCxnSpPr>
          <p:nvPr/>
        </p:nvCxnSpPr>
        <p:spPr>
          <a:xfrm rot="10800000">
            <a:off x="1288138" y="2969656"/>
            <a:ext cx="0" cy="1226400"/>
          </a:xfrm>
          <a:prstGeom prst="straightConnector1">
            <a:avLst/>
          </a:prstGeom>
          <a:noFill/>
          <a:ln cap="flat" cmpd="sng" w="32250">
            <a:solidFill>
              <a:srgbClr val="6AA84F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551" name="Google Shape;551;p38"/>
          <p:cNvSpPr/>
          <p:nvPr/>
        </p:nvSpPr>
        <p:spPr>
          <a:xfrm>
            <a:off x="1191388" y="4002556"/>
            <a:ext cx="193500" cy="193500"/>
          </a:xfrm>
          <a:prstGeom prst="ellipse">
            <a:avLst/>
          </a:prstGeom>
          <a:solidFill>
            <a:srgbClr val="F1C232"/>
          </a:solidFill>
          <a:ln cap="flat" cmpd="sng" w="80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7400" lIns="77400" spcFirstLastPara="1" rIns="77400" wrap="square" tIns="77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85"/>
          </a:p>
        </p:txBody>
      </p:sp>
      <p:sp>
        <p:nvSpPr>
          <p:cNvPr id="553" name="Google Shape;553;p38"/>
          <p:cNvSpPr/>
          <p:nvPr/>
        </p:nvSpPr>
        <p:spPr>
          <a:xfrm flipH="1" rot="-5400000">
            <a:off x="2438801" y="3136650"/>
            <a:ext cx="226800" cy="2529900"/>
          </a:xfrm>
          <a:prstGeom prst="rightBracket">
            <a:avLst>
              <a:gd fmla="val 0" name="adj"/>
            </a:avLst>
          </a:prstGeom>
          <a:noFill/>
          <a:ln cap="flat" cmpd="sng" w="622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4675" lIns="74675" spcFirstLastPara="1" rIns="74675" wrap="square" tIns="74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43"/>
          </a:p>
        </p:txBody>
      </p:sp>
      <p:sp>
        <p:nvSpPr>
          <p:cNvPr id="554" name="Google Shape;554;p38"/>
          <p:cNvSpPr/>
          <p:nvPr/>
        </p:nvSpPr>
        <p:spPr>
          <a:xfrm>
            <a:off x="3739688" y="3985681"/>
            <a:ext cx="193500" cy="193500"/>
          </a:xfrm>
          <a:prstGeom prst="ellipse">
            <a:avLst/>
          </a:prstGeom>
          <a:solidFill>
            <a:srgbClr val="F1C232"/>
          </a:solidFill>
          <a:ln cap="flat" cmpd="sng" w="80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7400" lIns="77400" spcFirstLastPara="1" rIns="77400" wrap="square" tIns="77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85"/>
          </a:p>
        </p:txBody>
      </p:sp>
      <p:sp>
        <p:nvSpPr>
          <p:cNvPr id="555" name="Google Shape;555;p38"/>
          <p:cNvSpPr/>
          <p:nvPr/>
        </p:nvSpPr>
        <p:spPr>
          <a:xfrm>
            <a:off x="1191388" y="2936231"/>
            <a:ext cx="193500" cy="193500"/>
          </a:xfrm>
          <a:prstGeom prst="ellipse">
            <a:avLst/>
          </a:prstGeom>
          <a:solidFill>
            <a:srgbClr val="F1C232"/>
          </a:solidFill>
          <a:ln cap="flat" cmpd="sng" w="80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7400" lIns="77400" spcFirstLastPara="1" rIns="77400" wrap="square" tIns="77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85"/>
          </a:p>
        </p:txBody>
      </p:sp>
      <p:sp>
        <p:nvSpPr>
          <p:cNvPr id="556" name="Google Shape;556;p38"/>
          <p:cNvSpPr txBox="1"/>
          <p:nvPr/>
        </p:nvSpPr>
        <p:spPr>
          <a:xfrm>
            <a:off x="1996975" y="4515000"/>
            <a:ext cx="569400" cy="4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88200" lIns="88200" spcFirstLastPara="1" rIns="88200" wrap="square" tIns="882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36">
                <a:solidFill>
                  <a:srgbClr val="FF0000"/>
                </a:solidFill>
              </a:rPr>
              <a:t>R</a:t>
            </a:r>
            <a:endParaRPr baseline="-25000" sz="1736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39"/>
          <p:cNvSpPr txBox="1"/>
          <p:nvPr/>
        </p:nvSpPr>
        <p:spPr>
          <a:xfrm>
            <a:off x="0" y="0"/>
            <a:ext cx="29541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R</a:t>
            </a:r>
            <a:r>
              <a:rPr lang="en" sz="1800">
                <a:solidFill>
                  <a:schemeClr val="dk1"/>
                </a:solidFill>
              </a:rPr>
              <a:t> will be equal to the </a:t>
            </a:r>
            <a:r>
              <a:rPr lang="en" sz="1800">
                <a:solidFill>
                  <a:srgbClr val="FF0000"/>
                </a:solidFill>
              </a:rPr>
              <a:t>X</a:t>
            </a:r>
            <a:r>
              <a:rPr lang="en" sz="1800">
                <a:solidFill>
                  <a:schemeClr val="dk1"/>
                </a:solidFill>
              </a:rPr>
              <a:t> value we calculated when analyzing this position in 2D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562" name="Google Shape;562;p39"/>
          <p:cNvPicPr preferRelativeResize="0"/>
          <p:nvPr/>
        </p:nvPicPr>
        <p:blipFill rotWithShape="1">
          <a:blip r:embed="rId3">
            <a:alphaModFix/>
          </a:blip>
          <a:srcRect b="0" l="0" r="0" t="8517"/>
          <a:stretch/>
        </p:blipFill>
        <p:spPr>
          <a:xfrm>
            <a:off x="2595950" y="1608128"/>
            <a:ext cx="6548048" cy="3369436"/>
          </a:xfrm>
          <a:prstGeom prst="rect">
            <a:avLst/>
          </a:prstGeom>
          <a:noFill/>
          <a:ln>
            <a:noFill/>
          </a:ln>
        </p:spPr>
      </p:pic>
      <p:sp>
        <p:nvSpPr>
          <p:cNvPr id="563" name="Google Shape;563;p39"/>
          <p:cNvSpPr/>
          <p:nvPr/>
        </p:nvSpPr>
        <p:spPr>
          <a:xfrm flipH="1" rot="2700000">
            <a:off x="6623991" y="2699991"/>
            <a:ext cx="2024164" cy="2024164"/>
          </a:xfrm>
          <a:prstGeom prst="blockArc">
            <a:avLst>
              <a:gd fmla="val 18969520" name="adj1"/>
              <a:gd fmla="val 21574488" name="adj2"/>
              <a:gd fmla="val 4685" name="adj3"/>
            </a:avLst>
          </a:prstGeom>
          <a:solidFill>
            <a:srgbClr val="FF0000"/>
          </a:solidFill>
          <a:ln cap="flat" cmpd="sng" w="84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950" lIns="80950" spcFirstLastPara="1" rIns="80950" wrap="square" tIns="80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0"/>
          </a:p>
        </p:txBody>
      </p:sp>
      <p:cxnSp>
        <p:nvCxnSpPr>
          <p:cNvPr id="564" name="Google Shape;564;p39"/>
          <p:cNvCxnSpPr/>
          <p:nvPr/>
        </p:nvCxnSpPr>
        <p:spPr>
          <a:xfrm>
            <a:off x="6235681" y="2338725"/>
            <a:ext cx="1400400" cy="1403700"/>
          </a:xfrm>
          <a:prstGeom prst="straightConnector1">
            <a:avLst/>
          </a:prstGeom>
          <a:noFill/>
          <a:ln cap="flat" cmpd="sng" w="675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5" name="Google Shape;565;p39"/>
          <p:cNvCxnSpPr/>
          <p:nvPr/>
        </p:nvCxnSpPr>
        <p:spPr>
          <a:xfrm>
            <a:off x="4219767" y="2338725"/>
            <a:ext cx="2049900" cy="0"/>
          </a:xfrm>
          <a:prstGeom prst="straightConnector1">
            <a:avLst/>
          </a:prstGeom>
          <a:noFill/>
          <a:ln cap="flat" cmpd="sng" w="675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6" name="Google Shape;566;p39"/>
          <p:cNvCxnSpPr/>
          <p:nvPr/>
        </p:nvCxnSpPr>
        <p:spPr>
          <a:xfrm>
            <a:off x="7635987" y="2443751"/>
            <a:ext cx="0" cy="1299000"/>
          </a:xfrm>
          <a:prstGeom prst="straightConnector1">
            <a:avLst/>
          </a:prstGeom>
          <a:noFill/>
          <a:ln cap="flat" cmpd="sng" w="33725">
            <a:solidFill>
              <a:srgbClr val="6AA84F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567" name="Google Shape;567;p39"/>
          <p:cNvSpPr/>
          <p:nvPr/>
        </p:nvSpPr>
        <p:spPr>
          <a:xfrm flipH="1">
            <a:off x="5219472" y="1294275"/>
            <a:ext cx="2024100" cy="2024100"/>
          </a:xfrm>
          <a:prstGeom prst="blockArc">
            <a:avLst>
              <a:gd fmla="val 18969520" name="adj1"/>
              <a:gd fmla="val 21574488" name="adj2"/>
              <a:gd fmla="val 4685" name="adj3"/>
            </a:avLst>
          </a:prstGeom>
          <a:solidFill>
            <a:srgbClr val="FF0000"/>
          </a:solidFill>
          <a:ln cap="flat" cmpd="sng" w="84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950" lIns="80950" spcFirstLastPara="1" rIns="80950" wrap="square" tIns="809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0"/>
          </a:p>
        </p:txBody>
      </p:sp>
      <p:cxnSp>
        <p:nvCxnSpPr>
          <p:cNvPr id="568" name="Google Shape;568;p39"/>
          <p:cNvCxnSpPr/>
          <p:nvPr/>
        </p:nvCxnSpPr>
        <p:spPr>
          <a:xfrm>
            <a:off x="5276307" y="1345409"/>
            <a:ext cx="993300" cy="993300"/>
          </a:xfrm>
          <a:prstGeom prst="straightConnector1">
            <a:avLst/>
          </a:prstGeom>
          <a:noFill/>
          <a:ln cap="flat" cmpd="sng" w="33725">
            <a:solidFill>
              <a:srgbClr val="6AA84F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569" name="Google Shape;569;p39"/>
          <p:cNvSpPr txBox="1"/>
          <p:nvPr/>
        </p:nvSpPr>
        <p:spPr>
          <a:xfrm>
            <a:off x="7284737" y="2836313"/>
            <a:ext cx="620700" cy="4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80950" lIns="80950" spcFirstLastPara="1" rIns="80950" wrap="square" tIns="809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94">
                <a:solidFill>
                  <a:srgbClr val="FF0000"/>
                </a:solidFill>
              </a:rPr>
              <a:t>θ</a:t>
            </a:r>
            <a:r>
              <a:rPr baseline="-25000" lang="en" sz="1594">
                <a:solidFill>
                  <a:srgbClr val="FF0000"/>
                </a:solidFill>
              </a:rPr>
              <a:t>1</a:t>
            </a:r>
            <a:endParaRPr baseline="-25000" sz="1594">
              <a:solidFill>
                <a:srgbClr val="FF0000"/>
              </a:solidFill>
            </a:endParaRPr>
          </a:p>
        </p:txBody>
      </p:sp>
      <p:sp>
        <p:nvSpPr>
          <p:cNvPr id="570" name="Google Shape;570;p39"/>
          <p:cNvSpPr txBox="1"/>
          <p:nvPr/>
        </p:nvSpPr>
        <p:spPr>
          <a:xfrm>
            <a:off x="5412215" y="1784949"/>
            <a:ext cx="620700" cy="4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80950" lIns="80950" spcFirstLastPara="1" rIns="80950" wrap="square" tIns="809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94">
                <a:solidFill>
                  <a:srgbClr val="FF0000"/>
                </a:solidFill>
              </a:rPr>
              <a:t>θ</a:t>
            </a:r>
            <a:r>
              <a:rPr baseline="-25000" lang="en" sz="1594">
                <a:solidFill>
                  <a:srgbClr val="FF0000"/>
                </a:solidFill>
              </a:rPr>
              <a:t>2</a:t>
            </a:r>
            <a:endParaRPr baseline="-25000" sz="1594">
              <a:solidFill>
                <a:srgbClr val="FF0000"/>
              </a:solidFill>
            </a:endParaRPr>
          </a:p>
        </p:txBody>
      </p:sp>
      <p:cxnSp>
        <p:nvCxnSpPr>
          <p:cNvPr id="571" name="Google Shape;571;p39"/>
          <p:cNvCxnSpPr>
            <a:endCxn id="572" idx="2"/>
          </p:cNvCxnSpPr>
          <p:nvPr/>
        </p:nvCxnSpPr>
        <p:spPr>
          <a:xfrm rot="10800000">
            <a:off x="4161093" y="3771673"/>
            <a:ext cx="3417900" cy="0"/>
          </a:xfrm>
          <a:prstGeom prst="straightConnector1">
            <a:avLst/>
          </a:prstGeom>
          <a:noFill/>
          <a:ln cap="flat" cmpd="sng" w="84775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3" name="Google Shape;573;p39"/>
          <p:cNvCxnSpPr>
            <a:stCxn id="572" idx="4"/>
          </p:cNvCxnSpPr>
          <p:nvPr/>
        </p:nvCxnSpPr>
        <p:spPr>
          <a:xfrm rot="10800000">
            <a:off x="4288143" y="2287723"/>
            <a:ext cx="0" cy="1611000"/>
          </a:xfrm>
          <a:prstGeom prst="straightConnector1">
            <a:avLst/>
          </a:prstGeom>
          <a:noFill/>
          <a:ln cap="flat" cmpd="sng" w="42375">
            <a:solidFill>
              <a:srgbClr val="6AA84F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572" name="Google Shape;572;p39"/>
          <p:cNvSpPr/>
          <p:nvPr/>
        </p:nvSpPr>
        <p:spPr>
          <a:xfrm>
            <a:off x="4161093" y="3644623"/>
            <a:ext cx="254100" cy="254100"/>
          </a:xfrm>
          <a:prstGeom prst="ellipse">
            <a:avLst/>
          </a:prstGeom>
          <a:solidFill>
            <a:srgbClr val="F1C232"/>
          </a:solidFill>
          <a:ln cap="flat" cmpd="sng" w="106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675" lIns="101675" spcFirstLastPara="1" rIns="101675" wrap="square" tIns="101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57"/>
          </a:p>
        </p:txBody>
      </p:sp>
      <p:sp>
        <p:nvSpPr>
          <p:cNvPr id="574" name="Google Shape;574;p39"/>
          <p:cNvSpPr/>
          <p:nvPr/>
        </p:nvSpPr>
        <p:spPr>
          <a:xfrm flipH="1" rot="-5400000">
            <a:off x="5799930" y="2506979"/>
            <a:ext cx="297900" cy="3323700"/>
          </a:xfrm>
          <a:prstGeom prst="rightBracket">
            <a:avLst>
              <a:gd fmla="val 0" name="adj"/>
            </a:avLst>
          </a:prstGeom>
          <a:noFill/>
          <a:ln cap="flat" cmpd="sng" w="817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8100" lIns="98100" spcFirstLastPara="1" rIns="98100" wrap="square" tIns="981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2"/>
          </a:p>
        </p:txBody>
      </p:sp>
      <p:sp>
        <p:nvSpPr>
          <p:cNvPr id="575" name="Google Shape;575;p39"/>
          <p:cNvSpPr/>
          <p:nvPr/>
        </p:nvSpPr>
        <p:spPr>
          <a:xfrm>
            <a:off x="7508834" y="3622454"/>
            <a:ext cx="254100" cy="254100"/>
          </a:xfrm>
          <a:prstGeom prst="ellipse">
            <a:avLst/>
          </a:prstGeom>
          <a:solidFill>
            <a:srgbClr val="F1C232"/>
          </a:solidFill>
          <a:ln cap="flat" cmpd="sng" w="106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675" lIns="101675" spcFirstLastPara="1" rIns="101675" wrap="square" tIns="101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57"/>
          </a:p>
        </p:txBody>
      </p:sp>
      <p:sp>
        <p:nvSpPr>
          <p:cNvPr id="576" name="Google Shape;576;p39"/>
          <p:cNvSpPr/>
          <p:nvPr/>
        </p:nvSpPr>
        <p:spPr>
          <a:xfrm>
            <a:off x="4161093" y="2243773"/>
            <a:ext cx="254100" cy="254100"/>
          </a:xfrm>
          <a:prstGeom prst="ellipse">
            <a:avLst/>
          </a:prstGeom>
          <a:solidFill>
            <a:srgbClr val="F1C232"/>
          </a:solidFill>
          <a:ln cap="flat" cmpd="sng" w="106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1675" lIns="101675" spcFirstLastPara="1" rIns="101675" wrap="square" tIns="1016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57"/>
          </a:p>
        </p:txBody>
      </p:sp>
      <p:sp>
        <p:nvSpPr>
          <p:cNvPr id="577" name="Google Shape;577;p39"/>
          <p:cNvSpPr txBox="1"/>
          <p:nvPr/>
        </p:nvSpPr>
        <p:spPr>
          <a:xfrm>
            <a:off x="5219406" y="4317830"/>
            <a:ext cx="7479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115875" lIns="115875" spcFirstLastPara="1" rIns="115875" wrap="square" tIns="1158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81">
                <a:solidFill>
                  <a:srgbClr val="FF0000"/>
                </a:solidFill>
              </a:rPr>
              <a:t>R</a:t>
            </a:r>
            <a:endParaRPr baseline="-25000" sz="2281">
              <a:solidFill>
                <a:srgbClr val="FF0000"/>
              </a:solidFill>
            </a:endParaRPr>
          </a:p>
        </p:txBody>
      </p:sp>
      <p:sp>
        <p:nvSpPr>
          <p:cNvPr id="578" name="Google Shape;578;p39"/>
          <p:cNvSpPr txBox="1"/>
          <p:nvPr/>
        </p:nvSpPr>
        <p:spPr>
          <a:xfrm>
            <a:off x="0" y="2497875"/>
            <a:ext cx="29541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For this problem</a:t>
            </a:r>
            <a:br>
              <a:rPr lang="en" sz="1800">
                <a:solidFill>
                  <a:schemeClr val="dk1"/>
                </a:solidFill>
              </a:rPr>
            </a:br>
            <a:r>
              <a:rPr lang="en" sz="1800">
                <a:solidFill>
                  <a:schemeClr val="dk1"/>
                </a:solidFill>
              </a:rPr>
              <a:t>(</a:t>
            </a:r>
            <a:r>
              <a:rPr lang="en" sz="1800">
                <a:solidFill>
                  <a:srgbClr val="FF0000"/>
                </a:solidFill>
              </a:rPr>
              <a:t>L</a:t>
            </a:r>
            <a:r>
              <a:rPr baseline="-25000" lang="en" sz="1800">
                <a:solidFill>
                  <a:srgbClr val="FF0000"/>
                </a:solidFill>
              </a:rPr>
              <a:t>1</a:t>
            </a:r>
            <a:r>
              <a:rPr lang="en" sz="1800"/>
              <a:t>=250mm,</a:t>
            </a:r>
            <a:r>
              <a:rPr lang="en" sz="1800">
                <a:solidFill>
                  <a:srgbClr val="FF0000"/>
                </a:solidFill>
              </a:rPr>
              <a:t> L</a:t>
            </a:r>
            <a:r>
              <a:rPr baseline="-25000" lang="en" sz="1800">
                <a:solidFill>
                  <a:srgbClr val="FF0000"/>
                </a:solidFill>
              </a:rPr>
              <a:t>2</a:t>
            </a:r>
            <a:r>
              <a:rPr lang="en" sz="1800"/>
              <a:t>=250mm,</a:t>
            </a:r>
            <a:r>
              <a:rPr lang="en" sz="1800">
                <a:solidFill>
                  <a:srgbClr val="FF0000"/>
                </a:solidFill>
              </a:rPr>
              <a:t> θ</a:t>
            </a:r>
            <a:r>
              <a:rPr baseline="-25000" lang="en" sz="1800">
                <a:solidFill>
                  <a:srgbClr val="FF0000"/>
                </a:solidFill>
              </a:rPr>
              <a:t>1</a:t>
            </a:r>
            <a:r>
              <a:rPr lang="en" sz="1800"/>
              <a:t>=45°,</a:t>
            </a:r>
            <a:r>
              <a:rPr lang="en" sz="1800">
                <a:solidFill>
                  <a:srgbClr val="FF0000"/>
                </a:solidFill>
              </a:rPr>
              <a:t> θ</a:t>
            </a:r>
            <a:r>
              <a:rPr baseline="-25000" lang="en" sz="1800">
                <a:solidFill>
                  <a:srgbClr val="FF0000"/>
                </a:solidFill>
              </a:rPr>
              <a:t>2</a:t>
            </a:r>
            <a:r>
              <a:rPr lang="en" sz="1800"/>
              <a:t>=45°)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We solved it already and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determined (X,Y) to equal</a:t>
            </a:r>
            <a:br>
              <a:rPr lang="en" sz="1800"/>
            </a:br>
            <a:r>
              <a:rPr lang="en" sz="1800"/>
              <a:t>(</a:t>
            </a:r>
            <a:r>
              <a:rPr lang="en" sz="1800">
                <a:solidFill>
                  <a:srgbClr val="FF0000"/>
                </a:solidFill>
              </a:rPr>
              <a:t>426.777</a:t>
            </a:r>
            <a:r>
              <a:rPr lang="en" sz="1800"/>
              <a:t>,</a:t>
            </a:r>
            <a:r>
              <a:rPr lang="en" sz="1800">
                <a:solidFill>
                  <a:srgbClr val="FF0000"/>
                </a:solidFill>
              </a:rPr>
              <a:t> 176.777</a:t>
            </a:r>
            <a:r>
              <a:rPr lang="en" sz="1800"/>
              <a:t>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In this frame, R=x</a:t>
            </a:r>
            <a:br>
              <a:rPr lang="en" sz="1800">
                <a:solidFill>
                  <a:schemeClr val="dk1"/>
                </a:solidFill>
              </a:rPr>
            </a:br>
            <a:r>
              <a:rPr lang="en" sz="1800">
                <a:solidFill>
                  <a:schemeClr val="dk1"/>
                </a:solidFill>
              </a:rPr>
              <a:t>Therefore, </a:t>
            </a:r>
            <a:r>
              <a:rPr lang="en" sz="1800">
                <a:solidFill>
                  <a:srgbClr val="FF0000"/>
                </a:solidFill>
              </a:rPr>
              <a:t>R</a:t>
            </a:r>
            <a:r>
              <a:rPr lang="en" sz="1800"/>
              <a:t>=426.77mm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and </a:t>
            </a:r>
            <a:r>
              <a:rPr lang="en" sz="1800">
                <a:solidFill>
                  <a:srgbClr val="FF0000"/>
                </a:solidFill>
              </a:rPr>
              <a:t>Y</a:t>
            </a:r>
            <a:r>
              <a:rPr lang="en" sz="1800">
                <a:solidFill>
                  <a:schemeClr val="dk1"/>
                </a:solidFill>
              </a:rPr>
              <a:t>=176.78mm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579" name="Google Shape;579;p39"/>
          <p:cNvSpPr txBox="1"/>
          <p:nvPr/>
        </p:nvSpPr>
        <p:spPr>
          <a:xfrm>
            <a:off x="3494125" y="1611200"/>
            <a:ext cx="792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(</a:t>
            </a:r>
            <a:r>
              <a:rPr lang="en" sz="1800">
                <a:solidFill>
                  <a:srgbClr val="FF0000"/>
                </a:solidFill>
              </a:rPr>
              <a:t>X</a:t>
            </a:r>
            <a:r>
              <a:rPr lang="en" sz="1800"/>
              <a:t>,</a:t>
            </a:r>
            <a:r>
              <a:rPr lang="en" sz="1800">
                <a:solidFill>
                  <a:srgbClr val="FF0000"/>
                </a:solidFill>
              </a:rPr>
              <a:t> Y</a:t>
            </a:r>
            <a:r>
              <a:rPr lang="en" sz="1800"/>
              <a:t>)</a:t>
            </a:r>
            <a:endParaRPr sz="18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40"/>
          <p:cNvSpPr txBox="1"/>
          <p:nvPr/>
        </p:nvSpPr>
        <p:spPr>
          <a:xfrm>
            <a:off x="0" y="0"/>
            <a:ext cx="295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Along the XZ Plane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585" name="Google Shape;585;p40"/>
          <p:cNvSpPr/>
          <p:nvPr/>
        </p:nvSpPr>
        <p:spPr>
          <a:xfrm flipH="1">
            <a:off x="7017486" y="3148934"/>
            <a:ext cx="1962900" cy="1962000"/>
          </a:xfrm>
          <a:prstGeom prst="ellipse">
            <a:avLst/>
          </a:prstGeom>
          <a:noFill/>
          <a:ln cap="flat" cmpd="sng" w="40725">
            <a:solidFill>
              <a:srgbClr val="6AA84F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48850" lIns="48850" spcFirstLastPara="1" rIns="48850" wrap="square" tIns="488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48"/>
          </a:p>
        </p:txBody>
      </p:sp>
      <p:cxnSp>
        <p:nvCxnSpPr>
          <p:cNvPr id="586" name="Google Shape;586;p40"/>
          <p:cNvCxnSpPr/>
          <p:nvPr/>
        </p:nvCxnSpPr>
        <p:spPr>
          <a:xfrm flipH="1" rot="10800000">
            <a:off x="7981513" y="3421654"/>
            <a:ext cx="729600" cy="716400"/>
          </a:xfrm>
          <a:prstGeom prst="straightConnector1">
            <a:avLst/>
          </a:prstGeom>
          <a:noFill/>
          <a:ln cap="flat" cmpd="sng" w="56775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7" name="Google Shape;587;p40"/>
          <p:cNvCxnSpPr>
            <a:stCxn id="588" idx="4"/>
          </p:cNvCxnSpPr>
          <p:nvPr/>
        </p:nvCxnSpPr>
        <p:spPr>
          <a:xfrm rot="10800000">
            <a:off x="7998899" y="3156653"/>
            <a:ext cx="0" cy="1029900"/>
          </a:xfrm>
          <a:prstGeom prst="straightConnector1">
            <a:avLst/>
          </a:prstGeom>
          <a:noFill/>
          <a:ln cap="flat" cmpd="sng" w="18175">
            <a:solidFill>
              <a:srgbClr val="6AA84F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89" name="Google Shape;589;p40"/>
          <p:cNvCxnSpPr>
            <a:stCxn id="588" idx="4"/>
          </p:cNvCxnSpPr>
          <p:nvPr/>
        </p:nvCxnSpPr>
        <p:spPr>
          <a:xfrm rot="10800000">
            <a:off x="7998899" y="2997053"/>
            <a:ext cx="0" cy="1189500"/>
          </a:xfrm>
          <a:prstGeom prst="straightConnector1">
            <a:avLst/>
          </a:prstGeom>
          <a:noFill/>
          <a:ln cap="flat" cmpd="sng" w="181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90" name="Google Shape;590;p40"/>
          <p:cNvCxnSpPr>
            <a:stCxn id="588" idx="6"/>
          </p:cNvCxnSpPr>
          <p:nvPr/>
        </p:nvCxnSpPr>
        <p:spPr>
          <a:xfrm>
            <a:off x="7942199" y="4129853"/>
            <a:ext cx="1201800" cy="0"/>
          </a:xfrm>
          <a:prstGeom prst="straightConnector1">
            <a:avLst/>
          </a:prstGeom>
          <a:noFill/>
          <a:ln cap="flat" cmpd="sng" w="181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88" name="Google Shape;588;p40"/>
          <p:cNvSpPr/>
          <p:nvPr/>
        </p:nvSpPr>
        <p:spPr>
          <a:xfrm flipH="1">
            <a:off x="7942199" y="4073153"/>
            <a:ext cx="113400" cy="113400"/>
          </a:xfrm>
          <a:prstGeom prst="ellipse">
            <a:avLst/>
          </a:prstGeom>
          <a:solidFill>
            <a:srgbClr val="F1C232"/>
          </a:solidFill>
          <a:ln cap="flat" cmpd="sng" w="47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400" lIns="45400" spcFirstLastPara="1" rIns="45400" wrap="square" tIns="45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95"/>
          </a:p>
        </p:txBody>
      </p:sp>
      <p:sp>
        <p:nvSpPr>
          <p:cNvPr id="591" name="Google Shape;591;p40"/>
          <p:cNvSpPr/>
          <p:nvPr/>
        </p:nvSpPr>
        <p:spPr>
          <a:xfrm flipH="1">
            <a:off x="8632594" y="3382758"/>
            <a:ext cx="113400" cy="113400"/>
          </a:xfrm>
          <a:prstGeom prst="ellipse">
            <a:avLst/>
          </a:prstGeom>
          <a:solidFill>
            <a:srgbClr val="F1C232"/>
          </a:solidFill>
          <a:ln cap="flat" cmpd="sng" w="47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400" lIns="45400" spcFirstLastPara="1" rIns="45400" wrap="square" tIns="45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95"/>
          </a:p>
        </p:txBody>
      </p:sp>
      <p:sp>
        <p:nvSpPr>
          <p:cNvPr id="592" name="Google Shape;592;p40"/>
          <p:cNvSpPr/>
          <p:nvPr/>
        </p:nvSpPr>
        <p:spPr>
          <a:xfrm flipH="1" rot="7496656">
            <a:off x="7450609" y="3500341"/>
            <a:ext cx="1090996" cy="1090996"/>
          </a:xfrm>
          <a:prstGeom prst="blockArc">
            <a:avLst>
              <a:gd fmla="val 20805679" name="adj1"/>
              <a:gd fmla="val 2056961" name="adj2"/>
              <a:gd fmla="val 4567" name="adj3"/>
            </a:avLst>
          </a:prstGeom>
          <a:solidFill>
            <a:srgbClr val="FF0000"/>
          </a:solidFill>
          <a:ln cap="flat" cmpd="sng" w="45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3650" lIns="43650" spcFirstLastPara="1" rIns="43650" wrap="square" tIns="436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68"/>
          </a:p>
        </p:txBody>
      </p:sp>
      <p:sp>
        <p:nvSpPr>
          <p:cNvPr id="593" name="Google Shape;593;p40"/>
          <p:cNvSpPr txBox="1"/>
          <p:nvPr/>
        </p:nvSpPr>
        <p:spPr>
          <a:xfrm>
            <a:off x="7998829" y="3588792"/>
            <a:ext cx="334500" cy="2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3650" lIns="43650" spcFirstLastPara="1" rIns="43650" wrap="square" tIns="436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9">
                <a:solidFill>
                  <a:srgbClr val="FF0000"/>
                </a:solidFill>
              </a:rPr>
              <a:t>θ</a:t>
            </a:r>
            <a:r>
              <a:rPr baseline="-25000" lang="en" sz="859">
                <a:solidFill>
                  <a:srgbClr val="FF0000"/>
                </a:solidFill>
              </a:rPr>
              <a:t>3</a:t>
            </a:r>
            <a:endParaRPr baseline="-25000" sz="859">
              <a:solidFill>
                <a:srgbClr val="FF0000"/>
              </a:solidFill>
            </a:endParaRPr>
          </a:p>
        </p:txBody>
      </p:sp>
      <p:sp>
        <p:nvSpPr>
          <p:cNvPr id="594" name="Google Shape;594;p40"/>
          <p:cNvSpPr txBox="1"/>
          <p:nvPr/>
        </p:nvSpPr>
        <p:spPr>
          <a:xfrm flipH="1" rot="-2700000">
            <a:off x="8332396" y="3704618"/>
            <a:ext cx="233770" cy="214678"/>
          </a:xfrm>
          <a:prstGeom prst="rect">
            <a:avLst/>
          </a:prstGeom>
          <a:noFill/>
          <a:ln>
            <a:noFill/>
          </a:ln>
        </p:spPr>
        <p:txBody>
          <a:bodyPr anchorCtr="0" anchor="t" bIns="42500" lIns="42500" spcFirstLastPara="1" rIns="42500" wrap="square" tIns="425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36">
                <a:solidFill>
                  <a:srgbClr val="FF0000"/>
                </a:solidFill>
              </a:rPr>
              <a:t>R</a:t>
            </a:r>
            <a:endParaRPr baseline="-25000" sz="836">
              <a:solidFill>
                <a:srgbClr val="FF0000"/>
              </a:solidFill>
            </a:endParaRPr>
          </a:p>
        </p:txBody>
      </p:sp>
      <p:sp>
        <p:nvSpPr>
          <p:cNvPr id="595" name="Google Shape;595;p40"/>
          <p:cNvSpPr txBox="1"/>
          <p:nvPr/>
        </p:nvSpPr>
        <p:spPr>
          <a:xfrm>
            <a:off x="7830035" y="3226392"/>
            <a:ext cx="168900" cy="2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3650" lIns="43650" spcFirstLastPara="1" rIns="43650" wrap="square" tIns="436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9">
                <a:solidFill>
                  <a:srgbClr val="FF0000"/>
                </a:solidFill>
              </a:rPr>
              <a:t>X</a:t>
            </a:r>
            <a:endParaRPr sz="859">
              <a:solidFill>
                <a:srgbClr val="FF0000"/>
              </a:solidFill>
            </a:endParaRPr>
          </a:p>
        </p:txBody>
      </p:sp>
      <p:sp>
        <p:nvSpPr>
          <p:cNvPr id="596" name="Google Shape;596;p40"/>
          <p:cNvSpPr txBox="1"/>
          <p:nvPr/>
        </p:nvSpPr>
        <p:spPr>
          <a:xfrm>
            <a:off x="8696944" y="4129923"/>
            <a:ext cx="168900" cy="2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3650" lIns="43650" spcFirstLastPara="1" rIns="43650" wrap="square" tIns="4365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9">
                <a:solidFill>
                  <a:srgbClr val="FF0000"/>
                </a:solidFill>
              </a:rPr>
              <a:t>Z</a:t>
            </a:r>
            <a:endParaRPr sz="859">
              <a:solidFill>
                <a:srgbClr val="FF0000"/>
              </a:solidFill>
            </a:endParaRPr>
          </a:p>
        </p:txBody>
      </p:sp>
      <p:sp>
        <p:nvSpPr>
          <p:cNvPr id="597" name="Google Shape;597;p40"/>
          <p:cNvSpPr txBox="1"/>
          <p:nvPr/>
        </p:nvSpPr>
        <p:spPr>
          <a:xfrm>
            <a:off x="0" y="636650"/>
            <a:ext cx="3080400" cy="24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15625" lIns="115625" spcFirstLastPara="1" rIns="115625" wrap="square" tIns="1156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R= </a:t>
            </a:r>
            <a:r>
              <a:rPr lang="en" sz="1800">
                <a:solidFill>
                  <a:srgbClr val="FF0000"/>
                </a:solidFill>
              </a:rPr>
              <a:t>426.77mm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θ</a:t>
            </a:r>
            <a:r>
              <a:rPr baseline="-25000" lang="en" sz="1800">
                <a:solidFill>
                  <a:srgbClr val="FF0000"/>
                </a:solidFill>
              </a:rPr>
              <a:t>3</a:t>
            </a:r>
            <a:r>
              <a:rPr lang="en" sz="1800">
                <a:solidFill>
                  <a:srgbClr val="FF0000"/>
                </a:solidFill>
              </a:rPr>
              <a:t>= 45°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Z = Rsin(</a:t>
            </a:r>
            <a:r>
              <a:rPr lang="en" sz="1800">
                <a:solidFill>
                  <a:srgbClr val="FF0000"/>
                </a:solidFill>
              </a:rPr>
              <a:t>θ</a:t>
            </a:r>
            <a:r>
              <a:rPr baseline="-25000" lang="en" sz="1800">
                <a:solidFill>
                  <a:srgbClr val="FF0000"/>
                </a:solidFill>
              </a:rPr>
              <a:t>3</a:t>
            </a:r>
            <a:r>
              <a:rPr lang="en" sz="1800">
                <a:solidFill>
                  <a:srgbClr val="FF0000"/>
                </a:solidFill>
              </a:rPr>
              <a:t>)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X</a:t>
            </a:r>
            <a:r>
              <a:rPr lang="en" sz="1800">
                <a:solidFill>
                  <a:srgbClr val="FF0000"/>
                </a:solidFill>
              </a:rPr>
              <a:t> = Rcos(θ</a:t>
            </a:r>
            <a:r>
              <a:rPr baseline="-25000" lang="en" sz="1800">
                <a:solidFill>
                  <a:srgbClr val="FF0000"/>
                </a:solidFill>
              </a:rPr>
              <a:t>3</a:t>
            </a:r>
            <a:r>
              <a:rPr lang="en" sz="1800">
                <a:solidFill>
                  <a:srgbClr val="FF0000"/>
                </a:solidFill>
              </a:rPr>
              <a:t>)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Z = 301.77mm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FF0000"/>
                </a:solidFill>
              </a:rPr>
              <a:t>X = 301.77mm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598" name="Google Shape;598;p40"/>
          <p:cNvSpPr/>
          <p:nvPr/>
        </p:nvSpPr>
        <p:spPr>
          <a:xfrm flipH="1">
            <a:off x="2954090" y="744309"/>
            <a:ext cx="3657900" cy="3656100"/>
          </a:xfrm>
          <a:prstGeom prst="ellipse">
            <a:avLst/>
          </a:prstGeom>
          <a:noFill/>
          <a:ln cap="flat" cmpd="sng" w="75875">
            <a:solidFill>
              <a:srgbClr val="6AA84F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050" lIns="91050" spcFirstLastPara="1" rIns="91050" wrap="square" tIns="910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94"/>
          </a:p>
        </p:txBody>
      </p:sp>
      <p:cxnSp>
        <p:nvCxnSpPr>
          <p:cNvPr id="599" name="Google Shape;599;p40"/>
          <p:cNvCxnSpPr/>
          <p:nvPr/>
        </p:nvCxnSpPr>
        <p:spPr>
          <a:xfrm flipH="1" rot="10800000">
            <a:off x="4750584" y="1252537"/>
            <a:ext cx="1359600" cy="1335000"/>
          </a:xfrm>
          <a:prstGeom prst="straightConnector1">
            <a:avLst/>
          </a:prstGeom>
          <a:noFill/>
          <a:ln cap="flat" cmpd="sng" w="105775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0" name="Google Shape;600;p40"/>
          <p:cNvCxnSpPr>
            <a:stCxn id="601" idx="4"/>
          </p:cNvCxnSpPr>
          <p:nvPr/>
        </p:nvCxnSpPr>
        <p:spPr>
          <a:xfrm rot="10800000">
            <a:off x="4782893" y="758994"/>
            <a:ext cx="0" cy="1919100"/>
          </a:xfrm>
          <a:prstGeom prst="straightConnector1">
            <a:avLst/>
          </a:prstGeom>
          <a:noFill/>
          <a:ln cap="flat" cmpd="sng" w="33875">
            <a:solidFill>
              <a:srgbClr val="6AA84F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02" name="Google Shape;602;p40"/>
          <p:cNvCxnSpPr>
            <a:stCxn id="601" idx="4"/>
          </p:cNvCxnSpPr>
          <p:nvPr/>
        </p:nvCxnSpPr>
        <p:spPr>
          <a:xfrm rot="10800000">
            <a:off x="4782893" y="461694"/>
            <a:ext cx="0" cy="2216400"/>
          </a:xfrm>
          <a:prstGeom prst="straightConnector1">
            <a:avLst/>
          </a:prstGeom>
          <a:noFill/>
          <a:ln cap="flat" cmpd="sng" w="338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03" name="Google Shape;603;p40"/>
          <p:cNvCxnSpPr/>
          <p:nvPr/>
        </p:nvCxnSpPr>
        <p:spPr>
          <a:xfrm>
            <a:off x="4782970" y="1180016"/>
            <a:ext cx="2239800" cy="0"/>
          </a:xfrm>
          <a:prstGeom prst="straightConnector1">
            <a:avLst/>
          </a:prstGeom>
          <a:noFill/>
          <a:ln cap="flat" cmpd="sng" w="338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01" name="Google Shape;601;p40"/>
          <p:cNvSpPr/>
          <p:nvPr/>
        </p:nvSpPr>
        <p:spPr>
          <a:xfrm flipH="1">
            <a:off x="4677143" y="2466594"/>
            <a:ext cx="211500" cy="211500"/>
          </a:xfrm>
          <a:prstGeom prst="ellipse">
            <a:avLst/>
          </a:prstGeom>
          <a:solidFill>
            <a:srgbClr val="F1C232"/>
          </a:solidFill>
          <a:ln cap="flat" cmpd="sng" w="88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600" lIns="84600" spcFirstLastPara="1" rIns="84600" wrap="square" tIns="84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96"/>
          </a:p>
        </p:txBody>
      </p:sp>
      <p:sp>
        <p:nvSpPr>
          <p:cNvPr id="604" name="Google Shape;604;p40"/>
          <p:cNvSpPr/>
          <p:nvPr/>
        </p:nvSpPr>
        <p:spPr>
          <a:xfrm flipH="1">
            <a:off x="5963700" y="1180039"/>
            <a:ext cx="211500" cy="211500"/>
          </a:xfrm>
          <a:prstGeom prst="ellipse">
            <a:avLst/>
          </a:prstGeom>
          <a:solidFill>
            <a:srgbClr val="F1C232"/>
          </a:solidFill>
          <a:ln cap="flat" cmpd="sng" w="88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600" lIns="84600" spcFirstLastPara="1" rIns="84600" wrap="square" tIns="846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96"/>
          </a:p>
        </p:txBody>
      </p:sp>
      <p:sp>
        <p:nvSpPr>
          <p:cNvPr id="605" name="Google Shape;605;p40"/>
          <p:cNvSpPr/>
          <p:nvPr/>
        </p:nvSpPr>
        <p:spPr>
          <a:xfrm flipH="1" rot="7496029">
            <a:off x="3797467" y="1468949"/>
            <a:ext cx="1862984" cy="2032933"/>
          </a:xfrm>
          <a:prstGeom prst="blockArc">
            <a:avLst>
              <a:gd fmla="val 20805679" name="adj1"/>
              <a:gd fmla="val 1864212" name="adj2"/>
              <a:gd fmla="val 4137" name="adj3"/>
            </a:avLst>
          </a:prstGeom>
          <a:solidFill>
            <a:srgbClr val="FF0000"/>
          </a:solidFill>
          <a:ln cap="flat" cmpd="sng" w="84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325" lIns="81325" spcFirstLastPara="1" rIns="81325" wrap="square" tIns="813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45"/>
          </a:p>
        </p:txBody>
      </p:sp>
      <p:sp>
        <p:nvSpPr>
          <p:cNvPr id="606" name="Google Shape;606;p40"/>
          <p:cNvSpPr txBox="1"/>
          <p:nvPr/>
        </p:nvSpPr>
        <p:spPr>
          <a:xfrm>
            <a:off x="4782967" y="1758104"/>
            <a:ext cx="623700" cy="4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25" lIns="81325" spcFirstLastPara="1" rIns="81325" wrap="square" tIns="813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1">
                <a:solidFill>
                  <a:srgbClr val="FF0000"/>
                </a:solidFill>
              </a:rPr>
              <a:t>θ</a:t>
            </a:r>
            <a:r>
              <a:rPr baseline="-25000" lang="en" sz="1601">
                <a:solidFill>
                  <a:srgbClr val="FF0000"/>
                </a:solidFill>
              </a:rPr>
              <a:t>3</a:t>
            </a:r>
            <a:endParaRPr baseline="-25000" sz="1601">
              <a:solidFill>
                <a:srgbClr val="FF0000"/>
              </a:solidFill>
            </a:endParaRPr>
          </a:p>
        </p:txBody>
      </p:sp>
      <p:sp>
        <p:nvSpPr>
          <p:cNvPr id="607" name="Google Shape;607;p40"/>
          <p:cNvSpPr txBox="1"/>
          <p:nvPr/>
        </p:nvSpPr>
        <p:spPr>
          <a:xfrm flipH="1" rot="-2700000">
            <a:off x="5404604" y="1779767"/>
            <a:ext cx="435295" cy="399657"/>
          </a:xfrm>
          <a:prstGeom prst="rect">
            <a:avLst/>
          </a:prstGeom>
          <a:noFill/>
          <a:ln>
            <a:noFill/>
          </a:ln>
        </p:spPr>
        <p:txBody>
          <a:bodyPr anchorCtr="0" anchor="t" bIns="79175" lIns="79175" spcFirstLastPara="1" rIns="79175" wrap="square" tIns="791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58">
                <a:solidFill>
                  <a:srgbClr val="FF0000"/>
                </a:solidFill>
              </a:rPr>
              <a:t>R</a:t>
            </a:r>
            <a:endParaRPr baseline="-25000" sz="1558">
              <a:solidFill>
                <a:srgbClr val="FF0000"/>
              </a:solidFill>
            </a:endParaRPr>
          </a:p>
        </p:txBody>
      </p:sp>
      <p:sp>
        <p:nvSpPr>
          <p:cNvPr id="608" name="Google Shape;608;p40"/>
          <p:cNvSpPr txBox="1"/>
          <p:nvPr/>
        </p:nvSpPr>
        <p:spPr>
          <a:xfrm>
            <a:off x="4468305" y="888652"/>
            <a:ext cx="314700" cy="4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25" lIns="81325" spcFirstLastPara="1" rIns="81325" wrap="square" tIns="813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1">
                <a:solidFill>
                  <a:srgbClr val="FF0000"/>
                </a:solidFill>
              </a:rPr>
              <a:t>X</a:t>
            </a:r>
            <a:endParaRPr sz="1601">
              <a:solidFill>
                <a:srgbClr val="FF0000"/>
              </a:solidFill>
            </a:endParaRPr>
          </a:p>
        </p:txBody>
      </p:sp>
      <p:sp>
        <p:nvSpPr>
          <p:cNvPr id="609" name="Google Shape;609;p40"/>
          <p:cNvSpPr txBox="1"/>
          <p:nvPr/>
        </p:nvSpPr>
        <p:spPr>
          <a:xfrm>
            <a:off x="6226262" y="744304"/>
            <a:ext cx="314700" cy="4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81325" lIns="81325" spcFirstLastPara="1" rIns="81325" wrap="square" tIns="813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1">
                <a:solidFill>
                  <a:srgbClr val="FF0000"/>
                </a:solidFill>
              </a:rPr>
              <a:t>Z</a:t>
            </a:r>
            <a:endParaRPr sz="160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41"/>
          <p:cNvSpPr txBox="1"/>
          <p:nvPr/>
        </p:nvSpPr>
        <p:spPr>
          <a:xfrm>
            <a:off x="0" y="0"/>
            <a:ext cx="295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Example Problem: </a:t>
            </a:r>
            <a:r>
              <a:rPr lang="en" sz="1800">
                <a:solidFill>
                  <a:schemeClr val="dk1"/>
                </a:solidFill>
              </a:rPr>
              <a:t>Solution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615" name="Google Shape;615;p41"/>
          <p:cNvPicPr preferRelativeResize="0"/>
          <p:nvPr/>
        </p:nvPicPr>
        <p:blipFill rotWithShape="1">
          <a:blip r:embed="rId3">
            <a:alphaModFix/>
          </a:blip>
          <a:srcRect b="0" l="0" r="1517" t="0"/>
          <a:stretch/>
        </p:blipFill>
        <p:spPr>
          <a:xfrm>
            <a:off x="1480975" y="766500"/>
            <a:ext cx="7663024" cy="43769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16" name="Google Shape;616;p41"/>
          <p:cNvCxnSpPr/>
          <p:nvPr/>
        </p:nvCxnSpPr>
        <p:spPr>
          <a:xfrm flipH="1">
            <a:off x="3158875" y="3531225"/>
            <a:ext cx="3571500" cy="5925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617" name="Google Shape;617;p41"/>
          <p:cNvCxnSpPr/>
          <p:nvPr/>
        </p:nvCxnSpPr>
        <p:spPr>
          <a:xfrm rot="10800000">
            <a:off x="6724025" y="747450"/>
            <a:ext cx="0" cy="27912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618" name="Google Shape;618;p41"/>
          <p:cNvCxnSpPr/>
          <p:nvPr/>
        </p:nvCxnSpPr>
        <p:spPr>
          <a:xfrm rot="10800000">
            <a:off x="4735150" y="2383825"/>
            <a:ext cx="2005800" cy="11580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619" name="Google Shape;619;p41"/>
          <p:cNvCxnSpPr>
            <a:stCxn id="620" idx="2"/>
            <a:endCxn id="621" idx="6"/>
          </p:cNvCxnSpPr>
          <p:nvPr/>
        </p:nvCxnSpPr>
        <p:spPr>
          <a:xfrm rot="10800000">
            <a:off x="3221384" y="3228291"/>
            <a:ext cx="3621600" cy="297600"/>
          </a:xfrm>
          <a:prstGeom prst="straightConnector1">
            <a:avLst/>
          </a:prstGeom>
          <a:noFill/>
          <a:ln cap="flat" cmpd="sng" w="762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2" name="Google Shape;622;p41"/>
          <p:cNvCxnSpPr/>
          <p:nvPr/>
        </p:nvCxnSpPr>
        <p:spPr>
          <a:xfrm rot="10800000">
            <a:off x="5384375" y="1861150"/>
            <a:ext cx="1361100" cy="1680000"/>
          </a:xfrm>
          <a:prstGeom prst="straightConnector1">
            <a:avLst/>
          </a:prstGeom>
          <a:noFill/>
          <a:ln cap="flat" cmpd="sng" w="762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3" name="Google Shape;623;p41"/>
          <p:cNvCxnSpPr>
            <a:stCxn id="624" idx="2"/>
            <a:endCxn id="625" idx="6"/>
          </p:cNvCxnSpPr>
          <p:nvPr/>
        </p:nvCxnSpPr>
        <p:spPr>
          <a:xfrm rot="10800000">
            <a:off x="3249334" y="1695316"/>
            <a:ext cx="2274000" cy="180300"/>
          </a:xfrm>
          <a:prstGeom prst="straightConnector1">
            <a:avLst/>
          </a:prstGeom>
          <a:noFill/>
          <a:ln cap="flat" cmpd="sng" w="762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0" name="Google Shape;620;p41"/>
          <p:cNvSpPr/>
          <p:nvPr/>
        </p:nvSpPr>
        <p:spPr>
          <a:xfrm flipH="1">
            <a:off x="6605084" y="3406941"/>
            <a:ext cx="237900" cy="237900"/>
          </a:xfrm>
          <a:prstGeom prst="ellipse">
            <a:avLst/>
          </a:prstGeom>
          <a:solidFill>
            <a:srgbClr val="F1C232"/>
          </a:solidFill>
          <a:ln cap="flat" cmpd="sng" w="9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150" lIns="95150" spcFirstLastPara="1" rIns="95150" wrap="square" tIns="95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7"/>
          </a:p>
        </p:txBody>
      </p:sp>
      <p:sp>
        <p:nvSpPr>
          <p:cNvPr id="624" name="Google Shape;624;p41"/>
          <p:cNvSpPr/>
          <p:nvPr/>
        </p:nvSpPr>
        <p:spPr>
          <a:xfrm flipH="1">
            <a:off x="5285434" y="1756666"/>
            <a:ext cx="237900" cy="237900"/>
          </a:xfrm>
          <a:prstGeom prst="ellipse">
            <a:avLst/>
          </a:prstGeom>
          <a:solidFill>
            <a:srgbClr val="F1C232"/>
          </a:solidFill>
          <a:ln cap="flat" cmpd="sng" w="9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150" lIns="95150" spcFirstLastPara="1" rIns="95150" wrap="square" tIns="95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7"/>
          </a:p>
        </p:txBody>
      </p:sp>
      <p:cxnSp>
        <p:nvCxnSpPr>
          <p:cNvPr id="626" name="Google Shape;626;p41"/>
          <p:cNvCxnSpPr>
            <a:stCxn id="625" idx="0"/>
            <a:endCxn id="621" idx="4"/>
          </p:cNvCxnSpPr>
          <p:nvPr/>
        </p:nvCxnSpPr>
        <p:spPr>
          <a:xfrm flipH="1">
            <a:off x="3340384" y="1576366"/>
            <a:ext cx="27900" cy="17709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621" name="Google Shape;621;p41"/>
          <p:cNvSpPr/>
          <p:nvPr/>
        </p:nvSpPr>
        <p:spPr>
          <a:xfrm flipH="1">
            <a:off x="3221310" y="3109294"/>
            <a:ext cx="237900" cy="237900"/>
          </a:xfrm>
          <a:prstGeom prst="ellipse">
            <a:avLst/>
          </a:prstGeom>
          <a:solidFill>
            <a:srgbClr val="F1C232"/>
          </a:solidFill>
          <a:ln cap="flat" cmpd="sng" w="9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150" lIns="95150" spcFirstLastPara="1" rIns="95150" wrap="square" tIns="95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7"/>
          </a:p>
        </p:txBody>
      </p:sp>
      <p:sp>
        <p:nvSpPr>
          <p:cNvPr id="625" name="Google Shape;625;p41"/>
          <p:cNvSpPr/>
          <p:nvPr/>
        </p:nvSpPr>
        <p:spPr>
          <a:xfrm flipH="1">
            <a:off x="3249334" y="1576366"/>
            <a:ext cx="237900" cy="237900"/>
          </a:xfrm>
          <a:prstGeom prst="ellipse">
            <a:avLst/>
          </a:prstGeom>
          <a:solidFill>
            <a:srgbClr val="F1C232"/>
          </a:solidFill>
          <a:ln cap="flat" cmpd="sng" w="9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150" lIns="95150" spcFirstLastPara="1" rIns="95150" wrap="square" tIns="95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7"/>
          </a:p>
        </p:txBody>
      </p:sp>
      <p:sp>
        <p:nvSpPr>
          <p:cNvPr id="627" name="Google Shape;627;p41"/>
          <p:cNvSpPr txBox="1"/>
          <p:nvPr/>
        </p:nvSpPr>
        <p:spPr>
          <a:xfrm>
            <a:off x="0" y="461700"/>
            <a:ext cx="3080400" cy="16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15625" lIns="115625" spcFirstLastPara="1" rIns="115625" wrap="square" tIns="1156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L</a:t>
            </a:r>
            <a:r>
              <a:rPr baseline="-25000" lang="en" sz="1800">
                <a:solidFill>
                  <a:srgbClr val="FF0000"/>
                </a:solidFill>
              </a:rPr>
              <a:t>1</a:t>
            </a:r>
            <a:r>
              <a:rPr lang="en" sz="1800">
                <a:solidFill>
                  <a:srgbClr val="FF0000"/>
                </a:solidFill>
              </a:rPr>
              <a:t>=250mm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L</a:t>
            </a:r>
            <a:r>
              <a:rPr baseline="-25000" lang="en" sz="1800">
                <a:solidFill>
                  <a:srgbClr val="FF0000"/>
                </a:solidFill>
              </a:rPr>
              <a:t>2</a:t>
            </a:r>
            <a:r>
              <a:rPr lang="en" sz="1800">
                <a:solidFill>
                  <a:srgbClr val="FF0000"/>
                </a:solidFill>
              </a:rPr>
              <a:t>=250mm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θ</a:t>
            </a:r>
            <a:r>
              <a:rPr baseline="-25000" lang="en" sz="1800">
                <a:solidFill>
                  <a:srgbClr val="FF0000"/>
                </a:solidFill>
              </a:rPr>
              <a:t>1</a:t>
            </a:r>
            <a:r>
              <a:rPr lang="en" sz="1800">
                <a:solidFill>
                  <a:srgbClr val="FF0000"/>
                </a:solidFill>
              </a:rPr>
              <a:t>=45°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θ</a:t>
            </a:r>
            <a:r>
              <a:rPr baseline="-25000" lang="en" sz="1800">
                <a:solidFill>
                  <a:srgbClr val="FF0000"/>
                </a:solidFill>
              </a:rPr>
              <a:t>2</a:t>
            </a:r>
            <a:r>
              <a:rPr lang="en" sz="1800">
                <a:solidFill>
                  <a:srgbClr val="FF0000"/>
                </a:solidFill>
              </a:rPr>
              <a:t>=45°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θ</a:t>
            </a:r>
            <a:r>
              <a:rPr baseline="-25000" lang="en" sz="1800">
                <a:solidFill>
                  <a:srgbClr val="FF0000"/>
                </a:solidFill>
              </a:rPr>
              <a:t>3</a:t>
            </a:r>
            <a:r>
              <a:rPr lang="en" sz="1800">
                <a:solidFill>
                  <a:srgbClr val="FF0000"/>
                </a:solidFill>
              </a:rPr>
              <a:t>=45°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628" name="Google Shape;628;p41"/>
          <p:cNvSpPr txBox="1"/>
          <p:nvPr/>
        </p:nvSpPr>
        <p:spPr>
          <a:xfrm>
            <a:off x="3869275" y="4008975"/>
            <a:ext cx="35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X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629" name="Google Shape;629;p41"/>
          <p:cNvSpPr txBox="1"/>
          <p:nvPr/>
        </p:nvSpPr>
        <p:spPr>
          <a:xfrm>
            <a:off x="6765275" y="1413925"/>
            <a:ext cx="35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Y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630" name="Google Shape;630;p41"/>
          <p:cNvSpPr txBox="1"/>
          <p:nvPr/>
        </p:nvSpPr>
        <p:spPr>
          <a:xfrm>
            <a:off x="4530700" y="2390950"/>
            <a:ext cx="35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Z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631" name="Google Shape;631;p41"/>
          <p:cNvSpPr txBox="1"/>
          <p:nvPr/>
        </p:nvSpPr>
        <p:spPr>
          <a:xfrm>
            <a:off x="-22950" y="3156450"/>
            <a:ext cx="3000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X = 301.77mm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Y=176.78mm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Z = 301.77mm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6" name="Google Shape;636;p42"/>
          <p:cNvPicPr preferRelativeResize="0"/>
          <p:nvPr/>
        </p:nvPicPr>
        <p:blipFill rotWithShape="1">
          <a:blip r:embed="rId3">
            <a:alphaModFix/>
          </a:blip>
          <a:srcRect b="0" l="0" r="19569" t="0"/>
          <a:stretch/>
        </p:blipFill>
        <p:spPr>
          <a:xfrm>
            <a:off x="1789450" y="0"/>
            <a:ext cx="7354548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42"/>
          <p:cNvSpPr txBox="1"/>
          <p:nvPr/>
        </p:nvSpPr>
        <p:spPr>
          <a:xfrm>
            <a:off x="0" y="0"/>
            <a:ext cx="295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Practice </a:t>
            </a:r>
            <a:r>
              <a:rPr lang="en" sz="1800">
                <a:solidFill>
                  <a:schemeClr val="dk1"/>
                </a:solidFill>
              </a:rPr>
              <a:t>Problem</a:t>
            </a:r>
            <a:endParaRPr sz="1800">
              <a:solidFill>
                <a:schemeClr val="dk1"/>
              </a:solidFill>
            </a:endParaRPr>
          </a:p>
        </p:txBody>
      </p:sp>
      <p:cxnSp>
        <p:nvCxnSpPr>
          <p:cNvPr id="638" name="Google Shape;638;p42"/>
          <p:cNvCxnSpPr/>
          <p:nvPr/>
        </p:nvCxnSpPr>
        <p:spPr>
          <a:xfrm flipH="1">
            <a:off x="2857150" y="3460225"/>
            <a:ext cx="3571500" cy="5925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639" name="Google Shape;639;p42"/>
          <p:cNvCxnSpPr/>
          <p:nvPr/>
        </p:nvCxnSpPr>
        <p:spPr>
          <a:xfrm rot="10800000">
            <a:off x="6422300" y="676450"/>
            <a:ext cx="0" cy="27912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640" name="Google Shape;640;p42"/>
          <p:cNvCxnSpPr/>
          <p:nvPr/>
        </p:nvCxnSpPr>
        <p:spPr>
          <a:xfrm rot="10800000">
            <a:off x="4433425" y="2312825"/>
            <a:ext cx="2005800" cy="11580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641" name="Google Shape;641;p42"/>
          <p:cNvCxnSpPr>
            <a:stCxn id="642" idx="2"/>
            <a:endCxn id="643" idx="6"/>
          </p:cNvCxnSpPr>
          <p:nvPr/>
        </p:nvCxnSpPr>
        <p:spPr>
          <a:xfrm rot="10800000">
            <a:off x="3702059" y="2632291"/>
            <a:ext cx="2839200" cy="822600"/>
          </a:xfrm>
          <a:prstGeom prst="straightConnector1">
            <a:avLst/>
          </a:prstGeom>
          <a:noFill/>
          <a:ln cap="flat" cmpd="sng" w="762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4" name="Google Shape;644;p42"/>
          <p:cNvCxnSpPr/>
          <p:nvPr/>
        </p:nvCxnSpPr>
        <p:spPr>
          <a:xfrm rot="10800000">
            <a:off x="5676497" y="1287066"/>
            <a:ext cx="741600" cy="2145600"/>
          </a:xfrm>
          <a:prstGeom prst="straightConnector1">
            <a:avLst/>
          </a:prstGeom>
          <a:noFill/>
          <a:ln cap="flat" cmpd="sng" w="762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5" name="Google Shape;645;p42"/>
          <p:cNvCxnSpPr>
            <a:stCxn id="646" idx="2"/>
            <a:endCxn id="647" idx="6"/>
          </p:cNvCxnSpPr>
          <p:nvPr/>
        </p:nvCxnSpPr>
        <p:spPr>
          <a:xfrm rot="10800000">
            <a:off x="3702047" y="967716"/>
            <a:ext cx="2095500" cy="332100"/>
          </a:xfrm>
          <a:prstGeom prst="straightConnector1">
            <a:avLst/>
          </a:prstGeom>
          <a:noFill/>
          <a:ln cap="flat" cmpd="sng" w="762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42" name="Google Shape;642;p42"/>
          <p:cNvSpPr/>
          <p:nvPr/>
        </p:nvSpPr>
        <p:spPr>
          <a:xfrm flipH="1">
            <a:off x="6303359" y="3335941"/>
            <a:ext cx="237900" cy="237900"/>
          </a:xfrm>
          <a:prstGeom prst="ellipse">
            <a:avLst/>
          </a:prstGeom>
          <a:solidFill>
            <a:srgbClr val="F1C232"/>
          </a:solidFill>
          <a:ln cap="flat" cmpd="sng" w="9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150" lIns="95150" spcFirstLastPara="1" rIns="95150" wrap="square" tIns="95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7"/>
          </a:p>
        </p:txBody>
      </p:sp>
      <p:sp>
        <p:nvSpPr>
          <p:cNvPr id="646" name="Google Shape;646;p42"/>
          <p:cNvSpPr/>
          <p:nvPr/>
        </p:nvSpPr>
        <p:spPr>
          <a:xfrm flipH="1">
            <a:off x="5559647" y="1180866"/>
            <a:ext cx="237900" cy="237900"/>
          </a:xfrm>
          <a:prstGeom prst="ellipse">
            <a:avLst/>
          </a:prstGeom>
          <a:solidFill>
            <a:srgbClr val="F1C232"/>
          </a:solidFill>
          <a:ln cap="flat" cmpd="sng" w="9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150" lIns="95150" spcFirstLastPara="1" rIns="95150" wrap="square" tIns="95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7"/>
          </a:p>
        </p:txBody>
      </p:sp>
      <p:cxnSp>
        <p:nvCxnSpPr>
          <p:cNvPr id="648" name="Google Shape;648;p42"/>
          <p:cNvCxnSpPr>
            <a:stCxn id="647" idx="0"/>
            <a:endCxn id="643" idx="4"/>
          </p:cNvCxnSpPr>
          <p:nvPr/>
        </p:nvCxnSpPr>
        <p:spPr>
          <a:xfrm>
            <a:off x="3820934" y="848641"/>
            <a:ext cx="0" cy="19026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643" name="Google Shape;643;p42"/>
          <p:cNvSpPr/>
          <p:nvPr/>
        </p:nvSpPr>
        <p:spPr>
          <a:xfrm flipH="1">
            <a:off x="3701973" y="2513231"/>
            <a:ext cx="237900" cy="237900"/>
          </a:xfrm>
          <a:prstGeom prst="ellipse">
            <a:avLst/>
          </a:prstGeom>
          <a:solidFill>
            <a:srgbClr val="F1C232"/>
          </a:solidFill>
          <a:ln cap="flat" cmpd="sng" w="9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150" lIns="95150" spcFirstLastPara="1" rIns="95150" wrap="square" tIns="95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7"/>
          </a:p>
        </p:txBody>
      </p:sp>
      <p:sp>
        <p:nvSpPr>
          <p:cNvPr id="647" name="Google Shape;647;p42"/>
          <p:cNvSpPr/>
          <p:nvPr/>
        </p:nvSpPr>
        <p:spPr>
          <a:xfrm flipH="1">
            <a:off x="3701984" y="848641"/>
            <a:ext cx="237900" cy="237900"/>
          </a:xfrm>
          <a:prstGeom prst="ellipse">
            <a:avLst/>
          </a:prstGeom>
          <a:solidFill>
            <a:srgbClr val="F1C232"/>
          </a:solidFill>
          <a:ln cap="flat" cmpd="sng" w="9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150" lIns="95150" spcFirstLastPara="1" rIns="95150" wrap="square" tIns="95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7"/>
          </a:p>
        </p:txBody>
      </p:sp>
      <p:sp>
        <p:nvSpPr>
          <p:cNvPr id="649" name="Google Shape;649;p42"/>
          <p:cNvSpPr/>
          <p:nvPr/>
        </p:nvSpPr>
        <p:spPr>
          <a:xfrm flipH="1">
            <a:off x="4158750" y="1624325"/>
            <a:ext cx="4361100" cy="3458400"/>
          </a:xfrm>
          <a:prstGeom prst="blockArc">
            <a:avLst>
              <a:gd fmla="val 20749178" name="adj1"/>
              <a:gd fmla="val 739516" name="adj2"/>
              <a:gd fmla="val 2252" name="adj3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42"/>
          <p:cNvSpPr txBox="1"/>
          <p:nvPr/>
        </p:nvSpPr>
        <p:spPr>
          <a:xfrm>
            <a:off x="4348050" y="3122663"/>
            <a:ext cx="701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θ</a:t>
            </a:r>
            <a:r>
              <a:rPr baseline="-25000" lang="en" sz="1800">
                <a:solidFill>
                  <a:srgbClr val="FF0000"/>
                </a:solidFill>
              </a:rPr>
              <a:t>3</a:t>
            </a:r>
            <a:endParaRPr baseline="-25000" sz="1800">
              <a:solidFill>
                <a:srgbClr val="FF0000"/>
              </a:solidFill>
            </a:endParaRPr>
          </a:p>
        </p:txBody>
      </p:sp>
      <p:sp>
        <p:nvSpPr>
          <p:cNvPr id="651" name="Google Shape;651;p42"/>
          <p:cNvSpPr txBox="1"/>
          <p:nvPr/>
        </p:nvSpPr>
        <p:spPr>
          <a:xfrm>
            <a:off x="-3100" y="676450"/>
            <a:ext cx="3080400" cy="18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15625" lIns="115625" spcFirstLastPara="1" rIns="115625" wrap="square" tIns="1156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L</a:t>
            </a:r>
            <a:r>
              <a:rPr baseline="-25000" lang="en" sz="1800">
                <a:solidFill>
                  <a:srgbClr val="FF0000"/>
                </a:solidFill>
              </a:rPr>
              <a:t>1</a:t>
            </a:r>
            <a:r>
              <a:rPr lang="en" sz="1800">
                <a:solidFill>
                  <a:srgbClr val="FF0000"/>
                </a:solidFill>
              </a:rPr>
              <a:t>=250mm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L</a:t>
            </a:r>
            <a:r>
              <a:rPr baseline="-25000" lang="en" sz="1800">
                <a:solidFill>
                  <a:srgbClr val="FF0000"/>
                </a:solidFill>
              </a:rPr>
              <a:t>2</a:t>
            </a:r>
            <a:r>
              <a:rPr lang="en" sz="1800">
                <a:solidFill>
                  <a:srgbClr val="FF0000"/>
                </a:solidFill>
              </a:rPr>
              <a:t>=250mm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θ</a:t>
            </a:r>
            <a:r>
              <a:rPr baseline="-25000" lang="en" sz="1800">
                <a:solidFill>
                  <a:srgbClr val="FF0000"/>
                </a:solidFill>
              </a:rPr>
              <a:t>1</a:t>
            </a:r>
            <a:r>
              <a:rPr lang="en" sz="1800">
                <a:solidFill>
                  <a:srgbClr val="FF0000"/>
                </a:solidFill>
              </a:rPr>
              <a:t>=30°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θ</a:t>
            </a:r>
            <a:r>
              <a:rPr baseline="-25000" lang="en" sz="1800">
                <a:solidFill>
                  <a:srgbClr val="FF0000"/>
                </a:solidFill>
              </a:rPr>
              <a:t>2</a:t>
            </a:r>
            <a:r>
              <a:rPr lang="en" sz="1800">
                <a:solidFill>
                  <a:srgbClr val="FF0000"/>
                </a:solidFill>
              </a:rPr>
              <a:t>=30°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θ</a:t>
            </a:r>
            <a:r>
              <a:rPr baseline="-25000" lang="en" sz="1800">
                <a:solidFill>
                  <a:srgbClr val="FF0000"/>
                </a:solidFill>
              </a:rPr>
              <a:t>3</a:t>
            </a:r>
            <a:r>
              <a:rPr lang="en" sz="1800">
                <a:solidFill>
                  <a:srgbClr val="FF0000"/>
                </a:solidFill>
              </a:rPr>
              <a:t>=60°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(X,Y,Z) = (?,?,?)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652" name="Google Shape;652;p42"/>
          <p:cNvSpPr txBox="1"/>
          <p:nvPr/>
        </p:nvSpPr>
        <p:spPr>
          <a:xfrm>
            <a:off x="3567550" y="3937975"/>
            <a:ext cx="35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X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653" name="Google Shape;653;p42"/>
          <p:cNvSpPr txBox="1"/>
          <p:nvPr/>
        </p:nvSpPr>
        <p:spPr>
          <a:xfrm>
            <a:off x="6463550" y="1342925"/>
            <a:ext cx="35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Y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654" name="Google Shape;654;p42"/>
          <p:cNvSpPr txBox="1"/>
          <p:nvPr/>
        </p:nvSpPr>
        <p:spPr>
          <a:xfrm>
            <a:off x="4228975" y="2319950"/>
            <a:ext cx="35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Z</a:t>
            </a:r>
            <a:endParaRPr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9" name="Google Shape;659;p43"/>
          <p:cNvPicPr preferRelativeResize="0"/>
          <p:nvPr/>
        </p:nvPicPr>
        <p:blipFill rotWithShape="1">
          <a:blip r:embed="rId3">
            <a:alphaModFix/>
          </a:blip>
          <a:srcRect b="0" l="0" r="19569" t="0"/>
          <a:stretch/>
        </p:blipFill>
        <p:spPr>
          <a:xfrm>
            <a:off x="1789450" y="0"/>
            <a:ext cx="7354548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60" name="Google Shape;660;p43"/>
          <p:cNvSpPr txBox="1"/>
          <p:nvPr/>
        </p:nvSpPr>
        <p:spPr>
          <a:xfrm>
            <a:off x="0" y="0"/>
            <a:ext cx="295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Practice Problem</a:t>
            </a:r>
            <a:endParaRPr sz="1800">
              <a:solidFill>
                <a:schemeClr val="dk1"/>
              </a:solidFill>
            </a:endParaRPr>
          </a:p>
        </p:txBody>
      </p:sp>
      <p:cxnSp>
        <p:nvCxnSpPr>
          <p:cNvPr id="661" name="Google Shape;661;p43"/>
          <p:cNvCxnSpPr/>
          <p:nvPr/>
        </p:nvCxnSpPr>
        <p:spPr>
          <a:xfrm flipH="1">
            <a:off x="2857150" y="3460225"/>
            <a:ext cx="3571500" cy="5925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662" name="Google Shape;662;p43"/>
          <p:cNvCxnSpPr/>
          <p:nvPr/>
        </p:nvCxnSpPr>
        <p:spPr>
          <a:xfrm rot="10800000">
            <a:off x="6422300" y="676450"/>
            <a:ext cx="0" cy="27912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663" name="Google Shape;663;p43"/>
          <p:cNvCxnSpPr/>
          <p:nvPr/>
        </p:nvCxnSpPr>
        <p:spPr>
          <a:xfrm rot="10800000">
            <a:off x="4433425" y="2312825"/>
            <a:ext cx="2005800" cy="11580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664" name="Google Shape;664;p43"/>
          <p:cNvCxnSpPr>
            <a:stCxn id="665" idx="2"/>
            <a:endCxn id="666" idx="6"/>
          </p:cNvCxnSpPr>
          <p:nvPr/>
        </p:nvCxnSpPr>
        <p:spPr>
          <a:xfrm rot="10800000">
            <a:off x="3702059" y="2632291"/>
            <a:ext cx="2839200" cy="822600"/>
          </a:xfrm>
          <a:prstGeom prst="straightConnector1">
            <a:avLst/>
          </a:prstGeom>
          <a:noFill/>
          <a:ln cap="flat" cmpd="sng" w="762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7" name="Google Shape;667;p43"/>
          <p:cNvCxnSpPr/>
          <p:nvPr/>
        </p:nvCxnSpPr>
        <p:spPr>
          <a:xfrm rot="10800000">
            <a:off x="5676497" y="1287066"/>
            <a:ext cx="741600" cy="2145600"/>
          </a:xfrm>
          <a:prstGeom prst="straightConnector1">
            <a:avLst/>
          </a:prstGeom>
          <a:noFill/>
          <a:ln cap="flat" cmpd="sng" w="762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8" name="Google Shape;668;p43"/>
          <p:cNvCxnSpPr>
            <a:stCxn id="669" idx="2"/>
            <a:endCxn id="670" idx="6"/>
          </p:cNvCxnSpPr>
          <p:nvPr/>
        </p:nvCxnSpPr>
        <p:spPr>
          <a:xfrm rot="10800000">
            <a:off x="3702047" y="967716"/>
            <a:ext cx="2095500" cy="332100"/>
          </a:xfrm>
          <a:prstGeom prst="straightConnector1">
            <a:avLst/>
          </a:prstGeom>
          <a:noFill/>
          <a:ln cap="flat" cmpd="sng" w="762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5" name="Google Shape;665;p43"/>
          <p:cNvSpPr/>
          <p:nvPr/>
        </p:nvSpPr>
        <p:spPr>
          <a:xfrm flipH="1">
            <a:off x="6303359" y="3335941"/>
            <a:ext cx="237900" cy="237900"/>
          </a:xfrm>
          <a:prstGeom prst="ellipse">
            <a:avLst/>
          </a:prstGeom>
          <a:solidFill>
            <a:srgbClr val="F1C232"/>
          </a:solidFill>
          <a:ln cap="flat" cmpd="sng" w="9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150" lIns="95150" spcFirstLastPara="1" rIns="95150" wrap="square" tIns="95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7"/>
          </a:p>
        </p:txBody>
      </p:sp>
      <p:sp>
        <p:nvSpPr>
          <p:cNvPr id="669" name="Google Shape;669;p43"/>
          <p:cNvSpPr/>
          <p:nvPr/>
        </p:nvSpPr>
        <p:spPr>
          <a:xfrm flipH="1">
            <a:off x="5559647" y="1180866"/>
            <a:ext cx="237900" cy="237900"/>
          </a:xfrm>
          <a:prstGeom prst="ellipse">
            <a:avLst/>
          </a:prstGeom>
          <a:solidFill>
            <a:srgbClr val="F1C232"/>
          </a:solidFill>
          <a:ln cap="flat" cmpd="sng" w="9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150" lIns="95150" spcFirstLastPara="1" rIns="95150" wrap="square" tIns="95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7"/>
          </a:p>
        </p:txBody>
      </p:sp>
      <p:cxnSp>
        <p:nvCxnSpPr>
          <p:cNvPr id="671" name="Google Shape;671;p43"/>
          <p:cNvCxnSpPr>
            <a:stCxn id="670" idx="0"/>
            <a:endCxn id="666" idx="4"/>
          </p:cNvCxnSpPr>
          <p:nvPr/>
        </p:nvCxnSpPr>
        <p:spPr>
          <a:xfrm>
            <a:off x="3820934" y="848641"/>
            <a:ext cx="0" cy="19026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666" name="Google Shape;666;p43"/>
          <p:cNvSpPr/>
          <p:nvPr/>
        </p:nvSpPr>
        <p:spPr>
          <a:xfrm flipH="1">
            <a:off x="3701973" y="2513231"/>
            <a:ext cx="237900" cy="237900"/>
          </a:xfrm>
          <a:prstGeom prst="ellipse">
            <a:avLst/>
          </a:prstGeom>
          <a:solidFill>
            <a:srgbClr val="F1C232"/>
          </a:solidFill>
          <a:ln cap="flat" cmpd="sng" w="9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150" lIns="95150" spcFirstLastPara="1" rIns="95150" wrap="square" tIns="95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7"/>
          </a:p>
        </p:txBody>
      </p:sp>
      <p:sp>
        <p:nvSpPr>
          <p:cNvPr id="670" name="Google Shape;670;p43"/>
          <p:cNvSpPr/>
          <p:nvPr/>
        </p:nvSpPr>
        <p:spPr>
          <a:xfrm flipH="1">
            <a:off x="3701984" y="848641"/>
            <a:ext cx="237900" cy="237900"/>
          </a:xfrm>
          <a:prstGeom prst="ellipse">
            <a:avLst/>
          </a:prstGeom>
          <a:solidFill>
            <a:srgbClr val="F1C232"/>
          </a:solidFill>
          <a:ln cap="flat" cmpd="sng" w="9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150" lIns="95150" spcFirstLastPara="1" rIns="95150" wrap="square" tIns="95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7"/>
          </a:p>
        </p:txBody>
      </p:sp>
      <p:sp>
        <p:nvSpPr>
          <p:cNvPr id="672" name="Google Shape;672;p43"/>
          <p:cNvSpPr/>
          <p:nvPr/>
        </p:nvSpPr>
        <p:spPr>
          <a:xfrm flipH="1">
            <a:off x="4158750" y="1624325"/>
            <a:ext cx="4361100" cy="3458400"/>
          </a:xfrm>
          <a:prstGeom prst="blockArc">
            <a:avLst>
              <a:gd fmla="val 20743528" name="adj1"/>
              <a:gd fmla="val 739516" name="adj2"/>
              <a:gd fmla="val 2252" name="adj3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43"/>
          <p:cNvSpPr txBox="1"/>
          <p:nvPr/>
        </p:nvSpPr>
        <p:spPr>
          <a:xfrm>
            <a:off x="4348050" y="3122663"/>
            <a:ext cx="701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θ</a:t>
            </a:r>
            <a:r>
              <a:rPr baseline="-25000" lang="en" sz="1800">
                <a:solidFill>
                  <a:srgbClr val="FF0000"/>
                </a:solidFill>
              </a:rPr>
              <a:t>3</a:t>
            </a:r>
            <a:endParaRPr baseline="-25000" sz="1800">
              <a:solidFill>
                <a:srgbClr val="FF0000"/>
              </a:solidFill>
            </a:endParaRPr>
          </a:p>
        </p:txBody>
      </p:sp>
      <p:sp>
        <p:nvSpPr>
          <p:cNvPr id="674" name="Google Shape;674;p43"/>
          <p:cNvSpPr txBox="1"/>
          <p:nvPr/>
        </p:nvSpPr>
        <p:spPr>
          <a:xfrm>
            <a:off x="-3100" y="676450"/>
            <a:ext cx="3080400" cy="18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15625" lIns="115625" spcFirstLastPara="1" rIns="115625" wrap="square" tIns="1156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L</a:t>
            </a:r>
            <a:r>
              <a:rPr baseline="-25000" lang="en" sz="1800">
                <a:solidFill>
                  <a:srgbClr val="FF0000"/>
                </a:solidFill>
              </a:rPr>
              <a:t>1</a:t>
            </a:r>
            <a:r>
              <a:rPr lang="en" sz="1800">
                <a:solidFill>
                  <a:srgbClr val="FF0000"/>
                </a:solidFill>
              </a:rPr>
              <a:t>=250mm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L</a:t>
            </a:r>
            <a:r>
              <a:rPr baseline="-25000" lang="en" sz="1800">
                <a:solidFill>
                  <a:srgbClr val="FF0000"/>
                </a:solidFill>
              </a:rPr>
              <a:t>2</a:t>
            </a:r>
            <a:r>
              <a:rPr lang="en" sz="1800">
                <a:solidFill>
                  <a:srgbClr val="FF0000"/>
                </a:solidFill>
              </a:rPr>
              <a:t>=250mm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θ</a:t>
            </a:r>
            <a:r>
              <a:rPr baseline="-25000" lang="en" sz="1800">
                <a:solidFill>
                  <a:srgbClr val="FF0000"/>
                </a:solidFill>
              </a:rPr>
              <a:t>1</a:t>
            </a:r>
            <a:r>
              <a:rPr lang="en" sz="1800">
                <a:solidFill>
                  <a:srgbClr val="FF0000"/>
                </a:solidFill>
              </a:rPr>
              <a:t>=30°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θ</a:t>
            </a:r>
            <a:r>
              <a:rPr baseline="-25000" lang="en" sz="1800">
                <a:solidFill>
                  <a:srgbClr val="FF0000"/>
                </a:solidFill>
              </a:rPr>
              <a:t>2</a:t>
            </a:r>
            <a:r>
              <a:rPr lang="en" sz="1800">
                <a:solidFill>
                  <a:srgbClr val="FF0000"/>
                </a:solidFill>
              </a:rPr>
              <a:t>=30°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θ</a:t>
            </a:r>
            <a:r>
              <a:rPr baseline="-25000" lang="en" sz="1800">
                <a:solidFill>
                  <a:srgbClr val="FF0000"/>
                </a:solidFill>
              </a:rPr>
              <a:t>3</a:t>
            </a:r>
            <a:r>
              <a:rPr lang="en" sz="1800">
                <a:solidFill>
                  <a:srgbClr val="FF0000"/>
                </a:solidFill>
              </a:rPr>
              <a:t>=60°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(X,Y,Z) = (?,?,?)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675" name="Google Shape;675;p43"/>
          <p:cNvSpPr txBox="1"/>
          <p:nvPr/>
        </p:nvSpPr>
        <p:spPr>
          <a:xfrm>
            <a:off x="3567550" y="3937975"/>
            <a:ext cx="35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X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676" name="Google Shape;676;p43"/>
          <p:cNvSpPr txBox="1"/>
          <p:nvPr/>
        </p:nvSpPr>
        <p:spPr>
          <a:xfrm>
            <a:off x="6463550" y="1342925"/>
            <a:ext cx="35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Y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677" name="Google Shape;677;p43"/>
          <p:cNvSpPr txBox="1"/>
          <p:nvPr/>
        </p:nvSpPr>
        <p:spPr>
          <a:xfrm>
            <a:off x="4228975" y="2319950"/>
            <a:ext cx="35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Z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678" name="Google Shape;678;p43"/>
          <p:cNvSpPr txBox="1"/>
          <p:nvPr/>
        </p:nvSpPr>
        <p:spPr>
          <a:xfrm>
            <a:off x="0" y="2571750"/>
            <a:ext cx="35715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Solution: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(X,Y,Z) = </a:t>
            </a:r>
            <a:r>
              <a:rPr lang="en" sz="1800">
                <a:solidFill>
                  <a:srgbClr val="FF0000"/>
                </a:solidFill>
              </a:rPr>
              <a:t>(187.5,</a:t>
            </a:r>
            <a:r>
              <a:rPr lang="en" sz="1800">
                <a:solidFill>
                  <a:srgbClr val="FF0000"/>
                </a:solidFill>
              </a:rPr>
              <a:t>216.51</a:t>
            </a:r>
            <a:r>
              <a:rPr lang="en" sz="1800">
                <a:solidFill>
                  <a:srgbClr val="FF0000"/>
                </a:solidFill>
              </a:rPr>
              <a:t>,</a:t>
            </a:r>
            <a:r>
              <a:rPr lang="en" sz="1800">
                <a:solidFill>
                  <a:srgbClr val="FF0000"/>
                </a:solidFill>
              </a:rPr>
              <a:t>324.76</a:t>
            </a:r>
            <a:r>
              <a:rPr lang="en" sz="1800">
                <a:solidFill>
                  <a:srgbClr val="FF0000"/>
                </a:solidFill>
              </a:rPr>
              <a:t>)</a:t>
            </a:r>
            <a:endParaRPr sz="1800"/>
          </a:p>
        </p:txBody>
      </p:sp>
      <p:sp>
        <p:nvSpPr>
          <p:cNvPr id="679" name="Google Shape;679;p43"/>
          <p:cNvSpPr/>
          <p:nvPr/>
        </p:nvSpPr>
        <p:spPr>
          <a:xfrm>
            <a:off x="0" y="3114625"/>
            <a:ext cx="3360000" cy="697500"/>
          </a:xfrm>
          <a:prstGeom prst="rect">
            <a:avLst/>
          </a:prstGeom>
          <a:solidFill>
            <a:srgbClr val="66666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6AA84F"/>
                </a:solidFill>
              </a:rPr>
              <a:t>Click To Reveal</a:t>
            </a:r>
            <a:endParaRPr b="1" sz="1600">
              <a:solidFill>
                <a:srgbClr val="6AA84F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4" name="Google Shape;684;p44"/>
          <p:cNvPicPr preferRelativeResize="0"/>
          <p:nvPr/>
        </p:nvPicPr>
        <p:blipFill rotWithShape="1">
          <a:blip r:embed="rId3">
            <a:alphaModFix/>
          </a:blip>
          <a:srcRect b="1565" l="0" r="8316" t="0"/>
          <a:stretch/>
        </p:blipFill>
        <p:spPr>
          <a:xfrm>
            <a:off x="1975300" y="813875"/>
            <a:ext cx="7168700" cy="4329626"/>
          </a:xfrm>
          <a:prstGeom prst="rect">
            <a:avLst/>
          </a:prstGeom>
          <a:noFill/>
          <a:ln>
            <a:noFill/>
          </a:ln>
        </p:spPr>
      </p:pic>
      <p:sp>
        <p:nvSpPr>
          <p:cNvPr id="685" name="Google Shape;685;p44"/>
          <p:cNvSpPr txBox="1"/>
          <p:nvPr/>
        </p:nvSpPr>
        <p:spPr>
          <a:xfrm>
            <a:off x="0" y="0"/>
            <a:ext cx="295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Practice Problem 2</a:t>
            </a:r>
            <a:endParaRPr sz="1800">
              <a:solidFill>
                <a:schemeClr val="dk1"/>
              </a:solidFill>
            </a:endParaRPr>
          </a:p>
        </p:txBody>
      </p:sp>
      <p:cxnSp>
        <p:nvCxnSpPr>
          <p:cNvPr id="686" name="Google Shape;686;p44"/>
          <p:cNvCxnSpPr/>
          <p:nvPr/>
        </p:nvCxnSpPr>
        <p:spPr>
          <a:xfrm flipH="1">
            <a:off x="3238900" y="3493913"/>
            <a:ext cx="3571500" cy="5925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687" name="Google Shape;687;p44"/>
          <p:cNvCxnSpPr/>
          <p:nvPr/>
        </p:nvCxnSpPr>
        <p:spPr>
          <a:xfrm rot="10800000">
            <a:off x="6804050" y="710138"/>
            <a:ext cx="0" cy="27912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688" name="Google Shape;688;p44"/>
          <p:cNvCxnSpPr/>
          <p:nvPr/>
        </p:nvCxnSpPr>
        <p:spPr>
          <a:xfrm rot="10800000">
            <a:off x="4815175" y="2346513"/>
            <a:ext cx="2005800" cy="11580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689" name="Google Shape;689;p44"/>
          <p:cNvCxnSpPr>
            <a:stCxn id="690" idx="2"/>
            <a:endCxn id="691" idx="6"/>
          </p:cNvCxnSpPr>
          <p:nvPr/>
        </p:nvCxnSpPr>
        <p:spPr>
          <a:xfrm rot="10800000">
            <a:off x="3683334" y="2973091"/>
            <a:ext cx="3204600" cy="477600"/>
          </a:xfrm>
          <a:prstGeom prst="straightConnector1">
            <a:avLst/>
          </a:prstGeom>
          <a:noFill/>
          <a:ln cap="flat" cmpd="sng" w="762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2" name="Google Shape;692;p44"/>
          <p:cNvCxnSpPr/>
          <p:nvPr/>
        </p:nvCxnSpPr>
        <p:spPr>
          <a:xfrm rot="10800000">
            <a:off x="5676500" y="1287225"/>
            <a:ext cx="1089600" cy="2170500"/>
          </a:xfrm>
          <a:prstGeom prst="straightConnector1">
            <a:avLst/>
          </a:prstGeom>
          <a:noFill/>
          <a:ln cap="flat" cmpd="sng" w="762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3" name="Google Shape;693;p44"/>
          <p:cNvCxnSpPr>
            <a:stCxn id="694" idx="2"/>
          </p:cNvCxnSpPr>
          <p:nvPr/>
        </p:nvCxnSpPr>
        <p:spPr>
          <a:xfrm flipH="1">
            <a:off x="3796647" y="1375416"/>
            <a:ext cx="1967400" cy="1076700"/>
          </a:xfrm>
          <a:prstGeom prst="straightConnector1">
            <a:avLst/>
          </a:prstGeom>
          <a:noFill/>
          <a:ln cap="flat" cmpd="sng" w="762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0" name="Google Shape;690;p44"/>
          <p:cNvSpPr/>
          <p:nvPr/>
        </p:nvSpPr>
        <p:spPr>
          <a:xfrm flipH="1">
            <a:off x="6650034" y="3331741"/>
            <a:ext cx="237900" cy="237900"/>
          </a:xfrm>
          <a:prstGeom prst="ellipse">
            <a:avLst/>
          </a:prstGeom>
          <a:solidFill>
            <a:srgbClr val="F1C232"/>
          </a:solidFill>
          <a:ln cap="flat" cmpd="sng" w="9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150" lIns="95150" spcFirstLastPara="1" rIns="95150" wrap="square" tIns="95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7"/>
          </a:p>
        </p:txBody>
      </p:sp>
      <p:sp>
        <p:nvSpPr>
          <p:cNvPr id="694" name="Google Shape;694;p44"/>
          <p:cNvSpPr/>
          <p:nvPr/>
        </p:nvSpPr>
        <p:spPr>
          <a:xfrm flipH="1">
            <a:off x="5526147" y="1256466"/>
            <a:ext cx="237900" cy="237900"/>
          </a:xfrm>
          <a:prstGeom prst="ellipse">
            <a:avLst/>
          </a:prstGeom>
          <a:solidFill>
            <a:srgbClr val="F1C232"/>
          </a:solidFill>
          <a:ln cap="flat" cmpd="sng" w="9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150" lIns="95150" spcFirstLastPara="1" rIns="95150" wrap="square" tIns="95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7"/>
          </a:p>
        </p:txBody>
      </p:sp>
      <p:cxnSp>
        <p:nvCxnSpPr>
          <p:cNvPr id="695" name="Google Shape;695;p44"/>
          <p:cNvCxnSpPr>
            <a:stCxn id="696" idx="0"/>
            <a:endCxn id="691" idx="4"/>
          </p:cNvCxnSpPr>
          <p:nvPr/>
        </p:nvCxnSpPr>
        <p:spPr>
          <a:xfrm>
            <a:off x="3802297" y="2319941"/>
            <a:ext cx="0" cy="7719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691" name="Google Shape;691;p44"/>
          <p:cNvSpPr/>
          <p:nvPr/>
        </p:nvSpPr>
        <p:spPr>
          <a:xfrm flipH="1">
            <a:off x="3683348" y="2854081"/>
            <a:ext cx="237900" cy="237900"/>
          </a:xfrm>
          <a:prstGeom prst="ellipse">
            <a:avLst/>
          </a:prstGeom>
          <a:solidFill>
            <a:srgbClr val="F1C232"/>
          </a:solidFill>
          <a:ln cap="flat" cmpd="sng" w="9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150" lIns="95150" spcFirstLastPara="1" rIns="95150" wrap="square" tIns="95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7"/>
          </a:p>
        </p:txBody>
      </p:sp>
      <p:sp>
        <p:nvSpPr>
          <p:cNvPr id="696" name="Google Shape;696;p44"/>
          <p:cNvSpPr/>
          <p:nvPr/>
        </p:nvSpPr>
        <p:spPr>
          <a:xfrm flipH="1">
            <a:off x="3683347" y="2319941"/>
            <a:ext cx="237900" cy="237900"/>
          </a:xfrm>
          <a:prstGeom prst="ellipse">
            <a:avLst/>
          </a:prstGeom>
          <a:solidFill>
            <a:srgbClr val="F1C232"/>
          </a:solidFill>
          <a:ln cap="flat" cmpd="sng" w="9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150" lIns="95150" spcFirstLastPara="1" rIns="95150" wrap="square" tIns="95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7"/>
          </a:p>
        </p:txBody>
      </p:sp>
      <p:sp>
        <p:nvSpPr>
          <p:cNvPr id="697" name="Google Shape;697;p44"/>
          <p:cNvSpPr/>
          <p:nvPr/>
        </p:nvSpPr>
        <p:spPr>
          <a:xfrm flipH="1">
            <a:off x="4212675" y="1706975"/>
            <a:ext cx="4361100" cy="3458400"/>
          </a:xfrm>
          <a:prstGeom prst="blockArc">
            <a:avLst>
              <a:gd fmla="val 21045815" name="adj1"/>
              <a:gd fmla="val 739516" name="adj2"/>
              <a:gd fmla="val 2252" name="adj3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8" name="Google Shape;698;p44"/>
          <p:cNvSpPr txBox="1"/>
          <p:nvPr/>
        </p:nvSpPr>
        <p:spPr>
          <a:xfrm>
            <a:off x="4333675" y="3219838"/>
            <a:ext cx="701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θ</a:t>
            </a:r>
            <a:r>
              <a:rPr baseline="-25000" lang="en" sz="1800">
                <a:solidFill>
                  <a:srgbClr val="FF0000"/>
                </a:solidFill>
              </a:rPr>
              <a:t>3</a:t>
            </a:r>
            <a:endParaRPr baseline="-25000" sz="1800">
              <a:solidFill>
                <a:srgbClr val="FF0000"/>
              </a:solidFill>
            </a:endParaRPr>
          </a:p>
        </p:txBody>
      </p:sp>
      <p:sp>
        <p:nvSpPr>
          <p:cNvPr id="699" name="Google Shape;699;p44"/>
          <p:cNvSpPr txBox="1"/>
          <p:nvPr/>
        </p:nvSpPr>
        <p:spPr>
          <a:xfrm>
            <a:off x="-3100" y="676450"/>
            <a:ext cx="3080400" cy="18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15625" lIns="115625" spcFirstLastPara="1" rIns="115625" wrap="square" tIns="1156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L</a:t>
            </a:r>
            <a:r>
              <a:rPr baseline="-25000" lang="en" sz="1800">
                <a:solidFill>
                  <a:srgbClr val="FF0000"/>
                </a:solidFill>
              </a:rPr>
              <a:t>1</a:t>
            </a:r>
            <a:r>
              <a:rPr lang="en" sz="1800">
                <a:solidFill>
                  <a:srgbClr val="FF0000"/>
                </a:solidFill>
              </a:rPr>
              <a:t>=250mm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L</a:t>
            </a:r>
            <a:r>
              <a:rPr baseline="-25000" lang="en" sz="1800">
                <a:solidFill>
                  <a:srgbClr val="FF0000"/>
                </a:solidFill>
              </a:rPr>
              <a:t>2</a:t>
            </a:r>
            <a:r>
              <a:rPr lang="en" sz="1800">
                <a:solidFill>
                  <a:srgbClr val="FF0000"/>
                </a:solidFill>
              </a:rPr>
              <a:t>=250mm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θ</a:t>
            </a:r>
            <a:r>
              <a:rPr baseline="-25000" lang="en" sz="1800">
                <a:solidFill>
                  <a:srgbClr val="FF0000"/>
                </a:solidFill>
              </a:rPr>
              <a:t>1</a:t>
            </a:r>
            <a:r>
              <a:rPr lang="en" sz="1800">
                <a:solidFill>
                  <a:srgbClr val="FF0000"/>
                </a:solidFill>
              </a:rPr>
              <a:t>=30°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θ</a:t>
            </a:r>
            <a:r>
              <a:rPr baseline="-25000" lang="en" sz="1800">
                <a:solidFill>
                  <a:srgbClr val="FF0000"/>
                </a:solidFill>
              </a:rPr>
              <a:t>2</a:t>
            </a:r>
            <a:r>
              <a:rPr lang="en" sz="1800">
                <a:solidFill>
                  <a:srgbClr val="FF0000"/>
                </a:solidFill>
              </a:rPr>
              <a:t>=90°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θ</a:t>
            </a:r>
            <a:r>
              <a:rPr baseline="-25000" lang="en" sz="1800">
                <a:solidFill>
                  <a:srgbClr val="FF0000"/>
                </a:solidFill>
              </a:rPr>
              <a:t>3</a:t>
            </a:r>
            <a:r>
              <a:rPr lang="en" sz="1800">
                <a:solidFill>
                  <a:srgbClr val="FF0000"/>
                </a:solidFill>
              </a:rPr>
              <a:t>=30°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(X,Y,Z) = (?,?,?)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700" name="Google Shape;700;p44"/>
          <p:cNvSpPr txBox="1"/>
          <p:nvPr/>
        </p:nvSpPr>
        <p:spPr>
          <a:xfrm>
            <a:off x="3949300" y="3971663"/>
            <a:ext cx="35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X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701" name="Google Shape;701;p44"/>
          <p:cNvSpPr txBox="1"/>
          <p:nvPr/>
        </p:nvSpPr>
        <p:spPr>
          <a:xfrm>
            <a:off x="6845300" y="1376613"/>
            <a:ext cx="35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Y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702" name="Google Shape;702;p44"/>
          <p:cNvSpPr txBox="1"/>
          <p:nvPr/>
        </p:nvSpPr>
        <p:spPr>
          <a:xfrm>
            <a:off x="4610725" y="2353638"/>
            <a:ext cx="35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Z</a:t>
            </a:r>
            <a:endParaRPr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45"/>
          <p:cNvSpPr txBox="1"/>
          <p:nvPr/>
        </p:nvSpPr>
        <p:spPr>
          <a:xfrm>
            <a:off x="0" y="0"/>
            <a:ext cx="295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Practice Problem 2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708" name="Google Shape;708;p45"/>
          <p:cNvSpPr txBox="1"/>
          <p:nvPr/>
        </p:nvSpPr>
        <p:spPr>
          <a:xfrm>
            <a:off x="-3100" y="676450"/>
            <a:ext cx="3080400" cy="18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15625" lIns="115625" spcFirstLastPara="1" rIns="115625" wrap="square" tIns="1156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L</a:t>
            </a:r>
            <a:r>
              <a:rPr baseline="-25000" lang="en" sz="1800">
                <a:solidFill>
                  <a:srgbClr val="FF0000"/>
                </a:solidFill>
              </a:rPr>
              <a:t>1</a:t>
            </a:r>
            <a:r>
              <a:rPr lang="en" sz="1800">
                <a:solidFill>
                  <a:srgbClr val="FF0000"/>
                </a:solidFill>
              </a:rPr>
              <a:t>=250mm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L</a:t>
            </a:r>
            <a:r>
              <a:rPr baseline="-25000" lang="en" sz="1800">
                <a:solidFill>
                  <a:srgbClr val="FF0000"/>
                </a:solidFill>
              </a:rPr>
              <a:t>2</a:t>
            </a:r>
            <a:r>
              <a:rPr lang="en" sz="1800">
                <a:solidFill>
                  <a:srgbClr val="FF0000"/>
                </a:solidFill>
              </a:rPr>
              <a:t>=250mm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θ</a:t>
            </a:r>
            <a:r>
              <a:rPr baseline="-25000" lang="en" sz="1800">
                <a:solidFill>
                  <a:srgbClr val="FF0000"/>
                </a:solidFill>
              </a:rPr>
              <a:t>1</a:t>
            </a:r>
            <a:r>
              <a:rPr lang="en" sz="1800">
                <a:solidFill>
                  <a:srgbClr val="FF0000"/>
                </a:solidFill>
              </a:rPr>
              <a:t>=30°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θ</a:t>
            </a:r>
            <a:r>
              <a:rPr baseline="-25000" lang="en" sz="1800">
                <a:solidFill>
                  <a:srgbClr val="FF0000"/>
                </a:solidFill>
              </a:rPr>
              <a:t>2</a:t>
            </a:r>
            <a:r>
              <a:rPr lang="en" sz="1800">
                <a:solidFill>
                  <a:srgbClr val="FF0000"/>
                </a:solidFill>
              </a:rPr>
              <a:t>=90°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θ</a:t>
            </a:r>
            <a:r>
              <a:rPr baseline="-25000" lang="en" sz="1800">
                <a:solidFill>
                  <a:srgbClr val="FF0000"/>
                </a:solidFill>
              </a:rPr>
              <a:t>3</a:t>
            </a:r>
            <a:r>
              <a:rPr lang="en" sz="1800">
                <a:solidFill>
                  <a:srgbClr val="FF0000"/>
                </a:solidFill>
              </a:rPr>
              <a:t>=30°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(X,Y,Z) = (?,?,?)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709" name="Google Shape;709;p45"/>
          <p:cNvSpPr txBox="1"/>
          <p:nvPr/>
        </p:nvSpPr>
        <p:spPr>
          <a:xfrm>
            <a:off x="-3100" y="3582338"/>
            <a:ext cx="35715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Solution: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(X,Y,Z) = </a:t>
            </a:r>
            <a:r>
              <a:rPr lang="en" sz="1800">
                <a:solidFill>
                  <a:srgbClr val="FF0000"/>
                </a:solidFill>
              </a:rPr>
              <a:t>(295.75,-170.75,91.51)</a:t>
            </a:r>
            <a:endParaRPr sz="1800"/>
          </a:p>
        </p:txBody>
      </p:sp>
      <p:sp>
        <p:nvSpPr>
          <p:cNvPr id="710" name="Google Shape;710;p45"/>
          <p:cNvSpPr/>
          <p:nvPr/>
        </p:nvSpPr>
        <p:spPr>
          <a:xfrm>
            <a:off x="-3100" y="4125213"/>
            <a:ext cx="3360000" cy="697500"/>
          </a:xfrm>
          <a:prstGeom prst="rect">
            <a:avLst/>
          </a:prstGeom>
          <a:solidFill>
            <a:srgbClr val="666666"/>
          </a:solidFill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6AA84F"/>
                </a:solidFill>
              </a:rPr>
              <a:t>Click To Reveal</a:t>
            </a:r>
            <a:endParaRPr b="1" sz="1600">
              <a:solidFill>
                <a:srgbClr val="6AA84F"/>
              </a:solidFill>
            </a:endParaRPr>
          </a:p>
        </p:txBody>
      </p:sp>
      <p:pic>
        <p:nvPicPr>
          <p:cNvPr id="711" name="Google Shape;711;p45"/>
          <p:cNvPicPr preferRelativeResize="0"/>
          <p:nvPr/>
        </p:nvPicPr>
        <p:blipFill rotWithShape="1">
          <a:blip r:embed="rId3">
            <a:alphaModFix/>
          </a:blip>
          <a:srcRect b="1565" l="0" r="8316" t="0"/>
          <a:stretch/>
        </p:blipFill>
        <p:spPr>
          <a:xfrm>
            <a:off x="1975300" y="813875"/>
            <a:ext cx="7168700" cy="43296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12" name="Google Shape;712;p45"/>
          <p:cNvCxnSpPr/>
          <p:nvPr/>
        </p:nvCxnSpPr>
        <p:spPr>
          <a:xfrm flipH="1">
            <a:off x="3238900" y="3493913"/>
            <a:ext cx="3571500" cy="5925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713" name="Google Shape;713;p45"/>
          <p:cNvCxnSpPr/>
          <p:nvPr/>
        </p:nvCxnSpPr>
        <p:spPr>
          <a:xfrm rot="10800000">
            <a:off x="6804050" y="710138"/>
            <a:ext cx="0" cy="27912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714" name="Google Shape;714;p45"/>
          <p:cNvCxnSpPr/>
          <p:nvPr/>
        </p:nvCxnSpPr>
        <p:spPr>
          <a:xfrm rot="10800000">
            <a:off x="4815175" y="2346513"/>
            <a:ext cx="2005800" cy="11580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dash"/>
            <a:round/>
            <a:headEnd len="med" w="med" type="none"/>
            <a:tailEnd len="med" w="med" type="stealth"/>
          </a:ln>
        </p:spPr>
      </p:cxnSp>
      <p:cxnSp>
        <p:nvCxnSpPr>
          <p:cNvPr id="715" name="Google Shape;715;p45"/>
          <p:cNvCxnSpPr>
            <a:stCxn id="716" idx="2"/>
            <a:endCxn id="717" idx="6"/>
          </p:cNvCxnSpPr>
          <p:nvPr/>
        </p:nvCxnSpPr>
        <p:spPr>
          <a:xfrm rot="10800000">
            <a:off x="3683334" y="2973091"/>
            <a:ext cx="3204600" cy="477600"/>
          </a:xfrm>
          <a:prstGeom prst="straightConnector1">
            <a:avLst/>
          </a:prstGeom>
          <a:noFill/>
          <a:ln cap="flat" cmpd="sng" w="762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8" name="Google Shape;718;p45"/>
          <p:cNvCxnSpPr/>
          <p:nvPr/>
        </p:nvCxnSpPr>
        <p:spPr>
          <a:xfrm rot="10800000">
            <a:off x="5676500" y="1287225"/>
            <a:ext cx="1089600" cy="2170500"/>
          </a:xfrm>
          <a:prstGeom prst="straightConnector1">
            <a:avLst/>
          </a:prstGeom>
          <a:noFill/>
          <a:ln cap="flat" cmpd="sng" w="762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9" name="Google Shape;719;p45"/>
          <p:cNvCxnSpPr>
            <a:stCxn id="720" idx="2"/>
          </p:cNvCxnSpPr>
          <p:nvPr/>
        </p:nvCxnSpPr>
        <p:spPr>
          <a:xfrm flipH="1">
            <a:off x="3796647" y="1375416"/>
            <a:ext cx="1967400" cy="1076700"/>
          </a:xfrm>
          <a:prstGeom prst="straightConnector1">
            <a:avLst/>
          </a:prstGeom>
          <a:noFill/>
          <a:ln cap="flat" cmpd="sng" w="76200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6" name="Google Shape;716;p45"/>
          <p:cNvSpPr/>
          <p:nvPr/>
        </p:nvSpPr>
        <p:spPr>
          <a:xfrm flipH="1">
            <a:off x="6650034" y="3331741"/>
            <a:ext cx="237900" cy="237900"/>
          </a:xfrm>
          <a:prstGeom prst="ellipse">
            <a:avLst/>
          </a:prstGeom>
          <a:solidFill>
            <a:srgbClr val="F1C232"/>
          </a:solidFill>
          <a:ln cap="flat" cmpd="sng" w="9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150" lIns="95150" spcFirstLastPara="1" rIns="95150" wrap="square" tIns="95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7"/>
          </a:p>
        </p:txBody>
      </p:sp>
      <p:sp>
        <p:nvSpPr>
          <p:cNvPr id="720" name="Google Shape;720;p45"/>
          <p:cNvSpPr/>
          <p:nvPr/>
        </p:nvSpPr>
        <p:spPr>
          <a:xfrm flipH="1">
            <a:off x="5526147" y="1256466"/>
            <a:ext cx="237900" cy="237900"/>
          </a:xfrm>
          <a:prstGeom prst="ellipse">
            <a:avLst/>
          </a:prstGeom>
          <a:solidFill>
            <a:srgbClr val="F1C232"/>
          </a:solidFill>
          <a:ln cap="flat" cmpd="sng" w="9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150" lIns="95150" spcFirstLastPara="1" rIns="95150" wrap="square" tIns="95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7"/>
          </a:p>
        </p:txBody>
      </p:sp>
      <p:cxnSp>
        <p:nvCxnSpPr>
          <p:cNvPr id="721" name="Google Shape;721;p45"/>
          <p:cNvCxnSpPr>
            <a:stCxn id="722" idx="0"/>
            <a:endCxn id="717" idx="4"/>
          </p:cNvCxnSpPr>
          <p:nvPr/>
        </p:nvCxnSpPr>
        <p:spPr>
          <a:xfrm>
            <a:off x="3802297" y="2319941"/>
            <a:ext cx="0" cy="7719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717" name="Google Shape;717;p45"/>
          <p:cNvSpPr/>
          <p:nvPr/>
        </p:nvSpPr>
        <p:spPr>
          <a:xfrm flipH="1">
            <a:off x="3683348" y="2854081"/>
            <a:ext cx="237900" cy="237900"/>
          </a:xfrm>
          <a:prstGeom prst="ellipse">
            <a:avLst/>
          </a:prstGeom>
          <a:solidFill>
            <a:srgbClr val="F1C232"/>
          </a:solidFill>
          <a:ln cap="flat" cmpd="sng" w="9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150" lIns="95150" spcFirstLastPara="1" rIns="95150" wrap="square" tIns="95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7"/>
          </a:p>
        </p:txBody>
      </p:sp>
      <p:sp>
        <p:nvSpPr>
          <p:cNvPr id="722" name="Google Shape;722;p45"/>
          <p:cNvSpPr/>
          <p:nvPr/>
        </p:nvSpPr>
        <p:spPr>
          <a:xfrm flipH="1">
            <a:off x="3683347" y="2319941"/>
            <a:ext cx="237900" cy="237900"/>
          </a:xfrm>
          <a:prstGeom prst="ellipse">
            <a:avLst/>
          </a:prstGeom>
          <a:solidFill>
            <a:srgbClr val="F1C232"/>
          </a:solidFill>
          <a:ln cap="flat" cmpd="sng" w="9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5150" lIns="95150" spcFirstLastPara="1" rIns="95150" wrap="square" tIns="951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7"/>
          </a:p>
        </p:txBody>
      </p:sp>
      <p:sp>
        <p:nvSpPr>
          <p:cNvPr id="723" name="Google Shape;723;p45"/>
          <p:cNvSpPr txBox="1"/>
          <p:nvPr/>
        </p:nvSpPr>
        <p:spPr>
          <a:xfrm>
            <a:off x="3949300" y="3971663"/>
            <a:ext cx="35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X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724" name="Google Shape;724;p45"/>
          <p:cNvSpPr txBox="1"/>
          <p:nvPr/>
        </p:nvSpPr>
        <p:spPr>
          <a:xfrm>
            <a:off x="6845300" y="1376613"/>
            <a:ext cx="35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Y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725" name="Google Shape;725;p45"/>
          <p:cNvSpPr txBox="1"/>
          <p:nvPr/>
        </p:nvSpPr>
        <p:spPr>
          <a:xfrm>
            <a:off x="4610725" y="2353638"/>
            <a:ext cx="35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Z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726" name="Google Shape;726;p45"/>
          <p:cNvSpPr/>
          <p:nvPr/>
        </p:nvSpPr>
        <p:spPr>
          <a:xfrm flipH="1">
            <a:off x="4212675" y="1706975"/>
            <a:ext cx="4361100" cy="3458400"/>
          </a:xfrm>
          <a:prstGeom prst="blockArc">
            <a:avLst>
              <a:gd fmla="val 21045815" name="adj1"/>
              <a:gd fmla="val 739516" name="adj2"/>
              <a:gd fmla="val 2252" name="adj3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7" name="Google Shape;727;p45"/>
          <p:cNvSpPr txBox="1"/>
          <p:nvPr/>
        </p:nvSpPr>
        <p:spPr>
          <a:xfrm>
            <a:off x="4333675" y="3219838"/>
            <a:ext cx="701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θ</a:t>
            </a:r>
            <a:r>
              <a:rPr baseline="-25000" lang="en" sz="1800">
                <a:solidFill>
                  <a:srgbClr val="FF0000"/>
                </a:solidFill>
              </a:rPr>
              <a:t>3</a:t>
            </a:r>
            <a:endParaRPr baseline="-25000" sz="180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46"/>
          <p:cNvSpPr txBox="1"/>
          <p:nvPr/>
        </p:nvSpPr>
        <p:spPr>
          <a:xfrm>
            <a:off x="0" y="0"/>
            <a:ext cx="59445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</a:rPr>
              <a:t>Desmos Calculator</a:t>
            </a:r>
            <a:endParaRPr sz="1900">
              <a:solidFill>
                <a:schemeClr val="dk1"/>
              </a:solidFill>
            </a:endParaRPr>
          </a:p>
        </p:txBody>
      </p:sp>
      <p:pic>
        <p:nvPicPr>
          <p:cNvPr id="733" name="Google Shape;733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95452" y="1574550"/>
            <a:ext cx="3648551" cy="355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4" name="Google Shape;734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56725" y="1642173"/>
            <a:ext cx="3532425" cy="3416299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46"/>
          <p:cNvSpPr txBox="1"/>
          <p:nvPr/>
        </p:nvSpPr>
        <p:spPr>
          <a:xfrm>
            <a:off x="0" y="477000"/>
            <a:ext cx="4896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rgbClr val="4A86E8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https://www.desmos.com/3d/9bnvqc263x</a:t>
            </a:r>
            <a:endParaRPr sz="1800">
              <a:solidFill>
                <a:srgbClr val="4A86E8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