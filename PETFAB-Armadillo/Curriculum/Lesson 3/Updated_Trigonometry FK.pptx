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8fbe20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58fbe20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8fbe20a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8fbe20a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8fbe20a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58fbe20a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8fbe20a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8fbe20a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8fbe20a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8fbe20a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8fbe20a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58fbe20a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ua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ua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fa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fa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58fbe20a8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58fbe20a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58fbe20a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58fbe20a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8fbe20a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58fbe20a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58fbe20a8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58fbe20a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58fbe20a8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58fbe20a8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58fbe20a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58fbe20a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58fbe20a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58fbe20a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8fbe20a8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58fbe20a8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58fbe20a8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58fbe20a8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58fbe20a8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58fbe20a8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58fbe20a8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58fbe20a8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58fbe20a8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58fbe20a8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58fbe20a8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58fbe20a8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58fbe20a8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f58fbe20a8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58fbe20a8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58fbe20a8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58fbe20a8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58fbe20a8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58fbe20a8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58fbe20a8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58fbe20a8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58fbe20a8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58fbe20a8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58fbe20a8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58fbe20a8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f58fbe20a8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58fbe20a8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f58fbe20a8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58fbe20a8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f58fbe20a8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58fbe20a8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f58fbe20a8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5a2339af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f5a2339af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5a2339af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f5a2339af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5ad01d2b5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f5ad01d2b5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hyperlink" Target="https://www.desmos.com/3d/9bnvqc263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200" y="1361900"/>
            <a:ext cx="3639600" cy="3781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0" y="0"/>
            <a:ext cx="91440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Trigonometric Approach to Forward Kinematics</a:t>
            </a:r>
            <a:endParaRPr b="1" sz="30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96132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 Joseph Ruhan</a:t>
            </a:r>
            <a:endParaRPr sz="2000"/>
          </a:p>
        </p:txBody>
      </p:sp>
      <p:pic>
        <p:nvPicPr>
          <p:cNvPr id="57" name="Google Shape;57;p13" title="Main ASM (1).png"/>
          <p:cNvPicPr preferRelativeResize="0"/>
          <p:nvPr/>
        </p:nvPicPr>
        <p:blipFill rotWithShape="1">
          <a:blip r:embed="rId4">
            <a:alphaModFix/>
          </a:blip>
          <a:srcRect b="4707" l="0" r="2922" t="0"/>
          <a:stretch/>
        </p:blipFill>
        <p:spPr>
          <a:xfrm>
            <a:off x="0" y="1410912"/>
            <a:ext cx="4919752" cy="37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0"/>
            <a:ext cx="59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arm can be described mathematically by defining its joints and links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10217" r="0" t="0"/>
          <a:stretch/>
        </p:blipFill>
        <p:spPr>
          <a:xfrm>
            <a:off x="2346951" y="885101"/>
            <a:ext cx="6797048" cy="42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 rot="-5400000">
            <a:off x="5071502" y="-41835"/>
            <a:ext cx="267900" cy="2212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" name="Google Shape;65;p14"/>
          <p:cNvSpPr txBox="1"/>
          <p:nvPr/>
        </p:nvSpPr>
        <p:spPr>
          <a:xfrm>
            <a:off x="4952024" y="485225"/>
            <a:ext cx="2989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2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584800" y="1668700"/>
            <a:ext cx="267900" cy="21474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7" name="Google Shape;67;p14"/>
          <p:cNvSpPr txBox="1"/>
          <p:nvPr/>
        </p:nvSpPr>
        <p:spPr>
          <a:xfrm>
            <a:off x="6873716" y="2486977"/>
            <a:ext cx="58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930736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</a:t>
            </a:r>
            <a:br>
              <a:rPr lang="en" sz="2400"/>
            </a:b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0" y="2506400"/>
            <a:ext cx="266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These are always known because they are a constant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0" y="738900"/>
            <a:ext cx="4396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example</a:t>
            </a:r>
            <a:br>
              <a:rPr lang="en" sz="1800"/>
            </a:b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θ</a:t>
            </a:r>
            <a:r>
              <a:rPr baseline="-25000" lang="en" sz="1600"/>
              <a:t>1</a:t>
            </a:r>
            <a:r>
              <a:rPr lang="en" sz="1600"/>
              <a:t> is measured relative to a vertical projection above the shoulder motors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θ</a:t>
            </a:r>
            <a:r>
              <a:rPr baseline="-25000" lang="en" sz="1600"/>
              <a:t>2</a:t>
            </a:r>
            <a:r>
              <a:rPr lang="en" sz="1600"/>
              <a:t> is measured relative to </a:t>
            </a:r>
            <a:r>
              <a:rPr lang="en" sz="1600"/>
              <a:t>the straight-line extension of the upper arm segment</a:t>
            </a:r>
            <a:endParaRPr sz="1600"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1749600" y="1338575"/>
            <a:ext cx="7394400" cy="38049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0" y="4125300"/>
            <a:ext cx="49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angles are variable.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However, because the encoder measures the rotation of the actuator, the angles are always known</a:t>
            </a:r>
            <a:endParaRPr sz="1600"/>
          </a:p>
        </p:txBody>
      </p:sp>
      <p:sp>
        <p:nvSpPr>
          <p:cNvPr id="77" name="Google Shape;77;p15"/>
          <p:cNvSpPr/>
          <p:nvPr/>
        </p:nvSpPr>
        <p:spPr>
          <a:xfrm flipH="1" rot="2700000">
            <a:off x="6298104" y="2571483"/>
            <a:ext cx="2285935" cy="2285935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p15"/>
          <p:cNvCxnSpPr/>
          <p:nvPr/>
        </p:nvCxnSpPr>
        <p:spPr>
          <a:xfrm>
            <a:off x="5859775" y="2163600"/>
            <a:ext cx="1581300" cy="1585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/>
          <p:nvPr/>
        </p:nvCxnSpPr>
        <p:spPr>
          <a:xfrm>
            <a:off x="3583300" y="2163600"/>
            <a:ext cx="2314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/>
          <p:nvPr/>
        </p:nvCxnSpPr>
        <p:spPr>
          <a:xfrm>
            <a:off x="7441075" y="228220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/>
          <p:nvPr/>
        </p:nvSpPr>
        <p:spPr>
          <a:xfrm flipH="1">
            <a:off x="4711939" y="9841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4527450" y="794775"/>
            <a:ext cx="1370700" cy="1368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3" name="Google Shape;83;p15"/>
          <p:cNvSpPr txBox="1"/>
          <p:nvPr/>
        </p:nvSpPr>
        <p:spPr>
          <a:xfrm>
            <a:off x="7044425" y="27255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929875" y="15382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90" name="Google Shape;90;p16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92" name="Google Shape;92;p16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" name="Google Shape;96;p16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flipH="1" rot="-5400000">
            <a:off x="4916575" y="1838025"/>
            <a:ext cx="172200" cy="25341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3" name="Google Shape;103;p16"/>
          <p:cNvSpPr txBox="1"/>
          <p:nvPr/>
        </p:nvSpPr>
        <p:spPr>
          <a:xfrm>
            <a:off x="4709199" y="3332375"/>
            <a:ext cx="621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2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 flipH="1" rot="-2700000">
            <a:off x="6945826" y="2687246"/>
            <a:ext cx="172251" cy="2503158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5" name="Google Shape;105;p16"/>
          <p:cNvSpPr txBox="1"/>
          <p:nvPr/>
        </p:nvSpPr>
        <p:spPr>
          <a:xfrm>
            <a:off x="6501075" y="3837075"/>
            <a:ext cx="433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8750" y="104647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9" name="Google Shape;109;p16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15" name="Google Shape;115;p17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117" name="Google Shape;117;p17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7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" name="Google Shape;121;p17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8750" y="104647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0" y="3909300"/>
            <a:ext cx="36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location of the end effector is the </a:t>
            </a:r>
            <a:r>
              <a:rPr lang="en" sz="1800"/>
              <a:t>unknown</a:t>
            </a:r>
            <a:r>
              <a:rPr lang="en" sz="1800"/>
              <a:t> variable</a:t>
            </a:r>
            <a:endParaRPr sz="1800"/>
          </a:p>
        </p:txBody>
      </p:sp>
      <p:sp>
        <p:nvSpPr>
          <p:cNvPr id="130" name="Google Shape;130;p17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cxnSp>
        <p:nvCxnSpPr>
          <p:cNvPr id="132" name="Google Shape;132;p17"/>
          <p:cNvCxnSpPr>
            <a:stCxn id="129" idx="0"/>
            <a:endCxn id="123" idx="2"/>
          </p:cNvCxnSpPr>
          <p:nvPr/>
        </p:nvCxnSpPr>
        <p:spPr>
          <a:xfrm flipH="1" rot="10800000">
            <a:off x="1827900" y="2904600"/>
            <a:ext cx="1803000" cy="100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7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34" name="Google Shape;134;p17"/>
          <p:cNvCxnSpPr/>
          <p:nvPr/>
        </p:nvCxnSpPr>
        <p:spPr>
          <a:xfrm rot="10800000">
            <a:off x="8075113" y="2245641"/>
            <a:ext cx="0" cy="252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7"/>
          <p:cNvCxnSpPr/>
          <p:nvPr/>
        </p:nvCxnSpPr>
        <p:spPr>
          <a:xfrm rot="10800000">
            <a:off x="5664800" y="4648191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7"/>
          <p:cNvSpPr txBox="1"/>
          <p:nvPr/>
        </p:nvSpPr>
        <p:spPr>
          <a:xfrm flipH="1">
            <a:off x="8075122" y="27548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 flipH="1">
            <a:off x="6247784" y="464820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44" name="Google Shape;144;p18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146" name="Google Shape;146;p18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8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8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8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0" name="Google Shape;150;p18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0" y="3816900"/>
            <a:ext cx="3655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</a:t>
            </a:r>
            <a:r>
              <a:rPr lang="en" sz="1800"/>
              <a:t>position</a:t>
            </a:r>
            <a:r>
              <a:rPr lang="en" sz="1800"/>
              <a:t> of the end effector will be a sum of the vertical and horizontal displacement of each joint</a:t>
            </a:r>
            <a:endParaRPr sz="1800"/>
          </a:p>
        </p:txBody>
      </p:sp>
      <p:sp>
        <p:nvSpPr>
          <p:cNvPr id="159" name="Google Shape;159;p18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 flipH="1" rot="10800000">
            <a:off x="8342275" y="2767875"/>
            <a:ext cx="172200" cy="1870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2" name="Google Shape;162;p18"/>
          <p:cNvSpPr txBox="1"/>
          <p:nvPr/>
        </p:nvSpPr>
        <p:spPr>
          <a:xfrm>
            <a:off x="8533525" y="32818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3" name="Google Shape;163;p18"/>
          <p:cNvSpPr/>
          <p:nvPr/>
        </p:nvSpPr>
        <p:spPr>
          <a:xfrm flipH="1" rot="5400000">
            <a:off x="7106125" y="1503450"/>
            <a:ext cx="172200" cy="18135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4" name="Google Shape;164;p18"/>
          <p:cNvSpPr txBox="1"/>
          <p:nvPr/>
        </p:nvSpPr>
        <p:spPr>
          <a:xfrm>
            <a:off x="6886975" y="1755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5" name="Google Shape;165;p18"/>
          <p:cNvSpPr/>
          <p:nvPr/>
        </p:nvSpPr>
        <p:spPr>
          <a:xfrm rot="5400000">
            <a:off x="4933750" y="1865850"/>
            <a:ext cx="172200" cy="25815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6" name="Google Shape;166;p18"/>
          <p:cNvSpPr txBox="1"/>
          <p:nvPr/>
        </p:nvSpPr>
        <p:spPr>
          <a:xfrm>
            <a:off x="4635050" y="32818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19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9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9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76" name="Google Shape;176;p19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" name="Google Shape;177;p19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9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9"/>
          <p:cNvSpPr txBox="1"/>
          <p:nvPr/>
        </p:nvSpPr>
        <p:spPr>
          <a:xfrm>
            <a:off x="76772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0" y="3816900"/>
            <a:ext cx="36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displacement can be represented by triangles</a:t>
            </a:r>
            <a:endParaRPr sz="1800"/>
          </a:p>
        </p:txBody>
      </p:sp>
      <p:sp>
        <p:nvSpPr>
          <p:cNvPr id="188" name="Google Shape;188;p19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492526" y="23823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Each link has its own triangle</a:t>
            </a:r>
            <a:endParaRPr sz="1800"/>
          </a:p>
        </p:txBody>
      </p:sp>
      <p:sp>
        <p:nvSpPr>
          <p:cNvPr id="198" name="Google Shape;198;p20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200" name="Google Shape;200;p20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8" name="Google Shape;208;p20"/>
          <p:cNvSpPr/>
          <p:nvPr/>
        </p:nvSpPr>
        <p:spPr>
          <a:xfrm flipH="1" rot="10800000">
            <a:off x="8342275" y="2767875"/>
            <a:ext cx="172200" cy="1870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9" name="Google Shape;209;p20"/>
          <p:cNvSpPr txBox="1"/>
          <p:nvPr/>
        </p:nvSpPr>
        <p:spPr>
          <a:xfrm>
            <a:off x="8533525" y="32818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0" name="Google Shape;210;p20"/>
          <p:cNvSpPr/>
          <p:nvPr/>
        </p:nvSpPr>
        <p:spPr>
          <a:xfrm flipH="1" rot="5400000">
            <a:off x="7106125" y="1503450"/>
            <a:ext cx="172200" cy="18135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1" name="Google Shape;211;p20"/>
          <p:cNvSpPr txBox="1"/>
          <p:nvPr/>
        </p:nvSpPr>
        <p:spPr>
          <a:xfrm>
            <a:off x="6886975" y="1755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0" y="640000"/>
            <a:ext cx="3300000" cy="29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is the hypotenuse of the upper arm triangle (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To use sin and cos, we need the angle between the link and vertical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Upper arm: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is already measured from vertical, so we use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700000" y="3760000"/>
            <a:ext cx="63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forearm uses 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 + 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219" name="Google Shape;219;p21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221" name="Google Shape;221;p21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1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1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1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5" name="Google Shape;225;p21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30" name="Google Shape;230;p21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0" y="640000"/>
            <a:ext cx="330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is the hypotenuse of the forearm triangle (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is measured from the upper arm’s direction, not from vertical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From vertical, the forearm has turned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+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baseline="-25000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Here: 45° + 45° = 90°, so the forearm is horizontal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Check: if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0° the arm is straight, so the angle is just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233" name="Google Shape;233;p21"/>
          <p:cNvSpPr/>
          <p:nvPr/>
        </p:nvSpPr>
        <p:spPr>
          <a:xfrm flipH="1" rot="2700000">
            <a:off x="4993005" y="15729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234" name="Google Shape;234;p21"/>
          <p:cNvCxnSpPr/>
          <p:nvPr/>
        </p:nvCxnSpPr>
        <p:spPr>
          <a:xfrm>
            <a:off x="6285433" y="12457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5" name="Google Shape;235;p21"/>
          <p:cNvSpPr txBox="1"/>
          <p:nvPr/>
        </p:nvSpPr>
        <p:spPr>
          <a:xfrm>
            <a:off x="5836859" y="17470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420000" y="2400000"/>
            <a:ext cx="63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380000" y="1010000"/>
            <a:ext cx="129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vertical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520000" y="1190000"/>
            <a:ext cx="234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upper arm’s direction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22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2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2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2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7" name="Google Shape;247;p22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 calculate the position of the end point:</a:t>
            </a:r>
            <a:endParaRPr sz="1800"/>
          </a:p>
        </p:txBody>
      </p:sp>
      <p:sp>
        <p:nvSpPr>
          <p:cNvPr id="248" name="Google Shape;248;p22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2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2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2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0" y="4617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0" y="1803600"/>
            <a:ext cx="4208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example, 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 is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hypotenuse of a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triangle.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Using 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/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250*(√2/2)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699950" y="3637050"/>
            <a:ext cx="433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23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3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3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3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2" name="Google Shape;272;p23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calculate the position of the end point:</a:t>
            </a:r>
            <a:endParaRPr sz="1800"/>
          </a:p>
        </p:txBody>
      </p:sp>
      <p:sp>
        <p:nvSpPr>
          <p:cNvPr id="273" name="Google Shape;273;p23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4" name="Google Shape;274;p23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3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3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-19050" y="305611"/>
            <a:ext cx="22128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= 176.777mm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0" y="830000"/>
            <a:ext cx="42084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/>
              <a:t>):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/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250*(√2/2)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= 176.777mm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forearm angle is 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+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90°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sin(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+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250*sin(90°) = 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baseline="-25000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250mm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+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250*cos(90°)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baseline="-25000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0mm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4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4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4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4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6" name="Google Shape;296;p24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calculate the position of the end point:</a:t>
            </a:r>
            <a:endParaRPr sz="1800"/>
          </a:p>
        </p:txBody>
      </p:sp>
      <p:sp>
        <p:nvSpPr>
          <p:cNvPr id="297" name="Google Shape;297;p24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24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4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24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0" y="461711"/>
            <a:ext cx="22128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chemeClr val="dk1"/>
                </a:solidFill>
              </a:rPr>
              <a:t> = 250mm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chemeClr val="dk1"/>
                </a:solidFill>
              </a:rPr>
              <a:t> = 0mm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0" y="3434250"/>
            <a:ext cx="30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+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,</a:t>
            </a: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+ </a:t>
            </a: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(X,Y) = 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1749600" y="1338575"/>
            <a:ext cx="7394400" cy="38049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Completed Variables</a:t>
            </a:r>
            <a:endParaRPr sz="1800"/>
          </a:p>
        </p:txBody>
      </p:sp>
      <p:sp>
        <p:nvSpPr>
          <p:cNvPr id="318" name="Google Shape;318;p25"/>
          <p:cNvSpPr txBox="1"/>
          <p:nvPr/>
        </p:nvSpPr>
        <p:spPr>
          <a:xfrm>
            <a:off x="0" y="3524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2563600" y="2923925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20" name="Google Shape;320;p25"/>
          <p:cNvSpPr/>
          <p:nvPr/>
        </p:nvSpPr>
        <p:spPr>
          <a:xfrm flipH="1" rot="2700000">
            <a:off x="6298104" y="2571483"/>
            <a:ext cx="2285935" cy="2285935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25"/>
          <p:cNvCxnSpPr/>
          <p:nvPr/>
        </p:nvCxnSpPr>
        <p:spPr>
          <a:xfrm>
            <a:off x="5859775" y="2163600"/>
            <a:ext cx="1581300" cy="1585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5"/>
          <p:cNvCxnSpPr/>
          <p:nvPr/>
        </p:nvCxnSpPr>
        <p:spPr>
          <a:xfrm>
            <a:off x="3583300" y="2163600"/>
            <a:ext cx="2314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5"/>
          <p:cNvCxnSpPr/>
          <p:nvPr/>
        </p:nvCxnSpPr>
        <p:spPr>
          <a:xfrm>
            <a:off x="7441075" y="228220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4" name="Google Shape;324;p25"/>
          <p:cNvSpPr/>
          <p:nvPr/>
        </p:nvSpPr>
        <p:spPr>
          <a:xfrm flipH="1">
            <a:off x="4711939" y="9841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25"/>
          <p:cNvCxnSpPr/>
          <p:nvPr/>
        </p:nvCxnSpPr>
        <p:spPr>
          <a:xfrm>
            <a:off x="4776400" y="1041900"/>
            <a:ext cx="1121700" cy="1121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6" name="Google Shape;326;p25"/>
          <p:cNvSpPr txBox="1"/>
          <p:nvPr/>
        </p:nvSpPr>
        <p:spPr>
          <a:xfrm>
            <a:off x="7044425" y="27255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4929875" y="15382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3506979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57406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7326779" y="3600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25"/>
          <p:cNvCxnSpPr>
            <a:stCxn id="319" idx="0"/>
            <a:endCxn id="328" idx="4"/>
          </p:cNvCxnSpPr>
          <p:nvPr/>
        </p:nvCxnSpPr>
        <p:spPr>
          <a:xfrm rot="10800000">
            <a:off x="3621400" y="2278025"/>
            <a:ext cx="48600" cy="64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6"/>
          <p:cNvPicPr preferRelativeResize="0"/>
          <p:nvPr/>
        </p:nvPicPr>
        <p:blipFill rotWithShape="1">
          <a:blip r:embed="rId3">
            <a:alphaModFix/>
          </a:blip>
          <a:srcRect b="0" l="34989" r="0" t="0"/>
          <a:stretch/>
        </p:blipFill>
        <p:spPr>
          <a:xfrm>
            <a:off x="3199500" y="29225"/>
            <a:ext cx="594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Yourself:</a:t>
            </a:r>
            <a:endParaRPr sz="1800"/>
          </a:p>
        </p:txBody>
      </p:sp>
      <p:sp>
        <p:nvSpPr>
          <p:cNvPr id="338" name="Google Shape;338;p26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3080400" y="2049300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40" name="Google Shape;340;p26"/>
          <p:cNvCxnSpPr/>
          <p:nvPr/>
        </p:nvCxnSpPr>
        <p:spPr>
          <a:xfrm>
            <a:off x="6551182" y="2098052"/>
            <a:ext cx="1041600" cy="1793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6"/>
          <p:cNvCxnSpPr/>
          <p:nvPr/>
        </p:nvCxnSpPr>
        <p:spPr>
          <a:xfrm>
            <a:off x="4806900" y="1062800"/>
            <a:ext cx="1744200" cy="10644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6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" name="Google Shape;343;p26"/>
          <p:cNvSpPr/>
          <p:nvPr/>
        </p:nvSpPr>
        <p:spPr>
          <a:xfrm flipH="1" rot="1801033">
            <a:off x="5526423" y="985996"/>
            <a:ext cx="2286011" cy="2286011"/>
          </a:xfrm>
          <a:prstGeom prst="blockArc">
            <a:avLst>
              <a:gd fmla="val 2005319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26"/>
          <p:cNvCxnSpPr/>
          <p:nvPr/>
        </p:nvCxnSpPr>
        <p:spPr>
          <a:xfrm>
            <a:off x="5966053" y="1020050"/>
            <a:ext cx="663900" cy="1149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5" name="Google Shape;345;p26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5902100" y="124797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4701279" y="984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64532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26"/>
          <p:cNvCxnSpPr>
            <a:stCxn id="339" idx="0"/>
            <a:endCxn id="347" idx="4"/>
          </p:cNvCxnSpPr>
          <p:nvPr/>
        </p:nvCxnSpPr>
        <p:spPr>
          <a:xfrm flipH="1" rot="10800000">
            <a:off x="4186800" y="1212600"/>
            <a:ext cx="628800" cy="836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26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7"/>
          <p:cNvPicPr preferRelativeResize="0"/>
          <p:nvPr/>
        </p:nvPicPr>
        <p:blipFill rotWithShape="1">
          <a:blip r:embed="rId3">
            <a:alphaModFix/>
          </a:blip>
          <a:srcRect b="0" l="34989" r="0" t="0"/>
          <a:stretch/>
        </p:blipFill>
        <p:spPr>
          <a:xfrm>
            <a:off x="3199500" y="29225"/>
            <a:ext cx="594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Yourself:</a:t>
            </a:r>
            <a:endParaRPr sz="1800"/>
          </a:p>
        </p:txBody>
      </p:sp>
      <p:sp>
        <p:nvSpPr>
          <p:cNvPr id="358" name="Google Shape;358;p27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3080400" y="2049300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60" name="Google Shape;360;p27"/>
          <p:cNvCxnSpPr/>
          <p:nvPr/>
        </p:nvCxnSpPr>
        <p:spPr>
          <a:xfrm>
            <a:off x="6551182" y="2098052"/>
            <a:ext cx="1041600" cy="1793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7"/>
          <p:cNvCxnSpPr/>
          <p:nvPr/>
        </p:nvCxnSpPr>
        <p:spPr>
          <a:xfrm>
            <a:off x="4806900" y="1062800"/>
            <a:ext cx="1744200" cy="10644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7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3" name="Google Shape;363;p27"/>
          <p:cNvSpPr/>
          <p:nvPr/>
        </p:nvSpPr>
        <p:spPr>
          <a:xfrm flipH="1" rot="1801033">
            <a:off x="5526423" y="985996"/>
            <a:ext cx="2286011" cy="2286011"/>
          </a:xfrm>
          <a:prstGeom prst="blockArc">
            <a:avLst>
              <a:gd fmla="val 2005319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27"/>
          <p:cNvCxnSpPr/>
          <p:nvPr/>
        </p:nvCxnSpPr>
        <p:spPr>
          <a:xfrm>
            <a:off x="5966053" y="1020050"/>
            <a:ext cx="663900" cy="1149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5" name="Google Shape;365;p27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5902100" y="124797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701279" y="984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64532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27"/>
          <p:cNvCxnSpPr>
            <a:stCxn id="359" idx="0"/>
            <a:endCxn id="367" idx="4"/>
          </p:cNvCxnSpPr>
          <p:nvPr/>
        </p:nvCxnSpPr>
        <p:spPr>
          <a:xfrm flipH="1" rot="10800000">
            <a:off x="4186800" y="1212600"/>
            <a:ext cx="628800" cy="836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27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0" y="2750850"/>
            <a:ext cx="290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(X,Y) = (341.506, 341.506)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/>
          <p:cNvPicPr preferRelativeResize="0"/>
          <p:nvPr/>
        </p:nvPicPr>
        <p:blipFill rotWithShape="1">
          <a:blip r:embed="rId3">
            <a:alphaModFix/>
          </a:blip>
          <a:srcRect b="0" l="16276" r="0" t="0"/>
          <a:stretch/>
        </p:blipFill>
        <p:spPr>
          <a:xfrm>
            <a:off x="2323361" y="567500"/>
            <a:ext cx="6882064" cy="46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8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 2:</a:t>
            </a:r>
            <a:endParaRPr sz="1800"/>
          </a:p>
        </p:txBody>
      </p:sp>
      <p:sp>
        <p:nvSpPr>
          <p:cNvPr id="379" name="Google Shape;379;p28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2411725" y="2496575"/>
            <a:ext cx="9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81" name="Google Shape;381;p28"/>
          <p:cNvCxnSpPr/>
          <p:nvPr/>
        </p:nvCxnSpPr>
        <p:spPr>
          <a:xfrm>
            <a:off x="5788775" y="2821825"/>
            <a:ext cx="1803900" cy="10698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8"/>
          <p:cNvCxnSpPr/>
          <p:nvPr/>
        </p:nvCxnSpPr>
        <p:spPr>
          <a:xfrm>
            <a:off x="3980388" y="1735200"/>
            <a:ext cx="1859700" cy="11229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8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4" name="Google Shape;384;p28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3872604" y="16456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5682579" y="27110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8" name="Google Shape;388;p28"/>
          <p:cNvCxnSpPr>
            <a:endCxn id="385" idx="3"/>
          </p:cNvCxnSpPr>
          <p:nvPr/>
        </p:nvCxnSpPr>
        <p:spPr>
          <a:xfrm flipH="1" rot="10800000">
            <a:off x="3351682" y="1840771"/>
            <a:ext cx="554400" cy="87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28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9"/>
          <p:cNvPicPr preferRelativeResize="0"/>
          <p:nvPr/>
        </p:nvPicPr>
        <p:blipFill rotWithShape="1">
          <a:blip r:embed="rId3">
            <a:alphaModFix/>
          </a:blip>
          <a:srcRect b="0" l="16276" r="0" t="0"/>
          <a:stretch/>
        </p:blipFill>
        <p:spPr>
          <a:xfrm>
            <a:off x="2323361" y="567500"/>
            <a:ext cx="6882064" cy="46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9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 2:</a:t>
            </a:r>
            <a:endParaRPr sz="1800"/>
          </a:p>
        </p:txBody>
      </p:sp>
      <p:sp>
        <p:nvSpPr>
          <p:cNvPr id="396" name="Google Shape;396;p29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2411725" y="2496575"/>
            <a:ext cx="9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98" name="Google Shape;398;p29"/>
          <p:cNvCxnSpPr/>
          <p:nvPr/>
        </p:nvCxnSpPr>
        <p:spPr>
          <a:xfrm>
            <a:off x="5788775" y="2821825"/>
            <a:ext cx="1803900" cy="10698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9"/>
          <p:cNvCxnSpPr/>
          <p:nvPr/>
        </p:nvCxnSpPr>
        <p:spPr>
          <a:xfrm>
            <a:off x="3980388" y="1735200"/>
            <a:ext cx="1859700" cy="11229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9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1" name="Google Shape;401;p29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3872604" y="16456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682579" y="27110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" name="Google Shape;405;p29"/>
          <p:cNvCxnSpPr>
            <a:endCxn id="402" idx="3"/>
          </p:cNvCxnSpPr>
          <p:nvPr/>
        </p:nvCxnSpPr>
        <p:spPr>
          <a:xfrm flipH="1" rot="10800000">
            <a:off x="3351682" y="1840771"/>
            <a:ext cx="554400" cy="87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29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0" y="2571750"/>
            <a:ext cx="247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</a:t>
            </a:r>
            <a:r>
              <a:rPr lang="en" sz="1800">
                <a:solidFill>
                  <a:srgbClr val="FF0000"/>
                </a:solidFill>
              </a:rPr>
              <a:t>433.013</a:t>
            </a:r>
            <a:r>
              <a:rPr lang="en" sz="1800">
                <a:solidFill>
                  <a:srgbClr val="FF0000"/>
                </a:solidFill>
              </a:rPr>
              <a:t>, 250)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Forward Kinematics With Base Rotation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13" name="Google Shape;413;p30"/>
          <p:cNvPicPr preferRelativeResize="0"/>
          <p:nvPr/>
        </p:nvPicPr>
        <p:blipFill rotWithShape="1">
          <a:blip r:embed="rId3">
            <a:alphaModFix/>
          </a:blip>
          <a:srcRect b="0" l="0" r="10250" t="0"/>
          <a:stretch/>
        </p:blipFill>
        <p:spPr>
          <a:xfrm>
            <a:off x="2160225" y="766500"/>
            <a:ext cx="6983776" cy="437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/>
        </p:nvSpPr>
        <p:spPr>
          <a:xfrm>
            <a:off x="0" y="0"/>
            <a:ext cx="594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arm’s forward kinematics with base rotation is dependent on rotation around the center point of the base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0" y="3432300"/>
            <a:ext cx="37491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</a:t>
            </a:r>
            <a:br>
              <a:rPr lang="en" sz="2400"/>
            </a:br>
            <a:r>
              <a:rPr lang="en" sz="2400">
                <a:solidFill>
                  <a:srgbClr val="FF0000"/>
                </a:solidFill>
              </a:rPr>
              <a:t>R = Horizontal distance from end effector to base center point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420" name="Google Shape;4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650" y="1684450"/>
            <a:ext cx="6149352" cy="345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31"/>
          <p:cNvCxnSpPr>
            <a:stCxn id="422" idx="6"/>
            <a:endCxn id="423" idx="2"/>
          </p:cNvCxnSpPr>
          <p:nvPr/>
        </p:nvCxnSpPr>
        <p:spPr>
          <a:xfrm rot="10800000">
            <a:off x="4374454" y="4056699"/>
            <a:ext cx="30729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1"/>
          <p:cNvSpPr/>
          <p:nvPr/>
        </p:nvSpPr>
        <p:spPr>
          <a:xfrm>
            <a:off x="7218754" y="39423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3210400" y="1633925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425" name="Google Shape;425;p31"/>
          <p:cNvCxnSpPr>
            <a:stCxn id="424" idx="2"/>
            <a:endCxn id="426" idx="1"/>
          </p:cNvCxnSpPr>
          <p:nvPr/>
        </p:nvCxnSpPr>
        <p:spPr>
          <a:xfrm>
            <a:off x="3575950" y="2095625"/>
            <a:ext cx="831900" cy="66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31"/>
          <p:cNvSpPr txBox="1"/>
          <p:nvPr/>
        </p:nvSpPr>
        <p:spPr>
          <a:xfrm>
            <a:off x="5560100" y="3191225"/>
            <a:ext cx="569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R</a:t>
            </a:r>
            <a:endParaRPr baseline="-25000" sz="1736">
              <a:solidFill>
                <a:srgbClr val="FF0000"/>
              </a:solidFill>
            </a:endParaRPr>
          </a:p>
        </p:txBody>
      </p:sp>
      <p:cxnSp>
        <p:nvCxnSpPr>
          <p:cNvPr id="428" name="Google Shape;428;p31"/>
          <p:cNvCxnSpPr>
            <a:stCxn id="423" idx="4"/>
            <a:endCxn id="426" idx="0"/>
          </p:cNvCxnSpPr>
          <p:nvPr/>
        </p:nvCxnSpPr>
        <p:spPr>
          <a:xfrm rot="10800000">
            <a:off x="4488704" y="2722599"/>
            <a:ext cx="0" cy="1448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6" name="Google Shape;426;p31"/>
          <p:cNvSpPr/>
          <p:nvPr/>
        </p:nvSpPr>
        <p:spPr>
          <a:xfrm>
            <a:off x="4374404" y="272272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1"/>
          <p:cNvSpPr/>
          <p:nvPr/>
        </p:nvSpPr>
        <p:spPr>
          <a:xfrm>
            <a:off x="4374404" y="39423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 rot="-5400000">
            <a:off x="5777102" y="2291900"/>
            <a:ext cx="267600" cy="28464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2"/>
          <p:cNvPicPr preferRelativeResize="0"/>
          <p:nvPr/>
        </p:nvPicPr>
        <p:blipFill rotWithShape="1">
          <a:blip r:embed="rId3">
            <a:alphaModFix/>
          </a:blip>
          <a:srcRect b="0" l="22383" r="20225" t="0"/>
          <a:stretch/>
        </p:blipFill>
        <p:spPr>
          <a:xfrm flipH="1">
            <a:off x="4206252" y="303875"/>
            <a:ext cx="4937748" cy="4839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32"/>
          <p:cNvCxnSpPr>
            <a:stCxn id="436" idx="5"/>
            <a:endCxn id="437" idx="1"/>
          </p:cNvCxnSpPr>
          <p:nvPr/>
        </p:nvCxnSpPr>
        <p:spPr>
          <a:xfrm rot="10800000">
            <a:off x="5749451" y="1765121"/>
            <a:ext cx="2124600" cy="2143800"/>
          </a:xfrm>
          <a:prstGeom prst="straightConnector1">
            <a:avLst/>
          </a:prstGeom>
          <a:noFill/>
          <a:ln cap="flat" cmpd="sng" w="1143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32"/>
          <p:cNvSpPr/>
          <p:nvPr/>
        </p:nvSpPr>
        <p:spPr>
          <a:xfrm>
            <a:off x="5715904" y="17317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2"/>
          <p:cNvSpPr/>
          <p:nvPr/>
        </p:nvSpPr>
        <p:spPr>
          <a:xfrm>
            <a:off x="7678929" y="37137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/>
          <p:nvPr/>
        </p:nvSpPr>
        <p:spPr>
          <a:xfrm rot="-2700000">
            <a:off x="6864694" y="1246491"/>
            <a:ext cx="267711" cy="2799719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39" name="Google Shape;439;p32"/>
          <p:cNvSpPr txBox="1"/>
          <p:nvPr/>
        </p:nvSpPr>
        <p:spPr>
          <a:xfrm>
            <a:off x="0" y="0"/>
            <a:ext cx="489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is variable because the end effector can move away or closer to the base center point, horizontally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40" name="Google Shape;440;p32"/>
          <p:cNvPicPr preferRelativeResize="0"/>
          <p:nvPr/>
        </p:nvPicPr>
        <p:blipFill rotWithShape="1">
          <a:blip r:embed="rId4">
            <a:alphaModFix/>
          </a:blip>
          <a:srcRect b="0" l="19010" r="21360" t="0"/>
          <a:stretch/>
        </p:blipFill>
        <p:spPr>
          <a:xfrm flipH="1">
            <a:off x="-1" y="935025"/>
            <a:ext cx="4461284" cy="4208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32"/>
          <p:cNvCxnSpPr/>
          <p:nvPr/>
        </p:nvCxnSpPr>
        <p:spPr>
          <a:xfrm rot="10800000">
            <a:off x="1505359" y="2367193"/>
            <a:ext cx="1365300" cy="1340100"/>
          </a:xfrm>
          <a:prstGeom prst="straightConnector1">
            <a:avLst/>
          </a:prstGeom>
          <a:noFill/>
          <a:ln cap="flat" cmpd="sng" w="10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2"/>
          <p:cNvSpPr/>
          <p:nvPr/>
        </p:nvSpPr>
        <p:spPr>
          <a:xfrm>
            <a:off x="1440339" y="2294152"/>
            <a:ext cx="212400" cy="212400"/>
          </a:xfrm>
          <a:prstGeom prst="ellipse">
            <a:avLst/>
          </a:prstGeom>
          <a:solidFill>
            <a:srgbClr val="F1C23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50" lIns="84950" spcFirstLastPara="1" rIns="84950" wrap="square" tIns="8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sp>
        <p:nvSpPr>
          <p:cNvPr id="443" name="Google Shape;443;p32"/>
          <p:cNvSpPr/>
          <p:nvPr/>
        </p:nvSpPr>
        <p:spPr>
          <a:xfrm>
            <a:off x="2732046" y="3585866"/>
            <a:ext cx="212400" cy="212400"/>
          </a:xfrm>
          <a:prstGeom prst="ellipse">
            <a:avLst/>
          </a:prstGeom>
          <a:solidFill>
            <a:srgbClr val="F1C23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50" lIns="84950" spcFirstLastPara="1" rIns="84950" wrap="square" tIns="8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sp>
        <p:nvSpPr>
          <p:cNvPr id="444" name="Google Shape;444;p32"/>
          <p:cNvSpPr/>
          <p:nvPr/>
        </p:nvSpPr>
        <p:spPr>
          <a:xfrm rot="-2700000">
            <a:off x="2344816" y="2009686"/>
            <a:ext cx="241406" cy="1798880"/>
          </a:xfrm>
          <a:prstGeom prst="rightBracket">
            <a:avLst>
              <a:gd fmla="val 0" name="adj"/>
            </a:avLst>
          </a:prstGeom>
          <a:noFill/>
          <a:ln cap="flat" cmpd="sng" w="66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00" lIns="79500" spcFirstLastPara="1" rIns="79500" wrap="square" tIns="79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/>
          </a:p>
        </p:txBody>
      </p:sp>
      <p:sp>
        <p:nvSpPr>
          <p:cNvPr id="445" name="Google Shape;445;p32"/>
          <p:cNvSpPr txBox="1"/>
          <p:nvPr/>
        </p:nvSpPr>
        <p:spPr>
          <a:xfrm rot="2700000">
            <a:off x="2558863" y="2357206"/>
            <a:ext cx="558756" cy="529906"/>
          </a:xfrm>
          <a:prstGeom prst="rect">
            <a:avLst/>
          </a:prstGeom>
          <a:noFill/>
          <a:ln>
            <a:noFill/>
          </a:ln>
        </p:spPr>
        <p:txBody>
          <a:bodyPr anchorCtr="0" anchor="t" bIns="79500" lIns="79500" spcFirstLastPara="1" rIns="79500" wrap="square" tIns="79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endParaRPr baseline="-25000" sz="2400">
              <a:solidFill>
                <a:srgbClr val="FF0000"/>
              </a:solidFill>
            </a:endParaRPr>
          </a:p>
        </p:txBody>
      </p:sp>
      <p:sp>
        <p:nvSpPr>
          <p:cNvPr id="446" name="Google Shape;446;p32"/>
          <p:cNvSpPr txBox="1"/>
          <p:nvPr/>
        </p:nvSpPr>
        <p:spPr>
          <a:xfrm rot="2700000">
            <a:off x="6946938" y="1954156"/>
            <a:ext cx="558756" cy="529906"/>
          </a:xfrm>
          <a:prstGeom prst="rect">
            <a:avLst/>
          </a:prstGeom>
          <a:noFill/>
          <a:ln>
            <a:noFill/>
          </a:ln>
        </p:spPr>
        <p:txBody>
          <a:bodyPr anchorCtr="0" anchor="t" bIns="79500" lIns="79500" spcFirstLastPara="1" rIns="79500" wrap="square" tIns="79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endParaRPr baseline="-25000" sz="2400">
              <a:solidFill>
                <a:srgbClr val="FF0000"/>
              </a:solidFill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4556613" y="2446638"/>
            <a:ext cx="126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r>
              <a:rPr lang="en" sz="2400">
                <a:solidFill>
                  <a:srgbClr val="FF0000"/>
                </a:solidFill>
              </a:rPr>
              <a:t> &lt; R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forms a circle around the center of the base when rotated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53" name="Google Shape;453;p33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33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33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56" name="Google Shape;456;p33"/>
          <p:cNvSpPr/>
          <p:nvPr/>
        </p:nvSpPr>
        <p:spPr>
          <a:xfrm flipH="1" rot="2700000">
            <a:off x="6247518" y="1203637"/>
            <a:ext cx="270256" cy="2014830"/>
          </a:xfrm>
          <a:prstGeom prst="rightBracket">
            <a:avLst>
              <a:gd fmla="val 0" name="adj"/>
            </a:avLst>
          </a:prstGeom>
          <a:noFill/>
          <a:ln cap="flat" cmpd="sng" w="74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050" lIns="89050" spcFirstLastPara="1" rIns="89050" wrap="square" tIns="8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3"/>
          </a:p>
        </p:txBody>
      </p:sp>
      <p:sp>
        <p:nvSpPr>
          <p:cNvPr id="457" name="Google Shape;457;p33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58" name="Google Shape;458;p33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59" name="Google Shape;459;p33"/>
          <p:cNvSpPr txBox="1"/>
          <p:nvPr/>
        </p:nvSpPr>
        <p:spPr>
          <a:xfrm flipH="1" rot="-2700000">
            <a:off x="5933587" y="1571414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65" name="Google Shape;465;p34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 </a:t>
            </a:r>
            <a:r>
              <a:rPr lang="en" sz="1800"/>
              <a:t>is known because we can measure the rotation of the base actuator with its encoder</a:t>
            </a:r>
            <a:endParaRPr sz="1800"/>
          </a:p>
        </p:txBody>
      </p:sp>
      <p:pic>
        <p:nvPicPr>
          <p:cNvPr id="466" name="Google Shape;466;p34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34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34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469" name="Google Shape;469;p34"/>
          <p:cNvCxnSpPr>
            <a:stCxn id="470" idx="4"/>
          </p:cNvCxnSpPr>
          <p:nvPr/>
        </p:nvCxnSpPr>
        <p:spPr>
          <a:xfrm rot="10800000">
            <a:off x="5936684" y="1040816"/>
            <a:ext cx="28500" cy="2166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1" name="Google Shape;471;p34"/>
          <p:cNvSpPr/>
          <p:nvPr/>
        </p:nvSpPr>
        <p:spPr>
          <a:xfrm flipH="1" rot="7495862">
            <a:off x="4816167" y="1768938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"/>
          <p:cNvSpPr txBox="1"/>
          <p:nvPr/>
        </p:nvSpPr>
        <p:spPr>
          <a:xfrm>
            <a:off x="5965175" y="19539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73" name="Google Shape;473;p34"/>
          <p:cNvSpPr txBox="1"/>
          <p:nvPr/>
        </p:nvSpPr>
        <p:spPr>
          <a:xfrm flipH="1" rot="-2700000">
            <a:off x="6661887" y="2522739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470" name="Google Shape;470;p34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79" name="Google Shape;479;p35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 if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is calculated, the position of the end effector in 3D space can be determined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80" name="Google Shape;480;p35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35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5"/>
          <p:cNvCxnSpPr>
            <a:stCxn id="483" idx="4"/>
          </p:cNvCxnSpPr>
          <p:nvPr/>
        </p:nvCxnSpPr>
        <p:spPr>
          <a:xfrm rot="10800000">
            <a:off x="5965184" y="1048616"/>
            <a:ext cx="0" cy="215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5"/>
          <p:cNvCxnSpPr>
            <a:stCxn id="483" idx="4"/>
          </p:cNvCxnSpPr>
          <p:nvPr/>
        </p:nvCxnSpPr>
        <p:spPr>
          <a:xfrm rot="10800000">
            <a:off x="5965184" y="685316"/>
            <a:ext cx="0" cy="252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5"/>
          <p:cNvCxnSpPr>
            <a:stCxn id="483" idx="6"/>
          </p:cNvCxnSpPr>
          <p:nvPr/>
        </p:nvCxnSpPr>
        <p:spPr>
          <a:xfrm>
            <a:off x="5846234" y="3087866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p35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86" name="Google Shape;486;p35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87" name="Google Shape;487;p35"/>
          <p:cNvSpPr/>
          <p:nvPr/>
        </p:nvSpPr>
        <p:spPr>
          <a:xfrm flipH="1" rot="7495862">
            <a:off x="4816167" y="1768938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5"/>
          <p:cNvSpPr txBox="1"/>
          <p:nvPr/>
        </p:nvSpPr>
        <p:spPr>
          <a:xfrm>
            <a:off x="5965175" y="19539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89" name="Google Shape;489;p35"/>
          <p:cNvSpPr txBox="1"/>
          <p:nvPr/>
        </p:nvSpPr>
        <p:spPr>
          <a:xfrm flipH="1" rot="-2700000">
            <a:off x="6664687" y="2522739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490" name="Google Shape;490;p35"/>
          <p:cNvSpPr txBox="1"/>
          <p:nvPr/>
        </p:nvSpPr>
        <p:spPr>
          <a:xfrm>
            <a:off x="5846225" y="109925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(X,Z)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491" name="Google Shape;491;p35"/>
          <p:cNvCxnSpPr>
            <a:stCxn id="490" idx="2"/>
          </p:cNvCxnSpPr>
          <p:nvPr/>
        </p:nvCxnSpPr>
        <p:spPr>
          <a:xfrm>
            <a:off x="6211775" y="571625"/>
            <a:ext cx="1116000" cy="9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35"/>
          <p:cNvSpPr txBox="1"/>
          <p:nvPr/>
        </p:nvSpPr>
        <p:spPr>
          <a:xfrm>
            <a:off x="5611475" y="1194550"/>
            <a:ext cx="3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7428050" y="30878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 flipH="1">
            <a:off x="2343831" y="977302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99" name="Google Shape;499;p36"/>
          <p:cNvSpPr txBox="1"/>
          <p:nvPr/>
        </p:nvSpPr>
        <p:spPr>
          <a:xfrm>
            <a:off x="0" y="0"/>
            <a:ext cx="2954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problem can be represented as a circle with a radius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find </a:t>
            </a:r>
            <a:r>
              <a:rPr lang="en" sz="1800">
                <a:solidFill>
                  <a:srgbClr val="FF0000"/>
                </a:solidFill>
              </a:rPr>
              <a:t>(X,Z)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1. Find </a:t>
            </a:r>
            <a:r>
              <a:rPr lang="en" sz="1800">
                <a:solidFill>
                  <a:srgbClr val="FF0000"/>
                </a:solidFill>
              </a:rPr>
              <a:t>R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2. Calculate the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location of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on the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circle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500" name="Google Shape;500;p36"/>
          <p:cNvCxnSpPr/>
          <p:nvPr/>
        </p:nvCxnSpPr>
        <p:spPr>
          <a:xfrm flipH="1" rot="10800000">
            <a:off x="4364327" y="1549076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6"/>
          <p:cNvCxnSpPr>
            <a:stCxn id="502" idx="4"/>
          </p:cNvCxnSpPr>
          <p:nvPr/>
        </p:nvCxnSpPr>
        <p:spPr>
          <a:xfrm rot="10800000">
            <a:off x="4400622" y="993678"/>
            <a:ext cx="0" cy="215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6"/>
          <p:cNvCxnSpPr>
            <a:stCxn id="502" idx="4"/>
          </p:cNvCxnSpPr>
          <p:nvPr/>
        </p:nvCxnSpPr>
        <p:spPr>
          <a:xfrm rot="10800000">
            <a:off x="4400622" y="659778"/>
            <a:ext cx="0" cy="2492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36"/>
          <p:cNvCxnSpPr>
            <a:stCxn id="502" idx="6"/>
          </p:cNvCxnSpPr>
          <p:nvPr/>
        </p:nvCxnSpPr>
        <p:spPr>
          <a:xfrm>
            <a:off x="4281672" y="3032928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p36"/>
          <p:cNvSpPr/>
          <p:nvPr/>
        </p:nvSpPr>
        <p:spPr>
          <a:xfrm flipH="1">
            <a:off x="4281672" y="2913978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05" name="Google Shape;505;p36"/>
          <p:cNvSpPr/>
          <p:nvPr/>
        </p:nvSpPr>
        <p:spPr>
          <a:xfrm flipH="1">
            <a:off x="5728371" y="1467272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06" name="Google Shape;506;p36"/>
          <p:cNvSpPr/>
          <p:nvPr/>
        </p:nvSpPr>
        <p:spPr>
          <a:xfrm flipH="1" rot="7495862">
            <a:off x="3251604" y="1714000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 txBox="1"/>
          <p:nvPr/>
        </p:nvSpPr>
        <p:spPr>
          <a:xfrm>
            <a:off x="4400613" y="189901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508" name="Google Shape;508;p36"/>
          <p:cNvSpPr txBox="1"/>
          <p:nvPr/>
        </p:nvSpPr>
        <p:spPr>
          <a:xfrm flipH="1" rot="-2700000">
            <a:off x="5100125" y="2141501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509" name="Google Shape;509;p36"/>
          <p:cNvSpPr txBox="1"/>
          <p:nvPr/>
        </p:nvSpPr>
        <p:spPr>
          <a:xfrm>
            <a:off x="4281663" y="54988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(X,Z)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510" name="Google Shape;510;p36"/>
          <p:cNvCxnSpPr>
            <a:stCxn id="509" idx="2"/>
          </p:cNvCxnSpPr>
          <p:nvPr/>
        </p:nvCxnSpPr>
        <p:spPr>
          <a:xfrm>
            <a:off x="4647213" y="516688"/>
            <a:ext cx="1116000" cy="9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36"/>
          <p:cNvSpPr txBox="1"/>
          <p:nvPr/>
        </p:nvSpPr>
        <p:spPr>
          <a:xfrm>
            <a:off x="4046913" y="1139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5863488" y="30329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Example Problem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18" name="Google Shape;518;p37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37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37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1" name="Google Shape;521;p37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2" name="Google Shape;522;p37"/>
          <p:cNvCxnSpPr>
            <a:stCxn id="523" idx="2"/>
            <a:endCxn id="524" idx="6"/>
          </p:cNvCxnSpPr>
          <p:nvPr/>
        </p:nvCxnSpPr>
        <p:spPr>
          <a:xfrm rot="10800000">
            <a:off x="3221384" y="3228291"/>
            <a:ext cx="3621600" cy="29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7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7"/>
          <p:cNvCxnSpPr>
            <a:stCxn id="527" idx="2"/>
            <a:endCxn id="528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37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27" name="Google Shape;527;p37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529" name="Google Shape;529;p37"/>
          <p:cNvCxnSpPr>
            <a:stCxn id="528" idx="0"/>
            <a:endCxn id="524" idx="4"/>
          </p:cNvCxnSpPr>
          <p:nvPr/>
        </p:nvCxnSpPr>
        <p:spPr>
          <a:xfrm flipH="1">
            <a:off x="3340384" y="1576366"/>
            <a:ext cx="27900" cy="1770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4" name="Google Shape;524;p37"/>
          <p:cNvSpPr/>
          <p:nvPr/>
        </p:nvSpPr>
        <p:spPr>
          <a:xfrm flipH="1">
            <a:off x="3221310" y="3109294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28" name="Google Shape;528;p37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30" name="Google Shape;530;p37"/>
          <p:cNvSpPr/>
          <p:nvPr/>
        </p:nvSpPr>
        <p:spPr>
          <a:xfrm flipH="1">
            <a:off x="4460475" y="1695325"/>
            <a:ext cx="4361100" cy="3458400"/>
          </a:xfrm>
          <a:prstGeom prst="blockArc">
            <a:avLst>
              <a:gd fmla="val 21519197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4558375" y="33679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13450" y="3242275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33" name="Google Shape;533;p37"/>
          <p:cNvSpPr txBox="1"/>
          <p:nvPr/>
        </p:nvSpPr>
        <p:spPr>
          <a:xfrm>
            <a:off x="3869275" y="4008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34" name="Google Shape;534;p37"/>
          <p:cNvSpPr txBox="1"/>
          <p:nvPr/>
        </p:nvSpPr>
        <p:spPr>
          <a:xfrm>
            <a:off x="6765275" y="1413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35" name="Google Shape;535;p37"/>
          <p:cNvSpPr txBox="1"/>
          <p:nvPr/>
        </p:nvSpPr>
        <p:spPr>
          <a:xfrm>
            <a:off x="4530700" y="2390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/>
          <p:nvPr/>
        </p:nvSpPr>
        <p:spPr>
          <a:xfrm rot="-5400000">
            <a:off x="3306150" y="-389000"/>
            <a:ext cx="4139400" cy="6202800"/>
          </a:xfrm>
          <a:prstGeom prst="parallelogram">
            <a:avLst>
              <a:gd fmla="val 11778" name="adj"/>
            </a:avLst>
          </a:prstGeom>
          <a:solidFill>
            <a:srgbClr val="FFDD00">
              <a:alpha val="1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8"/>
          <p:cNvSpPr txBox="1"/>
          <p:nvPr/>
        </p:nvSpPr>
        <p:spPr>
          <a:xfrm>
            <a:off x="0" y="0"/>
            <a:ext cx="29541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This problem can be split into two 2D problems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Solving for R: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along the arm's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own XY plane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Solving for X and Z: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Along the XZ plane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42" name="Google Shape;542;p38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38"/>
          <p:cNvCxnSpPr/>
          <p:nvPr/>
        </p:nvCxnSpPr>
        <p:spPr>
          <a:xfrm rot="10800000">
            <a:off x="3430875" y="3242275"/>
            <a:ext cx="3306900" cy="28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8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8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8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8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8"/>
          <p:cNvCxnSpPr>
            <a:stCxn id="549" idx="2"/>
            <a:endCxn id="550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38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49" name="Google Shape;549;p38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552" name="Google Shape;552;p38"/>
          <p:cNvCxnSpPr>
            <a:stCxn id="550" idx="0"/>
            <a:endCxn id="553" idx="4"/>
          </p:cNvCxnSpPr>
          <p:nvPr/>
        </p:nvCxnSpPr>
        <p:spPr>
          <a:xfrm flipH="1">
            <a:off x="3333484" y="1576366"/>
            <a:ext cx="34800" cy="1771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3" name="Google Shape;553;p38"/>
          <p:cNvSpPr/>
          <p:nvPr/>
        </p:nvSpPr>
        <p:spPr>
          <a:xfrm flipH="1">
            <a:off x="3214560" y="3110017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50" name="Google Shape;550;p38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54" name="Google Shape;554;p38"/>
          <p:cNvSpPr/>
          <p:nvPr/>
        </p:nvSpPr>
        <p:spPr>
          <a:xfrm flipH="1" rot="-701495">
            <a:off x="4839033" y="3083401"/>
            <a:ext cx="4204431" cy="1421248"/>
          </a:xfrm>
          <a:prstGeom prst="parallelogram">
            <a:avLst>
              <a:gd fmla="val 135279" name="adj"/>
            </a:avLst>
          </a:prstGeom>
          <a:solidFill>
            <a:srgbClr val="00FF00">
              <a:alpha val="150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"/>
          <p:cNvSpPr txBox="1"/>
          <p:nvPr/>
        </p:nvSpPr>
        <p:spPr>
          <a:xfrm>
            <a:off x="0" y="0"/>
            <a:ext cx="295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problem can be solved along these two planes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60" name="Google Shape;560;p39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0" y="2452379"/>
            <a:ext cx="4984376" cy="2564809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9"/>
          <p:cNvSpPr/>
          <p:nvPr/>
        </p:nvSpPr>
        <p:spPr>
          <a:xfrm flipH="1" rot="2700000">
            <a:off x="3065985" y="3283435"/>
            <a:ext cx="1540927" cy="1540927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625" lIns="61625" spcFirstLastPara="1" rIns="61625" wrap="square" tIns="6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4"/>
          </a:p>
        </p:txBody>
      </p:sp>
      <p:cxnSp>
        <p:nvCxnSpPr>
          <p:cNvPr id="562" name="Google Shape;562;p39"/>
          <p:cNvCxnSpPr/>
          <p:nvPr/>
        </p:nvCxnSpPr>
        <p:spPr>
          <a:xfrm>
            <a:off x="2770563" y="3008509"/>
            <a:ext cx="1065900" cy="1068600"/>
          </a:xfrm>
          <a:prstGeom prst="straightConnector1">
            <a:avLst/>
          </a:prstGeom>
          <a:noFill/>
          <a:ln cap="flat" cmpd="sng" w="51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1236050" y="3008509"/>
            <a:ext cx="1560300" cy="0"/>
          </a:xfrm>
          <a:prstGeom prst="straightConnector1">
            <a:avLst/>
          </a:prstGeom>
          <a:noFill/>
          <a:ln cap="flat" cmpd="sng" w="51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9"/>
          <p:cNvCxnSpPr/>
          <p:nvPr/>
        </p:nvCxnSpPr>
        <p:spPr>
          <a:xfrm>
            <a:off x="3836477" y="3088454"/>
            <a:ext cx="0" cy="988800"/>
          </a:xfrm>
          <a:prstGeom prst="straightConnector1">
            <a:avLst/>
          </a:prstGeom>
          <a:noFill/>
          <a:ln cap="flat" cmpd="sng" w="256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5" name="Google Shape;565;p39"/>
          <p:cNvSpPr/>
          <p:nvPr/>
        </p:nvSpPr>
        <p:spPr>
          <a:xfrm flipH="1">
            <a:off x="1996970" y="2213475"/>
            <a:ext cx="1540800" cy="15408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625" lIns="61625" spcFirstLastPara="1" rIns="61625" wrap="square" tIns="6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4"/>
          </a:p>
        </p:txBody>
      </p:sp>
      <p:cxnSp>
        <p:nvCxnSpPr>
          <p:cNvPr id="566" name="Google Shape;566;p39"/>
          <p:cNvCxnSpPr/>
          <p:nvPr/>
        </p:nvCxnSpPr>
        <p:spPr>
          <a:xfrm>
            <a:off x="2040288" y="2252398"/>
            <a:ext cx="756000" cy="756000"/>
          </a:xfrm>
          <a:prstGeom prst="straightConnector1">
            <a:avLst/>
          </a:prstGeom>
          <a:noFill/>
          <a:ln cap="flat" cmpd="sng" w="256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7" name="Google Shape;567;p39"/>
          <p:cNvSpPr txBox="1"/>
          <p:nvPr/>
        </p:nvSpPr>
        <p:spPr>
          <a:xfrm>
            <a:off x="3569105" y="3387272"/>
            <a:ext cx="472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1625" lIns="61625" spcFirstLastPara="1" rIns="61625" wrap="square" tIns="61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3">
                <a:solidFill>
                  <a:srgbClr val="FF0000"/>
                </a:solidFill>
              </a:rPr>
              <a:t>θ</a:t>
            </a:r>
            <a:r>
              <a:rPr baseline="-25000" lang="en" sz="1213">
                <a:solidFill>
                  <a:srgbClr val="FF0000"/>
                </a:solidFill>
              </a:rPr>
              <a:t>1</a:t>
            </a:r>
            <a:endParaRPr baseline="-25000" sz="1213">
              <a:solidFill>
                <a:srgbClr val="FF0000"/>
              </a:solidFill>
            </a:endParaRPr>
          </a:p>
        </p:txBody>
      </p:sp>
      <p:sp>
        <p:nvSpPr>
          <p:cNvPr id="568" name="Google Shape;568;p39"/>
          <p:cNvSpPr txBox="1"/>
          <p:nvPr/>
        </p:nvSpPr>
        <p:spPr>
          <a:xfrm>
            <a:off x="2143742" y="2586975"/>
            <a:ext cx="472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1625" lIns="61625" spcFirstLastPara="1" rIns="61625" wrap="square" tIns="61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3">
                <a:solidFill>
                  <a:srgbClr val="FF0000"/>
                </a:solidFill>
              </a:rPr>
              <a:t>θ</a:t>
            </a:r>
            <a:r>
              <a:rPr baseline="-25000" lang="en" sz="1213">
                <a:solidFill>
                  <a:srgbClr val="FF0000"/>
                </a:solidFill>
              </a:rPr>
              <a:t>2</a:t>
            </a:r>
            <a:endParaRPr baseline="-25000" sz="1213">
              <a:solidFill>
                <a:srgbClr val="FF0000"/>
              </a:solidFill>
            </a:endParaRPr>
          </a:p>
        </p:txBody>
      </p:sp>
      <p:sp>
        <p:nvSpPr>
          <p:cNvPr id="569" name="Google Shape;569;p39"/>
          <p:cNvSpPr/>
          <p:nvPr/>
        </p:nvSpPr>
        <p:spPr>
          <a:xfrm flipH="1">
            <a:off x="5608044" y="1881297"/>
            <a:ext cx="3264000" cy="3262200"/>
          </a:xfrm>
          <a:prstGeom prst="ellipse">
            <a:avLst/>
          </a:prstGeom>
          <a:noFill/>
          <a:ln cap="flat" cmpd="sng" w="6772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4"/>
          </a:p>
        </p:txBody>
      </p:sp>
      <p:cxnSp>
        <p:nvCxnSpPr>
          <p:cNvPr id="570" name="Google Shape;570;p39"/>
          <p:cNvCxnSpPr/>
          <p:nvPr/>
        </p:nvCxnSpPr>
        <p:spPr>
          <a:xfrm flipH="1" rot="10800000">
            <a:off x="7211217" y="2334909"/>
            <a:ext cx="1213200" cy="1191000"/>
          </a:xfrm>
          <a:prstGeom prst="straightConnector1">
            <a:avLst/>
          </a:prstGeom>
          <a:noFill/>
          <a:ln cap="flat" cmpd="sng" w="94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9"/>
          <p:cNvCxnSpPr>
            <a:stCxn id="572" idx="4"/>
          </p:cNvCxnSpPr>
          <p:nvPr/>
        </p:nvCxnSpPr>
        <p:spPr>
          <a:xfrm rot="10800000">
            <a:off x="7240050" y="1894299"/>
            <a:ext cx="0" cy="1712400"/>
          </a:xfrm>
          <a:prstGeom prst="straightConnector1">
            <a:avLst/>
          </a:prstGeom>
          <a:noFill/>
          <a:ln cap="flat" cmpd="sng" w="302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9"/>
          <p:cNvCxnSpPr>
            <a:stCxn id="572" idx="4"/>
          </p:cNvCxnSpPr>
          <p:nvPr/>
        </p:nvCxnSpPr>
        <p:spPr>
          <a:xfrm rot="10800000">
            <a:off x="7240050" y="1629399"/>
            <a:ext cx="0" cy="1977300"/>
          </a:xfrm>
          <a:prstGeom prst="straightConnector1">
            <a:avLst/>
          </a:prstGeom>
          <a:noFill/>
          <a:ln cap="flat" cmpd="sng" w="30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9"/>
          <p:cNvCxnSpPr>
            <a:stCxn id="572" idx="6"/>
          </p:cNvCxnSpPr>
          <p:nvPr/>
        </p:nvCxnSpPr>
        <p:spPr>
          <a:xfrm>
            <a:off x="7145700" y="3512349"/>
            <a:ext cx="1998300" cy="0"/>
          </a:xfrm>
          <a:prstGeom prst="straightConnector1">
            <a:avLst/>
          </a:prstGeom>
          <a:noFill/>
          <a:ln cap="flat" cmpd="sng" w="30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" name="Google Shape;572;p39"/>
          <p:cNvSpPr/>
          <p:nvPr/>
        </p:nvSpPr>
        <p:spPr>
          <a:xfrm flipH="1">
            <a:off x="7145700" y="3417999"/>
            <a:ext cx="188700" cy="188700"/>
          </a:xfrm>
          <a:prstGeom prst="ellipse">
            <a:avLst/>
          </a:prstGeom>
          <a:solidFill>
            <a:srgbClr val="F1C232"/>
          </a:solidFill>
          <a:ln cap="flat" cmpd="sng" w="7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00" lIns="75500" spcFirstLastPara="1" rIns="75500" wrap="square" tIns="7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/>
          </a:p>
        </p:txBody>
      </p:sp>
      <p:sp>
        <p:nvSpPr>
          <p:cNvPr id="575" name="Google Shape;575;p39"/>
          <p:cNvSpPr/>
          <p:nvPr/>
        </p:nvSpPr>
        <p:spPr>
          <a:xfrm flipH="1">
            <a:off x="8293621" y="2270075"/>
            <a:ext cx="188700" cy="188700"/>
          </a:xfrm>
          <a:prstGeom prst="ellipse">
            <a:avLst/>
          </a:prstGeom>
          <a:solidFill>
            <a:srgbClr val="F1C232"/>
          </a:solidFill>
          <a:ln cap="flat" cmpd="sng" w="7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00" lIns="75500" spcFirstLastPara="1" rIns="75500" wrap="square" tIns="7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/>
          </a:p>
        </p:txBody>
      </p:sp>
      <p:sp>
        <p:nvSpPr>
          <p:cNvPr id="576" name="Google Shape;576;p39"/>
          <p:cNvSpPr/>
          <p:nvPr/>
        </p:nvSpPr>
        <p:spPr>
          <a:xfrm flipH="1" rot="7495841">
            <a:off x="6328260" y="2465783"/>
            <a:ext cx="1813879" cy="181387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50" lIns="72550" spcFirstLastPara="1" rIns="72550" wrap="square" tIns="7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/>
          </a:p>
        </p:txBody>
      </p:sp>
      <p:sp>
        <p:nvSpPr>
          <p:cNvPr id="577" name="Google Shape;577;p39"/>
          <p:cNvSpPr txBox="1"/>
          <p:nvPr/>
        </p:nvSpPr>
        <p:spPr>
          <a:xfrm>
            <a:off x="7240008" y="2612650"/>
            <a:ext cx="556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θ</a:t>
            </a:r>
            <a:r>
              <a:rPr baseline="-25000" lang="en" sz="1428">
                <a:solidFill>
                  <a:srgbClr val="FF0000"/>
                </a:solidFill>
              </a:rPr>
              <a:t>3</a:t>
            </a:r>
            <a:endParaRPr baseline="-25000" sz="1428">
              <a:solidFill>
                <a:srgbClr val="FF0000"/>
              </a:solidFill>
            </a:endParaRPr>
          </a:p>
        </p:txBody>
      </p:sp>
      <p:sp>
        <p:nvSpPr>
          <p:cNvPr id="578" name="Google Shape;578;p39"/>
          <p:cNvSpPr txBox="1"/>
          <p:nvPr/>
        </p:nvSpPr>
        <p:spPr>
          <a:xfrm flipH="1" rot="-2700000">
            <a:off x="7794998" y="2805082"/>
            <a:ext cx="388202" cy="356806"/>
          </a:xfrm>
          <a:prstGeom prst="rect">
            <a:avLst/>
          </a:prstGeom>
          <a:noFill/>
          <a:ln>
            <a:noFill/>
          </a:ln>
        </p:spPr>
        <p:txBody>
          <a:bodyPr anchorCtr="0" anchor="t" bIns="70650" lIns="70650" spcFirstLastPara="1" rIns="70650" wrap="square" tIns="70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>
                <a:solidFill>
                  <a:srgbClr val="FF0000"/>
                </a:solidFill>
              </a:rPr>
              <a:t>R</a:t>
            </a:r>
            <a:endParaRPr baseline="-25000" sz="1390">
              <a:solidFill>
                <a:srgbClr val="FF0000"/>
              </a:solidFill>
            </a:endParaRPr>
          </a:p>
        </p:txBody>
      </p:sp>
      <p:sp>
        <p:nvSpPr>
          <p:cNvPr id="579" name="Google Shape;579;p39"/>
          <p:cNvSpPr txBox="1"/>
          <p:nvPr/>
        </p:nvSpPr>
        <p:spPr>
          <a:xfrm>
            <a:off x="6959356" y="2010086"/>
            <a:ext cx="28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X</a:t>
            </a:r>
            <a:endParaRPr sz="1428">
              <a:solidFill>
                <a:srgbClr val="FF0000"/>
              </a:solidFill>
            </a:endParaRPr>
          </a:p>
        </p:txBody>
      </p:sp>
      <p:sp>
        <p:nvSpPr>
          <p:cNvPr id="580" name="Google Shape;580;p39"/>
          <p:cNvSpPr txBox="1"/>
          <p:nvPr/>
        </p:nvSpPr>
        <p:spPr>
          <a:xfrm>
            <a:off x="8400765" y="3512389"/>
            <a:ext cx="28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Z</a:t>
            </a:r>
            <a:endParaRPr sz="1428">
              <a:solidFill>
                <a:srgbClr val="FF0000"/>
              </a:solidFill>
            </a:endParaRPr>
          </a:p>
        </p:txBody>
      </p:sp>
      <p:cxnSp>
        <p:nvCxnSpPr>
          <p:cNvPr id="581" name="Google Shape;581;p39"/>
          <p:cNvCxnSpPr>
            <a:endCxn id="582" idx="2"/>
          </p:cNvCxnSpPr>
          <p:nvPr/>
        </p:nvCxnSpPr>
        <p:spPr>
          <a:xfrm rot="10800000">
            <a:off x="1191388" y="4099306"/>
            <a:ext cx="2601600" cy="0"/>
          </a:xfrm>
          <a:prstGeom prst="straightConnector1">
            <a:avLst/>
          </a:prstGeom>
          <a:noFill/>
          <a:ln cap="flat" cmpd="sng" w="64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9"/>
          <p:cNvCxnSpPr>
            <a:stCxn id="582" idx="4"/>
          </p:cNvCxnSpPr>
          <p:nvPr/>
        </p:nvCxnSpPr>
        <p:spPr>
          <a:xfrm rot="10800000">
            <a:off x="1288138" y="2969656"/>
            <a:ext cx="0" cy="1226400"/>
          </a:xfrm>
          <a:prstGeom prst="straightConnector1">
            <a:avLst/>
          </a:prstGeom>
          <a:noFill/>
          <a:ln cap="flat" cmpd="sng" w="3225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2" name="Google Shape;582;p39"/>
          <p:cNvSpPr/>
          <p:nvPr/>
        </p:nvSpPr>
        <p:spPr>
          <a:xfrm>
            <a:off x="1191388" y="4002556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84" name="Google Shape;584;p39"/>
          <p:cNvSpPr/>
          <p:nvPr/>
        </p:nvSpPr>
        <p:spPr>
          <a:xfrm flipH="1" rot="-5400000">
            <a:off x="2438801" y="3136650"/>
            <a:ext cx="226800" cy="2529900"/>
          </a:xfrm>
          <a:prstGeom prst="rightBracket">
            <a:avLst>
              <a:gd fmla="val 0" name="adj"/>
            </a:avLst>
          </a:prstGeom>
          <a:noFill/>
          <a:ln cap="flat" cmpd="sng" w="62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75" lIns="74675" spcFirstLastPara="1" rIns="74675" wrap="square" tIns="74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585" name="Google Shape;585;p39"/>
          <p:cNvSpPr/>
          <p:nvPr/>
        </p:nvSpPr>
        <p:spPr>
          <a:xfrm>
            <a:off x="3739688" y="3985681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86" name="Google Shape;586;p39"/>
          <p:cNvSpPr/>
          <p:nvPr/>
        </p:nvSpPr>
        <p:spPr>
          <a:xfrm>
            <a:off x="1191388" y="2936231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87" name="Google Shape;587;p39"/>
          <p:cNvSpPr txBox="1"/>
          <p:nvPr/>
        </p:nvSpPr>
        <p:spPr>
          <a:xfrm>
            <a:off x="1996975" y="4515000"/>
            <a:ext cx="569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R</a:t>
            </a:r>
            <a:endParaRPr baseline="-25000" sz="1736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0"/>
          <p:cNvSpPr txBox="1"/>
          <p:nvPr/>
        </p:nvSpPr>
        <p:spPr>
          <a:xfrm>
            <a:off x="0" y="0"/>
            <a:ext cx="295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will be equal to the 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>
                <a:solidFill>
                  <a:schemeClr val="dk1"/>
                </a:solidFill>
              </a:rPr>
              <a:t> value we calculated when analyzing this position in 2D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93" name="Google Shape;593;p40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2595950" y="1608128"/>
            <a:ext cx="6548048" cy="336943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0"/>
          <p:cNvSpPr/>
          <p:nvPr/>
        </p:nvSpPr>
        <p:spPr>
          <a:xfrm flipH="1" rot="2700000">
            <a:off x="6623991" y="2699991"/>
            <a:ext cx="2024164" cy="2024164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/>
          </a:p>
        </p:txBody>
      </p:sp>
      <p:cxnSp>
        <p:nvCxnSpPr>
          <p:cNvPr id="595" name="Google Shape;595;p40"/>
          <p:cNvCxnSpPr/>
          <p:nvPr/>
        </p:nvCxnSpPr>
        <p:spPr>
          <a:xfrm>
            <a:off x="6235681" y="2338725"/>
            <a:ext cx="1400400" cy="1403700"/>
          </a:xfrm>
          <a:prstGeom prst="straightConnector1">
            <a:avLst/>
          </a:prstGeom>
          <a:noFill/>
          <a:ln cap="flat" cmpd="sng" w="675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0"/>
          <p:cNvCxnSpPr/>
          <p:nvPr/>
        </p:nvCxnSpPr>
        <p:spPr>
          <a:xfrm>
            <a:off x="4219767" y="2338725"/>
            <a:ext cx="2049900" cy="0"/>
          </a:xfrm>
          <a:prstGeom prst="straightConnector1">
            <a:avLst/>
          </a:prstGeom>
          <a:noFill/>
          <a:ln cap="flat" cmpd="sng" w="675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0"/>
          <p:cNvCxnSpPr/>
          <p:nvPr/>
        </p:nvCxnSpPr>
        <p:spPr>
          <a:xfrm>
            <a:off x="7635987" y="2443751"/>
            <a:ext cx="0" cy="1299000"/>
          </a:xfrm>
          <a:prstGeom prst="straightConnector1">
            <a:avLst/>
          </a:prstGeom>
          <a:noFill/>
          <a:ln cap="flat" cmpd="sng" w="337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8" name="Google Shape;598;p40"/>
          <p:cNvSpPr/>
          <p:nvPr/>
        </p:nvSpPr>
        <p:spPr>
          <a:xfrm flipH="1">
            <a:off x="5219472" y="1294275"/>
            <a:ext cx="2024100" cy="20241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/>
          </a:p>
        </p:txBody>
      </p:sp>
      <p:cxnSp>
        <p:nvCxnSpPr>
          <p:cNvPr id="599" name="Google Shape;599;p40"/>
          <p:cNvCxnSpPr/>
          <p:nvPr/>
        </p:nvCxnSpPr>
        <p:spPr>
          <a:xfrm>
            <a:off x="5276307" y="1345409"/>
            <a:ext cx="993300" cy="993300"/>
          </a:xfrm>
          <a:prstGeom prst="straightConnector1">
            <a:avLst/>
          </a:prstGeom>
          <a:noFill/>
          <a:ln cap="flat" cmpd="sng" w="337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0" name="Google Shape;600;p40"/>
          <p:cNvSpPr txBox="1"/>
          <p:nvPr/>
        </p:nvSpPr>
        <p:spPr>
          <a:xfrm>
            <a:off x="7284737" y="2836313"/>
            <a:ext cx="620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FF0000"/>
                </a:solidFill>
              </a:rPr>
              <a:t>θ</a:t>
            </a:r>
            <a:r>
              <a:rPr baseline="-25000" lang="en" sz="1594">
                <a:solidFill>
                  <a:srgbClr val="FF0000"/>
                </a:solidFill>
              </a:rPr>
              <a:t>1</a:t>
            </a:r>
            <a:endParaRPr baseline="-25000" sz="1594">
              <a:solidFill>
                <a:srgbClr val="FF0000"/>
              </a:solidFill>
            </a:endParaRPr>
          </a:p>
        </p:txBody>
      </p:sp>
      <p:sp>
        <p:nvSpPr>
          <p:cNvPr id="601" name="Google Shape;601;p40"/>
          <p:cNvSpPr txBox="1"/>
          <p:nvPr/>
        </p:nvSpPr>
        <p:spPr>
          <a:xfrm>
            <a:off x="5412215" y="1784949"/>
            <a:ext cx="620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FF0000"/>
                </a:solidFill>
              </a:rPr>
              <a:t>θ</a:t>
            </a:r>
            <a:r>
              <a:rPr baseline="-25000" lang="en" sz="1594">
                <a:solidFill>
                  <a:srgbClr val="FF0000"/>
                </a:solidFill>
              </a:rPr>
              <a:t>2</a:t>
            </a:r>
            <a:endParaRPr baseline="-25000" sz="1594">
              <a:solidFill>
                <a:srgbClr val="FF0000"/>
              </a:solidFill>
            </a:endParaRPr>
          </a:p>
        </p:txBody>
      </p:sp>
      <p:cxnSp>
        <p:nvCxnSpPr>
          <p:cNvPr id="602" name="Google Shape;602;p40"/>
          <p:cNvCxnSpPr>
            <a:endCxn id="603" idx="2"/>
          </p:cNvCxnSpPr>
          <p:nvPr/>
        </p:nvCxnSpPr>
        <p:spPr>
          <a:xfrm rot="10800000">
            <a:off x="4161093" y="3771673"/>
            <a:ext cx="3417900" cy="0"/>
          </a:xfrm>
          <a:prstGeom prst="straightConnector1">
            <a:avLst/>
          </a:prstGeom>
          <a:noFill/>
          <a:ln cap="flat" cmpd="sng" w="84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0"/>
          <p:cNvCxnSpPr>
            <a:stCxn id="603" idx="4"/>
          </p:cNvCxnSpPr>
          <p:nvPr/>
        </p:nvCxnSpPr>
        <p:spPr>
          <a:xfrm rot="10800000">
            <a:off x="4288143" y="2287723"/>
            <a:ext cx="0" cy="1611000"/>
          </a:xfrm>
          <a:prstGeom prst="straightConnector1">
            <a:avLst/>
          </a:prstGeom>
          <a:noFill/>
          <a:ln cap="flat" cmpd="sng" w="423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3" name="Google Shape;603;p40"/>
          <p:cNvSpPr/>
          <p:nvPr/>
        </p:nvSpPr>
        <p:spPr>
          <a:xfrm>
            <a:off x="4161093" y="3644623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605" name="Google Shape;605;p40"/>
          <p:cNvSpPr/>
          <p:nvPr/>
        </p:nvSpPr>
        <p:spPr>
          <a:xfrm flipH="1" rot="-5400000">
            <a:off x="5799930" y="2506979"/>
            <a:ext cx="297900" cy="3323700"/>
          </a:xfrm>
          <a:prstGeom prst="rightBracket">
            <a:avLst>
              <a:gd fmla="val 0" name="adj"/>
            </a:avLst>
          </a:prstGeom>
          <a:noFill/>
          <a:ln cap="flat" cmpd="sng" w="817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606" name="Google Shape;606;p40"/>
          <p:cNvSpPr/>
          <p:nvPr/>
        </p:nvSpPr>
        <p:spPr>
          <a:xfrm>
            <a:off x="7508834" y="3622454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607" name="Google Shape;607;p40"/>
          <p:cNvSpPr/>
          <p:nvPr/>
        </p:nvSpPr>
        <p:spPr>
          <a:xfrm>
            <a:off x="4161093" y="2243773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608" name="Google Shape;608;p40"/>
          <p:cNvSpPr txBox="1"/>
          <p:nvPr/>
        </p:nvSpPr>
        <p:spPr>
          <a:xfrm>
            <a:off x="5219406" y="4317830"/>
            <a:ext cx="7479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875" lIns="115875" spcFirstLastPara="1" rIns="115875" wrap="square" tIns="115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81">
                <a:solidFill>
                  <a:srgbClr val="FF0000"/>
                </a:solidFill>
              </a:rPr>
              <a:t>R</a:t>
            </a:r>
            <a:endParaRPr baseline="-25000" sz="2281">
              <a:solidFill>
                <a:srgbClr val="FF0000"/>
              </a:solidFill>
            </a:endParaRPr>
          </a:p>
        </p:txBody>
      </p:sp>
      <p:sp>
        <p:nvSpPr>
          <p:cNvPr id="609" name="Google Shape;609;p40"/>
          <p:cNvSpPr txBox="1"/>
          <p:nvPr/>
        </p:nvSpPr>
        <p:spPr>
          <a:xfrm>
            <a:off x="0" y="2497875"/>
            <a:ext cx="2954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this problem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(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=250mm,</a:t>
            </a:r>
            <a:r>
              <a:rPr lang="en" sz="1800">
                <a:solidFill>
                  <a:srgbClr val="FF0000"/>
                </a:solidFill>
              </a:rPr>
              <a:t> 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/>
              <a:t>=250mm,</a:t>
            </a:r>
            <a:r>
              <a:rPr lang="en" sz="1800">
                <a:solidFill>
                  <a:srgbClr val="FF0000"/>
                </a:solidFill>
              </a:rPr>
              <a:t> 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=45°,</a:t>
            </a:r>
            <a:r>
              <a:rPr lang="en" sz="1800">
                <a:solidFill>
                  <a:srgbClr val="FF0000"/>
                </a:solidFill>
              </a:rPr>
              <a:t> 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/>
              <a:t>=45°)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solved it already and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determined (X,Y) to equal</a:t>
            </a:r>
            <a:br>
              <a:rPr lang="en" sz="1800"/>
            </a:br>
            <a:r>
              <a:rPr lang="en" sz="1800"/>
              <a:t>(</a:t>
            </a:r>
            <a:r>
              <a:rPr lang="en" sz="1800">
                <a:solidFill>
                  <a:srgbClr val="FF0000"/>
                </a:solidFill>
              </a:rPr>
              <a:t>426.777</a:t>
            </a:r>
            <a:r>
              <a:rPr lang="en" sz="1800"/>
              <a:t>,</a:t>
            </a:r>
            <a:r>
              <a:rPr lang="en" sz="1800">
                <a:solidFill>
                  <a:srgbClr val="FF0000"/>
                </a:solidFill>
              </a:rPr>
              <a:t> 176.777</a:t>
            </a: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this frame, R=x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Therefore,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/>
              <a:t>=426.78mm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and </a:t>
            </a:r>
            <a:r>
              <a:rPr lang="en" sz="1800">
                <a:solidFill>
                  <a:srgbClr val="FF0000"/>
                </a:solidFill>
              </a:rPr>
              <a:t>Y</a:t>
            </a:r>
            <a:r>
              <a:rPr lang="en" sz="1800">
                <a:solidFill>
                  <a:schemeClr val="dk1"/>
                </a:solidFill>
              </a:rPr>
              <a:t>=176.78mm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10" name="Google Shape;610;p40"/>
          <p:cNvSpPr txBox="1"/>
          <p:nvPr/>
        </p:nvSpPr>
        <p:spPr>
          <a:xfrm>
            <a:off x="3494125" y="161120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(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/>
              <a:t>,</a:t>
            </a:r>
            <a:r>
              <a:rPr lang="en" sz="1800">
                <a:solidFill>
                  <a:srgbClr val="FF0000"/>
                </a:solidFill>
              </a:rPr>
              <a:t> Y</a:t>
            </a:r>
            <a:r>
              <a:rPr lang="en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1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Along the XZ Plane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16" name="Google Shape;616;p41"/>
          <p:cNvSpPr/>
          <p:nvPr/>
        </p:nvSpPr>
        <p:spPr>
          <a:xfrm flipH="1">
            <a:off x="7017486" y="3148934"/>
            <a:ext cx="1962900" cy="1962000"/>
          </a:xfrm>
          <a:prstGeom prst="ellipse">
            <a:avLst/>
          </a:prstGeom>
          <a:noFill/>
          <a:ln cap="flat" cmpd="sng" w="4072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8850" lIns="48850" spcFirstLastPara="1" rIns="48850" wrap="square" tIns="4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8"/>
          </a:p>
        </p:txBody>
      </p:sp>
      <p:cxnSp>
        <p:nvCxnSpPr>
          <p:cNvPr id="617" name="Google Shape;617;p41"/>
          <p:cNvCxnSpPr/>
          <p:nvPr/>
        </p:nvCxnSpPr>
        <p:spPr>
          <a:xfrm flipH="1" rot="10800000">
            <a:off x="7981513" y="3421654"/>
            <a:ext cx="729600" cy="716400"/>
          </a:xfrm>
          <a:prstGeom prst="straightConnector1">
            <a:avLst/>
          </a:prstGeom>
          <a:noFill/>
          <a:ln cap="flat" cmpd="sng" w="56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1"/>
          <p:cNvCxnSpPr>
            <a:stCxn id="619" idx="4"/>
          </p:cNvCxnSpPr>
          <p:nvPr/>
        </p:nvCxnSpPr>
        <p:spPr>
          <a:xfrm rot="10800000">
            <a:off x="7998899" y="3156653"/>
            <a:ext cx="0" cy="1029900"/>
          </a:xfrm>
          <a:prstGeom prst="straightConnector1">
            <a:avLst/>
          </a:prstGeom>
          <a:noFill/>
          <a:ln cap="flat" cmpd="sng" w="18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41"/>
          <p:cNvCxnSpPr>
            <a:stCxn id="619" idx="4"/>
          </p:cNvCxnSpPr>
          <p:nvPr/>
        </p:nvCxnSpPr>
        <p:spPr>
          <a:xfrm rot="10800000">
            <a:off x="7998899" y="2997053"/>
            <a:ext cx="0" cy="1189500"/>
          </a:xfrm>
          <a:prstGeom prst="straightConnector1">
            <a:avLst/>
          </a:prstGeom>
          <a:noFill/>
          <a:ln cap="flat" cmpd="sng" w="181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41"/>
          <p:cNvCxnSpPr>
            <a:stCxn id="619" idx="6"/>
          </p:cNvCxnSpPr>
          <p:nvPr/>
        </p:nvCxnSpPr>
        <p:spPr>
          <a:xfrm>
            <a:off x="7942199" y="4129853"/>
            <a:ext cx="1201800" cy="0"/>
          </a:xfrm>
          <a:prstGeom prst="straightConnector1">
            <a:avLst/>
          </a:prstGeom>
          <a:noFill/>
          <a:ln cap="flat" cmpd="sng" w="181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9" name="Google Shape;619;p41"/>
          <p:cNvSpPr/>
          <p:nvPr/>
        </p:nvSpPr>
        <p:spPr>
          <a:xfrm flipH="1">
            <a:off x="7942199" y="4073153"/>
            <a:ext cx="113400" cy="113400"/>
          </a:xfrm>
          <a:prstGeom prst="ellipse">
            <a:avLst/>
          </a:prstGeom>
          <a:solidFill>
            <a:srgbClr val="F1C23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00" lIns="45400" spcFirstLastPara="1" rIns="45400" wrap="square" tIns="4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5"/>
          </a:p>
        </p:txBody>
      </p:sp>
      <p:sp>
        <p:nvSpPr>
          <p:cNvPr id="622" name="Google Shape;622;p41"/>
          <p:cNvSpPr/>
          <p:nvPr/>
        </p:nvSpPr>
        <p:spPr>
          <a:xfrm flipH="1">
            <a:off x="8632594" y="3382758"/>
            <a:ext cx="113400" cy="113400"/>
          </a:xfrm>
          <a:prstGeom prst="ellipse">
            <a:avLst/>
          </a:prstGeom>
          <a:solidFill>
            <a:srgbClr val="F1C23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00" lIns="45400" spcFirstLastPara="1" rIns="45400" wrap="square" tIns="4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5"/>
          </a:p>
        </p:txBody>
      </p:sp>
      <p:sp>
        <p:nvSpPr>
          <p:cNvPr id="623" name="Google Shape;623;p41"/>
          <p:cNvSpPr/>
          <p:nvPr/>
        </p:nvSpPr>
        <p:spPr>
          <a:xfrm flipH="1" rot="7496656">
            <a:off x="7450609" y="3500341"/>
            <a:ext cx="1090996" cy="1090996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4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50" lIns="43650" spcFirstLastPara="1" rIns="43650" wrap="square" tIns="4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8"/>
          </a:p>
        </p:txBody>
      </p:sp>
      <p:sp>
        <p:nvSpPr>
          <p:cNvPr id="624" name="Google Shape;624;p41"/>
          <p:cNvSpPr txBox="1"/>
          <p:nvPr/>
        </p:nvSpPr>
        <p:spPr>
          <a:xfrm>
            <a:off x="7998829" y="3588792"/>
            <a:ext cx="334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θ</a:t>
            </a:r>
            <a:r>
              <a:rPr baseline="-25000" lang="en" sz="859">
                <a:solidFill>
                  <a:srgbClr val="FF0000"/>
                </a:solidFill>
              </a:rPr>
              <a:t>3</a:t>
            </a:r>
            <a:endParaRPr baseline="-25000" sz="859">
              <a:solidFill>
                <a:srgbClr val="FF0000"/>
              </a:solidFill>
            </a:endParaRPr>
          </a:p>
        </p:txBody>
      </p:sp>
      <p:sp>
        <p:nvSpPr>
          <p:cNvPr id="625" name="Google Shape;625;p41"/>
          <p:cNvSpPr txBox="1"/>
          <p:nvPr/>
        </p:nvSpPr>
        <p:spPr>
          <a:xfrm flipH="1" rot="-2700000">
            <a:off x="8332396" y="3704618"/>
            <a:ext cx="233770" cy="21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42500" spcFirstLastPara="1" rIns="42500" wrap="square" tIns="42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6">
                <a:solidFill>
                  <a:srgbClr val="FF0000"/>
                </a:solidFill>
              </a:rPr>
              <a:t>R</a:t>
            </a:r>
            <a:endParaRPr baseline="-25000" sz="836">
              <a:solidFill>
                <a:srgbClr val="FF0000"/>
              </a:solidFill>
            </a:endParaRPr>
          </a:p>
        </p:txBody>
      </p:sp>
      <p:sp>
        <p:nvSpPr>
          <p:cNvPr id="626" name="Google Shape;626;p41"/>
          <p:cNvSpPr txBox="1"/>
          <p:nvPr/>
        </p:nvSpPr>
        <p:spPr>
          <a:xfrm>
            <a:off x="7830035" y="3226392"/>
            <a:ext cx="1689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X</a:t>
            </a:r>
            <a:endParaRPr sz="859">
              <a:solidFill>
                <a:srgbClr val="FF0000"/>
              </a:solidFill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8696944" y="4129923"/>
            <a:ext cx="1689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Z</a:t>
            </a:r>
            <a:endParaRPr sz="859">
              <a:solidFill>
                <a:srgbClr val="FF0000"/>
              </a:solidFill>
            </a:endParaRPr>
          </a:p>
        </p:txBody>
      </p:sp>
      <p:sp>
        <p:nvSpPr>
          <p:cNvPr id="628" name="Google Shape;628;p41"/>
          <p:cNvSpPr txBox="1"/>
          <p:nvPr/>
        </p:nvSpPr>
        <p:spPr>
          <a:xfrm>
            <a:off x="0" y="636650"/>
            <a:ext cx="3080400" cy="24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R= </a:t>
            </a:r>
            <a:r>
              <a:rPr lang="en" sz="1800">
                <a:solidFill>
                  <a:srgbClr val="FF0000"/>
                </a:solidFill>
              </a:rPr>
              <a:t>426.78mm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 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Rsin(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>
                <a:solidFill>
                  <a:srgbClr val="FF0000"/>
                </a:solidFill>
              </a:rPr>
              <a:t> = Rcos(θ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301.78mm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X = 301.78mm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29" name="Google Shape;629;p41"/>
          <p:cNvSpPr/>
          <p:nvPr/>
        </p:nvSpPr>
        <p:spPr>
          <a:xfrm flipH="1">
            <a:off x="2954090" y="744309"/>
            <a:ext cx="3657900" cy="3656100"/>
          </a:xfrm>
          <a:prstGeom prst="ellipse">
            <a:avLst/>
          </a:prstGeom>
          <a:noFill/>
          <a:ln cap="flat" cmpd="sng" w="7587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4"/>
          </a:p>
        </p:txBody>
      </p:sp>
      <p:cxnSp>
        <p:nvCxnSpPr>
          <p:cNvPr id="630" name="Google Shape;630;p41"/>
          <p:cNvCxnSpPr/>
          <p:nvPr/>
        </p:nvCxnSpPr>
        <p:spPr>
          <a:xfrm flipH="1" rot="10800000">
            <a:off x="4750584" y="1252537"/>
            <a:ext cx="1359600" cy="1335000"/>
          </a:xfrm>
          <a:prstGeom prst="straightConnector1">
            <a:avLst/>
          </a:prstGeom>
          <a:noFill/>
          <a:ln cap="flat" cmpd="sng" w="105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1"/>
          <p:cNvCxnSpPr>
            <a:stCxn id="632" idx="4"/>
          </p:cNvCxnSpPr>
          <p:nvPr/>
        </p:nvCxnSpPr>
        <p:spPr>
          <a:xfrm rot="10800000">
            <a:off x="4782893" y="758994"/>
            <a:ext cx="0" cy="1919100"/>
          </a:xfrm>
          <a:prstGeom prst="straightConnector1">
            <a:avLst/>
          </a:prstGeom>
          <a:noFill/>
          <a:ln cap="flat" cmpd="sng" w="338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41"/>
          <p:cNvCxnSpPr>
            <a:stCxn id="632" idx="4"/>
          </p:cNvCxnSpPr>
          <p:nvPr/>
        </p:nvCxnSpPr>
        <p:spPr>
          <a:xfrm rot="10800000">
            <a:off x="4782893" y="461694"/>
            <a:ext cx="0" cy="2216400"/>
          </a:xfrm>
          <a:prstGeom prst="straightConnector1">
            <a:avLst/>
          </a:prstGeom>
          <a:noFill/>
          <a:ln cap="flat" cmpd="sng" w="338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1"/>
          <p:cNvCxnSpPr/>
          <p:nvPr/>
        </p:nvCxnSpPr>
        <p:spPr>
          <a:xfrm>
            <a:off x="4782970" y="1180016"/>
            <a:ext cx="2239800" cy="0"/>
          </a:xfrm>
          <a:prstGeom prst="straightConnector1">
            <a:avLst/>
          </a:prstGeom>
          <a:noFill/>
          <a:ln cap="flat" cmpd="sng" w="338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41"/>
          <p:cNvSpPr/>
          <p:nvPr/>
        </p:nvSpPr>
        <p:spPr>
          <a:xfrm flipH="1">
            <a:off x="4677143" y="2466594"/>
            <a:ext cx="211500" cy="211500"/>
          </a:xfrm>
          <a:prstGeom prst="ellipse">
            <a:avLst/>
          </a:prstGeom>
          <a:solidFill>
            <a:srgbClr val="F1C232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00" lIns="84600" spcFirstLastPara="1" rIns="84600" wrap="square" tIns="8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6"/>
          </a:p>
        </p:txBody>
      </p:sp>
      <p:sp>
        <p:nvSpPr>
          <p:cNvPr id="635" name="Google Shape;635;p41"/>
          <p:cNvSpPr/>
          <p:nvPr/>
        </p:nvSpPr>
        <p:spPr>
          <a:xfrm flipH="1">
            <a:off x="5963700" y="1180039"/>
            <a:ext cx="211500" cy="211500"/>
          </a:xfrm>
          <a:prstGeom prst="ellipse">
            <a:avLst/>
          </a:prstGeom>
          <a:solidFill>
            <a:srgbClr val="F1C232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00" lIns="84600" spcFirstLastPara="1" rIns="84600" wrap="square" tIns="8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6"/>
          </a:p>
        </p:txBody>
      </p:sp>
      <p:sp>
        <p:nvSpPr>
          <p:cNvPr id="636" name="Google Shape;636;p41"/>
          <p:cNvSpPr/>
          <p:nvPr/>
        </p:nvSpPr>
        <p:spPr>
          <a:xfrm flipH="1" rot="7496029">
            <a:off x="3797467" y="1468949"/>
            <a:ext cx="1862984" cy="2032933"/>
          </a:xfrm>
          <a:prstGeom prst="blockArc">
            <a:avLst>
              <a:gd fmla="val 20805679" name="adj1"/>
              <a:gd fmla="val 1864212" name="adj2"/>
              <a:gd fmla="val 4137" name="adj3"/>
            </a:avLst>
          </a:prstGeom>
          <a:solidFill>
            <a:srgbClr val="FF0000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5"/>
          </a:p>
        </p:txBody>
      </p:sp>
      <p:sp>
        <p:nvSpPr>
          <p:cNvPr id="637" name="Google Shape;637;p41"/>
          <p:cNvSpPr txBox="1"/>
          <p:nvPr/>
        </p:nvSpPr>
        <p:spPr>
          <a:xfrm>
            <a:off x="4782967" y="1758104"/>
            <a:ext cx="623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θ</a:t>
            </a:r>
            <a:r>
              <a:rPr baseline="-25000" lang="en" sz="1601">
                <a:solidFill>
                  <a:srgbClr val="FF0000"/>
                </a:solidFill>
              </a:rPr>
              <a:t>3</a:t>
            </a:r>
            <a:endParaRPr baseline="-25000" sz="1601">
              <a:solidFill>
                <a:srgbClr val="FF0000"/>
              </a:solidFill>
            </a:endParaRPr>
          </a:p>
        </p:txBody>
      </p:sp>
      <p:sp>
        <p:nvSpPr>
          <p:cNvPr id="638" name="Google Shape;638;p41"/>
          <p:cNvSpPr txBox="1"/>
          <p:nvPr/>
        </p:nvSpPr>
        <p:spPr>
          <a:xfrm flipH="1" rot="-2700000">
            <a:off x="5404604" y="1779767"/>
            <a:ext cx="435295" cy="399657"/>
          </a:xfrm>
          <a:prstGeom prst="rect">
            <a:avLst/>
          </a:prstGeom>
          <a:noFill/>
          <a:ln>
            <a:noFill/>
          </a:ln>
        </p:spPr>
        <p:txBody>
          <a:bodyPr anchorCtr="0" anchor="t" bIns="79175" lIns="79175" spcFirstLastPara="1" rIns="79175" wrap="square" tIns="79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8">
                <a:solidFill>
                  <a:srgbClr val="FF0000"/>
                </a:solidFill>
              </a:rPr>
              <a:t>R</a:t>
            </a:r>
            <a:endParaRPr baseline="-25000" sz="1558">
              <a:solidFill>
                <a:srgbClr val="FF0000"/>
              </a:solidFill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4468305" y="888652"/>
            <a:ext cx="314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X</a:t>
            </a:r>
            <a:endParaRPr sz="1601">
              <a:solidFill>
                <a:srgbClr val="FF0000"/>
              </a:solidFill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6226262" y="744304"/>
            <a:ext cx="314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Z</a:t>
            </a:r>
            <a:endParaRPr sz="160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2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Example Problem: </a:t>
            </a:r>
            <a:r>
              <a:rPr lang="en" sz="1800">
                <a:solidFill>
                  <a:schemeClr val="dk1"/>
                </a:solidFill>
              </a:rPr>
              <a:t>Solution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6" name="Google Shape;646;p42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42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8" name="Google Shape;648;p42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42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42"/>
          <p:cNvCxnSpPr>
            <a:stCxn id="651" idx="2"/>
            <a:endCxn id="652" idx="6"/>
          </p:cNvCxnSpPr>
          <p:nvPr/>
        </p:nvCxnSpPr>
        <p:spPr>
          <a:xfrm rot="10800000">
            <a:off x="3221384" y="3228291"/>
            <a:ext cx="3621600" cy="29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2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2"/>
          <p:cNvCxnSpPr>
            <a:stCxn id="655" idx="2"/>
            <a:endCxn id="656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42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55" name="Google Shape;655;p42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57" name="Google Shape;657;p42"/>
          <p:cNvCxnSpPr>
            <a:stCxn id="656" idx="0"/>
            <a:endCxn id="652" idx="4"/>
          </p:cNvCxnSpPr>
          <p:nvPr/>
        </p:nvCxnSpPr>
        <p:spPr>
          <a:xfrm flipH="1">
            <a:off x="3340384" y="1576366"/>
            <a:ext cx="27900" cy="1770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2" name="Google Shape;652;p42"/>
          <p:cNvSpPr/>
          <p:nvPr/>
        </p:nvSpPr>
        <p:spPr>
          <a:xfrm flipH="1">
            <a:off x="3221310" y="3109294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56" name="Google Shape;656;p42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58" name="Google Shape;658;p42"/>
          <p:cNvSpPr txBox="1"/>
          <p:nvPr/>
        </p:nvSpPr>
        <p:spPr>
          <a:xfrm>
            <a:off x="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9" name="Google Shape;659;p42"/>
          <p:cNvSpPr txBox="1"/>
          <p:nvPr/>
        </p:nvSpPr>
        <p:spPr>
          <a:xfrm>
            <a:off x="3869275" y="4008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6765275" y="1413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4530700" y="2390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62" name="Google Shape;662;p42"/>
          <p:cNvSpPr txBox="1"/>
          <p:nvPr/>
        </p:nvSpPr>
        <p:spPr>
          <a:xfrm>
            <a:off x="-22950" y="315645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 = 301.78mm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Y=176.78mm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</a:t>
            </a:r>
            <a:r>
              <a:rPr lang="en" sz="1800">
                <a:solidFill>
                  <a:srgbClr val="FF0000"/>
                </a:solidFill>
              </a:rPr>
              <a:t>301.78mm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3"/>
          <p:cNvPicPr preferRelativeResize="0"/>
          <p:nvPr/>
        </p:nvPicPr>
        <p:blipFill rotWithShape="1">
          <a:blip r:embed="rId3">
            <a:alphaModFix/>
          </a:blip>
          <a:srcRect b="0" l="0" r="19569" t="0"/>
          <a:stretch/>
        </p:blipFill>
        <p:spPr>
          <a:xfrm>
            <a:off x="1789450" y="0"/>
            <a:ext cx="73545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3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</a:t>
            </a:r>
            <a:r>
              <a:rPr lang="en" sz="1800">
                <a:solidFill>
                  <a:schemeClr val="dk1"/>
                </a:solidFill>
              </a:rPr>
              <a:t>Problem 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69" name="Google Shape;669;p43"/>
          <p:cNvCxnSpPr/>
          <p:nvPr/>
        </p:nvCxnSpPr>
        <p:spPr>
          <a:xfrm flipH="1">
            <a:off x="2857150" y="3460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0" name="Google Shape;670;p43"/>
          <p:cNvCxnSpPr/>
          <p:nvPr/>
        </p:nvCxnSpPr>
        <p:spPr>
          <a:xfrm rot="10800000">
            <a:off x="6422300" y="676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1" name="Google Shape;671;p43"/>
          <p:cNvCxnSpPr/>
          <p:nvPr/>
        </p:nvCxnSpPr>
        <p:spPr>
          <a:xfrm rot="10800000">
            <a:off x="4433425" y="2312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2" name="Google Shape;672;p43"/>
          <p:cNvCxnSpPr>
            <a:stCxn id="673" idx="2"/>
            <a:endCxn id="674" idx="6"/>
          </p:cNvCxnSpPr>
          <p:nvPr/>
        </p:nvCxnSpPr>
        <p:spPr>
          <a:xfrm rot="10800000">
            <a:off x="3702059" y="2632291"/>
            <a:ext cx="2839200" cy="82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43"/>
          <p:cNvCxnSpPr/>
          <p:nvPr/>
        </p:nvCxnSpPr>
        <p:spPr>
          <a:xfrm rot="10800000">
            <a:off x="5676497" y="1287066"/>
            <a:ext cx="741600" cy="2145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43"/>
          <p:cNvCxnSpPr>
            <a:stCxn id="677" idx="2"/>
            <a:endCxn id="678" idx="6"/>
          </p:cNvCxnSpPr>
          <p:nvPr/>
        </p:nvCxnSpPr>
        <p:spPr>
          <a:xfrm rot="10800000">
            <a:off x="3702047" y="967716"/>
            <a:ext cx="2095500" cy="3321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43"/>
          <p:cNvSpPr/>
          <p:nvPr/>
        </p:nvSpPr>
        <p:spPr>
          <a:xfrm flipH="1">
            <a:off x="6303359" y="3335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77" name="Google Shape;677;p43"/>
          <p:cNvSpPr/>
          <p:nvPr/>
        </p:nvSpPr>
        <p:spPr>
          <a:xfrm flipH="1">
            <a:off x="5559647" y="11808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79" name="Google Shape;679;p43"/>
          <p:cNvCxnSpPr>
            <a:stCxn id="678" idx="0"/>
            <a:endCxn id="674" idx="4"/>
          </p:cNvCxnSpPr>
          <p:nvPr/>
        </p:nvCxnSpPr>
        <p:spPr>
          <a:xfrm>
            <a:off x="3820934" y="848641"/>
            <a:ext cx="0" cy="190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4" name="Google Shape;674;p43"/>
          <p:cNvSpPr/>
          <p:nvPr/>
        </p:nvSpPr>
        <p:spPr>
          <a:xfrm flipH="1">
            <a:off x="3701973" y="251323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78" name="Google Shape;678;p43"/>
          <p:cNvSpPr/>
          <p:nvPr/>
        </p:nvSpPr>
        <p:spPr>
          <a:xfrm flipH="1">
            <a:off x="3701984" y="8486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80" name="Google Shape;680;p43"/>
          <p:cNvSpPr/>
          <p:nvPr/>
        </p:nvSpPr>
        <p:spPr>
          <a:xfrm flipH="1">
            <a:off x="4158750" y="1624325"/>
            <a:ext cx="4361100" cy="3458400"/>
          </a:xfrm>
          <a:prstGeom prst="blockArc">
            <a:avLst>
              <a:gd fmla="val 20749178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3"/>
          <p:cNvSpPr txBox="1"/>
          <p:nvPr/>
        </p:nvSpPr>
        <p:spPr>
          <a:xfrm>
            <a:off x="4348050" y="31226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682" name="Google Shape;682;p43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83" name="Google Shape;683;p43"/>
          <p:cNvSpPr txBox="1"/>
          <p:nvPr/>
        </p:nvSpPr>
        <p:spPr>
          <a:xfrm>
            <a:off x="3567550" y="3937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84" name="Google Shape;684;p43"/>
          <p:cNvSpPr txBox="1"/>
          <p:nvPr/>
        </p:nvSpPr>
        <p:spPr>
          <a:xfrm>
            <a:off x="6463550" y="1342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4228975" y="2319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44"/>
          <p:cNvPicPr preferRelativeResize="0"/>
          <p:nvPr/>
        </p:nvPicPr>
        <p:blipFill rotWithShape="1">
          <a:blip r:embed="rId3">
            <a:alphaModFix/>
          </a:blip>
          <a:srcRect b="0" l="0" r="19569" t="0"/>
          <a:stretch/>
        </p:blipFill>
        <p:spPr>
          <a:xfrm>
            <a:off x="1789450" y="0"/>
            <a:ext cx="73545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44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 1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92" name="Google Shape;692;p44"/>
          <p:cNvCxnSpPr/>
          <p:nvPr/>
        </p:nvCxnSpPr>
        <p:spPr>
          <a:xfrm flipH="1">
            <a:off x="2857150" y="3460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3" name="Google Shape;693;p44"/>
          <p:cNvCxnSpPr/>
          <p:nvPr/>
        </p:nvCxnSpPr>
        <p:spPr>
          <a:xfrm rot="10800000">
            <a:off x="6422300" y="676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4" name="Google Shape;694;p44"/>
          <p:cNvCxnSpPr/>
          <p:nvPr/>
        </p:nvCxnSpPr>
        <p:spPr>
          <a:xfrm rot="10800000">
            <a:off x="4433425" y="2312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44"/>
          <p:cNvCxnSpPr>
            <a:stCxn id="696" idx="2"/>
            <a:endCxn id="697" idx="6"/>
          </p:cNvCxnSpPr>
          <p:nvPr/>
        </p:nvCxnSpPr>
        <p:spPr>
          <a:xfrm rot="10800000">
            <a:off x="3702059" y="2632291"/>
            <a:ext cx="2839200" cy="82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4"/>
          <p:cNvCxnSpPr/>
          <p:nvPr/>
        </p:nvCxnSpPr>
        <p:spPr>
          <a:xfrm rot="10800000">
            <a:off x="5676497" y="1287066"/>
            <a:ext cx="741600" cy="2145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4"/>
          <p:cNvCxnSpPr>
            <a:stCxn id="700" idx="2"/>
            <a:endCxn id="701" idx="6"/>
          </p:cNvCxnSpPr>
          <p:nvPr/>
        </p:nvCxnSpPr>
        <p:spPr>
          <a:xfrm rot="10800000">
            <a:off x="3702047" y="967716"/>
            <a:ext cx="2095500" cy="3321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44"/>
          <p:cNvSpPr/>
          <p:nvPr/>
        </p:nvSpPr>
        <p:spPr>
          <a:xfrm flipH="1">
            <a:off x="6303359" y="3335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00" name="Google Shape;700;p44"/>
          <p:cNvSpPr/>
          <p:nvPr/>
        </p:nvSpPr>
        <p:spPr>
          <a:xfrm flipH="1">
            <a:off x="5559647" y="11808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702" name="Google Shape;702;p44"/>
          <p:cNvCxnSpPr>
            <a:stCxn id="701" idx="0"/>
            <a:endCxn id="697" idx="4"/>
          </p:cNvCxnSpPr>
          <p:nvPr/>
        </p:nvCxnSpPr>
        <p:spPr>
          <a:xfrm>
            <a:off x="3820934" y="848641"/>
            <a:ext cx="0" cy="190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7" name="Google Shape;697;p44"/>
          <p:cNvSpPr/>
          <p:nvPr/>
        </p:nvSpPr>
        <p:spPr>
          <a:xfrm flipH="1">
            <a:off x="3701973" y="251323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01" name="Google Shape;701;p44"/>
          <p:cNvSpPr/>
          <p:nvPr/>
        </p:nvSpPr>
        <p:spPr>
          <a:xfrm flipH="1">
            <a:off x="3701984" y="8486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03" name="Google Shape;703;p44"/>
          <p:cNvSpPr/>
          <p:nvPr/>
        </p:nvSpPr>
        <p:spPr>
          <a:xfrm flipH="1">
            <a:off x="4158750" y="1624325"/>
            <a:ext cx="4361100" cy="3458400"/>
          </a:xfrm>
          <a:prstGeom prst="blockArc">
            <a:avLst>
              <a:gd fmla="val 20743528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4"/>
          <p:cNvSpPr txBox="1"/>
          <p:nvPr/>
        </p:nvSpPr>
        <p:spPr>
          <a:xfrm>
            <a:off x="4348050" y="31226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6" name="Google Shape;706;p44"/>
          <p:cNvSpPr txBox="1"/>
          <p:nvPr/>
        </p:nvSpPr>
        <p:spPr>
          <a:xfrm>
            <a:off x="3567550" y="3937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7" name="Google Shape;707;p44"/>
          <p:cNvSpPr txBox="1"/>
          <p:nvPr/>
        </p:nvSpPr>
        <p:spPr>
          <a:xfrm>
            <a:off x="6463550" y="1342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8" name="Google Shape;708;p44"/>
          <p:cNvSpPr txBox="1"/>
          <p:nvPr/>
        </p:nvSpPr>
        <p:spPr>
          <a:xfrm>
            <a:off x="4228975" y="2319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9" name="Google Shape;709;p44"/>
          <p:cNvSpPr txBox="1"/>
          <p:nvPr/>
        </p:nvSpPr>
        <p:spPr>
          <a:xfrm>
            <a:off x="0" y="2571750"/>
            <a:ext cx="357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</a:t>
            </a:r>
            <a:r>
              <a:rPr lang="en" sz="1800">
                <a:solidFill>
                  <a:srgbClr val="FF0000"/>
                </a:solidFill>
              </a:rPr>
              <a:t>(</a:t>
            </a:r>
            <a:r>
              <a:rPr lang="en" sz="1800">
                <a:solidFill>
                  <a:srgbClr val="FF0000"/>
                </a:solidFill>
              </a:rPr>
              <a:t>170.75,341.51,295.75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/>
          </a:p>
        </p:txBody>
      </p:sp>
      <p:sp>
        <p:nvSpPr>
          <p:cNvPr id="710" name="Google Shape;710;p44"/>
          <p:cNvSpPr/>
          <p:nvPr/>
        </p:nvSpPr>
        <p:spPr>
          <a:xfrm>
            <a:off x="0" y="3114625"/>
            <a:ext cx="34674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45"/>
          <p:cNvPicPr preferRelativeResize="0"/>
          <p:nvPr/>
        </p:nvPicPr>
        <p:blipFill rotWithShape="1">
          <a:blip r:embed="rId3">
            <a:alphaModFix/>
          </a:blip>
          <a:srcRect b="1565" l="0" r="8316" t="0"/>
          <a:stretch/>
        </p:blipFill>
        <p:spPr>
          <a:xfrm>
            <a:off x="1975300" y="813875"/>
            <a:ext cx="7168700" cy="43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5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 2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17" name="Google Shape;717;p45"/>
          <p:cNvCxnSpPr/>
          <p:nvPr/>
        </p:nvCxnSpPr>
        <p:spPr>
          <a:xfrm flipH="1">
            <a:off x="3238900" y="3493913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8" name="Google Shape;718;p45"/>
          <p:cNvCxnSpPr/>
          <p:nvPr/>
        </p:nvCxnSpPr>
        <p:spPr>
          <a:xfrm rot="10800000">
            <a:off x="6804050" y="710138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9" name="Google Shape;719;p45"/>
          <p:cNvCxnSpPr/>
          <p:nvPr/>
        </p:nvCxnSpPr>
        <p:spPr>
          <a:xfrm rot="10800000">
            <a:off x="4815175" y="2346513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0" name="Google Shape;720;p45"/>
          <p:cNvCxnSpPr>
            <a:stCxn id="721" idx="2"/>
            <a:endCxn id="722" idx="6"/>
          </p:cNvCxnSpPr>
          <p:nvPr/>
        </p:nvCxnSpPr>
        <p:spPr>
          <a:xfrm rot="10800000">
            <a:off x="3683334" y="2973091"/>
            <a:ext cx="3204600" cy="47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5"/>
          <p:cNvCxnSpPr/>
          <p:nvPr/>
        </p:nvCxnSpPr>
        <p:spPr>
          <a:xfrm rot="10800000">
            <a:off x="5676500" y="1287225"/>
            <a:ext cx="1089600" cy="2170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45"/>
          <p:cNvCxnSpPr>
            <a:stCxn id="725" idx="2"/>
          </p:cNvCxnSpPr>
          <p:nvPr/>
        </p:nvCxnSpPr>
        <p:spPr>
          <a:xfrm flipH="1">
            <a:off x="3796647" y="1375416"/>
            <a:ext cx="1967400" cy="1076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5"/>
          <p:cNvSpPr/>
          <p:nvPr/>
        </p:nvSpPr>
        <p:spPr>
          <a:xfrm flipH="1">
            <a:off x="6650034" y="33317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5" name="Google Shape;725;p45"/>
          <p:cNvSpPr/>
          <p:nvPr/>
        </p:nvSpPr>
        <p:spPr>
          <a:xfrm flipH="1">
            <a:off x="5526147" y="12564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726" name="Google Shape;726;p45"/>
          <p:cNvCxnSpPr>
            <a:stCxn id="727" idx="0"/>
            <a:endCxn id="722" idx="4"/>
          </p:cNvCxnSpPr>
          <p:nvPr/>
        </p:nvCxnSpPr>
        <p:spPr>
          <a:xfrm>
            <a:off x="3802297" y="2319941"/>
            <a:ext cx="0" cy="771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2" name="Google Shape;722;p45"/>
          <p:cNvSpPr/>
          <p:nvPr/>
        </p:nvSpPr>
        <p:spPr>
          <a:xfrm flipH="1">
            <a:off x="3683348" y="285408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7" name="Google Shape;727;p45"/>
          <p:cNvSpPr/>
          <p:nvPr/>
        </p:nvSpPr>
        <p:spPr>
          <a:xfrm flipH="1">
            <a:off x="3683347" y="2319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8" name="Google Shape;728;p45"/>
          <p:cNvSpPr/>
          <p:nvPr/>
        </p:nvSpPr>
        <p:spPr>
          <a:xfrm flipH="1">
            <a:off x="4212675" y="1706975"/>
            <a:ext cx="4361100" cy="3458400"/>
          </a:xfrm>
          <a:prstGeom prst="blockArc">
            <a:avLst>
              <a:gd fmla="val 21045815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45"/>
          <p:cNvSpPr txBox="1"/>
          <p:nvPr/>
        </p:nvSpPr>
        <p:spPr>
          <a:xfrm>
            <a:off x="4333675" y="3219838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730" name="Google Shape;730;p45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=90°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3949300" y="397166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32" name="Google Shape;732;p45"/>
          <p:cNvSpPr txBox="1"/>
          <p:nvPr/>
        </p:nvSpPr>
        <p:spPr>
          <a:xfrm>
            <a:off x="6845300" y="1376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33" name="Google Shape;733;p45"/>
          <p:cNvSpPr txBox="1"/>
          <p:nvPr/>
        </p:nvSpPr>
        <p:spPr>
          <a:xfrm>
            <a:off x="4610725" y="23536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=90°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-3100" y="3582338"/>
            <a:ext cx="357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</a:t>
            </a:r>
            <a:r>
              <a:rPr lang="en" sz="1800">
                <a:solidFill>
                  <a:srgbClr val="FF0000"/>
                </a:solidFill>
              </a:rPr>
              <a:t>(295.75,</a:t>
            </a:r>
            <a:r>
              <a:rPr lang="en" sz="1800">
                <a:solidFill>
                  <a:srgbClr val="FF0000"/>
                </a:solidFill>
              </a:rPr>
              <a:t>91.51,170.75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/>
          </a:p>
        </p:txBody>
      </p:sp>
      <p:sp>
        <p:nvSpPr>
          <p:cNvPr id="741" name="Google Shape;741;p46"/>
          <p:cNvSpPr/>
          <p:nvPr/>
        </p:nvSpPr>
        <p:spPr>
          <a:xfrm>
            <a:off x="-3100" y="4125213"/>
            <a:ext cx="33600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  <p:pic>
        <p:nvPicPr>
          <p:cNvPr id="742" name="Google Shape;742;p46"/>
          <p:cNvPicPr preferRelativeResize="0"/>
          <p:nvPr/>
        </p:nvPicPr>
        <p:blipFill rotWithShape="1">
          <a:blip r:embed="rId3">
            <a:alphaModFix/>
          </a:blip>
          <a:srcRect b="1565" l="0" r="8316" t="0"/>
          <a:stretch/>
        </p:blipFill>
        <p:spPr>
          <a:xfrm>
            <a:off x="1975300" y="813875"/>
            <a:ext cx="7168700" cy="4329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3" name="Google Shape;743;p46"/>
          <p:cNvCxnSpPr/>
          <p:nvPr/>
        </p:nvCxnSpPr>
        <p:spPr>
          <a:xfrm flipH="1">
            <a:off x="3238900" y="3493913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4" name="Google Shape;744;p46"/>
          <p:cNvCxnSpPr/>
          <p:nvPr/>
        </p:nvCxnSpPr>
        <p:spPr>
          <a:xfrm rot="10800000">
            <a:off x="6804050" y="710138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5" name="Google Shape;745;p46"/>
          <p:cNvCxnSpPr/>
          <p:nvPr/>
        </p:nvCxnSpPr>
        <p:spPr>
          <a:xfrm rot="10800000">
            <a:off x="4815175" y="2346513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6" name="Google Shape;746;p46"/>
          <p:cNvCxnSpPr>
            <a:stCxn id="747" idx="2"/>
            <a:endCxn id="748" idx="6"/>
          </p:cNvCxnSpPr>
          <p:nvPr/>
        </p:nvCxnSpPr>
        <p:spPr>
          <a:xfrm rot="10800000">
            <a:off x="3683334" y="2973091"/>
            <a:ext cx="3204600" cy="47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6"/>
          <p:cNvCxnSpPr/>
          <p:nvPr/>
        </p:nvCxnSpPr>
        <p:spPr>
          <a:xfrm rot="10800000">
            <a:off x="5676500" y="1287225"/>
            <a:ext cx="1089600" cy="2170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6"/>
          <p:cNvCxnSpPr>
            <a:stCxn id="751" idx="2"/>
          </p:cNvCxnSpPr>
          <p:nvPr/>
        </p:nvCxnSpPr>
        <p:spPr>
          <a:xfrm flipH="1">
            <a:off x="3796647" y="1375416"/>
            <a:ext cx="1967400" cy="1076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46"/>
          <p:cNvSpPr/>
          <p:nvPr/>
        </p:nvSpPr>
        <p:spPr>
          <a:xfrm flipH="1">
            <a:off x="6650034" y="33317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51" name="Google Shape;751;p46"/>
          <p:cNvSpPr/>
          <p:nvPr/>
        </p:nvSpPr>
        <p:spPr>
          <a:xfrm flipH="1">
            <a:off x="5526147" y="12564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752" name="Google Shape;752;p46"/>
          <p:cNvCxnSpPr>
            <a:stCxn id="753" idx="0"/>
            <a:endCxn id="748" idx="4"/>
          </p:cNvCxnSpPr>
          <p:nvPr/>
        </p:nvCxnSpPr>
        <p:spPr>
          <a:xfrm>
            <a:off x="3802297" y="2319941"/>
            <a:ext cx="0" cy="771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8" name="Google Shape;748;p46"/>
          <p:cNvSpPr/>
          <p:nvPr/>
        </p:nvSpPr>
        <p:spPr>
          <a:xfrm flipH="1">
            <a:off x="3683348" y="285408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53" name="Google Shape;753;p46"/>
          <p:cNvSpPr/>
          <p:nvPr/>
        </p:nvSpPr>
        <p:spPr>
          <a:xfrm flipH="1">
            <a:off x="3683347" y="2319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54" name="Google Shape;754;p46"/>
          <p:cNvSpPr txBox="1"/>
          <p:nvPr/>
        </p:nvSpPr>
        <p:spPr>
          <a:xfrm>
            <a:off x="3949300" y="397166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55" name="Google Shape;755;p46"/>
          <p:cNvSpPr txBox="1"/>
          <p:nvPr/>
        </p:nvSpPr>
        <p:spPr>
          <a:xfrm>
            <a:off x="6845300" y="1376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56" name="Google Shape;756;p46"/>
          <p:cNvSpPr txBox="1"/>
          <p:nvPr/>
        </p:nvSpPr>
        <p:spPr>
          <a:xfrm>
            <a:off x="4610725" y="23536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57" name="Google Shape;757;p46"/>
          <p:cNvSpPr/>
          <p:nvPr/>
        </p:nvSpPr>
        <p:spPr>
          <a:xfrm flipH="1">
            <a:off x="4212675" y="1706975"/>
            <a:ext cx="4361100" cy="3458400"/>
          </a:xfrm>
          <a:prstGeom prst="blockArc">
            <a:avLst>
              <a:gd fmla="val 21045815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6"/>
          <p:cNvSpPr txBox="1"/>
          <p:nvPr/>
        </p:nvSpPr>
        <p:spPr>
          <a:xfrm>
            <a:off x="4333675" y="3219838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7"/>
          <p:cNvSpPr txBox="1"/>
          <p:nvPr/>
        </p:nvSpPr>
        <p:spPr>
          <a:xfrm>
            <a:off x="0" y="0"/>
            <a:ext cx="594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Desmos Calculator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64" name="Google Shape;7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452" y="1574550"/>
            <a:ext cx="3648551" cy="35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6725" y="1642173"/>
            <a:ext cx="3532425" cy="3416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47"/>
          <p:cNvSpPr txBox="1"/>
          <p:nvPr/>
        </p:nvSpPr>
        <p:spPr>
          <a:xfrm>
            <a:off x="0" y="477000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4A86E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https://www.desmos.com/3d/9bnvqc263x</a:t>
            </a:r>
            <a:endParaRPr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