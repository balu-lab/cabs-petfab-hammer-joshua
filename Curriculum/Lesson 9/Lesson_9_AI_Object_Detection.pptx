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439053-53F3-474E-8A56-B3AB69B3DA76}">
  <a:tblStyle styleId="{4E439053-53F3-474E-8A56-B3AB69B3DA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l9_cove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l9_cove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l9_recap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l9_reca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l9_pipelin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l9_pipelin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l9_classify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l9_classif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l9_pixels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l9_pixel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l9_boxfmt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l9_boxfm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l9_boxex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l9_boxe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l9_try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l9_try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l9_iou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l9_iou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l9_iouex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l9_ioue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l9_try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l9_try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l9_pretrained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l9_pretraine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l9_code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l9_code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l9_reca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l9_reca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l9_day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l9_day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l9_conf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l9_con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l9_lab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l9_la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l9_nms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l9_nm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l9_nmsex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l9_nmse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l9_try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l9_try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l9_cleanlist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l9_cleanlis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l9_p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l9_p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l9_try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l9_try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l9_angl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l9_angl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l9_angleex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l9_anglee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l9_try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l9_try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l9_code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l9_code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l9_learned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l9_learne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/>
        </p:nvSpPr>
        <p:spPr>
          <a:xfrm>
            <a:off x="722376" y="1691640"/>
            <a:ext cx="5852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ROBOTIC ARM COURSE · LESSON 9 · OBJECT DETECTION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722376" y="2057400"/>
            <a:ext cx="585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/>
              <a:t>AI Object</a:t>
            </a:r>
            <a:endParaRPr b="1" sz="5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/>
              <a:t>Detection</a:t>
            </a:r>
            <a:endParaRPr b="1" sz="5200"/>
          </a:p>
        </p:txBody>
      </p:sp>
      <p:sp>
        <p:nvSpPr>
          <p:cNvPr id="21" name="Google Shape;21;p3"/>
          <p:cNvSpPr txBox="1"/>
          <p:nvPr/>
        </p:nvSpPr>
        <p:spPr>
          <a:xfrm>
            <a:off x="722376" y="3703320"/>
            <a:ext cx="5486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55555"/>
                </a:solidFill>
              </a:rPr>
              <a:t>Finding objects in a camera image with a pretrained model, one box per object</a:t>
            </a:r>
            <a:endParaRPr sz="1900">
              <a:solidFill>
                <a:srgbClr val="555555"/>
              </a:solidFill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722376" y="4572000"/>
            <a:ext cx="5486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77777"/>
                </a:solidFill>
              </a:rPr>
              <a:t>Day 1 · Bounding boxes and a pretrained detector</a:t>
            </a:r>
            <a:endParaRPr>
              <a:solidFill>
                <a:srgbClr val="77777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77777"/>
                </a:solidFill>
              </a:rPr>
              <a:t>Day 2 · Cleaning up detections and pointing the arm</a:t>
            </a:r>
            <a:endParaRPr>
              <a:solidFill>
                <a:srgbClr val="777777"/>
              </a:solidFill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565392" y="3977640"/>
            <a:ext cx="4827900" cy="12618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543800" y="3291840"/>
            <a:ext cx="731400" cy="868800"/>
          </a:xfrm>
          <a:prstGeom prst="roundRect">
            <a:avLst>
              <a:gd fmla="val 16667" name="adj"/>
            </a:avLst>
          </a:prstGeom>
          <a:solidFill>
            <a:srgbClr val="7F8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646920" y="2560320"/>
            <a:ext cx="548700" cy="1600200"/>
          </a:xfrm>
          <a:prstGeom prst="roundRect">
            <a:avLst>
              <a:gd fmla="val 16667" name="adj"/>
            </a:avLst>
          </a:prstGeom>
          <a:solidFill>
            <a:srgbClr val="F2C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360920" y="3063240"/>
            <a:ext cx="1097400" cy="1280100"/>
          </a:xfrm>
          <a:prstGeom prst="rect">
            <a:avLst/>
          </a:prstGeom>
          <a:noFill/>
          <a:ln cap="flat" cmpd="sng" w="28575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418320" y="2377440"/>
            <a:ext cx="1005900" cy="1965900"/>
          </a:xfrm>
          <a:prstGeom prst="rect">
            <a:avLst/>
          </a:prstGeom>
          <a:noFill/>
          <a:ln cap="flat" cmpd="sng" w="28575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7360920" y="2770632"/>
            <a:ext cx="1691700" cy="24690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 txBox="1"/>
          <p:nvPr/>
        </p:nvSpPr>
        <p:spPr>
          <a:xfrm>
            <a:off x="7360920" y="2743200"/>
            <a:ext cx="1691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cup 0.92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418320" y="2084832"/>
            <a:ext cx="1828800" cy="24690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9418320" y="2057400"/>
            <a:ext cx="1828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bottle 0.88</a:t>
            </a:r>
            <a:endParaRPr b="1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RECAP · LESSONS 6 TO 8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Where Lessons 6 to 8 Left Off</a:t>
            </a:r>
            <a:endParaRPr b="1" sz="3800"/>
          </a:p>
        </p:txBody>
      </p:sp>
      <p:sp>
        <p:nvSpPr>
          <p:cNvPr id="38" name="Google Shape;38;p4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Inverse kinematics turns a target into joint angles. But the arm still cannot find a cup on the table.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13816" y="2157984"/>
            <a:ext cx="3157800" cy="13260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923544" y="2249424"/>
            <a:ext cx="293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QUESTION 1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A7A1F"/>
                </a:solidFill>
              </a:rPr>
              <a:t>What is it?</a:t>
            </a:r>
            <a:endParaRPr b="1" sz="26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555555"/>
                </a:solidFill>
              </a:rPr>
              <a:t>a label, such as cup</a:t>
            </a:r>
            <a:endParaRPr>
              <a:solidFill>
                <a:srgbClr val="555555"/>
              </a:solidFill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3971544" y="2523744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77777"/>
                </a:solidFill>
              </a:rPr>
              <a:t>+</a:t>
            </a:r>
            <a:endParaRPr b="1" sz="2600">
              <a:solidFill>
                <a:srgbClr val="777777"/>
              </a:solidFill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20184" y="2157984"/>
            <a:ext cx="3157800" cy="13260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4629912" y="2249424"/>
            <a:ext cx="293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QUESTION 2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A7A1F"/>
                </a:solidFill>
              </a:rPr>
              <a:t>Where is it?</a:t>
            </a:r>
            <a:endParaRPr b="1" sz="26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555555"/>
                </a:solidFill>
              </a:rPr>
              <a:t>a position in the image</a:t>
            </a:r>
            <a:endParaRPr>
              <a:solidFill>
                <a:srgbClr val="555555"/>
              </a:solidFill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7677912" y="2523744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77777"/>
                </a:solidFill>
              </a:rPr>
              <a:t>=</a:t>
            </a:r>
            <a:endParaRPr b="1" sz="2600">
              <a:solidFill>
                <a:srgbClr val="777777"/>
              </a:solidFill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226552" y="2157984"/>
            <a:ext cx="3157800" cy="13260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8382000" y="2267712"/>
            <a:ext cx="28467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ANSWER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</a:rPr>
              <a:t>A box</a:t>
            </a:r>
            <a:endParaRPr b="1"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DDDDDD"/>
                </a:solidFill>
              </a:rPr>
              <a:t>label, position and score</a:t>
            </a:r>
            <a:endParaRPr>
              <a:solidFill>
                <a:srgbClr val="DDDDDD"/>
              </a:solidFill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13816" y="3666744"/>
            <a:ext cx="5175600" cy="1188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923544" y="3758184"/>
            <a:ext cx="495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GIVEN IN LESSON 6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The target </a:t>
            </a:r>
            <a:r>
              <a:rPr b="1" lang="en-US" sz="1600">
                <a:solidFill>
                  <a:srgbClr val="D60000"/>
                </a:solidFill>
              </a:rPr>
              <a:t>(301.78, 301.78, 176.78)</a:t>
            </a:r>
            <a:r>
              <a:rPr lang="en-US" sz="1600">
                <a:solidFill>
                  <a:srgbClr val="111111"/>
                </a:solidFill>
              </a:rPr>
              <a:t> mm needs </a:t>
            </a:r>
            <a:r>
              <a:rPr b="1" lang="en-US" sz="1600">
                <a:solidFill>
                  <a:srgbClr val="D60000"/>
                </a:solidFill>
              </a:rPr>
              <a:t>θ</a:t>
            </a:r>
            <a:r>
              <a:rPr b="1" baseline="-25000" lang="en-US" sz="1600">
                <a:solidFill>
                  <a:srgbClr val="D60000"/>
                </a:solidFill>
              </a:rPr>
              <a:t>B</a:t>
            </a:r>
            <a:r>
              <a:rPr b="1" lang="en-US" sz="1600">
                <a:solidFill>
                  <a:srgbClr val="D60000"/>
                </a:solidFill>
              </a:rPr>
              <a:t> = 45°, θ</a:t>
            </a:r>
            <a:r>
              <a:rPr b="1" baseline="-25000" lang="en-US" sz="1600">
                <a:solidFill>
                  <a:srgbClr val="D60000"/>
                </a:solidFill>
              </a:rPr>
              <a:t>S</a:t>
            </a:r>
            <a:r>
              <a:rPr b="1" lang="en-US" sz="1600">
                <a:solidFill>
                  <a:srgbClr val="D60000"/>
                </a:solidFill>
              </a:rPr>
              <a:t> = 45°, θ</a:t>
            </a:r>
            <a:r>
              <a:rPr b="1" baseline="-25000" lang="en-US" sz="1600">
                <a:solidFill>
                  <a:srgbClr val="D60000"/>
                </a:solidFill>
              </a:rPr>
              <a:t>E</a:t>
            </a:r>
            <a:r>
              <a:rPr b="1" lang="en-US" sz="1600">
                <a:solidFill>
                  <a:srgbClr val="D60000"/>
                </a:solidFill>
              </a:rPr>
              <a:t> = −45°</a:t>
            </a:r>
            <a:r>
              <a:rPr lang="en-US" sz="1600">
                <a:solidFill>
                  <a:srgbClr val="111111"/>
                </a:solidFill>
              </a:rPr>
              <a:t>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208776" y="3666744"/>
            <a:ext cx="5175600" cy="1188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6318504" y="3758184"/>
            <a:ext cx="495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TODAY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A detector finds every object in a camera image and draws a box around it. Then we can point the arm at it.</a:t>
            </a:r>
            <a:endParaRPr sz="16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WHY DETECTION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From Camera to Base Angle</a:t>
            </a:r>
            <a:endParaRPr b="1" sz="3800"/>
          </a:p>
        </p:txBody>
      </p:sp>
      <p:sp>
        <p:nvSpPr>
          <p:cNvPr id="57" name="Google Shape;57;p5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Five steps take a photo to a turn of the base. Each step is a few lines of code.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813816" y="2157984"/>
            <a:ext cx="1748400" cy="1371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923544" y="2249424"/>
            <a:ext cx="152880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1 · IMAGE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A7A1F"/>
                </a:solidFill>
              </a:rPr>
              <a:t>Photo</a:t>
            </a:r>
            <a:endParaRPr b="1" sz="21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>
                <a:solidFill>
                  <a:srgbClr val="555555"/>
                </a:solidFill>
              </a:rPr>
              <a:t>from the arm camera</a:t>
            </a:r>
            <a:endParaRPr sz="1300">
              <a:solidFill>
                <a:srgbClr val="555555"/>
              </a:solidFill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2607869" y="2615184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77777"/>
                </a:solidFill>
              </a:rPr>
              <a:t>→</a:t>
            </a:r>
            <a:endParaRPr sz="2000">
              <a:solidFill>
                <a:srgbClr val="777777"/>
              </a:solidFill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019349" y="2157984"/>
            <a:ext cx="1748400" cy="1371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3129077" y="2249424"/>
            <a:ext cx="152880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2 · DETECTOR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A7A1F"/>
                </a:solidFill>
              </a:rPr>
              <a:t>Boxes</a:t>
            </a:r>
            <a:endParaRPr b="1" sz="21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>
                <a:solidFill>
                  <a:srgbClr val="555555"/>
                </a:solidFill>
              </a:rPr>
              <a:t>box, label, score</a:t>
            </a:r>
            <a:endParaRPr sz="1300">
              <a:solidFill>
                <a:srgbClr val="555555"/>
              </a:solidFill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4813402" y="2615184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77777"/>
                </a:solidFill>
              </a:rPr>
              <a:t>→</a:t>
            </a:r>
            <a:endParaRPr sz="2000">
              <a:solidFill>
                <a:srgbClr val="777777"/>
              </a:solidFill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224882" y="2157984"/>
            <a:ext cx="1748400" cy="1371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5334610" y="2249424"/>
            <a:ext cx="152880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3 · CLEAN-UP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A7A1F"/>
                </a:solidFill>
              </a:rPr>
              <a:t>Filter</a:t>
            </a:r>
            <a:endParaRPr b="1" sz="21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>
                <a:solidFill>
                  <a:srgbClr val="555555"/>
                </a:solidFill>
              </a:rPr>
              <a:t>threshold and NMS</a:t>
            </a:r>
            <a:endParaRPr sz="1300">
              <a:solidFill>
                <a:srgbClr val="555555"/>
              </a:solidFill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7018934" y="2615184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77777"/>
                </a:solidFill>
              </a:rPr>
              <a:t>→</a:t>
            </a:r>
            <a:endParaRPr sz="2000">
              <a:solidFill>
                <a:srgbClr val="777777"/>
              </a:solidFill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430414" y="2157984"/>
            <a:ext cx="1748400" cy="1371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7540142" y="2249424"/>
            <a:ext cx="152880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4 · TARGET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A7A1F"/>
                </a:solidFill>
              </a:rPr>
              <a:t>Pick one</a:t>
            </a:r>
            <a:endParaRPr b="1" sz="21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>
                <a:solidFill>
                  <a:srgbClr val="555555"/>
                </a:solidFill>
              </a:rPr>
              <a:t>best box of a class</a:t>
            </a:r>
            <a:endParaRPr sz="1300">
              <a:solidFill>
                <a:srgbClr val="555555"/>
              </a:solidFill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9224467" y="2615184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77777"/>
                </a:solidFill>
              </a:rPr>
              <a:t>→</a:t>
            </a:r>
            <a:endParaRPr sz="2000">
              <a:solidFill>
                <a:srgbClr val="777777"/>
              </a:solidFill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635947" y="2157984"/>
            <a:ext cx="1748400" cy="13716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9791395" y="2267712"/>
            <a:ext cx="14373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5 · ANGLE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</a:rPr>
              <a:t>Turn</a:t>
            </a:r>
            <a:endParaRPr b="1"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>
                <a:solidFill>
                  <a:srgbClr val="DDDDDD"/>
                </a:solidFill>
              </a:rPr>
              <a:t>which way for the base</a:t>
            </a:r>
            <a:endParaRPr sz="1300">
              <a:solidFill>
                <a:srgbClr val="DDDDDD"/>
              </a:solidFill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13816" y="3758184"/>
            <a:ext cx="5175600" cy="1051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923544" y="3849624"/>
            <a:ext cx="49560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DAY 1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Steps 1 and 2: what a box is, and how to run a pretrained detector</a:t>
            </a:r>
            <a:endParaRPr sz="1700">
              <a:solidFill>
                <a:srgbClr val="111111"/>
              </a:solidFill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208776" y="3758184"/>
            <a:ext cx="5175600" cy="1051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 txBox="1"/>
          <p:nvPr/>
        </p:nvSpPr>
        <p:spPr>
          <a:xfrm>
            <a:off x="6318504" y="3849624"/>
            <a:ext cx="49560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DAY 2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Steps 3, 4 and 5: clean up the boxes, pick a target and point the arm</a:t>
            </a:r>
            <a:endParaRPr sz="17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WHAT DETECTION IS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Classification, Localization, Detection</a:t>
            </a:r>
            <a:endParaRPr b="1" sz="3800"/>
          </a:p>
        </p:txBody>
      </p:sp>
      <p:sp>
        <p:nvSpPr>
          <p:cNvPr id="82" name="Google Shape;82;p6"/>
          <p:cNvSpPr/>
          <p:nvPr/>
        </p:nvSpPr>
        <p:spPr>
          <a:xfrm>
            <a:off x="813816" y="1591056"/>
            <a:ext cx="3371100" cy="3291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1014984" y="1773936"/>
            <a:ext cx="2968800" cy="1783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1426464" y="2734056"/>
            <a:ext cx="457200" cy="502800"/>
          </a:xfrm>
          <a:prstGeom prst="roundRect">
            <a:avLst>
              <a:gd fmla="val 16667" name="adj"/>
            </a:avLst>
          </a:prstGeom>
          <a:solidFill>
            <a:srgbClr val="7F8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2478024" y="2322576"/>
            <a:ext cx="320100" cy="914400"/>
          </a:xfrm>
          <a:prstGeom prst="roundRect">
            <a:avLst>
              <a:gd fmla="val 16667" name="adj"/>
            </a:avLst>
          </a:prstGeom>
          <a:solidFill>
            <a:srgbClr val="F2C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163824" y="2779776"/>
            <a:ext cx="457200" cy="457200"/>
          </a:xfrm>
          <a:prstGeom prst="ellipse">
            <a:avLst/>
          </a:prstGeom>
          <a:solidFill>
            <a:srgbClr val="3A7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923544" y="3694176"/>
            <a:ext cx="3151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CLASSIFICATION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One label for the whole image: </a:t>
            </a:r>
            <a:r>
              <a:rPr b="1" lang="en-US" sz="1600">
                <a:solidFill>
                  <a:srgbClr val="D60000"/>
                </a:solidFill>
              </a:rPr>
              <a:t>“cup”</a:t>
            </a:r>
            <a:r>
              <a:rPr lang="en-US" sz="1600">
                <a:solidFill>
                  <a:srgbClr val="111111"/>
                </a:solidFill>
              </a:rPr>
              <a:t>. It says what, not where.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413504" y="1591056"/>
            <a:ext cx="3371100" cy="3291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614672" y="1773936"/>
            <a:ext cx="2968800" cy="1783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5026152" y="2734056"/>
            <a:ext cx="457200" cy="502800"/>
          </a:xfrm>
          <a:prstGeom prst="roundRect">
            <a:avLst>
              <a:gd fmla="val 16667" name="adj"/>
            </a:avLst>
          </a:prstGeom>
          <a:solidFill>
            <a:srgbClr val="7F8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6077712" y="2322576"/>
            <a:ext cx="320100" cy="914400"/>
          </a:xfrm>
          <a:prstGeom prst="roundRect">
            <a:avLst>
              <a:gd fmla="val 16667" name="adj"/>
            </a:avLst>
          </a:prstGeom>
          <a:solidFill>
            <a:srgbClr val="F2C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763512" y="2779776"/>
            <a:ext cx="457200" cy="457200"/>
          </a:xfrm>
          <a:prstGeom prst="ellipse">
            <a:avLst/>
          </a:prstGeom>
          <a:solidFill>
            <a:srgbClr val="3A7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934712" y="2642616"/>
            <a:ext cx="640200" cy="685800"/>
          </a:xfrm>
          <a:prstGeom prst="rect">
            <a:avLst/>
          </a:prstGeom>
          <a:noFill/>
          <a:ln cap="flat" cmpd="sng" w="2540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4523232" y="3694176"/>
            <a:ext cx="3151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LOCALIZATION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One box around one object. It says where.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013192" y="1591056"/>
            <a:ext cx="3371100" cy="3291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214360" y="1773936"/>
            <a:ext cx="2968800" cy="1783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625840" y="2734056"/>
            <a:ext cx="457200" cy="502800"/>
          </a:xfrm>
          <a:prstGeom prst="roundRect">
            <a:avLst>
              <a:gd fmla="val 16667" name="adj"/>
            </a:avLst>
          </a:prstGeom>
          <a:solidFill>
            <a:srgbClr val="7F8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677400" y="2322576"/>
            <a:ext cx="320100" cy="914400"/>
          </a:xfrm>
          <a:prstGeom prst="roundRect">
            <a:avLst>
              <a:gd fmla="val 16667" name="adj"/>
            </a:avLst>
          </a:prstGeom>
          <a:solidFill>
            <a:srgbClr val="F2C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10363200" y="2779776"/>
            <a:ext cx="457200" cy="457200"/>
          </a:xfrm>
          <a:prstGeom prst="ellipse">
            <a:avLst/>
          </a:prstGeom>
          <a:solidFill>
            <a:srgbClr val="3A7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534400" y="2642616"/>
            <a:ext cx="640200" cy="685800"/>
          </a:xfrm>
          <a:prstGeom prst="rect">
            <a:avLst/>
          </a:prstGeom>
          <a:noFill/>
          <a:ln cap="flat" cmpd="sng" w="2540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9585960" y="2231136"/>
            <a:ext cx="502800" cy="1097400"/>
          </a:xfrm>
          <a:prstGeom prst="rect">
            <a:avLst/>
          </a:prstGeom>
          <a:noFill/>
          <a:ln cap="flat" cmpd="sng" w="2540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10290048" y="2706624"/>
            <a:ext cx="603600" cy="603600"/>
          </a:xfrm>
          <a:prstGeom prst="rect">
            <a:avLst/>
          </a:prstGeom>
          <a:noFill/>
          <a:ln cap="flat" cmpd="sng" w="2540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8122920" y="3694176"/>
            <a:ext cx="3151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DETECTION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A box, a label and a score for every object in the image.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IMAGE COORDINATES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722376" y="822960"/>
            <a:ext cx="59436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Pixels Have Their Own</a:t>
            </a:r>
            <a:endParaRPr b="1"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Axes</a:t>
            </a:r>
            <a:endParaRPr b="1" sz="3800"/>
          </a:p>
        </p:txBody>
      </p:sp>
      <p:sp>
        <p:nvSpPr>
          <p:cNvPr id="110" name="Google Shape;110;p7"/>
          <p:cNvSpPr/>
          <p:nvPr/>
        </p:nvSpPr>
        <p:spPr>
          <a:xfrm>
            <a:off x="813816" y="2295144"/>
            <a:ext cx="5715000" cy="1371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923544" y="2386584"/>
            <a:ext cx="549540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11111"/>
                </a:solidFill>
              </a:rPr>
              <a:t>Origin:</a:t>
            </a:r>
            <a:r>
              <a:rPr lang="en-US" sz="1700">
                <a:solidFill>
                  <a:srgbClr val="111111"/>
                </a:solidFill>
              </a:rPr>
              <a:t> (0, 0) is the top-left corner</a:t>
            </a:r>
            <a:endParaRPr sz="17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11111"/>
                </a:solidFill>
              </a:rPr>
              <a:t>x</a:t>
            </a:r>
            <a:r>
              <a:rPr lang="en-US" sz="1700">
                <a:solidFill>
                  <a:srgbClr val="111111"/>
                </a:solidFill>
              </a:rPr>
              <a:t> grows to the right</a:t>
            </a:r>
            <a:endParaRPr sz="17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700">
                <a:solidFill>
                  <a:srgbClr val="111111"/>
                </a:solidFill>
              </a:rPr>
              <a:t>y</a:t>
            </a:r>
            <a:r>
              <a:rPr lang="en-US" sz="1700">
                <a:solidFill>
                  <a:srgbClr val="111111"/>
                </a:solidFill>
              </a:rPr>
              <a:t> grows </a:t>
            </a:r>
            <a:r>
              <a:rPr b="1" lang="en-US" sz="1700">
                <a:solidFill>
                  <a:srgbClr val="D60000"/>
                </a:solidFill>
              </a:rPr>
              <a:t>downward</a:t>
            </a:r>
            <a:endParaRPr b="1" sz="1700">
              <a:solidFill>
                <a:srgbClr val="D60000"/>
              </a:solidFill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13816" y="3849624"/>
            <a:ext cx="5715000" cy="11886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969264" y="3959352"/>
            <a:ext cx="54042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ONE CHANGE OF HABIT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>
                <a:solidFill>
                  <a:srgbClr val="DDDDDD"/>
                </a:solidFill>
              </a:rPr>
              <a:t>In the arm lessons, up was y or z. In an image, a larger y means lower in the picture.</a:t>
            </a:r>
            <a:endParaRPr sz="1700">
              <a:solidFill>
                <a:srgbClr val="DDDDDD"/>
              </a:solidFill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406640" y="1325880"/>
            <a:ext cx="3840600" cy="28803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" name="Google Shape;115;p7"/>
          <p:cNvCxnSpPr/>
          <p:nvPr/>
        </p:nvCxnSpPr>
        <p:spPr>
          <a:xfrm>
            <a:off x="7406640" y="1325880"/>
            <a:ext cx="4160400" cy="0"/>
          </a:xfrm>
          <a:prstGeom prst="straightConnector1">
            <a:avLst/>
          </a:prstGeom>
          <a:noFill/>
          <a:ln cap="flat" cmpd="sng" w="19050">
            <a:solidFill>
              <a:srgbClr val="44444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7"/>
          <p:cNvCxnSpPr/>
          <p:nvPr/>
        </p:nvCxnSpPr>
        <p:spPr>
          <a:xfrm>
            <a:off x="7406640" y="1325880"/>
            <a:ext cx="0" cy="3291900"/>
          </a:xfrm>
          <a:prstGeom prst="straightConnector1">
            <a:avLst/>
          </a:prstGeom>
          <a:noFill/>
          <a:ln cap="flat" cmpd="sng" w="19050">
            <a:solidFill>
              <a:srgbClr val="44444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7"/>
          <p:cNvSpPr txBox="1"/>
          <p:nvPr/>
        </p:nvSpPr>
        <p:spPr>
          <a:xfrm>
            <a:off x="6995160" y="941832"/>
            <a:ext cx="91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11111"/>
                </a:solidFill>
              </a:rPr>
              <a:t>(0, 0)</a:t>
            </a:r>
            <a:endParaRPr b="1" sz="1300">
              <a:solidFill>
                <a:srgbClr val="111111"/>
              </a:solidFill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11430000" y="978408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111"/>
                </a:solidFill>
              </a:rPr>
              <a:t>x</a:t>
            </a:r>
            <a:endParaRPr b="1" sz="1500">
              <a:solidFill>
                <a:srgbClr val="111111"/>
              </a:solidFill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059168" y="4389120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111"/>
                </a:solidFill>
              </a:rPr>
              <a:t>y</a:t>
            </a:r>
            <a:endParaRPr b="1" sz="1500">
              <a:solidFill>
                <a:srgbClr val="111111"/>
              </a:solidFill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9097137" y="2716340"/>
            <a:ext cx="219600" cy="219600"/>
          </a:xfrm>
          <a:prstGeom prst="ellipse">
            <a:avLst/>
          </a:prstGeom>
          <a:solidFill>
            <a:srgbClr val="F2C23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8383905" y="2935796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60000"/>
                </a:solidFill>
              </a:rPr>
              <a:t>(x, y) = (300, 250)</a:t>
            </a:r>
            <a:endParaRPr b="1" sz="1300">
              <a:solidFill>
                <a:srgbClr val="D60000"/>
              </a:solidFill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406640" y="4754880"/>
            <a:ext cx="3840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</a:rPr>
              <a:t>A 640 × 480 image</a:t>
            </a:r>
            <a:endParaRPr sz="12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BOUNDING BOXES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722376" y="822960"/>
            <a:ext cx="6858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Two Ways to Write a Box</a:t>
            </a:r>
            <a:endParaRPr b="1" sz="3800"/>
          </a:p>
        </p:txBody>
      </p:sp>
      <p:sp>
        <p:nvSpPr>
          <p:cNvPr id="129" name="Google Shape;129;p8"/>
          <p:cNvSpPr/>
          <p:nvPr/>
        </p:nvSpPr>
        <p:spPr>
          <a:xfrm>
            <a:off x="813816" y="1591056"/>
            <a:ext cx="6400800" cy="12801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923544" y="1682496"/>
            <a:ext cx="61812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CORNER FORMAT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(x_min, y_min, x_max, y_max)</a:t>
            </a:r>
            <a:endParaRPr sz="16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600">
                <a:solidFill>
                  <a:srgbClr val="D60000"/>
                </a:solidFill>
              </a:rPr>
              <a:t>(120, 80, 360, 320)</a:t>
            </a:r>
            <a:endParaRPr b="1" sz="2600">
              <a:solidFill>
                <a:srgbClr val="D60000"/>
              </a:solidFill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813816" y="3054096"/>
            <a:ext cx="6400800" cy="12801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923544" y="3145536"/>
            <a:ext cx="61812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WIDTH AND HEIGHT FORMAT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(x, y, width, height)</a:t>
            </a:r>
            <a:endParaRPr sz="16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600">
                <a:solidFill>
                  <a:srgbClr val="D60000"/>
                </a:solidFill>
              </a:rPr>
              <a:t>(120, 80, 240, 240)</a:t>
            </a:r>
            <a:endParaRPr b="1" sz="2600">
              <a:solidFill>
                <a:srgbClr val="D60000"/>
              </a:solidFill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22376" y="4517136"/>
            <a:ext cx="6583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The two formats hold the same information. The detector in this lesson uses corner format.</a:t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7863840" y="1371600"/>
            <a:ext cx="3520500" cy="26403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8523922" y="1811655"/>
            <a:ext cx="1320300" cy="1320300"/>
          </a:xfrm>
          <a:prstGeom prst="rect">
            <a:avLst/>
          </a:prstGeom>
          <a:noFill/>
          <a:ln cap="flat" cmpd="sng" w="28575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8459914" y="1747647"/>
            <a:ext cx="128100" cy="128100"/>
          </a:xfrm>
          <a:prstGeom prst="ellipse">
            <a:avLst/>
          </a:prstGeom>
          <a:solidFill>
            <a:srgbClr val="F2C23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9780080" y="3067812"/>
            <a:ext cx="128100" cy="128100"/>
          </a:xfrm>
          <a:prstGeom prst="ellipse">
            <a:avLst/>
          </a:prstGeom>
          <a:solidFill>
            <a:srgbClr val="F2C23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 txBox="1"/>
          <p:nvPr/>
        </p:nvSpPr>
        <p:spPr>
          <a:xfrm>
            <a:off x="8478202" y="1482471"/>
            <a:ext cx="1188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11111"/>
                </a:solidFill>
              </a:rPr>
              <a:t>(120, 80)</a:t>
            </a:r>
            <a:endParaRPr b="1" sz="1200">
              <a:solidFill>
                <a:srgbClr val="111111"/>
              </a:solidFill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9889808" y="2994660"/>
            <a:ext cx="1188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11111"/>
                </a:solidFill>
              </a:rPr>
              <a:t>(360, 320)</a:t>
            </a:r>
            <a:endParaRPr b="1" sz="1200">
              <a:solidFill>
                <a:srgbClr val="111111"/>
              </a:solidFill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772400" y="4103370"/>
            <a:ext cx="370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</a:rPr>
              <a:t>Image coordinates: top-left origin, y down</a:t>
            </a:r>
            <a:endParaRPr sz="12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BOUNDING BOXES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Worked Example: Box Measurements</a:t>
            </a:r>
            <a:endParaRPr b="1" sz="3800"/>
          </a:p>
        </p:txBody>
      </p:sp>
      <p:sp>
        <p:nvSpPr>
          <p:cNvPr id="147" name="Google Shape;147;p9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Measure the box </a:t>
            </a:r>
            <a:r>
              <a:rPr b="1" lang="en-US" sz="1700">
                <a:solidFill>
                  <a:srgbClr val="D60000"/>
                </a:solidFill>
              </a:rPr>
              <a:t>(120, 80, 360, 320)</a:t>
            </a:r>
            <a:r>
              <a:rPr lang="en-US" sz="1700">
                <a:solidFill>
                  <a:srgbClr val="333333"/>
                </a:solidFill>
              </a:rPr>
              <a:t> from its corners.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813816" y="2157984"/>
            <a:ext cx="5175600" cy="12618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923544" y="2249424"/>
            <a:ext cx="4956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WIDTH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x_max − x_min = 360 − 120</a:t>
            </a:r>
            <a:endParaRPr sz="16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600">
                <a:solidFill>
                  <a:srgbClr val="D60000"/>
                </a:solidFill>
              </a:rPr>
              <a:t>240</a:t>
            </a:r>
            <a:endParaRPr b="1" sz="2600">
              <a:solidFill>
                <a:srgbClr val="D60000"/>
              </a:solidFill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208776" y="2157984"/>
            <a:ext cx="5175600" cy="12618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6318504" y="2249424"/>
            <a:ext cx="4956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HEIGHT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y_max − y_min = 320 − 80</a:t>
            </a:r>
            <a:endParaRPr sz="16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600">
                <a:solidFill>
                  <a:srgbClr val="D60000"/>
                </a:solidFill>
              </a:rPr>
              <a:t>240</a:t>
            </a:r>
            <a:endParaRPr b="1" sz="2600">
              <a:solidFill>
                <a:srgbClr val="D60000"/>
              </a:solidFill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813816" y="3575304"/>
            <a:ext cx="5175600" cy="12618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923544" y="3666744"/>
            <a:ext cx="4956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CENTER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((120 + 360) ÷ 2, (80 + 320) ÷ 2)</a:t>
            </a:r>
            <a:endParaRPr sz="16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600">
                <a:solidFill>
                  <a:srgbClr val="D60000"/>
                </a:solidFill>
              </a:rPr>
              <a:t>(240, 200)</a:t>
            </a:r>
            <a:endParaRPr b="1" sz="2600">
              <a:solidFill>
                <a:srgbClr val="D60000"/>
              </a:solidFill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208776" y="3575304"/>
            <a:ext cx="5175600" cy="12618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 txBox="1"/>
          <p:nvPr/>
        </p:nvSpPr>
        <p:spPr>
          <a:xfrm>
            <a:off x="6318504" y="3666744"/>
            <a:ext cx="4956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AREA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width × height = 240 × 240</a:t>
            </a:r>
            <a:endParaRPr sz="16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600">
                <a:solidFill>
                  <a:srgbClr val="D60000"/>
                </a:solidFill>
              </a:rPr>
              <a:t>57,600 px²</a:t>
            </a:r>
            <a:endParaRPr b="1" sz="2600">
              <a:solidFill>
                <a:srgbClr val="D60000"/>
              </a:solidFill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813816" y="5084064"/>
            <a:ext cx="10570500" cy="5670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969264" y="5193792"/>
            <a:ext cx="10259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So (120, 80, 240, 240) in width and height format is the same box.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/>
        </p:nvSpPr>
        <p:spPr>
          <a:xfrm>
            <a:off x="722376" y="475488"/>
            <a:ext cx="658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TRY IT YOURSELF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722376" y="822960"/>
            <a:ext cx="6583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Try It Yourself #1</a:t>
            </a:r>
            <a:endParaRPr b="1" sz="3800"/>
          </a:p>
        </p:txBody>
      </p:sp>
      <p:sp>
        <p:nvSpPr>
          <p:cNvPr id="164" name="Google Shape;164;p10"/>
          <p:cNvSpPr txBox="1"/>
          <p:nvPr/>
        </p:nvSpPr>
        <p:spPr>
          <a:xfrm>
            <a:off x="722376" y="1591056"/>
            <a:ext cx="6492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Find the width, height, center and area of the box, then write it as (x, y, width, height).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813816" y="2377440"/>
            <a:ext cx="6263700" cy="7773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 txBox="1"/>
          <p:nvPr/>
        </p:nvSpPr>
        <p:spPr>
          <a:xfrm>
            <a:off x="923544" y="2468880"/>
            <a:ext cx="6044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-US" sz="2800">
                <a:solidFill>
                  <a:srgbClr val="D60000"/>
                </a:solidFill>
              </a:rPr>
              <a:t>(50, 60, 250, 160)</a:t>
            </a:r>
            <a:endParaRPr b="1" sz="2800">
              <a:solidFill>
                <a:srgbClr val="D60000"/>
              </a:solidFill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813816" y="3337560"/>
            <a:ext cx="6263700" cy="21030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969264" y="3447288"/>
            <a:ext cx="5952600" cy="19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Width 250 − 50 = 200, height 160 − 60 = 100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Center (150, 110)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Area 20,000 px²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(50, 60, 200, 100)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7772400" y="868680"/>
            <a:ext cx="3566100" cy="26745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8051006" y="1203008"/>
            <a:ext cx="1114500" cy="557100"/>
          </a:xfrm>
          <a:prstGeom prst="rect">
            <a:avLst/>
          </a:prstGeom>
          <a:noFill/>
          <a:ln cap="flat" cmpd="sng" w="28575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7977854" y="1778508"/>
            <a:ext cx="914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60000"/>
                </a:solidFill>
              </a:rPr>
              <a:t>(?, ?)</a:t>
            </a:r>
            <a:endParaRPr b="1" sz="1300">
              <a:solidFill>
                <a:srgbClr val="D60000"/>
              </a:solidFill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7680960" y="3616452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</a:rPr>
              <a:t>Drawn at the same scale as the pixels</a:t>
            </a:r>
            <a:endParaRPr sz="12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/>
        </p:nvSpPr>
        <p:spPr>
          <a:xfrm>
            <a:off x="722376" y="475488"/>
            <a:ext cx="6400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OVERLAP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22376" y="822960"/>
            <a:ext cx="6400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Intersection over Union</a:t>
            </a:r>
            <a:endParaRPr b="1" sz="3800"/>
          </a:p>
        </p:txBody>
      </p:sp>
      <p:sp>
        <p:nvSpPr>
          <p:cNvPr id="179" name="Google Shape;179;p11"/>
          <p:cNvSpPr txBox="1"/>
          <p:nvPr/>
        </p:nvSpPr>
        <p:spPr>
          <a:xfrm>
            <a:off x="722376" y="1591056"/>
            <a:ext cx="6035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To compare a model’s box with a true box we need one number for how much they overlap.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813816" y="2514600"/>
            <a:ext cx="5715000" cy="10515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 txBox="1"/>
          <p:nvPr/>
        </p:nvSpPr>
        <p:spPr>
          <a:xfrm>
            <a:off x="969264" y="2624328"/>
            <a:ext cx="54042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IOU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overlap area ÷ combined area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813816" y="3749040"/>
            <a:ext cx="5715000" cy="12801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923544" y="3840480"/>
            <a:ext cx="54954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1111"/>
                </a:solidFill>
              </a:rPr>
              <a:t>0</a:t>
            </a:r>
            <a:r>
              <a:rPr lang="en-US" sz="1600">
                <a:solidFill>
                  <a:srgbClr val="111111"/>
                </a:solidFill>
              </a:rPr>
              <a:t> means the boxes do not touch</a:t>
            </a:r>
            <a:endParaRPr sz="16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1111"/>
                </a:solidFill>
              </a:rPr>
              <a:t>1</a:t>
            </a:r>
            <a:r>
              <a:rPr lang="en-US" sz="1600">
                <a:solidFill>
                  <a:srgbClr val="111111"/>
                </a:solidFill>
              </a:rPr>
              <a:t> means the boxes are identical</a:t>
            </a:r>
            <a:endParaRPr sz="16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600">
                <a:solidFill>
                  <a:srgbClr val="111111"/>
                </a:solidFill>
              </a:rPr>
              <a:t>0.5 or more</a:t>
            </a:r>
            <a:r>
              <a:rPr lang="en-US" sz="1600">
                <a:solidFill>
                  <a:srgbClr val="111111"/>
                </a:solidFill>
              </a:rPr>
              <a:t> usually counts as a match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8595360" y="1874520"/>
            <a:ext cx="1326000" cy="1371600"/>
          </a:xfrm>
          <a:prstGeom prst="rect">
            <a:avLst/>
          </a:prstGeom>
          <a:solidFill>
            <a:srgbClr val="F7D7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7269480" y="502920"/>
            <a:ext cx="2651700" cy="2743200"/>
          </a:xfrm>
          <a:prstGeom prst="rect">
            <a:avLst/>
          </a:prstGeom>
          <a:noFill/>
          <a:ln cap="flat" cmpd="sng" w="28575">
            <a:solidFill>
              <a:srgbClr val="3A7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8595360" y="1874520"/>
            <a:ext cx="2651700" cy="2743200"/>
          </a:xfrm>
          <a:prstGeom prst="rect">
            <a:avLst/>
          </a:prstGeom>
          <a:noFill/>
          <a:ln cap="flat" cmpd="sng" w="28575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8595360" y="2331720"/>
            <a:ext cx="132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11111"/>
                </a:solidFill>
              </a:rPr>
              <a:t>overlap</a:t>
            </a:r>
            <a:endParaRPr b="1" sz="1300">
              <a:solidFill>
                <a:srgbClr val="111111"/>
              </a:solidFill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7315200" y="530352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A7A1F"/>
                </a:solidFill>
              </a:rPr>
              <a:t>A</a:t>
            </a:r>
            <a:endParaRPr b="1" sz="1800">
              <a:solidFill>
                <a:srgbClr val="3A7A1F"/>
              </a:solidFill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10835640" y="416052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60000"/>
                </a:solidFill>
              </a:rPr>
              <a:t>B</a:t>
            </a:r>
            <a:endParaRPr b="1" sz="1800">
              <a:solidFill>
                <a:srgbClr val="D6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OVERLAP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Worked Example: IoU</a:t>
            </a:r>
            <a:endParaRPr b="1" sz="3800"/>
          </a:p>
        </p:txBody>
      </p:sp>
      <p:sp>
        <p:nvSpPr>
          <p:cNvPr id="196" name="Google Shape;196;p12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A = </a:t>
            </a:r>
            <a:r>
              <a:rPr b="1" lang="en-US" sz="1700">
                <a:solidFill>
                  <a:srgbClr val="D60000"/>
                </a:solidFill>
              </a:rPr>
              <a:t>(100, 100, 300, 300)</a:t>
            </a:r>
            <a:r>
              <a:rPr lang="en-US" sz="1700">
                <a:solidFill>
                  <a:srgbClr val="333333"/>
                </a:solidFill>
              </a:rPr>
              <a:t> and B = </a:t>
            </a:r>
            <a:r>
              <a:rPr b="1" lang="en-US" sz="1700">
                <a:solidFill>
                  <a:srgbClr val="D60000"/>
                </a:solidFill>
              </a:rPr>
              <a:t>(200, 200, 400, 400)</a:t>
            </a:r>
            <a:endParaRPr b="1" sz="1700">
              <a:solidFill>
                <a:srgbClr val="D60000"/>
              </a:solidFill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813816" y="2157984"/>
            <a:ext cx="3371100" cy="1554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923544" y="2249424"/>
            <a:ext cx="31515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STEP 1 · OVERLAP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Larger mins, smaller maxes:</a:t>
            </a:r>
            <a:endParaRPr sz="15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(200, 200, 300, 300)</a:t>
            </a:r>
            <a:endParaRPr sz="15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900">
                <a:solidFill>
                  <a:srgbClr val="D60000"/>
                </a:solidFill>
              </a:rPr>
              <a:t>100 × 100 = 10,000</a:t>
            </a:r>
            <a:endParaRPr b="1" sz="1900">
              <a:solidFill>
                <a:srgbClr val="D60000"/>
              </a:solidFill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4413504" y="2157984"/>
            <a:ext cx="3371100" cy="1554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4523232" y="2249424"/>
            <a:ext cx="31515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STEP 2 · COMBINED AREA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Each box is 200 × 200 = 40,000</a:t>
            </a:r>
            <a:endParaRPr sz="15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900">
                <a:solidFill>
                  <a:srgbClr val="D60000"/>
                </a:solidFill>
              </a:rPr>
              <a:t>40,000 + 40,000 − 10,000 = 70,000</a:t>
            </a:r>
            <a:endParaRPr b="1" sz="1900">
              <a:solidFill>
                <a:srgbClr val="D60000"/>
              </a:solidFill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8013192" y="2157984"/>
            <a:ext cx="3371100" cy="15546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8168640" y="2267712"/>
            <a:ext cx="30603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STEP 3 · IoU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DDDD"/>
                </a:solidFill>
              </a:rPr>
              <a:t>overlap ÷ combined area</a:t>
            </a:r>
            <a:endParaRPr sz="15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900">
                <a:solidFill>
                  <a:srgbClr val="FFFFFF"/>
                </a:solidFill>
              </a:rPr>
              <a:t>10,000 ÷ 70,000 = 0.14</a:t>
            </a:r>
            <a:endParaRPr b="1" sz="1900">
              <a:solidFill>
                <a:srgbClr val="FFFFFF"/>
              </a:solidFill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813816" y="3895344"/>
            <a:ext cx="10570500" cy="804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923544" y="3986784"/>
            <a:ext cx="10350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COMMON MISTAKE</a:t>
            </a:r>
            <a:endParaRPr b="1" sz="12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Adding the two areas and forgetting to subtract the overlap counts the overlap twice.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722376" y="4855464"/>
            <a:ext cx="1075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0.14 is well under 0.5, so these two boxes would not count as a match.</a:t>
            </a:r>
            <a:endParaRPr sz="16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/>
        </p:nvSpPr>
        <p:spPr>
          <a:xfrm>
            <a:off x="722376" y="475488"/>
            <a:ext cx="6400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TRY IT YOURSELF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722376" y="822960"/>
            <a:ext cx="6400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Try It Yourself #2</a:t>
            </a:r>
            <a:endParaRPr b="1" sz="3800"/>
          </a:p>
        </p:txBody>
      </p:sp>
      <p:sp>
        <p:nvSpPr>
          <p:cNvPr id="212" name="Google Shape;212;p13"/>
          <p:cNvSpPr txBox="1"/>
          <p:nvPr/>
        </p:nvSpPr>
        <p:spPr>
          <a:xfrm>
            <a:off x="722376" y="1591056"/>
            <a:ext cx="640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Find the IoU of these two boxes.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813816" y="2148840"/>
            <a:ext cx="6263700" cy="10974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 txBox="1"/>
          <p:nvPr/>
        </p:nvSpPr>
        <p:spPr>
          <a:xfrm>
            <a:off x="923544" y="2240280"/>
            <a:ext cx="60441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60000"/>
                </a:solidFill>
              </a:rPr>
              <a:t>A = (0, 0, 100, 100)</a:t>
            </a:r>
            <a:endParaRPr b="1" sz="24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400">
                <a:solidFill>
                  <a:srgbClr val="D60000"/>
                </a:solidFill>
              </a:rPr>
              <a:t>B = (0, 0, 100, 50)</a:t>
            </a:r>
            <a:endParaRPr b="1" sz="2400">
              <a:solidFill>
                <a:srgbClr val="D60000"/>
              </a:solidFill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813816" y="3429000"/>
            <a:ext cx="6263700" cy="2148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 txBox="1"/>
          <p:nvPr/>
        </p:nvSpPr>
        <p:spPr>
          <a:xfrm>
            <a:off x="969264" y="3538728"/>
            <a:ext cx="5952600" cy="1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B sits completely inside A, so the overlap is B’s area, 5,000. The combined area is A’s area, 10,000.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IoU = 0.50</a:t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>
                <a:solidFill>
                  <a:srgbClr val="DDDDDD"/>
                </a:solidFill>
              </a:rPr>
              <a:t>Bonus: what is the IoU of two identical boxes? It is 1.</a:t>
            </a:r>
            <a:endParaRPr sz="1300">
              <a:solidFill>
                <a:srgbClr val="DDDDDD"/>
              </a:solidFill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092440" y="914400"/>
            <a:ext cx="2560200" cy="1280100"/>
          </a:xfrm>
          <a:prstGeom prst="rect">
            <a:avLst/>
          </a:prstGeom>
          <a:solidFill>
            <a:srgbClr val="F7D7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8092440" y="914400"/>
            <a:ext cx="2560200" cy="1280100"/>
          </a:xfrm>
          <a:prstGeom prst="rect">
            <a:avLst/>
          </a:prstGeom>
          <a:noFill/>
          <a:ln cap="flat" cmpd="sng" w="28575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8092440" y="914400"/>
            <a:ext cx="2560200" cy="2560200"/>
          </a:xfrm>
          <a:prstGeom prst="rect">
            <a:avLst/>
          </a:prstGeom>
          <a:noFill/>
          <a:ln cap="flat" cmpd="sng" w="28575">
            <a:solidFill>
              <a:srgbClr val="3A7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 txBox="1"/>
          <p:nvPr/>
        </p:nvSpPr>
        <p:spPr>
          <a:xfrm>
            <a:off x="8138160" y="941832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60000"/>
                </a:solidFill>
              </a:rPr>
              <a:t>B</a:t>
            </a:r>
            <a:endParaRPr b="1" sz="1800">
              <a:solidFill>
                <a:srgbClr val="D60000"/>
              </a:solidFill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8138160" y="301752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A7A1F"/>
                </a:solidFill>
              </a:rPr>
              <a:t>A</a:t>
            </a:r>
            <a:endParaRPr b="1" sz="1800">
              <a:solidFill>
                <a:srgbClr val="3A7A1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PRETRAINED MODELS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Someone Already Taught It</a:t>
            </a:r>
            <a:endParaRPr b="1" sz="3800"/>
          </a:p>
        </p:txBody>
      </p:sp>
      <p:sp>
        <p:nvSpPr>
          <p:cNvPr id="228" name="Google Shape;228;p14"/>
          <p:cNvSpPr/>
          <p:nvPr/>
        </p:nvSpPr>
        <p:spPr>
          <a:xfrm>
            <a:off x="813816" y="1591056"/>
            <a:ext cx="3157800" cy="12801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 txBox="1"/>
          <p:nvPr/>
        </p:nvSpPr>
        <p:spPr>
          <a:xfrm>
            <a:off x="923544" y="1682496"/>
            <a:ext cx="29382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INPUT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A7A1F"/>
                </a:solidFill>
              </a:rPr>
              <a:t>An image</a:t>
            </a:r>
            <a:endParaRPr b="1" sz="24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>
                <a:solidFill>
                  <a:srgbClr val="555555"/>
                </a:solidFill>
              </a:rPr>
              <a:t>one camera photo</a:t>
            </a:r>
            <a:endParaRPr sz="1300">
              <a:solidFill>
                <a:srgbClr val="555555"/>
              </a:solidFill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4062984" y="2002536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77777"/>
                </a:solidFill>
              </a:rPr>
              <a:t>→</a:t>
            </a:r>
            <a:endParaRPr sz="2000">
              <a:solidFill>
                <a:srgbClr val="777777"/>
              </a:solidFill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4520184" y="1591056"/>
            <a:ext cx="3157800" cy="12801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 txBox="1"/>
          <p:nvPr/>
        </p:nvSpPr>
        <p:spPr>
          <a:xfrm>
            <a:off x="4629912" y="1682496"/>
            <a:ext cx="29382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PRETRAINED MODEL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A7A1F"/>
                </a:solidFill>
              </a:rPr>
              <a:t>Already learned</a:t>
            </a:r>
            <a:endParaRPr b="1" sz="24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>
                <a:solidFill>
                  <a:srgbClr val="555555"/>
                </a:solidFill>
              </a:rPr>
              <a:t>from hundreds of thousands of labeled photos</a:t>
            </a:r>
            <a:endParaRPr sz="1300">
              <a:solidFill>
                <a:srgbClr val="555555"/>
              </a:solidFill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7769352" y="2002536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77777"/>
                </a:solidFill>
              </a:rPr>
              <a:t>→</a:t>
            </a:r>
            <a:endParaRPr sz="2000">
              <a:solidFill>
                <a:srgbClr val="777777"/>
              </a:solidFill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8226552" y="1591056"/>
            <a:ext cx="3157800" cy="12801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8382000" y="1700784"/>
            <a:ext cx="28467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OUTPUT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A list</a:t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>
                <a:solidFill>
                  <a:srgbClr val="DDDDDD"/>
                </a:solidFill>
              </a:rPr>
              <a:t>box, label and score for each object</a:t>
            </a:r>
            <a:endParaRPr sz="1300">
              <a:solidFill>
                <a:srgbClr val="DDDDDD"/>
              </a:solidFill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813816" y="3054096"/>
            <a:ext cx="5175600" cy="1188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 txBox="1"/>
          <p:nvPr/>
        </p:nvSpPr>
        <p:spPr>
          <a:xfrm>
            <a:off x="923544" y="3145536"/>
            <a:ext cx="495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WHAT IT KNOWS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COCO’s </a:t>
            </a:r>
            <a:r>
              <a:rPr b="1" lang="en-US" sz="1600">
                <a:solidFill>
                  <a:srgbClr val="111111"/>
                </a:solidFill>
              </a:rPr>
              <a:t>80 classes</a:t>
            </a:r>
            <a:r>
              <a:rPr lang="en-US" sz="1600">
                <a:solidFill>
                  <a:srgbClr val="111111"/>
                </a:solidFill>
              </a:rPr>
              <a:t>: cup, bottle, scissors, apple and so on. Nothing else.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6208776" y="3054096"/>
            <a:ext cx="5175600" cy="1188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 txBox="1"/>
          <p:nvPr/>
        </p:nvSpPr>
        <p:spPr>
          <a:xfrm>
            <a:off x="6318504" y="3145536"/>
            <a:ext cx="495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WHAT TO WATCH FOR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Its training photos were not taken by our arm camera, so some objects are harder for it.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813816" y="4425696"/>
            <a:ext cx="10570500" cy="1051500"/>
          </a:xfrm>
          <a:prstGeom prst="roundRect">
            <a:avLst>
              <a:gd fmla="val 16667" name="adj"/>
            </a:avLst>
          </a:prstGeom>
          <a:solidFill>
            <a:srgbClr val="2B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 txBox="1"/>
          <p:nvPr/>
        </p:nvSpPr>
        <p:spPr>
          <a:xfrm>
            <a:off x="969264" y="4535424"/>
            <a:ext cx="102597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EXAMPLE OUTPUT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cup     0.92  (120, 80, 360, 320)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bottle  0.88  (450, 150, 600, 470)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CHECK WITH CODE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Check It with Code</a:t>
            </a:r>
            <a:endParaRPr b="1" sz="3800"/>
          </a:p>
        </p:txBody>
      </p:sp>
      <p:sp>
        <p:nvSpPr>
          <p:cNvPr id="248" name="Google Shape;248;p15"/>
          <p:cNvSpPr/>
          <p:nvPr/>
        </p:nvSpPr>
        <p:spPr>
          <a:xfrm>
            <a:off x="813816" y="1591056"/>
            <a:ext cx="6446400" cy="2331600"/>
          </a:xfrm>
          <a:prstGeom prst="roundRect">
            <a:avLst>
              <a:gd fmla="val 16667" name="adj"/>
            </a:avLst>
          </a:prstGeom>
          <a:solidFill>
            <a:srgbClr val="2B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"/>
          <p:cNvSpPr txBox="1"/>
          <p:nvPr/>
        </p:nvSpPr>
        <p:spPr>
          <a:xfrm>
            <a:off x="969264" y="1700784"/>
            <a:ext cx="6135600" cy="21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PYTHON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CC06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detect_helper </a:t>
            </a:r>
            <a:r>
              <a:rPr lang="en-US" sz="1300">
                <a:solidFill>
                  <a:srgbClr val="8CC06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run_detector, draw_detections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dets = run_detector(</a:t>
            </a:r>
            <a:r>
              <a:rPr lang="en-US" sz="1300">
                <a:solidFill>
                  <a:srgbClr val="F2C230"/>
                </a:solidFill>
                <a:latin typeface="Courier New"/>
                <a:ea typeface="Courier New"/>
                <a:cs typeface="Courier New"/>
                <a:sym typeface="Courier New"/>
              </a:rPr>
              <a:t>"table.png"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CC063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lang="en-US" sz="1300">
                <a:solidFill>
                  <a:srgbClr val="8CC063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dets: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print(d[</a:t>
            </a:r>
            <a:r>
              <a:rPr lang="en-US" sz="1300">
                <a:solidFill>
                  <a:srgbClr val="F2C230"/>
                </a:solidFill>
                <a:latin typeface="Courier New"/>
                <a:ea typeface="Courier New"/>
                <a:cs typeface="Courier New"/>
                <a:sym typeface="Courier New"/>
              </a:rPr>
              <a:t>"label"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], round(d[</a:t>
            </a:r>
            <a:r>
              <a:rPr lang="en-US" sz="1300">
                <a:solidFill>
                  <a:srgbClr val="F2C230"/>
                </a:solidFill>
                <a:latin typeface="Courier New"/>
                <a:ea typeface="Courier New"/>
                <a:cs typeface="Courier New"/>
                <a:sym typeface="Courier New"/>
              </a:rPr>
              <a:t>"score"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], 2), d[</a:t>
            </a:r>
            <a:r>
              <a:rPr lang="en-US" sz="1300">
                <a:solidFill>
                  <a:srgbClr val="F2C230"/>
                </a:solidFill>
                <a:latin typeface="Courier New"/>
                <a:ea typeface="Courier New"/>
                <a:cs typeface="Courier New"/>
                <a:sym typeface="Courier New"/>
              </a:rPr>
              <a:t>"box"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draw_detections(</a:t>
            </a:r>
            <a:r>
              <a:rPr lang="en-US" sz="1300">
                <a:solidFill>
                  <a:srgbClr val="F2C230"/>
                </a:solidFill>
                <a:latin typeface="Courier New"/>
                <a:ea typeface="Courier New"/>
                <a:cs typeface="Courier New"/>
                <a:sym typeface="Courier New"/>
              </a:rPr>
              <a:t>"table.png"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, dets, </a:t>
            </a:r>
            <a:r>
              <a:rPr lang="en-US" sz="1300">
                <a:solidFill>
                  <a:srgbClr val="F2C230"/>
                </a:solidFill>
                <a:latin typeface="Courier New"/>
                <a:ea typeface="Courier New"/>
                <a:cs typeface="Courier New"/>
                <a:sym typeface="Courier New"/>
              </a:rPr>
              <a:t>"detections.png"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7488936" y="1591056"/>
            <a:ext cx="3895200" cy="14631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"/>
          <p:cNvSpPr txBox="1"/>
          <p:nvPr/>
        </p:nvSpPr>
        <p:spPr>
          <a:xfrm>
            <a:off x="7598664" y="1682496"/>
            <a:ext cx="3675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WHAT EACH PART DOES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111111"/>
                </a:solidFill>
              </a:rPr>
              <a:t>run_detector runs the pretrained model. draw_detections saves a picture with the boxes drawn on it.</a:t>
            </a:r>
            <a:endParaRPr>
              <a:solidFill>
                <a:srgbClr val="111111"/>
              </a:solidFill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7488936" y="3236976"/>
            <a:ext cx="3895200" cy="14631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7598664" y="3328416"/>
            <a:ext cx="3675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YOUR JOB</a:t>
            </a:r>
            <a:endParaRPr b="1" sz="12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111111"/>
                </a:solidFill>
              </a:rPr>
              <a:t>Run it on three arm-camera photos. Find one mistake: a wrong label, a missed object or a box on nothing.</a:t>
            </a:r>
            <a:endParaRPr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RECAP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59" name="Google Shape;259;p16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Day 1 Recap</a:t>
            </a:r>
            <a:endParaRPr b="1" sz="3800"/>
          </a:p>
        </p:txBody>
      </p:sp>
      <p:sp>
        <p:nvSpPr>
          <p:cNvPr id="260" name="Google Shape;260;p16"/>
          <p:cNvSpPr/>
          <p:nvPr/>
        </p:nvSpPr>
        <p:spPr>
          <a:xfrm>
            <a:off x="813816" y="1591056"/>
            <a:ext cx="5175600" cy="1206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923544" y="1682496"/>
            <a:ext cx="49560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BOX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111"/>
                </a:solidFill>
              </a:rPr>
              <a:t>(x_min, y_min, x_max, y_max)</a:t>
            </a:r>
            <a:endParaRPr b="1" sz="21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555555"/>
                </a:solidFill>
              </a:rPr>
              <a:t>Top-left origin, y grows down.</a:t>
            </a:r>
            <a:endParaRPr>
              <a:solidFill>
                <a:srgbClr val="555555"/>
              </a:solidFill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6208776" y="1591056"/>
            <a:ext cx="5175600" cy="1206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6318504" y="1682496"/>
            <a:ext cx="49560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IOU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111"/>
                </a:solidFill>
              </a:rPr>
              <a:t>overlap ÷ combined</a:t>
            </a:r>
            <a:endParaRPr b="1" sz="21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555555"/>
                </a:solidFill>
              </a:rPr>
              <a:t>0 means apart, 1 means identical.</a:t>
            </a:r>
            <a:endParaRPr>
              <a:solidFill>
                <a:srgbClr val="555555"/>
              </a:solidFill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813816" y="2962656"/>
            <a:ext cx="5175600" cy="1206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923544" y="3054096"/>
            <a:ext cx="49560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PRETRAINED MODEL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111"/>
                </a:solidFill>
              </a:rPr>
              <a:t>Knows 80 classes</a:t>
            </a:r>
            <a:endParaRPr b="1" sz="21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555555"/>
                </a:solidFill>
              </a:rPr>
              <a:t>Already trained, so we only run it.</a:t>
            </a:r>
            <a:endParaRPr>
              <a:solidFill>
                <a:srgbClr val="555555"/>
              </a:solidFill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6208776" y="2962656"/>
            <a:ext cx="5175600" cy="1206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6318504" y="3054096"/>
            <a:ext cx="49560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OUTPUT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111"/>
                </a:solidFill>
              </a:rPr>
              <a:t>Box + label + score</a:t>
            </a:r>
            <a:endParaRPr b="1" sz="21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555555"/>
                </a:solidFill>
              </a:rPr>
              <a:t>One item for every object it finds.</a:t>
            </a:r>
            <a:endParaRPr>
              <a:solidFill>
                <a:srgbClr val="555555"/>
              </a:solidFill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813816" y="4471416"/>
            <a:ext cx="10570500" cy="6402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969264" y="4581144"/>
            <a:ext cx="10259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Next time: the model’s output is messy. We clean it up, then use it to point the arm at a target.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 txBox="1"/>
          <p:nvPr/>
        </p:nvSpPr>
        <p:spPr>
          <a:xfrm>
            <a:off x="722376" y="1600200"/>
            <a:ext cx="5943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722376" y="1938528"/>
            <a:ext cx="5943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/>
              <a:t>Cleaning Up and</a:t>
            </a:r>
            <a:endParaRPr b="1"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/>
              <a:t>Pointing the Arm</a:t>
            </a:r>
            <a:endParaRPr b="1" sz="4400"/>
          </a:p>
        </p:txBody>
      </p:sp>
      <p:sp>
        <p:nvSpPr>
          <p:cNvPr id="276" name="Google Shape;276;p17"/>
          <p:cNvSpPr txBox="1"/>
          <p:nvPr/>
        </p:nvSpPr>
        <p:spPr>
          <a:xfrm>
            <a:off x="722376" y="3520440"/>
            <a:ext cx="5852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55555"/>
                </a:solidFill>
              </a:rPr>
              <a:t>Day 1 gave us boxes. Now we keep the good ones, remove the duplicates and use the best box to turn the base.</a:t>
            </a:r>
            <a:endParaRPr sz="1800">
              <a:solidFill>
                <a:srgbClr val="555555"/>
              </a:solidFill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813816" y="4709160"/>
            <a:ext cx="5715000" cy="9144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 txBox="1"/>
          <p:nvPr/>
        </p:nvSpPr>
        <p:spPr>
          <a:xfrm>
            <a:off x="923544" y="4800600"/>
            <a:ext cx="5495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DAY 1 IN ONE LINE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600">
                <a:solidFill>
                  <a:srgbClr val="111111"/>
                </a:solidFill>
              </a:rPr>
              <a:t>A detector returns a box, a label and a score for each object</a:t>
            </a:r>
            <a:endParaRPr b="1" sz="1600">
              <a:solidFill>
                <a:srgbClr val="111111"/>
              </a:solidFill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7223760" y="4206240"/>
            <a:ext cx="4069200" cy="9144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"/>
          <p:cNvSpPr/>
          <p:nvPr/>
        </p:nvSpPr>
        <p:spPr>
          <a:xfrm>
            <a:off x="8412480" y="3063240"/>
            <a:ext cx="868800" cy="1097400"/>
          </a:xfrm>
          <a:prstGeom prst="roundRect">
            <a:avLst>
              <a:gd fmla="val 16667" name="adj"/>
            </a:avLst>
          </a:prstGeom>
          <a:solidFill>
            <a:srgbClr val="7F8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8138160" y="2697480"/>
            <a:ext cx="1417200" cy="1600200"/>
          </a:xfrm>
          <a:prstGeom prst="rect">
            <a:avLst/>
          </a:prstGeom>
          <a:noFill/>
          <a:ln cap="flat" cmpd="sng" w="2540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8275320" y="2834640"/>
            <a:ext cx="1417200" cy="1600200"/>
          </a:xfrm>
          <a:prstGeom prst="rect">
            <a:avLst/>
          </a:prstGeom>
          <a:noFill/>
          <a:ln cap="flat" cmpd="sng" w="2540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8412480" y="2971800"/>
            <a:ext cx="1417200" cy="1600200"/>
          </a:xfrm>
          <a:prstGeom prst="rect">
            <a:avLst/>
          </a:prstGeom>
          <a:noFill/>
          <a:ln cap="flat" cmpd="sng" w="2540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"/>
          <p:cNvSpPr/>
          <p:nvPr/>
        </p:nvSpPr>
        <p:spPr>
          <a:xfrm>
            <a:off x="8138160" y="2423160"/>
            <a:ext cx="1417200" cy="24690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38160" y="2395728"/>
            <a:ext cx="1417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cup 0.91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9921240" y="2834640"/>
            <a:ext cx="1417200" cy="24690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"/>
          <p:cNvSpPr txBox="1"/>
          <p:nvPr/>
        </p:nvSpPr>
        <p:spPr>
          <a:xfrm>
            <a:off x="9921240" y="2807208"/>
            <a:ext cx="1417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cup 0.62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9921240" y="4343400"/>
            <a:ext cx="1417200" cy="24690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9921240" y="4315968"/>
            <a:ext cx="1417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cup 0.18</a:t>
            </a:r>
            <a:endParaRPr b="1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CONFIDENCE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How Sure Is the Model?</a:t>
            </a:r>
            <a:endParaRPr b="1" sz="3800"/>
          </a:p>
        </p:txBody>
      </p:sp>
      <p:sp>
        <p:nvSpPr>
          <p:cNvPr id="296" name="Google Shape;296;p18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Every detection has a score from 0 to 1. We choose a threshold and throw away anything below it.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813816" y="2157984"/>
            <a:ext cx="5349300" cy="22404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923544" y="2249424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FOUR DETECTIONS</a:t>
            </a:r>
            <a:endParaRPr b="1" sz="1200">
              <a:solidFill>
                <a:srgbClr val="3A7A1F"/>
              </a:solidFill>
            </a:endParaRPr>
          </a:p>
        </p:txBody>
      </p:sp>
      <p:sp>
        <p:nvSpPr>
          <p:cNvPr id="299" name="Google Shape;299;p18"/>
          <p:cNvSpPr txBox="1"/>
          <p:nvPr/>
        </p:nvSpPr>
        <p:spPr>
          <a:xfrm>
            <a:off x="923544" y="2606040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D60000"/>
                </a:solidFill>
              </a:rPr>
              <a:t>0.92</a:t>
            </a:r>
            <a:endParaRPr b="1" sz="1700">
              <a:solidFill>
                <a:srgbClr val="D60000"/>
              </a:solidFill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1773936" y="2715768"/>
            <a:ext cx="3617400" cy="219600"/>
          </a:xfrm>
          <a:prstGeom prst="rect">
            <a:avLst/>
          </a:prstGeom>
          <a:solidFill>
            <a:srgbClr val="3A7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923544" y="3017520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D60000"/>
                </a:solidFill>
              </a:rPr>
              <a:t>0.85</a:t>
            </a:r>
            <a:endParaRPr b="1" sz="1700">
              <a:solidFill>
                <a:srgbClr val="D60000"/>
              </a:solidFill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1773936" y="3127248"/>
            <a:ext cx="3342000" cy="219600"/>
          </a:xfrm>
          <a:prstGeom prst="rect">
            <a:avLst/>
          </a:prstGeom>
          <a:solidFill>
            <a:srgbClr val="3A7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923544" y="3429000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D60000"/>
                </a:solidFill>
              </a:rPr>
              <a:t>0.40</a:t>
            </a:r>
            <a:endParaRPr b="1" sz="1700">
              <a:solidFill>
                <a:srgbClr val="D60000"/>
              </a:solidFill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1773936" y="3538728"/>
            <a:ext cx="1572900" cy="219600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"/>
          <p:cNvSpPr txBox="1"/>
          <p:nvPr/>
        </p:nvSpPr>
        <p:spPr>
          <a:xfrm>
            <a:off x="923544" y="3840480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D60000"/>
                </a:solidFill>
              </a:rPr>
              <a:t>0.15</a:t>
            </a:r>
            <a:endParaRPr b="1" sz="1700">
              <a:solidFill>
                <a:srgbClr val="D60000"/>
              </a:solidFill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1773936" y="3950208"/>
            <a:ext cx="589800" cy="219600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"/>
          <p:cNvSpPr/>
          <p:nvPr/>
        </p:nvSpPr>
        <p:spPr>
          <a:xfrm>
            <a:off x="6391656" y="2157984"/>
            <a:ext cx="4992600" cy="621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6528816" y="2267712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Threshold </a:t>
            </a:r>
            <a:r>
              <a:rPr b="1" lang="en-US" sz="1700">
                <a:solidFill>
                  <a:srgbClr val="111111"/>
                </a:solidFill>
              </a:rPr>
              <a:t>0.9</a:t>
            </a:r>
            <a:endParaRPr b="1" sz="1700">
              <a:solidFill>
                <a:srgbClr val="111111"/>
              </a:solidFill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9043416" y="2267712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D60000"/>
                </a:solidFill>
              </a:rPr>
              <a:t>keeps 1</a:t>
            </a:r>
            <a:endParaRPr b="1" sz="1700">
              <a:solidFill>
                <a:srgbClr val="D60000"/>
              </a:solidFill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6391656" y="2916936"/>
            <a:ext cx="4992600" cy="621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6528816" y="3026664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Threshold </a:t>
            </a:r>
            <a:r>
              <a:rPr b="1" lang="en-US" sz="1700">
                <a:solidFill>
                  <a:srgbClr val="111111"/>
                </a:solidFill>
              </a:rPr>
              <a:t>0.5</a:t>
            </a:r>
            <a:endParaRPr b="1" sz="1700">
              <a:solidFill>
                <a:srgbClr val="111111"/>
              </a:solidFill>
            </a:endParaRPr>
          </a:p>
        </p:txBody>
      </p:sp>
      <p:sp>
        <p:nvSpPr>
          <p:cNvPr id="312" name="Google Shape;312;p18"/>
          <p:cNvSpPr txBox="1"/>
          <p:nvPr/>
        </p:nvSpPr>
        <p:spPr>
          <a:xfrm>
            <a:off x="9043416" y="3026664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D60000"/>
                </a:solidFill>
              </a:rPr>
              <a:t>keeps 2</a:t>
            </a:r>
            <a:endParaRPr b="1" sz="1700">
              <a:solidFill>
                <a:srgbClr val="D60000"/>
              </a:solidFill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391656" y="3675888"/>
            <a:ext cx="4992600" cy="621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6528816" y="3785616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Threshold </a:t>
            </a:r>
            <a:r>
              <a:rPr b="1" lang="en-US" sz="1700">
                <a:solidFill>
                  <a:srgbClr val="111111"/>
                </a:solidFill>
              </a:rPr>
              <a:t>0.3</a:t>
            </a:r>
            <a:endParaRPr b="1" sz="1700">
              <a:solidFill>
                <a:srgbClr val="111111"/>
              </a:solidFill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9043416" y="3785616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D60000"/>
                </a:solidFill>
              </a:rPr>
              <a:t>keeps 3</a:t>
            </a:r>
            <a:endParaRPr b="1" sz="1700">
              <a:solidFill>
                <a:srgbClr val="D60000"/>
              </a:solidFill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813816" y="4581144"/>
            <a:ext cx="5175600" cy="822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"/>
          <p:cNvSpPr txBox="1"/>
          <p:nvPr/>
        </p:nvSpPr>
        <p:spPr>
          <a:xfrm>
            <a:off x="969264" y="4690872"/>
            <a:ext cx="4864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THRESHOLD TOO LOW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False alarms: boxes on nothing</a:t>
            </a:r>
            <a:endParaRPr sz="1600">
              <a:solidFill>
                <a:srgbClr val="DDDDDD"/>
              </a:solidFill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6208776" y="4581144"/>
            <a:ext cx="5175600" cy="822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"/>
          <p:cNvSpPr txBox="1"/>
          <p:nvPr/>
        </p:nvSpPr>
        <p:spPr>
          <a:xfrm>
            <a:off x="6364224" y="4690872"/>
            <a:ext cx="4864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THRESHOLD TOO HIGH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Missed objects that are really there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LAB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Lab: Threshold Sweep</a:t>
            </a:r>
            <a:endParaRPr b="1" sz="3800"/>
          </a:p>
        </p:txBody>
      </p:sp>
      <p:sp>
        <p:nvSpPr>
          <p:cNvPr id="326" name="Google Shape;326;p19"/>
          <p:cNvSpPr/>
          <p:nvPr/>
        </p:nvSpPr>
        <p:spPr>
          <a:xfrm>
            <a:off x="813816" y="1591056"/>
            <a:ext cx="5120700" cy="22404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923544" y="1682496"/>
            <a:ext cx="4901100" cy="20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1111"/>
                </a:solidFill>
              </a:rPr>
              <a:t>1.</a:t>
            </a:r>
            <a:r>
              <a:rPr lang="en-US" sz="1600">
                <a:solidFill>
                  <a:srgbClr val="111111"/>
                </a:solidFill>
              </a:rPr>
              <a:t> Run the detector on one photo with conf = 0.10, 0.25, 0.50 and 0.80.</a:t>
            </a:r>
            <a:endParaRPr sz="16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1111"/>
                </a:solidFill>
              </a:rPr>
              <a:t>2.</a:t>
            </a:r>
            <a:r>
              <a:rPr lang="en-US" sz="1600">
                <a:solidFill>
                  <a:srgbClr val="111111"/>
                </a:solidFill>
              </a:rPr>
              <a:t> Count the boxes each setting gives, and how many are right.</a:t>
            </a:r>
            <a:endParaRPr sz="16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600">
                <a:solidFill>
                  <a:srgbClr val="111111"/>
                </a:solidFill>
              </a:rPr>
              <a:t>3.</a:t>
            </a:r>
            <a:r>
              <a:rPr lang="en-US" sz="1600">
                <a:solidFill>
                  <a:srgbClr val="111111"/>
                </a:solidFill>
              </a:rPr>
              <a:t> Fill in the table.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813816" y="4014216"/>
            <a:ext cx="5120700" cy="11430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"/>
          <p:cNvSpPr txBox="1"/>
          <p:nvPr/>
        </p:nvSpPr>
        <p:spPr>
          <a:xfrm>
            <a:off x="969264" y="4123944"/>
            <a:ext cx="4809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THEN DECIDE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Which setting would you trust to guide a robot? Defend it in one sentence.</a:t>
            </a:r>
            <a:endParaRPr sz="1600">
              <a:solidFill>
                <a:srgbClr val="DDDDDD"/>
              </a:solidFill>
            </a:endParaRPr>
          </a:p>
        </p:txBody>
      </p:sp>
      <p:graphicFrame>
        <p:nvGraphicFramePr>
          <p:cNvPr id="330" name="Google Shape;330;p19"/>
          <p:cNvGraphicFramePr/>
          <p:nvPr/>
        </p:nvGraphicFramePr>
        <p:xfrm>
          <a:off x="6163056" y="1591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{4E439053-53F3-474E-8A56-B3AB69B3DA76}</a:tableStyleId>
              </a:tblPr>
              <a:tblGrid>
                <a:gridCol w="1737350"/>
                <a:gridCol w="1737350"/>
                <a:gridCol w="1746500"/>
              </a:tblGrid>
              <a:tr h="51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conf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boxes found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boxes right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</a:tr>
              <a:tr h="51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0.10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—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—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0.25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—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—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0.50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—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—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0.80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—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—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 txBox="1"/>
          <p:nvPr/>
        </p:nvSpPr>
        <p:spPr>
          <a:xfrm>
            <a:off x="722376" y="475488"/>
            <a:ext cx="6400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DUPLICATES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722376" y="822960"/>
            <a:ext cx="6400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Too Many Boxes</a:t>
            </a:r>
            <a:endParaRPr b="1" sz="3800"/>
          </a:p>
        </p:txBody>
      </p:sp>
      <p:sp>
        <p:nvSpPr>
          <p:cNvPr id="337" name="Google Shape;337;p20"/>
          <p:cNvSpPr txBox="1"/>
          <p:nvPr/>
        </p:nvSpPr>
        <p:spPr>
          <a:xfrm>
            <a:off x="722376" y="1591056"/>
            <a:ext cx="6217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A detector often draws several boxes on one object. Non-maximum suppression (NMS) keeps the best one.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813816" y="2468880"/>
            <a:ext cx="6080700" cy="621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996696" y="2633472"/>
            <a:ext cx="292500" cy="292500"/>
          </a:xfrm>
          <a:prstGeom prst="ellipse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996696" y="2624328"/>
            <a:ext cx="292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11111"/>
                </a:solidFill>
              </a:rPr>
              <a:t>1</a:t>
            </a:r>
            <a:endParaRPr b="1" sz="1200">
              <a:solidFill>
                <a:srgbClr val="111111"/>
              </a:solidFill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1380744" y="2523744"/>
            <a:ext cx="544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Sort the boxes by score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813816" y="3218688"/>
            <a:ext cx="6080700" cy="621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996696" y="3383280"/>
            <a:ext cx="292500" cy="292500"/>
          </a:xfrm>
          <a:prstGeom prst="ellipse">
            <a:avLst/>
          </a:prstGeom>
          <a:solidFill>
            <a:srgbClr val="3A7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996696" y="3374136"/>
            <a:ext cx="292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1380744" y="3273552"/>
            <a:ext cx="544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Keep the best box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813816" y="3968496"/>
            <a:ext cx="6080700" cy="621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0"/>
          <p:cNvSpPr/>
          <p:nvPr/>
        </p:nvSpPr>
        <p:spPr>
          <a:xfrm>
            <a:off x="996696" y="4133088"/>
            <a:ext cx="292500" cy="292500"/>
          </a:xfrm>
          <a:prstGeom prst="ellipse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996696" y="4123944"/>
            <a:ext cx="292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11111"/>
                </a:solidFill>
              </a:rPr>
              <a:t>3</a:t>
            </a:r>
            <a:endParaRPr b="1" sz="1200">
              <a:solidFill>
                <a:srgbClr val="111111"/>
              </a:solidFill>
            </a:endParaRPr>
          </a:p>
        </p:txBody>
      </p:sp>
      <p:sp>
        <p:nvSpPr>
          <p:cNvPr id="349" name="Google Shape;349;p20"/>
          <p:cNvSpPr txBox="1"/>
          <p:nvPr/>
        </p:nvSpPr>
        <p:spPr>
          <a:xfrm>
            <a:off x="1380744" y="4023360"/>
            <a:ext cx="544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Remove boxes with the same label that overlap it by more than </a:t>
            </a:r>
            <a:r>
              <a:rPr b="1" lang="en-US" sz="1500">
                <a:solidFill>
                  <a:srgbClr val="111111"/>
                </a:solidFill>
              </a:rPr>
              <a:t>0.5 IoU</a:t>
            </a:r>
            <a:endParaRPr b="1" sz="1500">
              <a:solidFill>
                <a:srgbClr val="111111"/>
              </a:solidFill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813816" y="4718304"/>
            <a:ext cx="6080700" cy="621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996696" y="4882896"/>
            <a:ext cx="292500" cy="292500"/>
          </a:xfrm>
          <a:prstGeom prst="ellipse">
            <a:avLst/>
          </a:prstGeom>
          <a:solidFill>
            <a:srgbClr val="3A7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996696" y="4873752"/>
            <a:ext cx="292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53" name="Google Shape;353;p20"/>
          <p:cNvSpPr txBox="1"/>
          <p:nvPr/>
        </p:nvSpPr>
        <p:spPr>
          <a:xfrm>
            <a:off x="1380744" y="4773168"/>
            <a:ext cx="544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Repeat with the next box left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7223760" y="3977640"/>
            <a:ext cx="4069200" cy="9144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8549640" y="2697480"/>
            <a:ext cx="868800" cy="1097400"/>
          </a:xfrm>
          <a:prstGeom prst="roundRect">
            <a:avLst>
              <a:gd fmla="val 16667" name="adj"/>
            </a:avLst>
          </a:prstGeom>
          <a:solidFill>
            <a:srgbClr val="7F8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8001000" y="2240280"/>
            <a:ext cx="1463100" cy="1600200"/>
          </a:xfrm>
          <a:prstGeom prst="rect">
            <a:avLst/>
          </a:prstGeom>
          <a:noFill/>
          <a:ln cap="flat" cmpd="sng" w="25400">
            <a:solidFill>
              <a:srgbClr val="D6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8366760" y="2606040"/>
            <a:ext cx="1463100" cy="1600200"/>
          </a:xfrm>
          <a:prstGeom prst="rect">
            <a:avLst/>
          </a:prstGeom>
          <a:noFill/>
          <a:ln cap="flat" cmpd="sng" w="25400">
            <a:solidFill>
              <a:srgbClr val="D6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8183880" y="2423160"/>
            <a:ext cx="1463100" cy="1600200"/>
          </a:xfrm>
          <a:prstGeom prst="rect">
            <a:avLst/>
          </a:prstGeom>
          <a:noFill/>
          <a:ln cap="flat" cmpd="sng" w="31750">
            <a:solidFill>
              <a:srgbClr val="3A7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8183880" y="1920240"/>
            <a:ext cx="1417200" cy="246900"/>
          </a:xfrm>
          <a:prstGeom prst="rect">
            <a:avLst/>
          </a:prstGeom>
          <a:solidFill>
            <a:srgbClr val="3A7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8183880" y="1892808"/>
            <a:ext cx="1417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keep 0.91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9921240" y="2286000"/>
            <a:ext cx="1554600" cy="24690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0"/>
          <p:cNvSpPr txBox="1"/>
          <p:nvPr/>
        </p:nvSpPr>
        <p:spPr>
          <a:xfrm>
            <a:off x="9921240" y="2258568"/>
            <a:ext cx="1554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remove 0.62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9921240" y="4251960"/>
            <a:ext cx="1554600" cy="24690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"/>
          <p:cNvSpPr txBox="1"/>
          <p:nvPr/>
        </p:nvSpPr>
        <p:spPr>
          <a:xfrm>
            <a:off x="9921240" y="4224528"/>
            <a:ext cx="1554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remove 0.18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178040" y="5074920"/>
            <a:ext cx="4206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55555"/>
                </a:solidFill>
              </a:rPr>
              <a:t>YOLO already does this inside the model. We do it by hand to see how it works.</a:t>
            </a:r>
            <a:endParaRPr sz="13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WORKED EXAMPLE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NMS Example</a:t>
            </a:r>
            <a:endParaRPr b="1" sz="3800"/>
          </a:p>
        </p:txBody>
      </p:sp>
      <p:sp>
        <p:nvSpPr>
          <p:cNvPr id="372" name="Google Shape;372;p21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Three cup detections. Overlap threshold is 0.5.</a:t>
            </a:r>
            <a:endParaRPr sz="1700">
              <a:solidFill>
                <a:srgbClr val="333333"/>
              </a:solidFill>
            </a:endParaRPr>
          </a:p>
        </p:txBody>
      </p:sp>
      <p:graphicFrame>
        <p:nvGraphicFramePr>
          <p:cNvPr id="373" name="Google Shape;373;p21"/>
          <p:cNvGraphicFramePr/>
          <p:nvPr/>
        </p:nvGraphicFramePr>
        <p:xfrm>
          <a:off x="813816" y="21579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{4E439053-53F3-474E-8A56-B3AB69B3DA76}</a:tableStyleId>
              </a:tblPr>
              <a:tblGrid>
                <a:gridCol w="1463025"/>
                <a:gridCol w="6821400"/>
                <a:gridCol w="2286000"/>
              </a:tblGrid>
              <a:tr h="43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Box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(x_min, y_min, x_max, y_max)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Score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A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(100, 100, 300, 300)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0.90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B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(120, 110, 320, 310)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0.70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C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(500, 200, 600, 300)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0.80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4" name="Google Shape;374;p21"/>
          <p:cNvSpPr/>
          <p:nvPr/>
        </p:nvSpPr>
        <p:spPr>
          <a:xfrm>
            <a:off x="813816" y="4123944"/>
            <a:ext cx="10570500" cy="2148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1"/>
          <p:cNvSpPr txBox="1"/>
          <p:nvPr/>
        </p:nvSpPr>
        <p:spPr>
          <a:xfrm>
            <a:off x="969264" y="4233672"/>
            <a:ext cx="10259700" cy="1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A has the top score, so keep it. B vs A: overlap = 180 × 190 = 34,200; union = 40,000 + 40,000 − 34,200 = 45,800.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IoU(A, B) = 0.75 → remove B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C does not touch A, so IoU = 0 and C stays.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Kept: A and C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TRY IT YOURSELF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81" name="Google Shape;381;p22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Try It Yourself #3</a:t>
            </a:r>
            <a:endParaRPr b="1" sz="3800"/>
          </a:p>
        </p:txBody>
      </p:sp>
      <p:sp>
        <p:nvSpPr>
          <p:cNvPr id="382" name="Google Shape;382;p22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Run NMS with threshold 0.5. Which boxes are kept?</a:t>
            </a:r>
            <a:endParaRPr sz="1700">
              <a:solidFill>
                <a:srgbClr val="333333"/>
              </a:solidFill>
            </a:endParaRPr>
          </a:p>
        </p:txBody>
      </p:sp>
      <p:graphicFrame>
        <p:nvGraphicFramePr>
          <p:cNvPr id="383" name="Google Shape;383;p22"/>
          <p:cNvGraphicFramePr/>
          <p:nvPr/>
        </p:nvGraphicFramePr>
        <p:xfrm>
          <a:off x="813816" y="21579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{4E439053-53F3-474E-8A56-B3AB69B3DA76}</a:tableStyleId>
              </a:tblPr>
              <a:tblGrid>
                <a:gridCol w="1463025"/>
                <a:gridCol w="6821400"/>
                <a:gridCol w="2286000"/>
              </a:tblGrid>
              <a:tr h="43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Box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(x_min, y_min, x_max, y_max)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Score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A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D60000"/>
                          </a:solidFill>
                        </a:rPr>
                        <a:t>(0, 0, 100, 100)</a:t>
                      </a:r>
                      <a:endParaRPr sz="1700">
                        <a:solidFill>
                          <a:srgbClr val="D6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D60000"/>
                          </a:solidFill>
                        </a:rPr>
                        <a:t>0.90</a:t>
                      </a:r>
                      <a:endParaRPr sz="1700">
                        <a:solidFill>
                          <a:srgbClr val="D6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B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D60000"/>
                          </a:solidFill>
                        </a:rPr>
                        <a:t>(10, 0, 110, 100)</a:t>
                      </a:r>
                      <a:endParaRPr sz="1700">
                        <a:solidFill>
                          <a:srgbClr val="D6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D60000"/>
                          </a:solidFill>
                        </a:rPr>
                        <a:t>0.80</a:t>
                      </a:r>
                      <a:endParaRPr sz="1700">
                        <a:solidFill>
                          <a:srgbClr val="D6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C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D60000"/>
                          </a:solidFill>
                        </a:rPr>
                        <a:t>(300, 300, 400, 400)</a:t>
                      </a:r>
                      <a:endParaRPr sz="1700">
                        <a:solidFill>
                          <a:srgbClr val="D6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D60000"/>
                          </a:solidFill>
                        </a:rPr>
                        <a:t>0.70</a:t>
                      </a:r>
                      <a:endParaRPr sz="1700">
                        <a:solidFill>
                          <a:srgbClr val="D6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4" name="Google Shape;384;p22"/>
          <p:cNvSpPr/>
          <p:nvPr/>
        </p:nvSpPr>
        <p:spPr>
          <a:xfrm>
            <a:off x="813816" y="4123944"/>
            <a:ext cx="10570500" cy="17373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969264" y="4233672"/>
            <a:ext cx="10259700" cy="15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Keep A. B vs A: overlap = 90 × 100 = 9,000; union = 10,000 + 10,000 − 9,000 = 11,000.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IoU(A, B) = 0.82 → remove B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C is far away → keep. Kept: A and C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PUTTING IT TOGETHER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91" name="Google Shape;391;p23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Clean the List, Then Count</a:t>
            </a:r>
            <a:endParaRPr b="1" sz="3800"/>
          </a:p>
        </p:txBody>
      </p:sp>
      <p:sp>
        <p:nvSpPr>
          <p:cNvPr id="392" name="Google Shape;392;p23"/>
          <p:cNvSpPr/>
          <p:nvPr/>
        </p:nvSpPr>
        <p:spPr>
          <a:xfrm>
            <a:off x="813816" y="1591056"/>
            <a:ext cx="2286000" cy="822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"/>
          <p:cNvSpPr txBox="1"/>
          <p:nvPr/>
        </p:nvSpPr>
        <p:spPr>
          <a:xfrm>
            <a:off x="923544" y="1682496"/>
            <a:ext cx="2066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STEP 1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800">
                <a:solidFill>
                  <a:srgbClr val="111111"/>
                </a:solidFill>
              </a:rPr>
              <a:t>Raw detections</a:t>
            </a:r>
            <a:endParaRPr b="1" sz="1800">
              <a:solidFill>
                <a:srgbClr val="111111"/>
              </a:solidFill>
            </a:endParaRPr>
          </a:p>
        </p:txBody>
      </p:sp>
      <p:sp>
        <p:nvSpPr>
          <p:cNvPr id="394" name="Google Shape;394;p23"/>
          <p:cNvSpPr txBox="1"/>
          <p:nvPr/>
        </p:nvSpPr>
        <p:spPr>
          <a:xfrm>
            <a:off x="3154680" y="1773936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77777"/>
                </a:solidFill>
              </a:rPr>
              <a:t>→</a:t>
            </a:r>
            <a:endParaRPr sz="2000">
              <a:solidFill>
                <a:srgbClr val="777777"/>
              </a:solidFill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3575304" y="1591056"/>
            <a:ext cx="2286000" cy="822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3"/>
          <p:cNvSpPr txBox="1"/>
          <p:nvPr/>
        </p:nvSpPr>
        <p:spPr>
          <a:xfrm>
            <a:off x="3685032" y="1682496"/>
            <a:ext cx="2066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STEP 2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800">
                <a:solidFill>
                  <a:srgbClr val="111111"/>
                </a:solidFill>
              </a:rPr>
              <a:t>Drop low scores</a:t>
            </a:r>
            <a:endParaRPr b="1" sz="1800">
              <a:solidFill>
                <a:srgbClr val="111111"/>
              </a:solidFill>
            </a:endParaRPr>
          </a:p>
        </p:txBody>
      </p:sp>
      <p:sp>
        <p:nvSpPr>
          <p:cNvPr id="397" name="Google Shape;397;p23"/>
          <p:cNvSpPr txBox="1"/>
          <p:nvPr/>
        </p:nvSpPr>
        <p:spPr>
          <a:xfrm>
            <a:off x="5916168" y="1773936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77777"/>
                </a:solidFill>
              </a:rPr>
              <a:t>→</a:t>
            </a:r>
            <a:endParaRPr sz="2000">
              <a:solidFill>
                <a:srgbClr val="777777"/>
              </a:solidFill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6336792" y="1591056"/>
            <a:ext cx="2286000" cy="822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6446520" y="1682496"/>
            <a:ext cx="2066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STEP 3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800">
                <a:solidFill>
                  <a:srgbClr val="111111"/>
                </a:solidFill>
              </a:rPr>
              <a:t>Run NMS</a:t>
            </a:r>
            <a:endParaRPr b="1" sz="1800">
              <a:solidFill>
                <a:srgbClr val="111111"/>
              </a:solidFill>
            </a:endParaRPr>
          </a:p>
        </p:txBody>
      </p:sp>
      <p:sp>
        <p:nvSpPr>
          <p:cNvPr id="400" name="Google Shape;400;p23"/>
          <p:cNvSpPr txBox="1"/>
          <p:nvPr/>
        </p:nvSpPr>
        <p:spPr>
          <a:xfrm>
            <a:off x="8677656" y="1773936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77777"/>
                </a:solidFill>
              </a:rPr>
              <a:t>→</a:t>
            </a:r>
            <a:endParaRPr sz="2000">
              <a:solidFill>
                <a:srgbClr val="777777"/>
              </a:solidFill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9098280" y="1591056"/>
            <a:ext cx="2286000" cy="822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3"/>
          <p:cNvSpPr txBox="1"/>
          <p:nvPr/>
        </p:nvSpPr>
        <p:spPr>
          <a:xfrm>
            <a:off x="9253728" y="1700784"/>
            <a:ext cx="1975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STEP 4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Count</a:t>
            </a:r>
            <a:endParaRPr b="1" sz="1800">
              <a:solidFill>
                <a:srgbClr val="FFFFFF"/>
              </a:solidFill>
            </a:endParaRPr>
          </a:p>
        </p:txBody>
      </p:sp>
      <p:graphicFrame>
        <p:nvGraphicFramePr>
          <p:cNvPr id="403" name="Google Shape;403;p23"/>
          <p:cNvGraphicFramePr/>
          <p:nvPr/>
        </p:nvGraphicFramePr>
        <p:xfrm>
          <a:off x="813816" y="2596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{4E439053-53F3-474E-8A56-B3AB69B3DA76}</a:tableStyleId>
              </a:tblPr>
              <a:tblGrid>
                <a:gridCol w="1920225"/>
                <a:gridCol w="1920225"/>
                <a:gridCol w="6729975"/>
              </a:tblGrid>
              <a:tr h="41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Label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Score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cup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0.91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kept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cup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0.88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kept (a different cup)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cup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0.62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removed by NMS (same cup as 0.91)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cup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0.30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dropped (below 0.5)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bottle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0.80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11111"/>
                          </a:solidFill>
                        </a:rPr>
                        <a:t>kept</a:t>
                      </a:r>
                      <a:endParaRPr sz="16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4" name="Google Shape;404;p23"/>
          <p:cNvSpPr/>
          <p:nvPr/>
        </p:nvSpPr>
        <p:spPr>
          <a:xfrm>
            <a:off x="813816" y="5248656"/>
            <a:ext cx="10570500" cy="5943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 txBox="1"/>
          <p:nvPr/>
        </p:nvSpPr>
        <p:spPr>
          <a:xfrm>
            <a:off x="969264" y="5358384"/>
            <a:ext cx="102597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-US" sz="1900">
                <a:solidFill>
                  <a:srgbClr val="FFFFFF"/>
                </a:solidFill>
              </a:rPr>
              <a:t>Result: 2 cups, 1 bottle</a:t>
            </a:r>
            <a:endParaRPr b="1" sz="1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SCORING THE DETECTOR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411" name="Google Shape;411;p24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Precision and Recall</a:t>
            </a:r>
            <a:endParaRPr b="1" sz="3800"/>
          </a:p>
        </p:txBody>
      </p:sp>
      <p:sp>
        <p:nvSpPr>
          <p:cNvPr id="412" name="Google Shape;412;p24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A detection counts as correct when its box matches a real object (IoU of 0.5 or more) with the right label.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813816" y="2157984"/>
            <a:ext cx="3371100" cy="8688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4"/>
          <p:cNvSpPr txBox="1"/>
          <p:nvPr/>
        </p:nvSpPr>
        <p:spPr>
          <a:xfrm>
            <a:off x="923544" y="2249424"/>
            <a:ext cx="31515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TP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Correct detection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4413504" y="2157984"/>
            <a:ext cx="3371100" cy="8688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4523232" y="2249424"/>
            <a:ext cx="31515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FP</a:t>
            </a:r>
            <a:endParaRPr b="1" sz="12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Box on nothing, or wrong label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8013192" y="2157984"/>
            <a:ext cx="3371100" cy="8688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"/>
          <p:cNvSpPr txBox="1"/>
          <p:nvPr/>
        </p:nvSpPr>
        <p:spPr>
          <a:xfrm>
            <a:off x="8122920" y="2249424"/>
            <a:ext cx="31515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FN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Real object the model missed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813816" y="3209544"/>
            <a:ext cx="5175600" cy="12345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 txBox="1"/>
          <p:nvPr/>
        </p:nvSpPr>
        <p:spPr>
          <a:xfrm>
            <a:off x="969264" y="3319272"/>
            <a:ext cx="48645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PRECISION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TP ÷ (TP + FP)</a:t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DDDDDD"/>
                </a:solidFill>
              </a:rPr>
              <a:t>Of the boxes drawn, how many were right?</a:t>
            </a:r>
            <a:endParaRPr>
              <a:solidFill>
                <a:srgbClr val="DDDDDD"/>
              </a:solidFill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6208776" y="3209544"/>
            <a:ext cx="5175600" cy="12345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"/>
          <p:cNvSpPr txBox="1"/>
          <p:nvPr/>
        </p:nvSpPr>
        <p:spPr>
          <a:xfrm>
            <a:off x="6364224" y="3319272"/>
            <a:ext cx="48645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RECALL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TP ÷ (TP + FN)</a:t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DDDDDD"/>
                </a:solidFill>
              </a:rPr>
              <a:t>Of the real objects, how many did it find?</a:t>
            </a:r>
            <a:endParaRPr>
              <a:solidFill>
                <a:srgbClr val="DDDDDD"/>
              </a:solidFill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813816" y="4626864"/>
            <a:ext cx="10570500" cy="6858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 txBox="1"/>
          <p:nvPr/>
        </p:nvSpPr>
        <p:spPr>
          <a:xfrm>
            <a:off x="923544" y="4718304"/>
            <a:ext cx="10350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-US" sz="1600">
                <a:solidFill>
                  <a:srgbClr val="111111"/>
                </a:solidFill>
              </a:rPr>
              <a:t>Example:</a:t>
            </a:r>
            <a:r>
              <a:rPr lang="en-US" sz="1600">
                <a:solidFill>
                  <a:srgbClr val="111111"/>
                </a:solidFill>
              </a:rPr>
              <a:t> 8 boxes drawn, 6 correct, 10 real objects. Precision = 6 ÷ 8 = </a:t>
            </a:r>
            <a:r>
              <a:rPr b="1" lang="en-US" sz="1600">
                <a:solidFill>
                  <a:srgbClr val="D60000"/>
                </a:solidFill>
              </a:rPr>
              <a:t>0.75</a:t>
            </a:r>
            <a:r>
              <a:rPr lang="en-US" sz="1600">
                <a:solidFill>
                  <a:srgbClr val="111111"/>
                </a:solidFill>
              </a:rPr>
              <a:t>. Recall = 6 ÷ 10 = </a:t>
            </a:r>
            <a:r>
              <a:rPr b="1" lang="en-US" sz="1600">
                <a:solidFill>
                  <a:srgbClr val="D60000"/>
                </a:solidFill>
              </a:rPr>
              <a:t>0.60</a:t>
            </a:r>
            <a:r>
              <a:rPr lang="en-US" sz="1600">
                <a:solidFill>
                  <a:srgbClr val="111111"/>
                </a:solidFill>
              </a:rPr>
              <a:t>.</a:t>
            </a:r>
            <a:endParaRPr sz="16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TRY IT YOURSELF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430" name="Google Shape;430;p25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Try It Yourself #4</a:t>
            </a:r>
            <a:endParaRPr b="1" sz="3800"/>
          </a:p>
        </p:txBody>
      </p:sp>
      <p:sp>
        <p:nvSpPr>
          <p:cNvPr id="431" name="Google Shape;431;p25"/>
          <p:cNvSpPr/>
          <p:nvPr/>
        </p:nvSpPr>
        <p:spPr>
          <a:xfrm>
            <a:off x="813816" y="1591056"/>
            <a:ext cx="10570500" cy="10974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5"/>
          <p:cNvSpPr txBox="1"/>
          <p:nvPr/>
        </p:nvSpPr>
        <p:spPr>
          <a:xfrm>
            <a:off x="923544" y="1682496"/>
            <a:ext cx="103509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The detector draws </a:t>
            </a:r>
            <a:r>
              <a:rPr b="1" lang="en-US" sz="1800">
                <a:solidFill>
                  <a:srgbClr val="D60000"/>
                </a:solidFill>
              </a:rPr>
              <a:t>5 boxes</a:t>
            </a:r>
            <a:r>
              <a:rPr lang="en-US" sz="1800">
                <a:solidFill>
                  <a:srgbClr val="111111"/>
                </a:solidFill>
              </a:rPr>
              <a:t>. </a:t>
            </a:r>
            <a:r>
              <a:rPr b="1" lang="en-US" sz="1800">
                <a:solidFill>
                  <a:srgbClr val="D60000"/>
                </a:solidFill>
              </a:rPr>
              <a:t>4</a:t>
            </a:r>
            <a:r>
              <a:rPr lang="en-US" sz="1800">
                <a:solidFill>
                  <a:srgbClr val="111111"/>
                </a:solidFill>
              </a:rPr>
              <a:t> are correct. The photo really contains </a:t>
            </a:r>
            <a:r>
              <a:rPr b="1" lang="en-US" sz="1800">
                <a:solidFill>
                  <a:srgbClr val="D60000"/>
                </a:solidFill>
              </a:rPr>
              <a:t>8 objects</a:t>
            </a:r>
            <a:r>
              <a:rPr lang="en-US" sz="1800">
                <a:solidFill>
                  <a:srgbClr val="111111"/>
                </a:solidFill>
              </a:rPr>
              <a:t>.</a:t>
            </a:r>
            <a:endParaRPr sz="18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Find the precision and the recall.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813816" y="2871216"/>
            <a:ext cx="10570500" cy="2148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5"/>
          <p:cNvSpPr txBox="1"/>
          <p:nvPr/>
        </p:nvSpPr>
        <p:spPr>
          <a:xfrm>
            <a:off x="969264" y="2980944"/>
            <a:ext cx="10259700" cy="1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TP = 4, FP = 5 − 4 = 1, FN = 8 − 4 = 4.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Precision = 4 ÷ 5 = 0.80</a:t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Recall = 4 ÷ 8 = 0.50</a:t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Mostly right when it speaks, but it misses half the objects.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6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POINTING THE ARM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440" name="Google Shape;440;p26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From Box to Turn Angle</a:t>
            </a:r>
            <a:endParaRPr b="1" sz="3800"/>
          </a:p>
        </p:txBody>
      </p:sp>
      <p:sp>
        <p:nvSpPr>
          <p:cNvPr id="441" name="Google Shape;441;p26"/>
          <p:cNvSpPr/>
          <p:nvPr/>
        </p:nvSpPr>
        <p:spPr>
          <a:xfrm>
            <a:off x="813816" y="1591056"/>
            <a:ext cx="6492300" cy="822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6"/>
          <p:cNvSpPr txBox="1"/>
          <p:nvPr/>
        </p:nvSpPr>
        <p:spPr>
          <a:xfrm>
            <a:off x="923544" y="1682496"/>
            <a:ext cx="62727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1 · BOX CENTER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800">
                <a:solidFill>
                  <a:srgbClr val="111111"/>
                </a:solidFill>
              </a:rPr>
              <a:t>cx = (x_min + x_max) ÷ 2</a:t>
            </a:r>
            <a:endParaRPr b="1" sz="1800">
              <a:solidFill>
                <a:srgbClr val="111111"/>
              </a:solidFill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813816" y="2551176"/>
            <a:ext cx="6492300" cy="822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6"/>
          <p:cNvSpPr txBox="1"/>
          <p:nvPr/>
        </p:nvSpPr>
        <p:spPr>
          <a:xfrm>
            <a:off x="923544" y="2642616"/>
            <a:ext cx="62727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2 · OFFSET FROM IMAGE CENTER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800">
                <a:solidFill>
                  <a:srgbClr val="111111"/>
                </a:solidFill>
              </a:rPr>
              <a:t>dx = cx − W ÷ 2</a:t>
            </a:r>
            <a:endParaRPr b="1" sz="1800">
              <a:solidFill>
                <a:srgbClr val="111111"/>
              </a:solidFill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813816" y="3511296"/>
            <a:ext cx="6492300" cy="822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923544" y="3602736"/>
            <a:ext cx="62727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3 · CAMERA FOCAL LENGTH IN PIXELS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800">
                <a:solidFill>
                  <a:srgbClr val="111111"/>
                </a:solidFill>
              </a:rPr>
              <a:t>f = (W ÷ 2) ÷ tan(HFOV ÷ 2)</a:t>
            </a:r>
            <a:endParaRPr b="1" sz="1800">
              <a:solidFill>
                <a:srgbClr val="111111"/>
              </a:solidFill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813816" y="4471416"/>
            <a:ext cx="6492300" cy="822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6"/>
          <p:cNvSpPr txBox="1"/>
          <p:nvPr/>
        </p:nvSpPr>
        <p:spPr>
          <a:xfrm>
            <a:off x="969264" y="4581144"/>
            <a:ext cx="6181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4 · TURN ANGLE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θ = atan(dx ÷ f)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449" name="Google Shape;449;p26"/>
          <p:cNvSpPr txBox="1"/>
          <p:nvPr/>
        </p:nvSpPr>
        <p:spPr>
          <a:xfrm>
            <a:off x="722376" y="5413248"/>
            <a:ext cx="667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55555"/>
                </a:solidFill>
              </a:rPr>
              <a:t>Use your camera’s real HFOV from its data sheet. This assumes the camera looks along the arm’s x axis.</a:t>
            </a:r>
            <a:endParaRPr sz="1300">
              <a:solidFill>
                <a:srgbClr val="555555"/>
              </a:solidFill>
            </a:endParaRPr>
          </a:p>
        </p:txBody>
      </p:sp>
      <p:sp>
        <p:nvSpPr>
          <p:cNvPr id="450" name="Google Shape;450;p26"/>
          <p:cNvSpPr/>
          <p:nvPr/>
        </p:nvSpPr>
        <p:spPr>
          <a:xfrm>
            <a:off x="7680960" y="1691640"/>
            <a:ext cx="3566100" cy="2697600"/>
          </a:xfrm>
          <a:prstGeom prst="rect">
            <a:avLst/>
          </a:prstGeom>
          <a:noFill/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1" name="Google Shape;451;p26"/>
          <p:cNvCxnSpPr/>
          <p:nvPr/>
        </p:nvCxnSpPr>
        <p:spPr>
          <a:xfrm>
            <a:off x="9464040" y="1691640"/>
            <a:ext cx="0" cy="2697600"/>
          </a:xfrm>
          <a:prstGeom prst="straightConnector1">
            <a:avLst/>
          </a:prstGeom>
          <a:noFill/>
          <a:ln cap="flat" cmpd="sng" w="19050">
            <a:solidFill>
              <a:srgbClr val="8CC06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26"/>
          <p:cNvSpPr/>
          <p:nvPr/>
        </p:nvSpPr>
        <p:spPr>
          <a:xfrm>
            <a:off x="9829800" y="2331720"/>
            <a:ext cx="914400" cy="1234500"/>
          </a:xfrm>
          <a:prstGeom prst="rect">
            <a:avLst/>
          </a:prstGeom>
          <a:noFill/>
          <a:ln cap="flat" cmpd="sng" w="28575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6"/>
          <p:cNvSpPr/>
          <p:nvPr/>
        </p:nvSpPr>
        <p:spPr>
          <a:xfrm>
            <a:off x="10241280" y="2898648"/>
            <a:ext cx="91500" cy="91500"/>
          </a:xfrm>
          <a:prstGeom prst="ellipse">
            <a:avLst/>
          </a:prstGeom>
          <a:solidFill>
            <a:srgbClr val="D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6"/>
          <p:cNvSpPr txBox="1"/>
          <p:nvPr/>
        </p:nvSpPr>
        <p:spPr>
          <a:xfrm>
            <a:off x="9509760" y="1737360"/>
            <a:ext cx="169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dx &gt; 0</a:t>
            </a:r>
            <a:endParaRPr b="1" sz="12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target is on the right</a:t>
            </a:r>
            <a:endParaRPr b="1" sz="1200">
              <a:solidFill>
                <a:srgbClr val="D60000"/>
              </a:solidFill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7680960" y="4572000"/>
            <a:ext cx="3566100" cy="1234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6"/>
          <p:cNvSpPr txBox="1"/>
          <p:nvPr/>
        </p:nvSpPr>
        <p:spPr>
          <a:xfrm>
            <a:off x="7790688" y="4663440"/>
            <a:ext cx="3346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111111"/>
                </a:solidFill>
              </a:rPr>
              <a:t>The base angle θ</a:t>
            </a:r>
            <a:r>
              <a:rPr baseline="-25000" lang="en-US">
                <a:solidFill>
                  <a:srgbClr val="111111"/>
                </a:solidFill>
              </a:rPr>
              <a:t>B</a:t>
            </a:r>
            <a:r>
              <a:rPr lang="en-US">
                <a:solidFill>
                  <a:srgbClr val="111111"/>
                </a:solidFill>
              </a:rPr>
              <a:t> counts counter-clockwise from above, so a target on the </a:t>
            </a:r>
            <a:r>
              <a:rPr b="1" lang="en-US">
                <a:solidFill>
                  <a:srgbClr val="111111"/>
                </a:solidFill>
              </a:rPr>
              <a:t>right</a:t>
            </a:r>
            <a:r>
              <a:rPr lang="en-US">
                <a:solidFill>
                  <a:srgbClr val="111111"/>
                </a:solidFill>
              </a:rPr>
              <a:t> means a </a:t>
            </a:r>
            <a:r>
              <a:rPr b="1" lang="en-US">
                <a:solidFill>
                  <a:srgbClr val="111111"/>
                </a:solidFill>
              </a:rPr>
              <a:t>negative</a:t>
            </a:r>
            <a:r>
              <a:rPr lang="en-US">
                <a:solidFill>
                  <a:srgbClr val="111111"/>
                </a:solidFill>
              </a:rPr>
              <a:t> turn.</a:t>
            </a:r>
            <a:endParaRPr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WORKED EXAMPLE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462" name="Google Shape;462;p27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Turn Angle Example</a:t>
            </a:r>
            <a:endParaRPr b="1" sz="3800"/>
          </a:p>
        </p:txBody>
      </p:sp>
      <p:sp>
        <p:nvSpPr>
          <p:cNvPr id="463" name="Google Shape;463;p27"/>
          <p:cNvSpPr/>
          <p:nvPr/>
        </p:nvSpPr>
        <p:spPr>
          <a:xfrm>
            <a:off x="813816" y="1591056"/>
            <a:ext cx="10570500" cy="1234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7"/>
          <p:cNvSpPr txBox="1"/>
          <p:nvPr/>
        </p:nvSpPr>
        <p:spPr>
          <a:xfrm>
            <a:off x="923544" y="1682496"/>
            <a:ext cx="103509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Image width W = </a:t>
            </a:r>
            <a:r>
              <a:rPr b="1" lang="en-US" sz="1700">
                <a:solidFill>
                  <a:srgbClr val="D60000"/>
                </a:solidFill>
              </a:rPr>
              <a:t>640 px</a:t>
            </a:r>
            <a:r>
              <a:rPr lang="en-US" sz="1700">
                <a:solidFill>
                  <a:srgbClr val="111111"/>
                </a:solidFill>
              </a:rPr>
              <a:t>. Camera HFOV = </a:t>
            </a:r>
            <a:r>
              <a:rPr b="1" lang="en-US" sz="1700">
                <a:solidFill>
                  <a:srgbClr val="D60000"/>
                </a:solidFill>
              </a:rPr>
              <a:t>60°</a:t>
            </a:r>
            <a:r>
              <a:rPr lang="en-US" sz="1700">
                <a:solidFill>
                  <a:srgbClr val="111111"/>
                </a:solidFill>
              </a:rPr>
              <a:t>.</a:t>
            </a:r>
            <a:endParaRPr sz="17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Detected cup box = </a:t>
            </a:r>
            <a:r>
              <a:rPr b="1" lang="en-US" sz="1700">
                <a:solidFill>
                  <a:srgbClr val="D60000"/>
                </a:solidFill>
              </a:rPr>
              <a:t>(400, 150, 500, 350)</a:t>
            </a:r>
            <a:r>
              <a:rPr lang="en-US" sz="1700">
                <a:solidFill>
                  <a:srgbClr val="111111"/>
                </a:solidFill>
              </a:rPr>
              <a:t>.</a:t>
            </a:r>
            <a:endParaRPr sz="17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By how much should the base turn?</a:t>
            </a:r>
            <a:endParaRPr sz="1700">
              <a:solidFill>
                <a:srgbClr val="111111"/>
              </a:solidFill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813816" y="3008376"/>
            <a:ext cx="10570500" cy="22860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7"/>
          <p:cNvSpPr txBox="1"/>
          <p:nvPr/>
        </p:nvSpPr>
        <p:spPr>
          <a:xfrm>
            <a:off x="969264" y="3118104"/>
            <a:ext cx="102597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cx = (400 + 500) ÷ 2 = 450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dx = 450 − 320 = 130 px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f = 320 ÷ tan(30°) = 554.3 px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θ = atan(130 ÷ 554.3) = 13.2°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The target is to the right, so θ</a:t>
            </a:r>
            <a:r>
              <a:rPr b="1" baseline="-25000" lang="en-US" sz="2200">
                <a:solidFill>
                  <a:srgbClr val="FFFFFF"/>
                </a:solidFill>
              </a:rPr>
              <a:t>B</a:t>
            </a:r>
            <a:r>
              <a:rPr b="1" lang="en-US" sz="2200">
                <a:solidFill>
                  <a:srgbClr val="FFFFFF"/>
                </a:solidFill>
              </a:rPr>
              <a:t> = −13.2°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TRY IT YOURSELF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472" name="Google Shape;472;p28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Try It Yourself #5</a:t>
            </a:r>
            <a:endParaRPr b="1" sz="3800"/>
          </a:p>
        </p:txBody>
      </p:sp>
      <p:sp>
        <p:nvSpPr>
          <p:cNvPr id="473" name="Google Shape;473;p28"/>
          <p:cNvSpPr/>
          <p:nvPr/>
        </p:nvSpPr>
        <p:spPr>
          <a:xfrm>
            <a:off x="813816" y="1591056"/>
            <a:ext cx="10570500" cy="1234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8"/>
          <p:cNvSpPr txBox="1"/>
          <p:nvPr/>
        </p:nvSpPr>
        <p:spPr>
          <a:xfrm>
            <a:off x="923544" y="1682496"/>
            <a:ext cx="103509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Same camera: W = </a:t>
            </a:r>
            <a:r>
              <a:rPr b="1" lang="en-US" sz="1700">
                <a:solidFill>
                  <a:srgbClr val="D60000"/>
                </a:solidFill>
              </a:rPr>
              <a:t>640 px</a:t>
            </a:r>
            <a:r>
              <a:rPr lang="en-US" sz="1700">
                <a:solidFill>
                  <a:srgbClr val="111111"/>
                </a:solidFill>
              </a:rPr>
              <a:t>, HFOV = </a:t>
            </a:r>
            <a:r>
              <a:rPr b="1" lang="en-US" sz="1700">
                <a:solidFill>
                  <a:srgbClr val="D60000"/>
                </a:solidFill>
              </a:rPr>
              <a:t>60°</a:t>
            </a:r>
            <a:r>
              <a:rPr lang="en-US" sz="1700">
                <a:solidFill>
                  <a:srgbClr val="111111"/>
                </a:solidFill>
              </a:rPr>
              <a:t>.</a:t>
            </a:r>
            <a:endParaRPr sz="17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This time the box is </a:t>
            </a:r>
            <a:r>
              <a:rPr b="1" lang="en-US" sz="1700">
                <a:solidFill>
                  <a:srgbClr val="D60000"/>
                </a:solidFill>
              </a:rPr>
              <a:t>(60, 100, 180, 300)</a:t>
            </a:r>
            <a:r>
              <a:rPr lang="en-US" sz="1700">
                <a:solidFill>
                  <a:srgbClr val="111111"/>
                </a:solidFill>
              </a:rPr>
              <a:t>.</a:t>
            </a:r>
            <a:endParaRPr sz="17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Find the base angle θ</a:t>
            </a:r>
            <a:r>
              <a:rPr baseline="-25000" lang="en-US" sz="1700">
                <a:solidFill>
                  <a:srgbClr val="111111"/>
                </a:solidFill>
              </a:rPr>
              <a:t>B</a:t>
            </a:r>
            <a:r>
              <a:rPr lang="en-US" sz="1700">
                <a:solidFill>
                  <a:srgbClr val="111111"/>
                </a:solidFill>
              </a:rPr>
              <a:t>.</a:t>
            </a:r>
            <a:endParaRPr sz="1700">
              <a:solidFill>
                <a:srgbClr val="111111"/>
              </a:solidFill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813816" y="3008376"/>
            <a:ext cx="10570500" cy="19203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8"/>
          <p:cNvSpPr txBox="1"/>
          <p:nvPr/>
        </p:nvSpPr>
        <p:spPr>
          <a:xfrm>
            <a:off x="969264" y="3118104"/>
            <a:ext cx="10259700" cy="17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cx = (60 + 180) ÷ 2 = 120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dx = 120 − 320 = −200 px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θ = atan(200 ÷ 554.3) = 19.8°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The target is to the left, so θ</a:t>
            </a:r>
            <a:r>
              <a:rPr b="1" baseline="-25000" lang="en-US" sz="2200">
                <a:solidFill>
                  <a:srgbClr val="FFFFFF"/>
                </a:solidFill>
              </a:rPr>
              <a:t>B</a:t>
            </a:r>
            <a:r>
              <a:rPr b="1" lang="en-US" sz="2200">
                <a:solidFill>
                  <a:srgbClr val="FFFFFF"/>
                </a:solidFill>
              </a:rPr>
              <a:t> = +19.8°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9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CHECK WITH CODE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482" name="Google Shape;482;p29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The Whole Pipeline in Code</a:t>
            </a:r>
            <a:endParaRPr b="1" sz="3800"/>
          </a:p>
        </p:txBody>
      </p:sp>
      <p:sp>
        <p:nvSpPr>
          <p:cNvPr id="483" name="Google Shape;483;p29"/>
          <p:cNvSpPr/>
          <p:nvPr/>
        </p:nvSpPr>
        <p:spPr>
          <a:xfrm>
            <a:off x="813816" y="1591056"/>
            <a:ext cx="10570500" cy="2743200"/>
          </a:xfrm>
          <a:prstGeom prst="roundRect">
            <a:avLst>
              <a:gd fmla="val 16667" name="adj"/>
            </a:avLst>
          </a:prstGeom>
          <a:solidFill>
            <a:srgbClr val="2B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9"/>
          <p:cNvSpPr txBox="1"/>
          <p:nvPr/>
        </p:nvSpPr>
        <p:spPr>
          <a:xfrm>
            <a:off x="969264" y="1700784"/>
            <a:ext cx="10259700" cy="25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PYTHON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CC06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detect_helper </a:t>
            </a:r>
            <a:r>
              <a:rPr lang="en-US">
                <a:solidFill>
                  <a:srgbClr val="8CC06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dets = run_detector(</a:t>
            </a:r>
            <a:r>
              <a:rPr lang="en-US">
                <a:solidFill>
                  <a:srgbClr val="F2C230"/>
                </a:solidFill>
                <a:latin typeface="Courier New"/>
                <a:ea typeface="Courier New"/>
                <a:cs typeface="Courier New"/>
                <a:sym typeface="Courier New"/>
              </a:rPr>
              <a:t>"table.png"</a:t>
            </a: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, conf=0.10)   </a:t>
            </a:r>
            <a:r>
              <a:rPr lang="en-US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# 1-2: photo and boxes</a:t>
            </a:r>
            <a:endParaRPr>
              <a:solidFill>
                <a:srgbClr val="A0A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dets = filter_by_score(dets, 0.50)            </a:t>
            </a:r>
            <a:r>
              <a:rPr lang="en-US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# 3: drop low scores</a:t>
            </a:r>
            <a:endParaRPr>
              <a:solidFill>
                <a:srgbClr val="A0A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dets = nms(dets, 0.5)                         </a:t>
            </a:r>
            <a:r>
              <a:rPr lang="en-US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# 3: remove duplicates</a:t>
            </a:r>
            <a:endParaRPr>
              <a:solidFill>
                <a:srgbClr val="A0A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target = pick_target(dets, </a:t>
            </a:r>
            <a:r>
              <a:rPr lang="en-US">
                <a:solidFill>
                  <a:srgbClr val="F2C230"/>
                </a:solidFill>
                <a:latin typeface="Courier New"/>
                <a:ea typeface="Courier New"/>
                <a:cs typeface="Courier New"/>
                <a:sym typeface="Courier New"/>
              </a:rPr>
              <a:t>"cup"</a:t>
            </a: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 </a:t>
            </a:r>
            <a:r>
              <a:rPr lang="en-US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# 4: the best cup</a:t>
            </a:r>
            <a:endParaRPr>
              <a:solidFill>
                <a:srgbClr val="A0A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dx, dy = pixel_offset(target[</a:t>
            </a:r>
            <a:r>
              <a:rPr lang="en-US">
                <a:solidFill>
                  <a:srgbClr val="F2C230"/>
                </a:solidFill>
                <a:latin typeface="Courier New"/>
                <a:ea typeface="Courier New"/>
                <a:cs typeface="Courier New"/>
                <a:sym typeface="Courier New"/>
              </a:rPr>
              <a:t>"box"</a:t>
            </a: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], 640, 480)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theta_b = -turn_angle(dx, 640, 60)            </a:t>
            </a:r>
            <a:r>
              <a:rPr lang="en-US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# 5: base angle</a:t>
            </a:r>
            <a:endParaRPr>
              <a:solidFill>
                <a:srgbClr val="A0A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5" name="Google Shape;485;p29"/>
          <p:cNvSpPr/>
          <p:nvPr/>
        </p:nvSpPr>
        <p:spPr>
          <a:xfrm>
            <a:off x="813816" y="4517136"/>
            <a:ext cx="5175600" cy="1005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9"/>
          <p:cNvSpPr txBox="1"/>
          <p:nvPr/>
        </p:nvSpPr>
        <p:spPr>
          <a:xfrm>
            <a:off x="923544" y="4608576"/>
            <a:ext cx="4956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CHECK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Feed in the worked example boxes. You should get θ</a:t>
            </a:r>
            <a:r>
              <a:rPr baseline="-25000" lang="en-US" sz="1500">
                <a:solidFill>
                  <a:srgbClr val="111111"/>
                </a:solidFill>
              </a:rPr>
              <a:t>B</a:t>
            </a:r>
            <a:r>
              <a:rPr lang="en-US" sz="1500">
                <a:solidFill>
                  <a:srgbClr val="111111"/>
                </a:solidFill>
              </a:rPr>
              <a:t> = −13.2° and +19.8°.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487" name="Google Shape;487;p29"/>
          <p:cNvSpPr/>
          <p:nvPr/>
        </p:nvSpPr>
        <p:spPr>
          <a:xfrm>
            <a:off x="6208776" y="4517136"/>
            <a:ext cx="5175600" cy="1005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9"/>
          <p:cNvSpPr txBox="1"/>
          <p:nvPr/>
        </p:nvSpPr>
        <p:spPr>
          <a:xfrm>
            <a:off x="6318504" y="4608576"/>
            <a:ext cx="4956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SIGN CHECK</a:t>
            </a:r>
            <a:endParaRPr b="1" sz="12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Right of center must give a negative θ</a:t>
            </a:r>
            <a:r>
              <a:rPr baseline="-25000" lang="en-US" sz="1500">
                <a:solidFill>
                  <a:srgbClr val="111111"/>
                </a:solidFill>
              </a:rPr>
              <a:t>B</a:t>
            </a:r>
            <a:r>
              <a:rPr lang="en-US" sz="1500">
                <a:solidFill>
                  <a:srgbClr val="111111"/>
                </a:solidFill>
              </a:rPr>
              <a:t>. Left must give positive.</a:t>
            </a:r>
            <a:endParaRPr sz="15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0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WRAP-UP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494" name="Google Shape;494;p30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What We Can Now Do</a:t>
            </a:r>
            <a:endParaRPr b="1" sz="3800"/>
          </a:p>
        </p:txBody>
      </p:sp>
      <p:sp>
        <p:nvSpPr>
          <p:cNvPr id="495" name="Google Shape;495;p30"/>
          <p:cNvSpPr/>
          <p:nvPr/>
        </p:nvSpPr>
        <p:spPr>
          <a:xfrm>
            <a:off x="813816" y="1591056"/>
            <a:ext cx="5175600" cy="987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0"/>
          <p:cNvSpPr txBox="1"/>
          <p:nvPr/>
        </p:nvSpPr>
        <p:spPr>
          <a:xfrm>
            <a:off x="923544" y="1682496"/>
            <a:ext cx="4956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DAY 1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700">
                <a:solidFill>
                  <a:srgbClr val="111111"/>
                </a:solidFill>
              </a:rPr>
              <a:t>Read a bounding box and measure overlap with IoU</a:t>
            </a:r>
            <a:endParaRPr b="1" sz="1700">
              <a:solidFill>
                <a:srgbClr val="111111"/>
              </a:solidFill>
            </a:endParaRPr>
          </a:p>
        </p:txBody>
      </p:sp>
      <p:sp>
        <p:nvSpPr>
          <p:cNvPr id="497" name="Google Shape;497;p30"/>
          <p:cNvSpPr/>
          <p:nvPr/>
        </p:nvSpPr>
        <p:spPr>
          <a:xfrm>
            <a:off x="6208776" y="1591056"/>
            <a:ext cx="5175600" cy="987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0"/>
          <p:cNvSpPr txBox="1"/>
          <p:nvPr/>
        </p:nvSpPr>
        <p:spPr>
          <a:xfrm>
            <a:off x="6318504" y="1682496"/>
            <a:ext cx="4956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DAY 1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700">
                <a:solidFill>
                  <a:srgbClr val="111111"/>
                </a:solidFill>
              </a:rPr>
              <a:t>Run a pretrained detector and read its output</a:t>
            </a:r>
            <a:endParaRPr b="1" sz="1700">
              <a:solidFill>
                <a:srgbClr val="111111"/>
              </a:solidFill>
            </a:endParaRPr>
          </a:p>
        </p:txBody>
      </p:sp>
      <p:sp>
        <p:nvSpPr>
          <p:cNvPr id="499" name="Google Shape;499;p30"/>
          <p:cNvSpPr/>
          <p:nvPr/>
        </p:nvSpPr>
        <p:spPr>
          <a:xfrm>
            <a:off x="813816" y="2734056"/>
            <a:ext cx="5175600" cy="987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0"/>
          <p:cNvSpPr txBox="1"/>
          <p:nvPr/>
        </p:nvSpPr>
        <p:spPr>
          <a:xfrm>
            <a:off x="923544" y="2825496"/>
            <a:ext cx="4956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DAY 2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700">
                <a:solidFill>
                  <a:srgbClr val="111111"/>
                </a:solidFill>
              </a:rPr>
              <a:t>Filter by confidence and remove duplicates with NMS</a:t>
            </a:r>
            <a:endParaRPr b="1" sz="1700">
              <a:solidFill>
                <a:srgbClr val="111111"/>
              </a:solidFill>
            </a:endParaRPr>
          </a:p>
        </p:txBody>
      </p:sp>
      <p:sp>
        <p:nvSpPr>
          <p:cNvPr id="501" name="Google Shape;501;p30"/>
          <p:cNvSpPr/>
          <p:nvPr/>
        </p:nvSpPr>
        <p:spPr>
          <a:xfrm>
            <a:off x="6208776" y="2734056"/>
            <a:ext cx="5175600" cy="987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0"/>
          <p:cNvSpPr txBox="1"/>
          <p:nvPr/>
        </p:nvSpPr>
        <p:spPr>
          <a:xfrm>
            <a:off x="6318504" y="2825496"/>
            <a:ext cx="4956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DAY 2</a:t>
            </a:r>
            <a:endParaRPr b="1" sz="12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700">
                <a:solidFill>
                  <a:srgbClr val="111111"/>
                </a:solidFill>
              </a:rPr>
              <a:t>Score with precision and recall, and turn the base toward a target</a:t>
            </a:r>
            <a:endParaRPr b="1" sz="1700">
              <a:solidFill>
                <a:srgbClr val="111111"/>
              </a:solidFill>
            </a:endParaRPr>
          </a:p>
        </p:txBody>
      </p:sp>
      <p:sp>
        <p:nvSpPr>
          <p:cNvPr id="503" name="Google Shape;503;p30"/>
          <p:cNvSpPr/>
          <p:nvPr/>
        </p:nvSpPr>
        <p:spPr>
          <a:xfrm>
            <a:off x="813816" y="3968496"/>
            <a:ext cx="10570500" cy="9144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"/>
          <p:cNvSpPr txBox="1"/>
          <p:nvPr/>
        </p:nvSpPr>
        <p:spPr>
          <a:xfrm>
            <a:off x="969264" y="4078224"/>
            <a:ext cx="102597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LIMIT TO REMEMBER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One camera gives direction but not distance. Next lesson: stereo vision adds depth.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