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442116-2CD8-4C62-ABFD-E0504A9C8DB2}">
  <a:tblStyle styleId="{0A442116-2CD8-4C62-ABFD-E0504A9C8D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sld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sld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sld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sld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sld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sld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sld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sld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sld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d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d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sld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d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d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sld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d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d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sld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d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d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sld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d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d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sld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d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d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sld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d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d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sld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d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d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sld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d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d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sld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d12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d12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sld12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ld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sld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sld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sld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sld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sld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sld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sld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sld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sld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sld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sld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sld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sld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sld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sld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sld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sld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sld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sld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sld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sld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sld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sld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sld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sld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sld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sld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sld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sld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sld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sld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sld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sld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sld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sld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sld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sld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sld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sld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sld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sld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sld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sld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sld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sld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sld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sld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sld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sld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sld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sld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sld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sld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sld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sld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sld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sld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sld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sld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sld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sld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sld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VER">
  <p:cSld name="LESSON_COVER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812800" y="2112664"/>
            <a:ext cx="5943600" cy="1421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1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NTENT">
  <p:cSld name="LESSON_CONTEN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desmos.com/3d/qq1w1zrs78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/>
        </p:nvSpPr>
        <p:spPr>
          <a:xfrm>
            <a:off x="731520" y="1097280"/>
            <a:ext cx="5943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Code Implementation of Forward Kinematics and Other Methods</a:t>
            </a:r>
            <a:endParaRPr b="1" sz="3600"/>
          </a:p>
        </p:txBody>
      </p:sp>
      <p:sp>
        <p:nvSpPr>
          <p:cNvPr id="21" name="Google Shape;21;p5"/>
          <p:cNvSpPr txBox="1"/>
          <p:nvPr/>
        </p:nvSpPr>
        <p:spPr>
          <a:xfrm>
            <a:off x="731520" y="3474720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Robotic Arm Course · Lesson 5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731520" y="4114800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1: The flat arm in Python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2: 3D, two methods, and the arm’s reach</a:t>
            </a:r>
            <a:endParaRPr sz="2000"/>
          </a:p>
        </p:txBody>
      </p:sp>
      <p:sp>
        <p:nvSpPr>
          <p:cNvPr id="23" name="Google Shape;23;p5"/>
          <p:cNvSpPr/>
          <p:nvPr/>
        </p:nvSpPr>
        <p:spPr>
          <a:xfrm>
            <a:off x="6675120" y="513892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5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5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5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5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/>
          <p:nvPr/>
        </p:nvSpPr>
        <p:spPr>
          <a:xfrm>
            <a:off x="720547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5794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105225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Lesson 4 left off:</a:t>
            </a:r>
            <a:endParaRPr sz="2400"/>
          </a:p>
        </p:txBody>
      </p:sp>
      <p:sp>
        <p:nvSpPr>
          <p:cNvPr id="37" name="Google Shape;37;p6"/>
          <p:cNvSpPr txBox="1"/>
          <p:nvPr/>
        </p:nvSpPr>
        <p:spPr>
          <a:xfrm>
            <a:off x="274320" y="822960"/>
            <a:ext cx="54864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link’s arrow: </a:t>
            </a:r>
            <a:r>
              <a:rPr lang="en-US" sz="2200">
                <a:solidFill>
                  <a:srgbClr val="FF0000"/>
                </a:solidFill>
              </a:rPr>
              <a:t>(cos θ, sin θ)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Turn 90°: </a:t>
            </a:r>
            <a:r>
              <a:rPr lang="en-US" sz="2200">
                <a:solidFill>
                  <a:srgbClr val="FF0000"/>
                </a:solidFill>
              </a:rPr>
              <a:t>(x, y) → (−y, x)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forearm’s arrow: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f = 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tip: </a:t>
            </a: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e +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f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Today Python does these steps.</a:t>
            </a:r>
            <a:endParaRPr sz="2200"/>
          </a:p>
        </p:txBody>
      </p:sp>
      <p:sp>
        <p:nvSpPr>
          <p:cNvPr id="38" name="Google Shape;38;p6"/>
          <p:cNvSpPr/>
          <p:nvPr/>
        </p:nvSpPr>
        <p:spPr>
          <a:xfrm>
            <a:off x="6035040" y="5230368"/>
            <a:ext cx="5303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6"/>
          <p:cNvCxnSpPr/>
          <p:nvPr/>
        </p:nvCxnSpPr>
        <p:spPr>
          <a:xfrm flipH="1" rot="10800000">
            <a:off x="6675120" y="374664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6"/>
          <p:cNvCxnSpPr/>
          <p:nvPr/>
        </p:nvCxnSpPr>
        <p:spPr>
          <a:xfrm>
            <a:off x="8049099" y="374666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 flipH="1" rot="10800000">
            <a:off x="6675120" y="374664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6"/>
          <p:cNvCxnSpPr/>
          <p:nvPr/>
        </p:nvCxnSpPr>
        <p:spPr>
          <a:xfrm>
            <a:off x="8049099" y="374666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" name="Google Shape;43;p6"/>
          <p:cNvSpPr/>
          <p:nvPr/>
        </p:nvSpPr>
        <p:spPr>
          <a:xfrm>
            <a:off x="656539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793937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988247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6492240" y="329184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1</a:t>
            </a:r>
            <a:r>
              <a:rPr lang="en-US" sz="2000"/>
              <a:t> e</a:t>
            </a:r>
            <a:endParaRPr sz="2000"/>
          </a:p>
        </p:txBody>
      </p:sp>
      <p:sp>
        <p:nvSpPr>
          <p:cNvPr id="47" name="Google Shape;47;p6"/>
          <p:cNvSpPr txBox="1"/>
          <p:nvPr/>
        </p:nvSpPr>
        <p:spPr>
          <a:xfrm>
            <a:off x="8412480" y="292608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2</a:t>
            </a:r>
            <a:r>
              <a:rPr lang="en-US" sz="2000"/>
              <a:t> f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Setting up:</a:t>
            </a:r>
            <a:endParaRPr sz="2400"/>
          </a:p>
        </p:txBody>
      </p:sp>
      <p:sp>
        <p:nvSpPr>
          <p:cNvPr id="54" name="Google Shape;54;p7"/>
          <p:cNvSpPr txBox="1"/>
          <p:nvPr/>
        </p:nvSpPr>
        <p:spPr>
          <a:xfrm>
            <a:off x="274320" y="822960"/>
            <a:ext cx="54864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 Open Python (your usual editor).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/>
              <a:t>2.  Open arm_starter.py.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/>
              <a:t>3.  Save a copy as arm.py.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4.  Run it. Nothing prints yet. If there is no error, it works.</a:t>
            </a:r>
            <a:endParaRPr sz="2000"/>
          </a:p>
        </p:txBody>
      </p:sp>
      <p:sp>
        <p:nvSpPr>
          <p:cNvPr id="55" name="Google Shape;55;p7"/>
          <p:cNvSpPr/>
          <p:nvPr/>
        </p:nvSpPr>
        <p:spPr>
          <a:xfrm>
            <a:off x="6035040" y="822960"/>
            <a:ext cx="5852100" cy="19356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6035040" y="822960"/>
            <a:ext cx="58521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L1 = 250   # upper arm (mm)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L2 = 250   # forearm (mm)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show(v):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print([round(n, 2) + 0.0 for n in v])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" name="Google Shape;57;p7"/>
          <p:cNvSpPr txBox="1"/>
          <p:nvPr/>
        </p:nvSpPr>
        <p:spPr>
          <a:xfrm>
            <a:off x="6035040" y="3200400"/>
            <a:ext cx="5852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import math gives us math.sin and more.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L1 and L2 are the link lengths.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/>
              <a:t>show() prints a vector rounded to 2 decimals.</a:t>
            </a:r>
            <a:endParaRPr sz="2000"/>
          </a:p>
        </p:txBody>
      </p:sp>
      <p:sp>
        <p:nvSpPr>
          <p:cNvPr id="58" name="Google Shape;58;p7"/>
          <p:cNvSpPr txBox="1"/>
          <p:nvPr/>
        </p:nvSpPr>
        <p:spPr>
          <a:xfrm>
            <a:off x="274320" y="44805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add to this file, one function at a time.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Python’s sin and cos use radians:</a:t>
            </a:r>
            <a:endParaRPr sz="2400"/>
          </a:p>
        </p:txBody>
      </p:sp>
      <p:sp>
        <p:nvSpPr>
          <p:cNvPr id="65" name="Google Shape;65;p8"/>
          <p:cNvSpPr txBox="1"/>
          <p:nvPr/>
        </p:nvSpPr>
        <p:spPr>
          <a:xfrm>
            <a:off x="274320" y="822960"/>
            <a:ext cx="11430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Angles in Lesson 4 were in degrees.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math.sin and math.cos want radians.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math.radians() changes degrees into radians.</a:t>
            </a:r>
            <a:endParaRPr sz="2200"/>
          </a:p>
        </p:txBody>
      </p:sp>
      <p:sp>
        <p:nvSpPr>
          <p:cNvPr id="66" name="Google Shape;66;p8"/>
          <p:cNvSpPr/>
          <p:nvPr/>
        </p:nvSpPr>
        <p:spPr>
          <a:xfrm>
            <a:off x="274320" y="2743200"/>
            <a:ext cx="8595300" cy="1447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274320" y="2743200"/>
            <a:ext cx="85953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print(math.radians(180))                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3.141592653589793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print(math.sin(math.radians(30)))       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0.49999999999999994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print(round(math.sin(math.radians(30)), 2))  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0.5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274320" y="4846320"/>
            <a:ext cx="11430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round(x, 2) keeps 2 decimals.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Python shows tiny errors like 0.49999999999999994. That is normal.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what does each line print?</a:t>
            </a:r>
            <a:endParaRPr sz="2400"/>
          </a:p>
        </p:txBody>
      </p:sp>
      <p:sp>
        <p:nvSpPr>
          <p:cNvPr id="75" name="Google Shape;75;p9"/>
          <p:cNvSpPr/>
          <p:nvPr/>
        </p:nvSpPr>
        <p:spPr>
          <a:xfrm>
            <a:off x="274320" y="822960"/>
            <a:ext cx="7315200" cy="960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274320" y="822960"/>
            <a:ext cx="7315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print(round(math.sin(math.radians(30)), 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print(round(250 * math.cos(math.radians(45)), 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print(math.sqrt(3**2 + 4**2))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274320" y="2057400"/>
            <a:ext cx="11430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Guess first. Then run them to check.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Hint: line 2 is a number from Lesson 4.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Line 3 is the length of the vector (3, 4).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solution</a:t>
            </a:r>
            <a:endParaRPr sz="2400"/>
          </a:p>
        </p:txBody>
      </p:sp>
      <p:sp>
        <p:nvSpPr>
          <p:cNvPr id="84" name="Google Shape;84;p10"/>
          <p:cNvSpPr/>
          <p:nvPr/>
        </p:nvSpPr>
        <p:spPr>
          <a:xfrm>
            <a:off x="274320" y="822960"/>
            <a:ext cx="7315200" cy="960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 txBox="1"/>
          <p:nvPr/>
        </p:nvSpPr>
        <p:spPr>
          <a:xfrm>
            <a:off x="274320" y="822960"/>
            <a:ext cx="7315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print(round(math.sin(math.radians(30)), 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print(round(250 * math.cos(math.radians(45)), 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print(math.sqrt(3**2 + 4**2))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10"/>
          <p:cNvSpPr txBox="1"/>
          <p:nvPr/>
        </p:nvSpPr>
        <p:spPr>
          <a:xfrm>
            <a:off x="274320" y="1965960"/>
            <a:ext cx="3657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176.78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5.0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274320" y="3063240"/>
            <a:ext cx="11430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176.78 is the upper arm’s number from Lesson 4.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5.0 is the length of (3, 4). Python shows 5.0, not 5.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1: a function for one arrow:</a:t>
            </a:r>
            <a:endParaRPr sz="2400"/>
          </a:p>
        </p:txBody>
      </p:sp>
      <p:sp>
        <p:nvSpPr>
          <p:cNvPr id="94" name="Google Shape;94;p11"/>
          <p:cNvSpPr txBox="1"/>
          <p:nvPr/>
        </p:nvSpPr>
        <p:spPr>
          <a:xfrm>
            <a:off x="274320" y="822960"/>
            <a:ext cx="11430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function is a recipe with a name.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Numbers go in. One answer comes out.</a:t>
            </a:r>
            <a:endParaRPr sz="2200"/>
          </a:p>
        </p:txBody>
      </p:sp>
      <p:sp>
        <p:nvSpPr>
          <p:cNvPr id="95" name="Google Shape;95;p11"/>
          <p:cNvSpPr/>
          <p:nvPr/>
        </p:nvSpPr>
        <p:spPr>
          <a:xfrm>
            <a:off x="548640" y="2743200"/>
            <a:ext cx="2560200" cy="1097400"/>
          </a:xfrm>
          <a:prstGeom prst="rect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 txBox="1"/>
          <p:nvPr/>
        </p:nvSpPr>
        <p:spPr>
          <a:xfrm>
            <a:off x="548640" y="2743200"/>
            <a:ext cx="2560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theta = 45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7" name="Google Shape;97;p11"/>
          <p:cNvCxnSpPr/>
          <p:nvPr/>
        </p:nvCxnSpPr>
        <p:spPr>
          <a:xfrm>
            <a:off x="3108960" y="3291840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1"/>
          <p:cNvSpPr/>
          <p:nvPr/>
        </p:nvSpPr>
        <p:spPr>
          <a:xfrm>
            <a:off x="4023360" y="2743200"/>
            <a:ext cx="3108900" cy="1097400"/>
          </a:xfrm>
          <a:prstGeom prst="rect">
            <a:avLst/>
          </a:prstGeom>
          <a:solidFill>
            <a:srgbClr val="F3F3F3"/>
          </a:solidFill>
          <a:ln cap="flat" cmpd="sng" w="254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/>
        </p:nvSpPr>
        <p:spPr>
          <a:xfrm>
            <a:off x="4023360" y="2743200"/>
            <a:ext cx="310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arrow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0" name="Google Shape;100;p11"/>
          <p:cNvCxnSpPr/>
          <p:nvPr/>
        </p:nvCxnSpPr>
        <p:spPr>
          <a:xfrm>
            <a:off x="7132320" y="3291840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1"/>
          <p:cNvSpPr/>
          <p:nvPr/>
        </p:nvSpPr>
        <p:spPr>
          <a:xfrm>
            <a:off x="8046720" y="2743200"/>
            <a:ext cx="3749100" cy="1097400"/>
          </a:xfrm>
          <a:prstGeom prst="rect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8046720" y="2743200"/>
            <a:ext cx="3749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[0.71, 0.71]</a:t>
            </a:r>
            <a:endParaRPr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822960" y="393192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input</a:t>
            </a:r>
            <a:endParaRPr sz="2000"/>
          </a:p>
        </p:txBody>
      </p:sp>
      <p:sp>
        <p:nvSpPr>
          <p:cNvPr id="104" name="Google Shape;104;p11"/>
          <p:cNvSpPr txBox="1"/>
          <p:nvPr/>
        </p:nvSpPr>
        <p:spPr>
          <a:xfrm>
            <a:off x="4663440" y="393192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function</a:t>
            </a:r>
            <a:endParaRPr sz="2000"/>
          </a:p>
        </p:txBody>
      </p:sp>
      <p:sp>
        <p:nvSpPr>
          <p:cNvPr id="105" name="Google Shape;105;p11"/>
          <p:cNvSpPr txBox="1"/>
          <p:nvPr/>
        </p:nvSpPr>
        <p:spPr>
          <a:xfrm>
            <a:off x="8961120" y="393192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answer</a:t>
            </a:r>
            <a:endParaRPr sz="2000"/>
          </a:p>
        </p:txBody>
      </p:sp>
      <p:sp>
        <p:nvSpPr>
          <p:cNvPr id="106" name="Google Shape;106;p11"/>
          <p:cNvSpPr txBox="1"/>
          <p:nvPr/>
        </p:nvSpPr>
        <p:spPr>
          <a:xfrm>
            <a:off x="274320" y="4754880"/>
            <a:ext cx="11430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Input: the angle theta, in degrees, measured from the floor.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Output: the link’s arrow [cos θ, sin θ]. Its length is 1.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1: arrow</a:t>
            </a:r>
            <a:endParaRPr sz="2400"/>
          </a:p>
        </p:txBody>
      </p:sp>
      <p:sp>
        <p:nvSpPr>
          <p:cNvPr id="113" name="Google Shape;113;p12"/>
          <p:cNvSpPr/>
          <p:nvPr/>
        </p:nvSpPr>
        <p:spPr>
          <a:xfrm>
            <a:off x="274320" y="822960"/>
            <a:ext cx="6766500" cy="960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"/>
          <p:cNvSpPr txBox="1"/>
          <p:nvPr/>
        </p:nvSpPr>
        <p:spPr>
          <a:xfrm>
            <a:off x="274320" y="822960"/>
            <a:ext cx="6766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arrow(theta):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theta = math.radians(theta)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[math.cos(theta), math.sin(theta)]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274320" y="2011680"/>
            <a:ext cx="676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Test it:</a:t>
            </a:r>
            <a:endParaRPr sz="2000"/>
          </a:p>
        </p:txBody>
      </p:sp>
      <p:sp>
        <p:nvSpPr>
          <p:cNvPr id="116" name="Google Shape;116;p12"/>
          <p:cNvSpPr/>
          <p:nvPr/>
        </p:nvSpPr>
        <p:spPr>
          <a:xfrm>
            <a:off x="274320" y="2514600"/>
            <a:ext cx="67665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274320" y="2514600"/>
            <a:ext cx="6766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show(arrow(45))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show(arrow(90))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274320" y="3276600"/>
            <a:ext cx="6766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[0.71, 0.71]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[0.0, 1.0]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7315200" y="822960"/>
            <a:ext cx="45720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def starts the function.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first line changes degrees to radians.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return gives back [cos θ, sin θ] as a list.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arrow(45) is e, the upper arm’s arrow from Lesson 4. show rounds 0.7071 to 0.71.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2: multiplying and adding vectors:</a:t>
            </a:r>
            <a:endParaRPr sz="2400"/>
          </a:p>
        </p:txBody>
      </p:sp>
      <p:sp>
        <p:nvSpPr>
          <p:cNvPr id="126" name="Google Shape;126;p13"/>
          <p:cNvSpPr txBox="1"/>
          <p:nvPr/>
        </p:nvSpPr>
        <p:spPr>
          <a:xfrm>
            <a:off x="274320" y="822960"/>
            <a:ext cx="114300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 multiply a vector by a number, multiply each number: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250 × (0.7071, 0.7071) = (176.78, 176.78)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 add two vectors, add the numbers in the same position: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(3, 4) + (2, −1) = (5, 3)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27432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{0A442116-2CD8-4C62-ABFD-E0504A9C8DB2}</a:tableStyleId>
              </a:tblPr>
              <a:tblGrid>
                <a:gridCol w="914400"/>
                <a:gridCol w="1463025"/>
                <a:gridCol w="1463025"/>
                <a:gridCol w="2560300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u[i]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v[i]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u[i] + v[i]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3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5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4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−1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3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" name="Google Shape;128;p13"/>
          <p:cNvSpPr txBox="1"/>
          <p:nvPr/>
        </p:nvSpPr>
        <p:spPr>
          <a:xfrm>
            <a:off x="7132320" y="3200400"/>
            <a:ext cx="47550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 is the position of a number in the list.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Python starts counting at 0.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loop can go through every position.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2: scale and add_vectors</a:t>
            </a:r>
            <a:endParaRPr sz="2400"/>
          </a:p>
        </p:txBody>
      </p:sp>
      <p:sp>
        <p:nvSpPr>
          <p:cNvPr id="135" name="Google Shape;135;p14"/>
          <p:cNvSpPr/>
          <p:nvPr/>
        </p:nvSpPr>
        <p:spPr>
          <a:xfrm>
            <a:off x="274320" y="822960"/>
            <a:ext cx="6400800" cy="2910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74320" y="822960"/>
            <a:ext cx="6400800" cy="29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scale(k, v):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for i in range(len(v)):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  result.append(k * v[i])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result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add_vectors(u, v):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for i in range(len(u)):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  result.append(u[i] + v[i])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result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274320" y="38709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Test it:</a:t>
            </a:r>
            <a:endParaRPr sz="2000"/>
          </a:p>
        </p:txBody>
      </p:sp>
      <p:sp>
        <p:nvSpPr>
          <p:cNvPr id="138" name="Google Shape;138;p14"/>
          <p:cNvSpPr/>
          <p:nvPr/>
        </p:nvSpPr>
        <p:spPr>
          <a:xfrm>
            <a:off x="274320" y="4328160"/>
            <a:ext cx="64008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274320" y="4328160"/>
            <a:ext cx="64008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show(scale(250, arrow(45)))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print(add_vectors([3, 4], [2, -1]))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274320" y="5062728"/>
            <a:ext cx="64008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[176.78, 176.78]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[5, 3]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949440" y="822960"/>
            <a:ext cx="49377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result = [] starts an empty list.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range(len(v)) counts 0, 1, ... once for each number in v.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append adds the new number to the list.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return is lined up with for. It is not inside the loop.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scale(250, arrow(45)) is the upper arm vector from Lesson 4.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find the link vector</a:t>
            </a:r>
            <a:endParaRPr sz="2400"/>
          </a:p>
        </p:txBody>
      </p:sp>
      <p:sp>
        <p:nvSpPr>
          <p:cNvPr id="148" name="Google Shape;148;p15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Use scale and arrow to print the link vector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L=250mm, θ=30°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L=250mm, θ=90°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Compare with Lesson 4, Try it yourself #1.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solution</a:t>
            </a:r>
            <a:endParaRPr sz="2400"/>
          </a:p>
        </p:txBody>
      </p:sp>
      <p:sp>
        <p:nvSpPr>
          <p:cNvPr id="155" name="Google Shape;155;p16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Use scale and arrow to print the link vector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L=250mm, θ=30°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L=250mm, θ=90°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Compare with Lesson 4, Try it yourself #1.</a:t>
            </a:r>
            <a:endParaRPr sz="2200"/>
          </a:p>
        </p:txBody>
      </p:sp>
      <p:sp>
        <p:nvSpPr>
          <p:cNvPr id="156" name="Google Shape;156;p16"/>
          <p:cNvSpPr/>
          <p:nvPr/>
        </p:nvSpPr>
        <p:spPr>
          <a:xfrm>
            <a:off x="274320" y="3566160"/>
            <a:ext cx="54864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274320" y="3566160"/>
            <a:ext cx="5486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show(scale(250, arrow(30)))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show(scale(250, arrow(90)))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74320" y="4328160"/>
            <a:ext cx="5486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[216.51, 125.0]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[0.0, 250.0]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217920" y="3566160"/>
            <a:ext cx="5669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Python shows 125.0, not 125.00.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It is the same number.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3: turning arrows</a:t>
            </a:r>
            <a:endParaRPr sz="2400"/>
          </a:p>
        </p:txBody>
      </p:sp>
      <p:sp>
        <p:nvSpPr>
          <p:cNvPr id="166" name="Google Shape;166;p17"/>
          <p:cNvSpPr/>
          <p:nvPr/>
        </p:nvSpPr>
        <p:spPr>
          <a:xfrm>
            <a:off x="274320" y="822960"/>
            <a:ext cx="6766500" cy="2179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274320" y="822960"/>
            <a:ext cx="67665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turn_90(v):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[-v[1], v[0]]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turn(e, n, theta):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theta = math.radians(theta)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a = scale(math.cos(theta), 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b = scale(math.sin(theta), n)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add_vectors(a, 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274320" y="3139440"/>
            <a:ext cx="676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Test it:</a:t>
            </a:r>
            <a:endParaRPr sz="2000"/>
          </a:p>
        </p:txBody>
      </p:sp>
      <p:sp>
        <p:nvSpPr>
          <p:cNvPr id="169" name="Google Shape;169;p17"/>
          <p:cNvSpPr/>
          <p:nvPr/>
        </p:nvSpPr>
        <p:spPr>
          <a:xfrm>
            <a:off x="274320" y="3596640"/>
            <a:ext cx="67665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274320" y="3596640"/>
            <a:ext cx="6766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show(turn_90([3, 4]))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show(turn([1, 0], [0, 1], 30))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274320" y="4331208"/>
            <a:ext cx="6766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[-4.0, 3.0]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[0.87, 0.5]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315200" y="822960"/>
            <a:ext cx="45720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turn_90 is the rule from Lesson 4: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(x, y) → (−y, x)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turn is the forearm rule: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cos θ · e + sin θ · n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With e = [1, 0] and n = [0, 1], turn gives the unit circle: [cos 30°, sin 30°].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4: the flat arm</a:t>
            </a:r>
            <a:endParaRPr sz="2400"/>
          </a:p>
        </p:txBody>
      </p:sp>
      <p:sp>
        <p:nvSpPr>
          <p:cNvPr id="179" name="Google Shape;179;p18"/>
          <p:cNvSpPr/>
          <p:nvPr/>
        </p:nvSpPr>
        <p:spPr>
          <a:xfrm>
            <a:off x="274320" y="822960"/>
            <a:ext cx="6949500" cy="1447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274320" y="822960"/>
            <a:ext cx="69495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flat_tip(theta_s, theta_e):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e = arrow(theta_s)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n = turn_90(e)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 = turn(e, n, theta_e)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add_vectors(scale(L1, e), scale(L2, f))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274320" y="2545080"/>
            <a:ext cx="6949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Each line is one row of the link table from Lesson 4.</a:t>
            </a:r>
            <a:endParaRPr sz="2000"/>
          </a:p>
        </p:txBody>
      </p:sp>
      <p:sp>
        <p:nvSpPr>
          <p:cNvPr id="182" name="Google Shape;182;p18"/>
          <p:cNvSpPr txBox="1"/>
          <p:nvPr/>
        </p:nvSpPr>
        <p:spPr>
          <a:xfrm>
            <a:off x="7498080" y="822960"/>
            <a:ext cx="43890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 is the upper arm’s arrow, at θ</a:t>
            </a:r>
            <a:r>
              <a:rPr baseline="-25000" lang="en-US" sz="2000"/>
              <a:t>S</a:t>
            </a:r>
            <a:r>
              <a:rPr lang="en-US" sz="2000"/>
              <a:t> from the floor.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 is e turned 90°.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 is the forearm’s arrow: e turned by θ</a:t>
            </a:r>
            <a:r>
              <a:rPr baseline="-25000" lang="en-US" sz="2000"/>
              <a:t>E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tip is </a:t>
            </a:r>
            <a:r>
              <a:rPr lang="en-US" sz="2000">
                <a:solidFill>
                  <a:srgbClr val="FF0000"/>
                </a:solidFill>
              </a:rPr>
              <a:t>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e +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 f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 the worked example:</a:t>
            </a:r>
            <a:endParaRPr sz="2400"/>
          </a:p>
        </p:txBody>
      </p:sp>
      <p:sp>
        <p:nvSpPr>
          <p:cNvPr id="189" name="Google Shape;189;p19"/>
          <p:cNvSpPr/>
          <p:nvPr/>
        </p:nvSpPr>
        <p:spPr>
          <a:xfrm>
            <a:off x="274320" y="822960"/>
            <a:ext cx="5852100" cy="4725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274320" y="822960"/>
            <a:ext cx="5852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show(flat_tip(45, -45))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274320" y="1341120"/>
            <a:ext cx="5852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[426.78, 176.78]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274320" y="2651760"/>
            <a:ext cx="6035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S</a:t>
            </a:r>
            <a:r>
              <a:rPr lang="en-US" sz="2000"/>
              <a:t> = 45° and θ</a:t>
            </a:r>
            <a:r>
              <a:rPr baseline="-25000" lang="en-US" sz="2000"/>
              <a:t>E</a:t>
            </a:r>
            <a:r>
              <a:rPr lang="en-US" sz="2000"/>
              <a:t> = −45° (the elbow bends down)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Inside the function: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 = </a:t>
            </a:r>
            <a:r>
              <a:rPr lang="en-US" sz="2000">
                <a:solidFill>
                  <a:srgbClr val="FF0000"/>
                </a:solidFill>
              </a:rPr>
              <a:t>[0.71, 0.71]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 = </a:t>
            </a:r>
            <a:r>
              <a:rPr lang="en-US" sz="2000">
                <a:solidFill>
                  <a:srgbClr val="FF0000"/>
                </a:solidFill>
              </a:rPr>
              <a:t>[-0.71, 0.71]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 = </a:t>
            </a:r>
            <a:r>
              <a:rPr lang="en-US" sz="2000">
                <a:solidFill>
                  <a:srgbClr val="FF0000"/>
                </a:solidFill>
              </a:rPr>
              <a:t>[1.0, 0.0]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1</a:t>
            </a:r>
            <a:r>
              <a:rPr lang="en-US" sz="2000"/>
              <a:t> e + L</a:t>
            </a:r>
            <a:r>
              <a:rPr baseline="-25000" lang="en-US" sz="2000"/>
              <a:t>2</a:t>
            </a:r>
            <a:r>
              <a:rPr lang="en-US" sz="2000"/>
              <a:t> f = </a:t>
            </a:r>
            <a:r>
              <a:rPr lang="en-US" sz="2000">
                <a:solidFill>
                  <a:srgbClr val="FF0000"/>
                </a:solidFill>
              </a:rPr>
              <a:t>[426.78, 176.78]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583680" y="822960"/>
            <a:ext cx="5303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same answer as Lesson 3 and Lesson 4.</a:t>
            </a:r>
            <a:endParaRPr sz="2000"/>
          </a:p>
        </p:txBody>
      </p:sp>
      <p:sp>
        <p:nvSpPr>
          <p:cNvPr id="194" name="Google Shape;194;p19"/>
          <p:cNvSpPr/>
          <p:nvPr/>
        </p:nvSpPr>
        <p:spPr>
          <a:xfrm>
            <a:off x="6583680" y="5230368"/>
            <a:ext cx="51207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19"/>
          <p:cNvCxnSpPr/>
          <p:nvPr/>
        </p:nvCxnSpPr>
        <p:spPr>
          <a:xfrm flipH="1" rot="10800000">
            <a:off x="7223760" y="374664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/>
          <p:nvPr/>
        </p:nvCxnSpPr>
        <p:spPr>
          <a:xfrm>
            <a:off x="8597739" y="374666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9"/>
          <p:cNvCxnSpPr/>
          <p:nvPr/>
        </p:nvCxnSpPr>
        <p:spPr>
          <a:xfrm flipH="1" rot="10800000">
            <a:off x="7223760" y="374664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9"/>
          <p:cNvCxnSpPr/>
          <p:nvPr/>
        </p:nvCxnSpPr>
        <p:spPr>
          <a:xfrm>
            <a:off x="8597739" y="374666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9"/>
          <p:cNvSpPr/>
          <p:nvPr/>
        </p:nvSpPr>
        <p:spPr>
          <a:xfrm>
            <a:off x="711403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848801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1043111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49440" y="338328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1</a:t>
            </a:r>
            <a:r>
              <a:rPr lang="en-US" sz="2000"/>
              <a:t> e</a:t>
            </a:r>
            <a:endParaRPr sz="2000"/>
          </a:p>
        </p:txBody>
      </p:sp>
      <p:sp>
        <p:nvSpPr>
          <p:cNvPr id="203" name="Google Shape;203;p19"/>
          <p:cNvSpPr txBox="1"/>
          <p:nvPr/>
        </p:nvSpPr>
        <p:spPr>
          <a:xfrm>
            <a:off x="8869680" y="292608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2</a:t>
            </a:r>
            <a:r>
              <a:rPr lang="en-US" sz="2000"/>
              <a:t> f</a:t>
            </a:r>
            <a:endParaRPr sz="2000"/>
          </a:p>
        </p:txBody>
      </p:sp>
      <p:sp>
        <p:nvSpPr>
          <p:cNvPr id="204" name="Google Shape;204;p19"/>
          <p:cNvSpPr txBox="1"/>
          <p:nvPr/>
        </p:nvSpPr>
        <p:spPr>
          <a:xfrm>
            <a:off x="10357959" y="3198021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tip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run flat_tip</a:t>
            </a:r>
            <a:endParaRPr sz="2400"/>
          </a:p>
        </p:txBody>
      </p:sp>
      <p:sp>
        <p:nvSpPr>
          <p:cNvPr id="211" name="Google Shape;211;p20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Use flat_tip to find the tip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=60° and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=−30°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=30° and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Then compare with your link tables from Lesson 4 (Try it yourself #2 and #3).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solution</a:t>
            </a:r>
            <a:endParaRPr sz="2400"/>
          </a:p>
        </p:txBody>
      </p:sp>
      <p:sp>
        <p:nvSpPr>
          <p:cNvPr id="218" name="Google Shape;218;p21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Use flat_tip to find the tip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=60° and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=−30°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=30° and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Then compare with your link tables from Lesson 4 (Try it yourself #2 and #3).</a:t>
            </a:r>
            <a:endParaRPr sz="2200"/>
          </a:p>
        </p:txBody>
      </p:sp>
      <p:sp>
        <p:nvSpPr>
          <p:cNvPr id="219" name="Google Shape;219;p21"/>
          <p:cNvSpPr/>
          <p:nvPr/>
        </p:nvSpPr>
        <p:spPr>
          <a:xfrm>
            <a:off x="274320" y="3749040"/>
            <a:ext cx="54864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274320" y="3749040"/>
            <a:ext cx="5486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show(flat_tip(60, -30))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show(flat_tip(30, 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74320" y="4511040"/>
            <a:ext cx="5486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[341.51, 341.51]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[433.01, 250.0]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217920" y="3749040"/>
            <a:ext cx="5669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same answers as in Lesson 4.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Bug hunt: what went wrong?</a:t>
            </a:r>
            <a:endParaRPr sz="2400"/>
          </a:p>
        </p:txBody>
      </p:sp>
      <p:sp>
        <p:nvSpPr>
          <p:cNvPr id="229" name="Google Shape;229;p22"/>
          <p:cNvSpPr txBox="1"/>
          <p:nvPr/>
        </p:nvSpPr>
        <p:spPr>
          <a:xfrm>
            <a:off x="274320" y="73152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test with θ</a:t>
            </a:r>
            <a:r>
              <a:rPr baseline="-25000" lang="en-US" sz="2000"/>
              <a:t>S</a:t>
            </a:r>
            <a:r>
              <a:rPr lang="en-US" sz="2000"/>
              <a:t>=45° and θ</a:t>
            </a:r>
            <a:r>
              <a:rPr baseline="-25000" lang="en-US" sz="2000"/>
              <a:t>E</a:t>
            </a:r>
            <a:r>
              <a:rPr lang="en-US" sz="2000"/>
              <a:t>=−45°. The right answer is [426.78, 176.78].</a:t>
            </a:r>
            <a:endParaRPr sz="2000"/>
          </a:p>
        </p:txBody>
      </p:sp>
      <p:sp>
        <p:nvSpPr>
          <p:cNvPr id="230" name="Google Shape;230;p22"/>
          <p:cNvSpPr txBox="1"/>
          <p:nvPr/>
        </p:nvSpPr>
        <p:spPr>
          <a:xfrm>
            <a:off x="27432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A</a:t>
            </a:r>
            <a:endParaRPr b="1" sz="2400"/>
          </a:p>
        </p:txBody>
      </p:sp>
      <p:sp>
        <p:nvSpPr>
          <p:cNvPr id="231" name="Google Shape;231;p22"/>
          <p:cNvSpPr/>
          <p:nvPr/>
        </p:nvSpPr>
        <p:spPr>
          <a:xfrm>
            <a:off x="274320" y="1828800"/>
            <a:ext cx="3840600" cy="822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74320" y="1828800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arrow(theta):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[math.cos(theta),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    math.sin(theta)]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27432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34" name="Google Shape;234;p22"/>
          <p:cNvSpPr txBox="1"/>
          <p:nvPr/>
        </p:nvSpPr>
        <p:spPr>
          <a:xfrm>
            <a:off x="27432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[374.62, 270.28]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20624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</a:t>
            </a:r>
            <a:endParaRPr b="1" sz="2400"/>
          </a:p>
        </p:txBody>
      </p:sp>
      <p:sp>
        <p:nvSpPr>
          <p:cNvPr id="236" name="Google Shape;236;p22"/>
          <p:cNvSpPr/>
          <p:nvPr/>
        </p:nvSpPr>
        <p:spPr>
          <a:xfrm>
            <a:off x="4206240" y="1828800"/>
            <a:ext cx="3840600" cy="624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206240" y="1828800"/>
            <a:ext cx="38406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turn_90(v):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[v[1], -v[0]]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20624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39" name="Google Shape;239;p22"/>
          <p:cNvSpPr txBox="1"/>
          <p:nvPr/>
        </p:nvSpPr>
        <p:spPr>
          <a:xfrm>
            <a:off x="420624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[176.78, 426.78]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13816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</a:t>
            </a:r>
            <a:endParaRPr b="1" sz="2400"/>
          </a:p>
        </p:txBody>
      </p:sp>
      <p:sp>
        <p:nvSpPr>
          <p:cNvPr id="241" name="Google Shape;241;p22"/>
          <p:cNvSpPr/>
          <p:nvPr/>
        </p:nvSpPr>
        <p:spPr>
          <a:xfrm>
            <a:off x="8138160" y="1828800"/>
            <a:ext cx="3840600" cy="1219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138160" y="1828800"/>
            <a:ext cx="3840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add_vectors(u, v):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for i in range(len(u)):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result.append(u[i] + v[i])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return result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813816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44" name="Google Shape;244;p22"/>
          <p:cNvSpPr txBox="1"/>
          <p:nvPr/>
        </p:nvSpPr>
        <p:spPr>
          <a:xfrm>
            <a:off x="813816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[426.78]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274320" y="5029200"/>
            <a:ext cx="1143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Find the mistake in each one.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Bug hunt: answers</a:t>
            </a:r>
            <a:endParaRPr sz="2400"/>
          </a:p>
        </p:txBody>
      </p:sp>
      <p:sp>
        <p:nvSpPr>
          <p:cNvPr id="252" name="Google Shape;252;p23"/>
          <p:cNvSpPr txBox="1"/>
          <p:nvPr/>
        </p:nvSpPr>
        <p:spPr>
          <a:xfrm>
            <a:off x="274320" y="73152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test with θ</a:t>
            </a:r>
            <a:r>
              <a:rPr baseline="-25000" lang="en-US" sz="2000"/>
              <a:t>S</a:t>
            </a:r>
            <a:r>
              <a:rPr lang="en-US" sz="2000"/>
              <a:t>=45° and θ</a:t>
            </a:r>
            <a:r>
              <a:rPr baseline="-25000" lang="en-US" sz="2000"/>
              <a:t>E</a:t>
            </a:r>
            <a:r>
              <a:rPr lang="en-US" sz="2000"/>
              <a:t>=−45°. The right answer is [426.78, 176.78].</a:t>
            </a:r>
            <a:endParaRPr sz="2000"/>
          </a:p>
        </p:txBody>
      </p:sp>
      <p:sp>
        <p:nvSpPr>
          <p:cNvPr id="253" name="Google Shape;253;p23"/>
          <p:cNvSpPr txBox="1"/>
          <p:nvPr/>
        </p:nvSpPr>
        <p:spPr>
          <a:xfrm>
            <a:off x="27432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A</a:t>
            </a:r>
            <a:endParaRPr b="1" sz="2400"/>
          </a:p>
        </p:txBody>
      </p:sp>
      <p:sp>
        <p:nvSpPr>
          <p:cNvPr id="254" name="Google Shape;254;p23"/>
          <p:cNvSpPr/>
          <p:nvPr/>
        </p:nvSpPr>
        <p:spPr>
          <a:xfrm>
            <a:off x="274320" y="1828800"/>
            <a:ext cx="3840600" cy="822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274320" y="1828800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arrow(theta):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[math.cos(theta),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    math.sin(theta)]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27432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57" name="Google Shape;257;p23"/>
          <p:cNvSpPr txBox="1"/>
          <p:nvPr/>
        </p:nvSpPr>
        <p:spPr>
          <a:xfrm>
            <a:off x="27432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[374.62, 270.28]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274320" y="448056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math.radians is missing. Python reads 45 as 45 radians.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420624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</a:t>
            </a:r>
            <a:endParaRPr b="1" sz="2400"/>
          </a:p>
        </p:txBody>
      </p:sp>
      <p:sp>
        <p:nvSpPr>
          <p:cNvPr id="260" name="Google Shape;260;p23"/>
          <p:cNvSpPr/>
          <p:nvPr/>
        </p:nvSpPr>
        <p:spPr>
          <a:xfrm>
            <a:off x="4206240" y="1828800"/>
            <a:ext cx="3840600" cy="624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206240" y="1828800"/>
            <a:ext cx="38406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turn_90(v):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[v[1], -v[0]]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20624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63" name="Google Shape;263;p23"/>
          <p:cNvSpPr txBox="1"/>
          <p:nvPr/>
        </p:nvSpPr>
        <p:spPr>
          <a:xfrm>
            <a:off x="420624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[176.78, 426.78]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206240" y="448056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This turns the arrow clockwise. The rule is (x, y) → (−y, x).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8138160" y="132588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</a:t>
            </a:r>
            <a:endParaRPr b="1" sz="2400"/>
          </a:p>
        </p:txBody>
      </p:sp>
      <p:sp>
        <p:nvSpPr>
          <p:cNvPr id="266" name="Google Shape;266;p23"/>
          <p:cNvSpPr/>
          <p:nvPr/>
        </p:nvSpPr>
        <p:spPr>
          <a:xfrm>
            <a:off x="8138160" y="1828800"/>
            <a:ext cx="3840600" cy="1219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138160" y="1828800"/>
            <a:ext cx="3840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add_vectors(u, v):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for i in range(len(u)):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result.append(u[i] + v[i])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return result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8138160" y="36576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269" name="Google Shape;269;p23"/>
          <p:cNvSpPr txBox="1"/>
          <p:nvPr/>
        </p:nvSpPr>
        <p:spPr>
          <a:xfrm>
            <a:off x="8138160" y="3931920"/>
            <a:ext cx="3840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[426.78]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8138160" y="448056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return is inside the loop. It stops after the first number.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274320" y="5852160"/>
            <a:ext cx="1143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Check new code against an answer you already know, like Lesson 4.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1 recap:</a:t>
            </a:r>
            <a:endParaRPr sz="2400"/>
          </a:p>
        </p:txBody>
      </p:sp>
      <p:sp>
        <p:nvSpPr>
          <p:cNvPr id="278" name="Google Shape;278;p24"/>
          <p:cNvSpPr txBox="1"/>
          <p:nvPr/>
        </p:nvSpPr>
        <p:spPr>
          <a:xfrm>
            <a:off x="274320" y="822960"/>
            <a:ext cx="60351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arrow: a link’s arrow (length 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scale and add_vectors: multiply and add vectors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turn_90 and turn: turn an arrow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flat_tip: the tip of the flat arm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When the answer is wrong, check it against an answer you already know.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Tomorrow the base turns, so each vector gets a third number.</a:t>
            </a:r>
            <a:endParaRPr sz="2000"/>
          </a:p>
        </p:txBody>
      </p:sp>
      <p:sp>
        <p:nvSpPr>
          <p:cNvPr id="279" name="Google Shape;279;p24"/>
          <p:cNvSpPr/>
          <p:nvPr/>
        </p:nvSpPr>
        <p:spPr>
          <a:xfrm>
            <a:off x="6583680" y="5230368"/>
            <a:ext cx="51207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24"/>
          <p:cNvCxnSpPr/>
          <p:nvPr/>
        </p:nvCxnSpPr>
        <p:spPr>
          <a:xfrm flipH="1" rot="10800000">
            <a:off x="7223760" y="374664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4"/>
          <p:cNvCxnSpPr/>
          <p:nvPr/>
        </p:nvCxnSpPr>
        <p:spPr>
          <a:xfrm>
            <a:off x="8597739" y="374666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4"/>
          <p:cNvCxnSpPr/>
          <p:nvPr/>
        </p:nvCxnSpPr>
        <p:spPr>
          <a:xfrm flipH="1" rot="10800000">
            <a:off x="7223760" y="374664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4"/>
          <p:cNvCxnSpPr/>
          <p:nvPr/>
        </p:nvCxnSpPr>
        <p:spPr>
          <a:xfrm>
            <a:off x="8597739" y="374666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4"/>
          <p:cNvSpPr/>
          <p:nvPr/>
        </p:nvSpPr>
        <p:spPr>
          <a:xfrm>
            <a:off x="711403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848801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10431111" y="363693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949440" y="338328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1</a:t>
            </a:r>
            <a:r>
              <a:rPr lang="en-US" sz="2000"/>
              <a:t> e</a:t>
            </a:r>
            <a:endParaRPr sz="2000"/>
          </a:p>
        </p:txBody>
      </p:sp>
      <p:sp>
        <p:nvSpPr>
          <p:cNvPr id="288" name="Google Shape;288;p24"/>
          <p:cNvSpPr txBox="1"/>
          <p:nvPr/>
        </p:nvSpPr>
        <p:spPr>
          <a:xfrm>
            <a:off x="8869680" y="2926080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2</a:t>
            </a:r>
            <a:r>
              <a:rPr lang="en-US" sz="2000"/>
              <a:t> f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2: where Day 1 left off</a:t>
            </a:r>
            <a:endParaRPr sz="2400"/>
          </a:p>
        </p:txBody>
      </p:sp>
      <p:sp>
        <p:nvSpPr>
          <p:cNvPr id="295" name="Google Shape;295;p25"/>
          <p:cNvSpPr txBox="1"/>
          <p:nvPr/>
        </p:nvSpPr>
        <p:spPr>
          <a:xfrm>
            <a:off x="274320" y="822960"/>
            <a:ext cx="60351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What does arrow(90) return?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What does turn_90([0.6, 0.8]) return?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What does flat_tip(45, -45) return?</a:t>
            </a:r>
            <a:endParaRPr sz="2200"/>
          </a:p>
        </p:txBody>
      </p:sp>
      <p:sp>
        <p:nvSpPr>
          <p:cNvPr id="296" name="Google Shape;296;p25"/>
          <p:cNvSpPr txBox="1"/>
          <p:nvPr/>
        </p:nvSpPr>
        <p:spPr>
          <a:xfrm>
            <a:off x="274320" y="3931920"/>
            <a:ext cx="6035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Today the base turns.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vector gets a third number: (x, y, z).</a:t>
            </a:r>
            <a:endParaRPr sz="2200"/>
          </a:p>
        </p:txBody>
      </p:sp>
      <p:sp>
        <p:nvSpPr>
          <p:cNvPr id="297" name="Google Shape;297;p25"/>
          <p:cNvSpPr/>
          <p:nvPr/>
        </p:nvSpPr>
        <p:spPr>
          <a:xfrm>
            <a:off x="6400800" y="5138928"/>
            <a:ext cx="5303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25"/>
          <p:cNvCxnSpPr/>
          <p:nvPr/>
        </p:nvCxnSpPr>
        <p:spPr>
          <a:xfrm flipH="1" rot="10800000">
            <a:off x="704088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5"/>
          <p:cNvCxnSpPr/>
          <p:nvPr/>
        </p:nvCxnSpPr>
        <p:spPr>
          <a:xfrm>
            <a:off x="841485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5"/>
          <p:cNvCxnSpPr/>
          <p:nvPr/>
        </p:nvCxnSpPr>
        <p:spPr>
          <a:xfrm flipH="1" rot="10800000">
            <a:off x="704088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5"/>
          <p:cNvCxnSpPr/>
          <p:nvPr/>
        </p:nvCxnSpPr>
        <p:spPr>
          <a:xfrm>
            <a:off x="841485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5"/>
          <p:cNvSpPr/>
          <p:nvPr/>
        </p:nvSpPr>
        <p:spPr>
          <a:xfrm>
            <a:off x="693115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830513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1024823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25"/>
          <p:cNvCxnSpPr/>
          <p:nvPr/>
        </p:nvCxnSpPr>
        <p:spPr>
          <a:xfrm>
            <a:off x="7040880" y="5669280"/>
            <a:ext cx="3317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5"/>
          <p:cNvCxnSpPr/>
          <p:nvPr/>
        </p:nvCxnSpPr>
        <p:spPr>
          <a:xfrm>
            <a:off x="7040880" y="5577840"/>
            <a:ext cx="0" cy="183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5"/>
          <p:cNvCxnSpPr/>
          <p:nvPr/>
        </p:nvCxnSpPr>
        <p:spPr>
          <a:xfrm>
            <a:off x="10357959" y="5577840"/>
            <a:ext cx="0" cy="183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5"/>
          <p:cNvSpPr txBox="1"/>
          <p:nvPr/>
        </p:nvSpPr>
        <p:spPr>
          <a:xfrm>
            <a:off x="8516540" y="57150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</a:t>
            </a:r>
            <a:endParaRPr sz="2000">
              <a:solidFill>
                <a:srgbClr val="FF0000"/>
              </a:solidFill>
            </a:endParaRPr>
          </a:p>
        </p:txBody>
      </p:sp>
      <p:cxnSp>
        <p:nvCxnSpPr>
          <p:cNvPr id="309" name="Google Shape;309;p25"/>
          <p:cNvCxnSpPr/>
          <p:nvPr/>
        </p:nvCxnSpPr>
        <p:spPr>
          <a:xfrm rot="10800000">
            <a:off x="10860879" y="3655200"/>
            <a:ext cx="0" cy="137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5"/>
          <p:cNvCxnSpPr/>
          <p:nvPr/>
        </p:nvCxnSpPr>
        <p:spPr>
          <a:xfrm>
            <a:off x="10769439" y="5029200"/>
            <a:ext cx="183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5"/>
          <p:cNvCxnSpPr/>
          <p:nvPr/>
        </p:nvCxnSpPr>
        <p:spPr>
          <a:xfrm>
            <a:off x="10769439" y="3655221"/>
            <a:ext cx="183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5"/>
          <p:cNvSpPr txBox="1"/>
          <p:nvPr/>
        </p:nvSpPr>
        <p:spPr>
          <a:xfrm>
            <a:off x="10998039" y="415933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z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5: the arrows in 3D</a:t>
            </a:r>
            <a:endParaRPr sz="2400"/>
          </a:p>
        </p:txBody>
      </p:sp>
      <p:sp>
        <p:nvSpPr>
          <p:cNvPr id="319" name="Google Shape;319;p26"/>
          <p:cNvSpPr/>
          <p:nvPr/>
        </p:nvSpPr>
        <p:spPr>
          <a:xfrm>
            <a:off x="274320" y="822960"/>
            <a:ext cx="6949500" cy="2667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274320" y="822960"/>
            <a:ext cx="6949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arrow_3d(theta_b, theta_s):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b = math.radians(theta_b)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s = math.radians(theta_s)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x = math.cos(s) * math.cos(b)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y = math.cos(s) * math.sin(b)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z = math.sin(s)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[x, y, z]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turned_3d(theta_b, theta_s):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arrow_3d(theta_b, theta_s + 90)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274320" y="3764280"/>
            <a:ext cx="6949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arrow_3d is e. turned_3d is n.</a:t>
            </a:r>
            <a:endParaRPr sz="2000"/>
          </a:p>
        </p:txBody>
      </p:sp>
      <p:sp>
        <p:nvSpPr>
          <p:cNvPr id="322" name="Google Shape;322;p26"/>
          <p:cNvSpPr txBox="1"/>
          <p:nvPr/>
        </p:nvSpPr>
        <p:spPr>
          <a:xfrm>
            <a:off x="7589520" y="822960"/>
            <a:ext cx="42978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formula from Lesson 4: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e = (cos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       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 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Lesson 4’s check: n is e with θ</a:t>
            </a:r>
            <a:r>
              <a:rPr baseline="-25000" lang="en-US" sz="2000"/>
              <a:t>S</a:t>
            </a:r>
            <a:r>
              <a:rPr lang="en-US" sz="2000"/>
              <a:t> + 90° in place of θ</a:t>
            </a:r>
            <a:r>
              <a:rPr baseline="-25000" lang="en-US" sz="2000"/>
              <a:t>S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So turned_3d just calls arrow_3d.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Test the 3D arrows:</a:t>
            </a:r>
            <a:endParaRPr sz="2400"/>
          </a:p>
        </p:txBody>
      </p:sp>
      <p:sp>
        <p:nvSpPr>
          <p:cNvPr id="329" name="Google Shape;329;p27"/>
          <p:cNvSpPr/>
          <p:nvPr/>
        </p:nvSpPr>
        <p:spPr>
          <a:xfrm>
            <a:off x="274320" y="822960"/>
            <a:ext cx="6217800" cy="960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274320" y="822960"/>
            <a:ext cx="6217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show(arrow_3d(45, 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show(turned_3d(45, 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show(scale(250, arrow_3d(45, 45)))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274320" y="1828800"/>
            <a:ext cx="6217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[0.5, 0.5, 0.71]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[-0.5, -0.5, 0.71]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[125.0, 125.0, 176.78]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274320" y="3383280"/>
            <a:ext cx="11430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These are e, n and the upper arm vector from the worked example in Lesson 4, with θ</a:t>
            </a:r>
            <a:r>
              <a:rPr baseline="-25000" lang="en-US" sz="2200"/>
              <a:t>B</a:t>
            </a:r>
            <a:r>
              <a:rPr lang="en-US" sz="2200"/>
              <a:t> = 45° and θ</a:t>
            </a:r>
            <a:r>
              <a:rPr baseline="-25000" lang="en-US" sz="2200"/>
              <a:t>S</a:t>
            </a:r>
            <a:r>
              <a:rPr lang="en-US" sz="2200"/>
              <a:t> = 45°.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Lesson 4’s table shows 0.7071. show rounds it to 0.71.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6: the whole arm in 3D</a:t>
            </a:r>
            <a:endParaRPr sz="2400"/>
          </a:p>
        </p:txBody>
      </p:sp>
      <p:sp>
        <p:nvSpPr>
          <p:cNvPr id="339" name="Google Shape;339;p28"/>
          <p:cNvSpPr/>
          <p:nvPr/>
        </p:nvSpPr>
        <p:spPr>
          <a:xfrm>
            <a:off x="274320" y="822960"/>
            <a:ext cx="7863900" cy="1447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274320" y="822960"/>
            <a:ext cx="78639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tip_3d(theta_b, theta_s, theta_e):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e = arrow_3d(theta_b, theta_s)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n = turned_3d(theta_b, theta_s)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 = turn(e, n, theta_e)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add_vectors(scale(L1, e), scale(L2, f))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274320" y="2590800"/>
            <a:ext cx="114300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Compare it with flat_tip: only the lines for e and n changed.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turn, scale and add_vectors did not change. Their loops work for three numbers just as well as two.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This is the DH idea: the forearm only needs the upper arm’s arrows, e and n.</a:t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 the worked example:</a:t>
            </a:r>
            <a:endParaRPr sz="2400"/>
          </a:p>
        </p:txBody>
      </p:sp>
      <p:sp>
        <p:nvSpPr>
          <p:cNvPr id="348" name="Google Shape;348;p29"/>
          <p:cNvSpPr/>
          <p:nvPr/>
        </p:nvSpPr>
        <p:spPr>
          <a:xfrm>
            <a:off x="274320" y="822960"/>
            <a:ext cx="5852100" cy="4725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274320" y="822960"/>
            <a:ext cx="5852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show(tip_3d(45, 45, -45))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274320" y="1341120"/>
            <a:ext cx="5852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[301.78, 301.78, 176.78]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274320" y="2651760"/>
            <a:ext cx="5852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B</a:t>
            </a:r>
            <a:r>
              <a:rPr lang="en-US" sz="2200"/>
              <a:t> = 45°, θ</a:t>
            </a:r>
            <a:r>
              <a:rPr baseline="-25000" lang="en-US" sz="2200"/>
              <a:t>S</a:t>
            </a:r>
            <a:r>
              <a:rPr lang="en-US" sz="2200"/>
              <a:t> = 45°, θ</a:t>
            </a:r>
            <a:r>
              <a:rPr baseline="-25000" lang="en-US" sz="2200"/>
              <a:t>E</a:t>
            </a:r>
            <a:r>
              <a:rPr lang="en-US" sz="2200"/>
              <a:t> = −45°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same answer as Lesson 4.</a:t>
            </a:r>
            <a:endParaRPr sz="2200"/>
          </a:p>
        </p:txBody>
      </p:sp>
      <p:sp>
        <p:nvSpPr>
          <p:cNvPr id="352" name="Google Shape;352;p29"/>
          <p:cNvSpPr txBox="1"/>
          <p:nvPr/>
        </p:nvSpPr>
        <p:spPr>
          <a:xfrm>
            <a:off x="6583680" y="822960"/>
            <a:ext cx="53034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Check it in Desmos: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 Open the Desmos graph from Lesson 4.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2.  Set u = 45, v = 45, w = −45.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3.  d should read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(3.0178, 3.0178, 1.7678)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4.  Multiply by 100: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</a:t>
            </a:r>
            <a:r>
              <a:rPr lang="en-US" sz="2000">
                <a:solidFill>
                  <a:srgbClr val="FF0000"/>
                </a:solidFill>
              </a:rPr>
              <a:t>(301.78, 301.78, 176.78)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 = θ</a:t>
            </a:r>
            <a:r>
              <a:rPr baseline="-25000" lang="en-US" sz="2000"/>
              <a:t>B</a:t>
            </a:r>
            <a:r>
              <a:rPr lang="en-US" sz="2000"/>
              <a:t>, v = θ</a:t>
            </a:r>
            <a:r>
              <a:rPr baseline="-25000" lang="en-US" sz="2000"/>
              <a:t>S</a:t>
            </a:r>
            <a:r>
              <a:rPr lang="en-US" sz="2000"/>
              <a:t>, w = θ</a:t>
            </a:r>
            <a:r>
              <a:rPr baseline="-25000" lang="en-US" sz="2000"/>
              <a:t>E</a:t>
            </a:r>
            <a:endParaRPr baseline="-25000" sz="2000"/>
          </a:p>
        </p:txBody>
      </p:sp>
      <p:sp>
        <p:nvSpPr>
          <p:cNvPr id="353" name="Google Shape;353;p29"/>
          <p:cNvSpPr txBox="1"/>
          <p:nvPr/>
        </p:nvSpPr>
        <p:spPr>
          <a:xfrm>
            <a:off x="274320" y="52120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https://www.desmos.com/3d/qq1w1zrs78</a:t>
            </a:r>
            <a:endParaRPr sz="2000" u="sng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run tip_3d</a:t>
            </a:r>
            <a:endParaRPr sz="2400"/>
          </a:p>
        </p:txBody>
      </p:sp>
      <p:sp>
        <p:nvSpPr>
          <p:cNvPr id="360" name="Google Shape;360;p30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the tip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=60°,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=−90°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These are Lesson 4, Try it yourself #4 and #5. Check in Desmos too.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solution</a:t>
            </a:r>
            <a:endParaRPr sz="2400"/>
          </a:p>
        </p:txBody>
      </p:sp>
      <p:sp>
        <p:nvSpPr>
          <p:cNvPr id="367" name="Google Shape;367;p31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the tip for: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=30°,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=60°,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=−90°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These are Lesson 4, Try it yourself #4 and #5. Check in Desmos too.</a:t>
            </a:r>
            <a:endParaRPr sz="2200"/>
          </a:p>
        </p:txBody>
      </p:sp>
      <p:sp>
        <p:nvSpPr>
          <p:cNvPr id="368" name="Google Shape;368;p31"/>
          <p:cNvSpPr/>
          <p:nvPr/>
        </p:nvSpPr>
        <p:spPr>
          <a:xfrm>
            <a:off x="274320" y="3749040"/>
            <a:ext cx="56694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 txBox="1"/>
          <p:nvPr/>
        </p:nvSpPr>
        <p:spPr>
          <a:xfrm>
            <a:off x="274320" y="3749040"/>
            <a:ext cx="5669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show(tip_3d(30, 30, 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show(tip_3d(30, 60, -90))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274320" y="4511040"/>
            <a:ext cx="5669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[375.0, 216.51, 250.0]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[295.75, 170.75, 91.51]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Another method: Lesson 3 in code</a:t>
            </a:r>
            <a:endParaRPr sz="2400"/>
          </a:p>
        </p:txBody>
      </p:sp>
      <p:sp>
        <p:nvSpPr>
          <p:cNvPr id="377" name="Google Shape;377;p32"/>
          <p:cNvSpPr/>
          <p:nvPr/>
        </p:nvSpPr>
        <p:spPr>
          <a:xfrm>
            <a:off x="274320" y="822960"/>
            <a:ext cx="6949500" cy="2423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274320" y="822960"/>
            <a:ext cx="69495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def trig_tip(theta1, theta2, theta3):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a1 = math.radians(theta1)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a2 = math.radians(theta1 + theta2)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b = math.radians(theta3)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 = L1 * math.sin(a1) + L2 * math.sin(a2)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z = L1 * math.cos(a1) + L2 * math.cos(a2)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x = r * math.cos(b)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y = r * math.sin(b)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[x, y, z]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274320" y="3520440"/>
            <a:ext cx="6949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uses Lesson 3’s angles and triangles. θ</a:t>
            </a:r>
            <a:r>
              <a:rPr baseline="-25000" lang="en-US" sz="2000"/>
              <a:t>1</a:t>
            </a:r>
            <a:r>
              <a:rPr lang="en-US" sz="2000"/>
              <a:t> is measured from straight up.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It is a different method for the same arm.</a:t>
            </a:r>
            <a:endParaRPr sz="2000"/>
          </a:p>
        </p:txBody>
      </p:sp>
      <p:sp>
        <p:nvSpPr>
          <p:cNvPr id="380" name="Google Shape;380;p32"/>
          <p:cNvSpPr txBox="1"/>
          <p:nvPr/>
        </p:nvSpPr>
        <p:spPr>
          <a:xfrm>
            <a:off x="7589520" y="822960"/>
            <a:ext cx="42978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Lesson 3’s steps: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 = 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+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 sin(θ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+ θ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z = 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+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 cos(θ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+ θ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x = r cos θ</a:t>
            </a:r>
            <a:r>
              <a:rPr baseline="-25000" lang="en-US" sz="2000">
                <a:solidFill>
                  <a:srgbClr val="FF0000"/>
                </a:solidFill>
              </a:rPr>
              <a:t>3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y = r sin θ</a:t>
            </a:r>
            <a:r>
              <a:rPr baseline="-25000" lang="en-US" sz="2000">
                <a:solidFill>
                  <a:srgbClr val="FF0000"/>
                </a:solidFill>
              </a:rPr>
              <a:t>3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 is the reach. z is the height (Lesson 3 called it Y).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Do the two methods agree?</a:t>
            </a:r>
            <a:endParaRPr sz="2400"/>
          </a:p>
        </p:txBody>
      </p:sp>
      <p:sp>
        <p:nvSpPr>
          <p:cNvPr id="387" name="Google Shape;387;p33"/>
          <p:cNvSpPr/>
          <p:nvPr/>
        </p:nvSpPr>
        <p:spPr>
          <a:xfrm>
            <a:off x="274320" y="822960"/>
            <a:ext cx="6949500" cy="19356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 txBox="1"/>
          <p:nvPr/>
        </p:nvSpPr>
        <p:spPr>
          <a:xfrm>
            <a:off x="274320" y="822960"/>
            <a:ext cx="69495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poses = [(45, 45, 45), (60, 0, 30), (30, 90, 30)]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for pose in poses: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theta1, theta2, theta3 = pose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print(pose)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show(trig_tip(theta1, theta2, theta3))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show(tip_3d(theta3, 90 - theta1, -theta2))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7498080" y="822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prints:</a:t>
            </a:r>
            <a:endParaRPr sz="1600"/>
          </a:p>
        </p:txBody>
      </p:sp>
      <p:sp>
        <p:nvSpPr>
          <p:cNvPr id="390" name="Google Shape;390;p33"/>
          <p:cNvSpPr txBox="1"/>
          <p:nvPr/>
        </p:nvSpPr>
        <p:spPr>
          <a:xfrm>
            <a:off x="7498080" y="1143000"/>
            <a:ext cx="43890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(45, 45, 45)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[301.78, 301.78, 176.78]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[301.78, 301.78, 176.78]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(60, 0, 30)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[375.0, 216.51, 250.0]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[375.0, 216.51, 250.0]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(30, 90, 30)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[295.75, 170.75, 91.51]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[295.75, 170.75, 91.51]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274320" y="4023360"/>
            <a:ext cx="114300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poses use Lesson 3’s angles.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tip_3d needs DH angles, so we use Lesson 4’s rule: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θ</a:t>
            </a:r>
            <a:r>
              <a:rPr baseline="-25000" lang="en-US" sz="2200">
                <a:solidFill>
                  <a:srgbClr val="FF0000"/>
                </a:solidFill>
              </a:rPr>
              <a:t>3</a:t>
            </a:r>
            <a:r>
              <a:rPr lang="en-US" sz="2200">
                <a:solidFill>
                  <a:srgbClr val="FF0000"/>
                </a:solidFill>
              </a:rPr>
              <a:t>,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90° − θ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,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−θ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endParaRPr baseline="-25000"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two answers match every time. If they ever differ, one of them has a bug.</a:t>
            </a:r>
            <a:endParaRPr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can the tip go?</a:t>
            </a:r>
            <a:endParaRPr sz="2400"/>
          </a:p>
        </p:txBody>
      </p:sp>
      <p:sp>
        <p:nvSpPr>
          <p:cNvPr id="398" name="Google Shape;398;p34"/>
          <p:cNvSpPr txBox="1"/>
          <p:nvPr/>
        </p:nvSpPr>
        <p:spPr>
          <a:xfrm>
            <a:off x="274320" y="822960"/>
            <a:ext cx="114300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function can be used again and again.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loop can try every pose.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let θ</a:t>
            </a:r>
            <a:r>
              <a:rPr baseline="-25000" lang="en-US" sz="2200"/>
              <a:t>S</a:t>
            </a:r>
            <a:r>
              <a:rPr lang="en-US" sz="2200"/>
              <a:t> go from 0° to 90° and θ</a:t>
            </a:r>
            <a:r>
              <a:rPr baseline="-25000" lang="en-US" sz="2200"/>
              <a:t>E</a:t>
            </a:r>
            <a:r>
              <a:rPr lang="en-US" sz="2200"/>
              <a:t> go from −90° to 0°, in steps of 10°.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keep θ</a:t>
            </a:r>
            <a:r>
              <a:rPr baseline="-25000" lang="en-US" sz="2200"/>
              <a:t>B</a:t>
            </a:r>
            <a:r>
              <a:rPr lang="en-US" sz="2200"/>
              <a:t> = 0°, so we look at the arm from the side.</a:t>
            </a:r>
            <a:endParaRPr sz="2200"/>
          </a:p>
        </p:txBody>
      </p:sp>
      <p:sp>
        <p:nvSpPr>
          <p:cNvPr id="399" name="Google Shape;399;p34"/>
          <p:cNvSpPr/>
          <p:nvPr/>
        </p:nvSpPr>
        <p:spPr>
          <a:xfrm>
            <a:off x="274320" y="3749040"/>
            <a:ext cx="5486400" cy="716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274320" y="3749040"/>
            <a:ext cx="5486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for theta_e in range(-90, 1, 10):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print(theta_e)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34"/>
          <p:cNvSpPr txBox="1"/>
          <p:nvPr/>
        </p:nvSpPr>
        <p:spPr>
          <a:xfrm>
            <a:off x="6217920" y="3749040"/>
            <a:ext cx="5669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prints −90, −80 ... 0.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range(-90, 1, 10) stops before 1.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Sweeping the angles:</a:t>
            </a:r>
            <a:endParaRPr sz="2400"/>
          </a:p>
        </p:txBody>
      </p:sp>
      <p:sp>
        <p:nvSpPr>
          <p:cNvPr id="408" name="Google Shape;408;p35"/>
          <p:cNvSpPr/>
          <p:nvPr/>
        </p:nvSpPr>
        <p:spPr>
          <a:xfrm>
            <a:off x="274320" y="822960"/>
            <a:ext cx="7680900" cy="2423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274320" y="822960"/>
            <a:ext cx="76809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distances = []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for theta_s in range(0, 91, 10):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for theta_e in range(-90, 1, 10):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  x, z = flat_tip(theta_s, theta_e)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  distances.append(math.sqrt(x ** 2 + z ** 2))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print(len(distances), "poses")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print("farthest:", round(max(distances), 2), "mm")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print("nearest:", round(min(distances), 2), "mm")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274320" y="3337560"/>
            <a:ext cx="76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100 poses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farthest: 500.0 mm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nearest: 353.55 mm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8229600" y="822960"/>
            <a:ext cx="36576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One loop inside another tries every pair of angles.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x, z = ... takes the two numbers out of the list.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math.sqrt(x ** 2 + z ** 2) is the distance from the base (Pythagorean theorem).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change the elbow range</a:t>
            </a:r>
            <a:endParaRPr sz="2400"/>
          </a:p>
        </p:txBody>
      </p:sp>
      <p:sp>
        <p:nvSpPr>
          <p:cNvPr id="418" name="Google Shape;418;p36"/>
          <p:cNvSpPr txBox="1"/>
          <p:nvPr/>
        </p:nvSpPr>
        <p:spPr>
          <a:xfrm>
            <a:off x="274320" y="822960"/>
            <a:ext cx="1143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 reach_sweep.py, change the elbow loop to:</a:t>
            </a:r>
            <a:endParaRPr sz="2200"/>
          </a:p>
        </p:txBody>
      </p:sp>
      <p:sp>
        <p:nvSpPr>
          <p:cNvPr id="419" name="Google Shape;419;p36"/>
          <p:cNvSpPr/>
          <p:nvPr/>
        </p:nvSpPr>
        <p:spPr>
          <a:xfrm>
            <a:off x="274320" y="1463040"/>
            <a:ext cx="7315200" cy="4725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"/>
          <p:cNvSpPr txBox="1"/>
          <p:nvPr/>
        </p:nvSpPr>
        <p:spPr>
          <a:xfrm>
            <a:off x="274320" y="1463040"/>
            <a:ext cx="73152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for theta_e in range(-150, 1, 10):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274320" y="2301240"/>
            <a:ext cx="11430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Will the nearest distance get bigger or smaller?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Guess first. Then run it.</a:t>
            </a:r>
            <a:endParaRPr sz="2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solution</a:t>
            </a:r>
            <a:endParaRPr sz="2400"/>
          </a:p>
        </p:txBody>
      </p:sp>
      <p:sp>
        <p:nvSpPr>
          <p:cNvPr id="428" name="Google Shape;428;p37"/>
          <p:cNvSpPr txBox="1"/>
          <p:nvPr/>
        </p:nvSpPr>
        <p:spPr>
          <a:xfrm>
            <a:off x="274320" y="822960"/>
            <a:ext cx="1143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 reach_sweep.py, change the elbow loop to:</a:t>
            </a:r>
            <a:endParaRPr sz="2200"/>
          </a:p>
        </p:txBody>
      </p:sp>
      <p:sp>
        <p:nvSpPr>
          <p:cNvPr id="429" name="Google Shape;429;p37"/>
          <p:cNvSpPr/>
          <p:nvPr/>
        </p:nvSpPr>
        <p:spPr>
          <a:xfrm>
            <a:off x="274320" y="1463040"/>
            <a:ext cx="7315200" cy="4725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274320" y="1463040"/>
            <a:ext cx="73152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for theta_e in range(-150, 1, 10):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274320" y="2072640"/>
            <a:ext cx="7315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160 poses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farthest: 500.0 mm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nearest: 129.41 mm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274320" y="3307080"/>
            <a:ext cx="11430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bent elbow brings the tip closer to the base.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For example, θ</a:t>
            </a:r>
            <a:r>
              <a:rPr baseline="-25000" lang="en-US" sz="2200"/>
              <a:t>S</a:t>
            </a:r>
            <a:r>
              <a:rPr lang="en-US" sz="2200"/>
              <a:t> = 0° and θ</a:t>
            </a:r>
            <a:r>
              <a:rPr baseline="-25000" lang="en-US" sz="2200"/>
              <a:t>E</a:t>
            </a:r>
            <a:r>
              <a:rPr lang="en-US" sz="2200"/>
              <a:t> = −150° gives 2 × 250 × cos 75° = 129.41 mm.</a:t>
            </a:r>
            <a:endParaRPr sz="2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learned:</a:t>
            </a:r>
            <a:endParaRPr sz="2400"/>
          </a:p>
        </p:txBody>
      </p:sp>
      <p:sp>
        <p:nvSpPr>
          <p:cNvPr id="439" name="Google Shape;439;p38"/>
          <p:cNvSpPr txBox="1"/>
          <p:nvPr/>
        </p:nvSpPr>
        <p:spPr>
          <a:xfrm>
            <a:off x="274320" y="822960"/>
            <a:ext cx="114300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function is a recipe: numbers in, one answer out.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DH step from Lesson 4 became a small function: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arrow, scale, add_vectors, turn_90, turn, flat_tip, arrow_3d, turned_3d, tip_3d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tip_3d used turn, scale and add_vectors without any changes.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When the answer is wrong, check it against an answer you already know.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Two methods gave the same answer.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Loops can try many poses to show the arm’s reach.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Next lesson: inverse kinematics. We start from the target and find the angles.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obotic Arm Course">
  <a:themeElements>
    <a:clrScheme name="Robotic Arm Course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6AA84F"/>
      </a:accent1>
      <a:accent2>
        <a:srgbClr val="F1C232"/>
      </a:accent2>
      <a:accent3>
        <a:srgbClr val="FF0000"/>
      </a:accent3>
      <a:accent4>
        <a:srgbClr val="1155CC"/>
      </a:accent4>
      <a:accent5>
        <a:srgbClr val="666666"/>
      </a:accent5>
      <a:accent6>
        <a:srgbClr val="38761D"/>
      </a:accent6>
      <a:hlink>
        <a:srgbClr val="1155CC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obotic Arm Course">
  <a:themeElements>
    <a:clrScheme name="Robotic Arm Course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6AA84F"/>
      </a:accent1>
      <a:accent2>
        <a:srgbClr val="F1C232"/>
      </a:accent2>
      <a:accent3>
        <a:srgbClr val="FF0000"/>
      </a:accent3>
      <a:accent4>
        <a:srgbClr val="1155CC"/>
      </a:accent4>
      <a:accent5>
        <a:srgbClr val="666666"/>
      </a:accent5>
      <a:accent6>
        <a:srgbClr val="38761D"/>
      </a:accent6>
      <a:hlink>
        <a:srgbClr val="1155CC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