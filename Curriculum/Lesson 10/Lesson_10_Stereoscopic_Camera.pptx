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12BFE1-32D6-48FA-9598-3C673BC1634F}">
  <a:tblStyle styleId="{F612BFE1-32D6-48FA-9598-3C673BC163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l10_cov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l10_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l10_wh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l10_wh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l10_view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l10_view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l10_disparit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l10_disparit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l10_formul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l10_formul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l10_depth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l10_depth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l10_try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l10_try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l10_tr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l10_tr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l10_accurac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l10_accurac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l10_baselin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l10_baselin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l10_code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l10_code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l10_reca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l10_reca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l10_da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l10_da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l10_calib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l10_cali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l10_boar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l10_boar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l10_reproj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l10_repro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l10_rectif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l10_rectif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l10_dispma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l10_dispma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l10_try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l10_try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l10_pixel3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l10_pixel3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l10_pixel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l10_pixel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l10_try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l10_try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l10_tobas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l10_tobas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l10_gripp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l10_gripp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l10_code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l10_cod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l10_lear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l10_lear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722376" y="1691640"/>
            <a:ext cx="585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ROBOTIC ARM COURSE · LESSON 10 · STEREO VISION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22376" y="2057400"/>
            <a:ext cx="585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/>
              <a:t>Stereoscopic</a:t>
            </a:r>
            <a:endParaRPr b="1"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/>
              <a:t>Camera</a:t>
            </a:r>
            <a:endParaRPr b="1" sz="5200"/>
          </a:p>
        </p:txBody>
      </p:sp>
      <p:sp>
        <p:nvSpPr>
          <p:cNvPr id="21" name="Google Shape;21;p3"/>
          <p:cNvSpPr txBox="1"/>
          <p:nvPr/>
        </p:nvSpPr>
        <p:spPr>
          <a:xfrm>
            <a:off x="722376" y="3703320"/>
            <a:ext cx="5486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55555"/>
                </a:solidFill>
              </a:rPr>
              <a:t>Measuring distance with two cameras, and calibrating them so the numbers can be trusted</a:t>
            </a:r>
            <a:endParaRPr sz="1900">
              <a:solidFill>
                <a:srgbClr val="555555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22376" y="4572000"/>
            <a:ext cx="5486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77777"/>
                </a:solidFill>
              </a:rPr>
              <a:t>Day 1 · Depth from disparity</a:t>
            </a:r>
            <a:endParaRPr>
              <a:solidFill>
                <a:srgbClr val="77777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77777"/>
                </a:solidFill>
              </a:rPr>
              <a:t>Day 2 · Camera calibration and 3D points for the arm</a:t>
            </a:r>
            <a:endParaRPr>
              <a:solidFill>
                <a:srgbClr val="777777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92240" y="4160520"/>
            <a:ext cx="4800600" cy="10515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613648" y="3200400"/>
            <a:ext cx="594300" cy="1005900"/>
          </a:xfrm>
          <a:prstGeom prst="roundRect">
            <a:avLst>
              <a:gd fmla="val 16667" name="adj"/>
            </a:avLst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086600" y="1600200"/>
            <a:ext cx="868800" cy="45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6812280" y="1252728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LEFT</a:t>
            </a:r>
            <a:endParaRPr b="1" sz="1200">
              <a:solidFill>
                <a:srgbClr val="555555"/>
              </a:solidFill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829800" y="1600200"/>
            <a:ext cx="868800" cy="45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9555480" y="1252728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RIGHT</a:t>
            </a:r>
            <a:endParaRPr b="1" sz="1200">
              <a:solidFill>
                <a:srgbClr val="555555"/>
              </a:solidFill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7516368" y="2057400"/>
            <a:ext cx="1261800" cy="1143000"/>
          </a:xfrm>
          <a:prstGeom prst="straightConnector1">
            <a:avLst/>
          </a:prstGeom>
          <a:noFill/>
          <a:ln cap="flat" cmpd="sng" w="190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" name="Google Shape;30;p3"/>
          <p:cNvCxnSpPr/>
          <p:nvPr/>
        </p:nvCxnSpPr>
        <p:spPr>
          <a:xfrm flipH="1">
            <a:off x="9052668" y="2057400"/>
            <a:ext cx="1206900" cy="1143000"/>
          </a:xfrm>
          <a:prstGeom prst="straightConnector1">
            <a:avLst/>
          </a:prstGeom>
          <a:noFill/>
          <a:ln cap="flat" cmpd="sng" w="190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WHY STEREO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One Camera Cannot Measure Distance</a:t>
            </a:r>
            <a:endParaRPr b="1" sz="3800"/>
          </a:p>
        </p:txBody>
      </p:sp>
      <p:sp>
        <p:nvSpPr>
          <p:cNvPr id="37" name="Google Shape;37;p4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Last lesson, one detection told the arm which direction to turn. It could not say how far to reach.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13816" y="2157984"/>
            <a:ext cx="33711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923544" y="2249424"/>
            <a:ext cx="31515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SMALL AND NEAR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A small cup close to the camera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13504" y="2157984"/>
            <a:ext cx="33711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4523232" y="2249424"/>
            <a:ext cx="31515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BIG AND FAR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A large cup far from the camera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013192" y="2157984"/>
            <a:ext cx="33711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8122920" y="2249424"/>
            <a:ext cx="31515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SAME PICTURE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Both can fill the same pixels, so one image cannot tell them apart.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13816" y="3666744"/>
            <a:ext cx="10570500" cy="822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969264" y="3776472"/>
            <a:ext cx="10259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IDEA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Two cameras a known distance apart give two views. The difference between the views tells us the distance.</a:t>
            </a:r>
            <a:endParaRPr sz="1600">
              <a:solidFill>
                <a:srgbClr val="DDDDDD"/>
              </a:solidFill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13816" y="4672584"/>
            <a:ext cx="10570500" cy="822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923544" y="4764024"/>
            <a:ext cx="10350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TRY IT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Hold up a finger, close one eye, then swap eyes. The finger jumps, but the far wall barely moves.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722376" y="475488"/>
            <a:ext cx="603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TWO VIEWS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22376" y="822960"/>
            <a:ext cx="6035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Two Cameras, Two Views</a:t>
            </a:r>
            <a:endParaRPr b="1" sz="3800"/>
          </a:p>
        </p:txBody>
      </p:sp>
      <p:sp>
        <p:nvSpPr>
          <p:cNvPr id="54" name="Google Shape;54;p5"/>
          <p:cNvSpPr txBox="1"/>
          <p:nvPr/>
        </p:nvSpPr>
        <p:spPr>
          <a:xfrm>
            <a:off x="722376" y="1591056"/>
            <a:ext cx="5852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Place two identical cameras side by side. The distance between them is the </a:t>
            </a:r>
            <a:r>
              <a:rPr b="1" lang="en-US" sz="1700">
                <a:solidFill>
                  <a:srgbClr val="333333"/>
                </a:solidFill>
              </a:rPr>
              <a:t>baseline B</a:t>
            </a:r>
            <a:r>
              <a:rPr lang="en-US" sz="1700">
                <a:solidFill>
                  <a:srgbClr val="333333"/>
                </a:solidFill>
              </a:rPr>
              <a:t>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13816" y="2423160"/>
            <a:ext cx="5715000" cy="1234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923544" y="2514600"/>
            <a:ext cx="54954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WHAT CHANGES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A nearby point lands at different x positions in the left and right images.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13816" y="3840480"/>
            <a:ext cx="5715000" cy="1234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923544" y="3931920"/>
            <a:ext cx="54954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WHAT STAYS THE SAME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Its y position, because the cameras sit at the same height and look the same way.</a:t>
            </a:r>
            <a:endParaRPr sz="1600">
              <a:solidFill>
                <a:srgbClr val="111111"/>
              </a:solidFill>
            </a:endParaRPr>
          </a:p>
        </p:txBody>
      </p:sp>
      <p:cxnSp>
        <p:nvCxnSpPr>
          <p:cNvPr id="59" name="Google Shape;59;p5"/>
          <p:cNvCxnSpPr/>
          <p:nvPr/>
        </p:nvCxnSpPr>
        <p:spPr>
          <a:xfrm>
            <a:off x="7790688" y="137160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D6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5"/>
          <p:cNvSpPr txBox="1"/>
          <p:nvPr/>
        </p:nvSpPr>
        <p:spPr>
          <a:xfrm>
            <a:off x="7790688" y="941832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60000"/>
                </a:solidFill>
              </a:rPr>
              <a:t>B</a:t>
            </a:r>
            <a:endParaRPr b="1" sz="1800">
              <a:solidFill>
                <a:srgbClr val="D60000"/>
              </a:solidFill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360920" y="1600200"/>
            <a:ext cx="868800" cy="45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7086600" y="2075688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Left</a:t>
            </a:r>
            <a:endParaRPr b="1" sz="1200">
              <a:solidFill>
                <a:srgbClr val="555555"/>
              </a:solidFill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738360" y="1600200"/>
            <a:ext cx="868800" cy="45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9464040" y="2075688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</a:rPr>
              <a:t>Right</a:t>
            </a:r>
            <a:endParaRPr b="1" sz="1200">
              <a:solidFill>
                <a:srgbClr val="555555"/>
              </a:solidFill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7790688" y="2057400"/>
            <a:ext cx="1124700" cy="2157900"/>
          </a:xfrm>
          <a:prstGeom prst="straightConnector1">
            <a:avLst/>
          </a:prstGeom>
          <a:noFill/>
          <a:ln cap="flat" cmpd="sng" w="190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5"/>
          <p:cNvCxnSpPr/>
          <p:nvPr/>
        </p:nvCxnSpPr>
        <p:spPr>
          <a:xfrm flipH="1">
            <a:off x="8915328" y="2057400"/>
            <a:ext cx="1252800" cy="2157900"/>
          </a:xfrm>
          <a:prstGeom prst="straightConnector1">
            <a:avLst/>
          </a:prstGeom>
          <a:noFill/>
          <a:ln cap="flat" cmpd="sng" w="190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5"/>
          <p:cNvSpPr/>
          <p:nvPr/>
        </p:nvSpPr>
        <p:spPr>
          <a:xfrm>
            <a:off x="8778240" y="4206240"/>
            <a:ext cx="274200" cy="274200"/>
          </a:xfrm>
          <a:prstGeom prst="ellipse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9098280" y="4160520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11111"/>
                </a:solidFill>
              </a:rPr>
              <a:t>Point P</a:t>
            </a:r>
            <a:endParaRPr b="1" sz="13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DISPARITY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Disparity: How Far the Point Moved</a:t>
            </a:r>
            <a:endParaRPr b="1" sz="3800"/>
          </a:p>
        </p:txBody>
      </p:sp>
      <p:sp>
        <p:nvSpPr>
          <p:cNvPr id="75" name="Google Shape;75;p6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Find the same point in both images. The shift in x is the disparity.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13816" y="2157984"/>
            <a:ext cx="5907000" cy="15546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969264" y="2267712"/>
            <a:ext cx="55962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DEFINITION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d = x_L − x_R</a:t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Measured in pixels. Always positive for a point in front of the cameras.</a:t>
            </a:r>
            <a:endParaRPr sz="1500">
              <a:solidFill>
                <a:srgbClr val="DDDDDD"/>
              </a:solidFill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903720" y="2157984"/>
            <a:ext cx="2148900" cy="1554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7013448" y="2249424"/>
            <a:ext cx="1929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BIG DISPARITY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The point is </a:t>
            </a:r>
            <a:r>
              <a:rPr b="1" lang="en-US" sz="1500">
                <a:solidFill>
                  <a:srgbClr val="111111"/>
                </a:solidFill>
              </a:rPr>
              <a:t>close</a:t>
            </a:r>
            <a:r>
              <a:rPr lang="en-US" sz="1500">
                <a:solidFill>
                  <a:srgbClr val="111111"/>
                </a:solidFill>
              </a:rPr>
              <a:t>. The two views disagree a lot.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235440" y="2157984"/>
            <a:ext cx="2148900" cy="1554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9345168" y="2249424"/>
            <a:ext cx="1929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SMALL DISPARITY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The point is </a:t>
            </a:r>
            <a:r>
              <a:rPr b="1" lang="en-US" sz="1500">
                <a:solidFill>
                  <a:srgbClr val="111111"/>
                </a:solidFill>
              </a:rPr>
              <a:t>far</a:t>
            </a:r>
            <a:r>
              <a:rPr lang="en-US" sz="1500">
                <a:solidFill>
                  <a:srgbClr val="111111"/>
                </a:solidFill>
              </a:rPr>
              <a:t>. The two views almost agree.</a:t>
            </a:r>
            <a:endParaRPr sz="1500">
              <a:solidFill>
                <a:srgbClr val="111111"/>
              </a:solidFill>
            </a:endParaRPr>
          </a:p>
        </p:txBody>
      </p:sp>
      <p:graphicFrame>
        <p:nvGraphicFramePr>
          <p:cNvPr id="82" name="Google Shape;82;p6"/>
          <p:cNvGraphicFramePr/>
          <p:nvPr/>
        </p:nvGraphicFramePr>
        <p:xfrm>
          <a:off x="813816" y="3895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{F612BFE1-32D6-48FA-9598-3C673BC1634F}</a:tableStyleId>
              </a:tblPr>
              <a:tblGrid>
                <a:gridCol w="3657600"/>
                <a:gridCol w="2286000"/>
                <a:gridCol w="2286000"/>
                <a:gridCol w="2340850"/>
              </a:tblGrid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Point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x_L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x_R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Near cup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420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350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70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Far box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410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390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20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THE FORMULA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Depth from Disparity</a:t>
            </a:r>
            <a:endParaRPr b="1" sz="3800"/>
          </a:p>
        </p:txBody>
      </p:sp>
      <p:sp>
        <p:nvSpPr>
          <p:cNvPr id="89" name="Google Shape;89;p7"/>
          <p:cNvSpPr/>
          <p:nvPr/>
        </p:nvSpPr>
        <p:spPr>
          <a:xfrm>
            <a:off x="813816" y="1591056"/>
            <a:ext cx="5175600" cy="141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969264" y="1700784"/>
            <a:ext cx="4864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FORMULA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Z = f · B ÷ d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Z: depth in mm. f: focal length in pixels. B: baseline in mm. d: disparity in pixels.</a:t>
            </a:r>
            <a:endParaRPr sz="1500">
              <a:solidFill>
                <a:srgbClr val="DDDDDD"/>
              </a:solidFill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208776" y="1591056"/>
            <a:ext cx="5175600" cy="141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6364224" y="1700784"/>
            <a:ext cx="4864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REARRANGED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d = f · B ÷ Z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The same formula solved for disparity. Handy for checking.</a:t>
            </a:r>
            <a:endParaRPr sz="1500">
              <a:solidFill>
                <a:srgbClr val="DDDDDD"/>
              </a:solidFill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813816" y="3191256"/>
            <a:ext cx="5175600" cy="1051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923544" y="3282696"/>
            <a:ext cx="4956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UNITS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f and d are both in pixels, so the pixels cancel and Z comes out in the units of B.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208776" y="3191256"/>
            <a:ext cx="5175600" cy="1051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6318504" y="3282696"/>
            <a:ext cx="4956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SANITY CHECK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Disparity doubles when depth halves. Close things move more between views.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13816" y="4425696"/>
            <a:ext cx="10570500" cy="731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923544" y="4517136"/>
            <a:ext cx="103509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COMMON MISTAKE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Mixing units: B in cm gives Z in cm. Keep B and Z in mm.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WORKED EXAMPLE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Depth Example</a:t>
            </a:r>
            <a:endParaRPr b="1" sz="3800"/>
          </a:p>
        </p:txBody>
      </p:sp>
      <p:sp>
        <p:nvSpPr>
          <p:cNvPr id="105" name="Google Shape;105;p8"/>
          <p:cNvSpPr/>
          <p:nvPr/>
        </p:nvSpPr>
        <p:spPr>
          <a:xfrm>
            <a:off x="813816" y="1591056"/>
            <a:ext cx="10570500" cy="1426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923544" y="1682496"/>
            <a:ext cx="1035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700 px</a:t>
            </a:r>
            <a:r>
              <a:rPr lang="en-US" sz="1800">
                <a:solidFill>
                  <a:srgbClr val="111111"/>
                </a:solidFill>
              </a:rPr>
              <a:t>, B = </a:t>
            </a:r>
            <a:r>
              <a:rPr b="1" lang="en-US" sz="1800">
                <a:solidFill>
                  <a:srgbClr val="D60000"/>
                </a:solidFill>
              </a:rPr>
              <a:t>60 mm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The cup appears at x_L = </a:t>
            </a:r>
            <a:r>
              <a:rPr b="1" lang="en-US" sz="1800">
                <a:solidFill>
                  <a:srgbClr val="D60000"/>
                </a:solidFill>
              </a:rPr>
              <a:t>420</a:t>
            </a:r>
            <a:r>
              <a:rPr lang="en-US" sz="1800">
                <a:solidFill>
                  <a:srgbClr val="111111"/>
                </a:solidFill>
              </a:rPr>
              <a:t> and x_R = </a:t>
            </a:r>
            <a:r>
              <a:rPr b="1" lang="en-US" sz="1800">
                <a:solidFill>
                  <a:srgbClr val="D60000"/>
                </a:solidFill>
              </a:rPr>
              <a:t>350</a:t>
            </a:r>
            <a:r>
              <a:rPr lang="en-US" sz="1800">
                <a:solidFill>
                  <a:srgbClr val="111111"/>
                </a:solidFill>
              </a:rPr>
              <a:t>.</a:t>
            </a:r>
            <a:endParaRPr sz="18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How far away is the cup?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813816" y="3191256"/>
            <a:ext cx="10570500" cy="141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969264" y="3300984"/>
            <a:ext cx="102597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 = 420 − 350 = 70 px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Z = 700 × 60 ÷ 70 = 42,000 ÷ 70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Z = 600 mm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#1</a:t>
            </a:r>
            <a:endParaRPr b="1" sz="3800"/>
          </a:p>
        </p:txBody>
      </p:sp>
      <p:sp>
        <p:nvSpPr>
          <p:cNvPr id="115" name="Google Shape;115;p9"/>
          <p:cNvSpPr/>
          <p:nvPr/>
        </p:nvSpPr>
        <p:spPr>
          <a:xfrm>
            <a:off x="813816" y="1591056"/>
            <a:ext cx="10570500" cy="1426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 txBox="1"/>
          <p:nvPr/>
        </p:nvSpPr>
        <p:spPr>
          <a:xfrm>
            <a:off x="923544" y="1682496"/>
            <a:ext cx="1035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800 px</a:t>
            </a:r>
            <a:r>
              <a:rPr lang="en-US" sz="1800">
                <a:solidFill>
                  <a:srgbClr val="111111"/>
                </a:solidFill>
              </a:rPr>
              <a:t>, B = </a:t>
            </a:r>
            <a:r>
              <a:rPr b="1" lang="en-US" sz="1800">
                <a:solidFill>
                  <a:srgbClr val="D60000"/>
                </a:solidFill>
              </a:rPr>
              <a:t>50 mm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x_L = </a:t>
            </a:r>
            <a:r>
              <a:rPr b="1" lang="en-US" sz="1800">
                <a:solidFill>
                  <a:srgbClr val="D60000"/>
                </a:solidFill>
              </a:rPr>
              <a:t>500</a:t>
            </a:r>
            <a:r>
              <a:rPr lang="en-US" sz="1800">
                <a:solidFill>
                  <a:srgbClr val="111111"/>
                </a:solidFill>
              </a:rPr>
              <a:t>, x_R = </a:t>
            </a:r>
            <a:r>
              <a:rPr b="1" lang="en-US" sz="1800">
                <a:solidFill>
                  <a:srgbClr val="D60000"/>
                </a:solidFill>
              </a:rPr>
              <a:t>420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Find the disparity and the depth.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13816" y="3191256"/>
            <a:ext cx="10570500" cy="10974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969264" y="3300984"/>
            <a:ext cx="102597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 = 500 − 420 = 80 px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Z = 800 × 50 ÷ 80 = 500 mm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24" name="Google Shape;124;p10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#2</a:t>
            </a:r>
            <a:endParaRPr b="1" sz="3800"/>
          </a:p>
        </p:txBody>
      </p:sp>
      <p:sp>
        <p:nvSpPr>
          <p:cNvPr id="125" name="Google Shape;125;p10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Going the other way: how much disparity should we expect?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813816" y="2157984"/>
            <a:ext cx="10570500" cy="1426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 txBox="1"/>
          <p:nvPr/>
        </p:nvSpPr>
        <p:spPr>
          <a:xfrm>
            <a:off x="923544" y="2249424"/>
            <a:ext cx="1035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800 px</a:t>
            </a:r>
            <a:r>
              <a:rPr lang="en-US" sz="1800">
                <a:solidFill>
                  <a:srgbClr val="111111"/>
                </a:solidFill>
              </a:rPr>
              <a:t>, B = </a:t>
            </a:r>
            <a:r>
              <a:rPr b="1" lang="en-US" sz="1800">
                <a:solidFill>
                  <a:srgbClr val="D60000"/>
                </a:solidFill>
              </a:rPr>
              <a:t>50 mm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An object sits at Z = </a:t>
            </a:r>
            <a:r>
              <a:rPr b="1" lang="en-US" sz="1800">
                <a:solidFill>
                  <a:srgbClr val="D60000"/>
                </a:solidFill>
              </a:rPr>
              <a:t>250 mm</a:t>
            </a:r>
            <a:r>
              <a:rPr lang="en-US" sz="1800">
                <a:solidFill>
                  <a:srgbClr val="111111"/>
                </a:solidFill>
              </a:rPr>
              <a:t>.</a:t>
            </a:r>
            <a:endParaRPr sz="18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What disparity should the matcher find?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813816" y="3758184"/>
            <a:ext cx="10570500" cy="10974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 txBox="1"/>
          <p:nvPr/>
        </p:nvSpPr>
        <p:spPr>
          <a:xfrm>
            <a:off x="969264" y="3867912"/>
            <a:ext cx="102597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 = f · B ÷ Z = 800 × 50 ÷ 250 = 40,000 ÷ 250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d = 160 px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ACCURACY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Far Away Means Less Accurate</a:t>
            </a:r>
            <a:endParaRPr b="1" sz="3800"/>
          </a:p>
        </p:txBody>
      </p:sp>
      <p:sp>
        <p:nvSpPr>
          <p:cNvPr id="136" name="Google Shape;136;p11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Matching is only good to about 1 pixel. Here is what a 1 px mistake does with f = 700 px and B = 60 mm.</a:t>
            </a:r>
            <a:endParaRPr sz="1700">
              <a:solidFill>
                <a:srgbClr val="333333"/>
              </a:solidFill>
            </a:endParaRPr>
          </a:p>
        </p:txBody>
      </p:sp>
      <p:graphicFrame>
        <p:nvGraphicFramePr>
          <p:cNvPr id="137" name="Google Shape;137;p11"/>
          <p:cNvGraphicFramePr/>
          <p:nvPr/>
        </p:nvGraphicFramePr>
        <p:xfrm>
          <a:off x="813816" y="2157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{F612BFE1-32D6-48FA-9598-3C673BC1634F}</a:tableStyleId>
              </a:tblPr>
              <a:tblGrid>
                <a:gridCol w="2286000"/>
                <a:gridCol w="1508750"/>
                <a:gridCol w="2377425"/>
                <a:gridCol w="2377425"/>
                <a:gridCol w="2020800"/>
              </a:tblGrid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True depth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True 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Measured d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Measured Z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Error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A1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500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84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83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506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6 mm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1000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42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41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1024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24 mm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2000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21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20 px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11111"/>
                          </a:solidFill>
                        </a:rPr>
                        <a:t>2100 mm</a:t>
                      </a:r>
                      <a:endParaRPr sz="1700">
                        <a:solidFill>
                          <a:srgbClr val="1111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D60000"/>
                          </a:solidFill>
                        </a:rPr>
                        <a:t>100 mm</a:t>
                      </a:r>
                      <a:endParaRPr sz="1700">
                        <a:solidFill>
                          <a:srgbClr val="D6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1"/>
          <p:cNvSpPr/>
          <p:nvPr/>
        </p:nvSpPr>
        <p:spPr>
          <a:xfrm>
            <a:off x="813816" y="4023360"/>
            <a:ext cx="10570500" cy="1005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969264" y="4133088"/>
            <a:ext cx="10259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TAKEAWAY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Error grows roughly with the </a:t>
            </a:r>
            <a:r>
              <a:rPr b="1" lang="en-US" sz="1600">
                <a:solidFill>
                  <a:srgbClr val="DDDDDD"/>
                </a:solidFill>
              </a:rPr>
              <a:t>square</a:t>
            </a:r>
            <a:r>
              <a:rPr lang="en-US" sz="1600">
                <a:solidFill>
                  <a:srgbClr val="DDDDDD"/>
                </a:solidFill>
              </a:rPr>
              <a:t> of the distance. Doubling the distance makes the same 1 px mistake about four times worse.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DESIGN CHOICE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Choosing the Baseline</a:t>
            </a:r>
            <a:endParaRPr b="1" sz="3800"/>
          </a:p>
        </p:txBody>
      </p:sp>
      <p:sp>
        <p:nvSpPr>
          <p:cNvPr id="146" name="Google Shape;146;p12"/>
          <p:cNvSpPr/>
          <p:nvPr/>
        </p:nvSpPr>
        <p:spPr>
          <a:xfrm>
            <a:off x="813816" y="1591056"/>
            <a:ext cx="5175600" cy="16002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923544" y="1682496"/>
            <a:ext cx="4956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LARGER B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</a:rPr>
              <a:t>Better far accuracy</a:t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More disparity, so a 1 px mistake matters less. But the two views overlap less, and very close objects are lost from one view.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6208776" y="1591056"/>
            <a:ext cx="5175600" cy="16002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6318504" y="1682496"/>
            <a:ext cx="4956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SMALLER B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</a:rPr>
              <a:t>Better near coverage</a:t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Views overlap well and close objects are visible. But disparity is small, so far depths get noisy.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813816" y="3374136"/>
            <a:ext cx="10570500" cy="1005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969264" y="3483864"/>
            <a:ext cx="10259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FOR OUR ARM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The arm works within 500 mm, so a baseline of a few centimeters is enough. The arm’s RealSense D435i camera has </a:t>
            </a:r>
            <a:r>
              <a:rPr b="1" lang="en-US" sz="1600">
                <a:solidFill>
                  <a:srgbClr val="FFFFFF"/>
                </a:solidFill>
              </a:rPr>
              <a:t>B = 50 mm</a:t>
            </a:r>
            <a:r>
              <a:rPr lang="en-US" sz="1600">
                <a:solidFill>
                  <a:srgbClr val="DDDDDD"/>
                </a:solidFill>
              </a:rPr>
              <a:t>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CHECK WITH CODE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Check It with Code</a:t>
            </a:r>
            <a:endParaRPr b="1" sz="3800"/>
          </a:p>
        </p:txBody>
      </p:sp>
      <p:sp>
        <p:nvSpPr>
          <p:cNvPr id="158" name="Google Shape;158;p13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Place the object on a tape mark. Read the column of its center in the left and right images.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813816" y="2157984"/>
            <a:ext cx="6446400" cy="22404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969264" y="2267712"/>
            <a:ext cx="61356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PYTHON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stereo_helper </a:t>
            </a: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focal_px, depth_from_disparity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 = focal_px(640, 60)          </a:t>
            </a:r>
            <a:r>
              <a:rPr lang="en-US" sz="1300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Lesson 9: about 554 px</a:t>
            </a:r>
            <a:endParaRPr sz="1300"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x_L, x_R = 412, 298            </a:t>
            </a:r>
            <a:r>
              <a:rPr lang="en-US" sz="1300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read from the two images</a:t>
            </a:r>
            <a:endParaRPr sz="1300"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Z = depth_from_disparity(x_L - x_R, f, 60)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print(round(Z), </a:t>
            </a:r>
            <a:r>
              <a:rPr lang="en-US" sz="1300">
                <a:solidFill>
                  <a:srgbClr val="F2C230"/>
                </a:solidFill>
                <a:latin typeface="Courier New"/>
                <a:ea typeface="Courier New"/>
                <a:cs typeface="Courier New"/>
                <a:sym typeface="Courier New"/>
              </a:rPr>
              <a:t>"mm"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</a:t>
            </a:r>
            <a:r>
              <a:rPr lang="en-US" sz="1300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292</a:t>
            </a:r>
            <a:endParaRPr sz="1300"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7488936" y="2157984"/>
            <a:ext cx="38952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7598664" y="2249424"/>
            <a:ext cx="36759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YOUR JOB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Repeat on the </a:t>
            </a:r>
            <a:r>
              <a:rPr b="1" lang="en-US" sz="1500">
                <a:solidFill>
                  <a:srgbClr val="111111"/>
                </a:solidFill>
              </a:rPr>
              <a:t>300</a:t>
            </a:r>
            <a:r>
              <a:rPr lang="en-US" sz="1500">
                <a:solidFill>
                  <a:srgbClr val="111111"/>
                </a:solidFill>
              </a:rPr>
              <a:t>, </a:t>
            </a:r>
            <a:r>
              <a:rPr b="1" lang="en-US" sz="1500">
                <a:solidFill>
                  <a:srgbClr val="111111"/>
                </a:solidFill>
              </a:rPr>
              <a:t>600</a:t>
            </a:r>
            <a:r>
              <a:rPr lang="en-US" sz="1500">
                <a:solidFill>
                  <a:srgbClr val="111111"/>
                </a:solidFill>
              </a:rPr>
              <a:t> and </a:t>
            </a:r>
            <a:r>
              <a:rPr b="1" lang="en-US" sz="1500">
                <a:solidFill>
                  <a:srgbClr val="111111"/>
                </a:solidFill>
              </a:rPr>
              <a:t>1200 mm</a:t>
            </a:r>
            <a:r>
              <a:rPr lang="en-US" sz="1500">
                <a:solidFill>
                  <a:srgbClr val="111111"/>
                </a:solidFill>
              </a:rPr>
              <a:t> marks. Compare each answer with the tape.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7488936" y="3621024"/>
            <a:ext cx="38952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7598664" y="3712464"/>
            <a:ext cx="36759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EXPECT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The error grows at 1200 mm. Why? f is only a data sheet estimate until Day 2.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1 · RECAP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Day 1 Recap</a:t>
            </a:r>
            <a:endParaRPr b="1" sz="3800"/>
          </a:p>
        </p:txBody>
      </p:sp>
      <p:sp>
        <p:nvSpPr>
          <p:cNvPr id="171" name="Google Shape;171;p14"/>
          <p:cNvSpPr/>
          <p:nvPr/>
        </p:nvSpPr>
        <p:spPr>
          <a:xfrm>
            <a:off x="813816" y="15910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923544" y="16824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DISPARITY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Pixel shift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d = x_L − x_R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6208776" y="15910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6318504" y="16824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DEPTH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Near = big d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Z = f · B ÷ d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813816" y="29626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923544" y="30540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ERROR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Grows with Z²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1 px of error costs more at long range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6208776" y="2962656"/>
            <a:ext cx="5175600" cy="1206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6318504" y="3054096"/>
            <a:ext cx="4956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BASELINE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111"/>
                </a:solidFill>
              </a:rPr>
              <a:t>B matters</a:t>
            </a:r>
            <a:endParaRPr b="1" sz="21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>
                <a:solidFill>
                  <a:srgbClr val="111111"/>
                </a:solidFill>
              </a:rPr>
              <a:t>Trade accuracy against overlap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813816" y="4471416"/>
            <a:ext cx="10570500" cy="8688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969264" y="4581144"/>
            <a:ext cx="102597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COMING UP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Next time: where do f and the other camera numbers come from? We calibrate the cameras.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/>
        </p:nvSpPr>
        <p:spPr>
          <a:xfrm>
            <a:off x="722376" y="1874520"/>
            <a:ext cx="10570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722376" y="2212848"/>
            <a:ext cx="10570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Calibration and 3D Points</a:t>
            </a:r>
            <a:endParaRPr b="1" sz="4400"/>
          </a:p>
        </p:txBody>
      </p:sp>
      <p:sp>
        <p:nvSpPr>
          <p:cNvPr id="187" name="Google Shape;187;p15"/>
          <p:cNvSpPr txBox="1"/>
          <p:nvPr/>
        </p:nvSpPr>
        <p:spPr>
          <a:xfrm>
            <a:off x="722376" y="3154680"/>
            <a:ext cx="10570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</a:rPr>
              <a:t>Day 1 assumed we knew f and that the images were perfectly aligned. Now we measure them for real and turn pixels into positions the arm can reach.</a:t>
            </a:r>
            <a:endParaRPr sz="1800">
              <a:solidFill>
                <a:srgbClr val="555555"/>
              </a:solidFill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813816" y="4206240"/>
            <a:ext cx="10570500" cy="7773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23544" y="4297680"/>
            <a:ext cx="10350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1 IN ONE LINE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Z = f · B ÷ d, and 1 px of error costs more far away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CAMERA NUMBERS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What Calibration Finds</a:t>
            </a:r>
            <a:endParaRPr b="1" sz="3800"/>
          </a:p>
        </p:txBody>
      </p:sp>
      <p:sp>
        <p:nvSpPr>
          <p:cNvPr id="196" name="Google Shape;196;p16"/>
          <p:cNvSpPr/>
          <p:nvPr/>
        </p:nvSpPr>
        <p:spPr>
          <a:xfrm>
            <a:off x="813816" y="1591056"/>
            <a:ext cx="3371100" cy="16002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923544" y="1682496"/>
            <a:ext cx="31515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INTRINSICS K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</a:rPr>
              <a:t>Inside each camera</a:t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Focal lengths fx, fy and center (cx, cy), all in pixels. Different for every camera.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4413504" y="1591056"/>
            <a:ext cx="3371100" cy="16002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523232" y="1682496"/>
            <a:ext cx="31515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DISTORTION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</a:rPr>
              <a:t>Lens bending</a:t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How the lens bends straight lines. We use it to straighten the image.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8013192" y="1591056"/>
            <a:ext cx="3371100" cy="16002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8122920" y="1682496"/>
            <a:ext cx="31515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R AND T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</a:rPr>
              <a:t>Between cameras</a:t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How the right camera is rotated and shifted from the left. The length of T is the baseline B.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813816" y="3374136"/>
            <a:ext cx="10570500" cy="11886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969264" y="3483864"/>
            <a:ext cx="102597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INTRINSIC MATRIX K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fx  0   cx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   fy  cy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0   0   1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COLLECTING IMAGES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722376" y="822960"/>
            <a:ext cx="6858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The Checkerboard</a:t>
            </a:r>
            <a:endParaRPr b="1" sz="3800"/>
          </a:p>
        </p:txBody>
      </p:sp>
      <p:sp>
        <p:nvSpPr>
          <p:cNvPr id="210" name="Google Shape;210;p17"/>
          <p:cNvSpPr/>
          <p:nvPr/>
        </p:nvSpPr>
        <p:spPr>
          <a:xfrm>
            <a:off x="813816" y="1591056"/>
            <a:ext cx="64923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923544" y="1682496"/>
            <a:ext cx="62727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BOARD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10 × 7 squares, so 9 × 6 inner corners. 25 mm squares, measured with a ruler.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813816" y="2825496"/>
            <a:ext cx="64923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923544" y="2916936"/>
            <a:ext cx="62727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PHOTOS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15 to 20 pairs. Tilt it, move it near and far, cover the whole frame. Both cameras must see the whole board.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813816" y="4059936"/>
            <a:ext cx="64923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923544" y="4151376"/>
            <a:ext cx="62727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WHY IT WORKS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The software knows where each corner really is on the board, and sees where it lands in the image.</a:t>
            </a:r>
            <a:endParaRPr sz="1600">
              <a:solidFill>
                <a:srgbClr val="111111"/>
              </a:solidFill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7863840" y="1783080"/>
            <a:ext cx="3383400" cy="2368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A7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7863840" y="178308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8540496" y="178308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9217152" y="178308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9893808" y="178308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0570464" y="178308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8202168" y="212140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8878824" y="212140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9555480" y="212140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10232136" y="212140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10908792" y="212140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7863840" y="2459736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8540496" y="2459736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9217152" y="2459736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9893808" y="2459736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10570464" y="2459736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8202168" y="2798064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8878824" y="2798064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9555480" y="2798064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10232136" y="2798064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10908792" y="2798064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7863840" y="3136392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8540496" y="3136392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9217152" y="3136392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9893808" y="3136392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10570464" y="3136392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8202168" y="347472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8878824" y="347472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9555480" y="347472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10232136" y="347472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0908792" y="3474720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7863840" y="381304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8540496" y="381304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9217152" y="381304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9893808" y="381304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10570464" y="3813048"/>
            <a:ext cx="338400" cy="338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7772400" y="4224528"/>
            <a:ext cx="3566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A7A1F"/>
                </a:solidFill>
              </a:rPr>
              <a:t>9 × 6 inner corners</a:t>
            </a:r>
            <a:endParaRPr b="1" sz="13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A7A1F"/>
                </a:solidFill>
              </a:rPr>
              <a:t>where four squares meet</a:t>
            </a:r>
            <a:endParaRPr sz="1200">
              <a:solidFill>
                <a:srgbClr val="3A7A1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CHECKING THE RESULT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Reprojection Error</a:t>
            </a:r>
            <a:endParaRPr b="1" sz="3800"/>
          </a:p>
        </p:txBody>
      </p:sp>
      <p:sp>
        <p:nvSpPr>
          <p:cNvPr id="259" name="Google Shape;259;p18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Use the new numbers to predict where each corner should appear, then compare with where it was found.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813816" y="2157984"/>
            <a:ext cx="5175600" cy="1234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969264" y="2267712"/>
            <a:ext cx="4864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GOOD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Under 0.5 px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Depth from this camera pair can be trusted.</a:t>
            </a:r>
            <a:endParaRPr sz="1500">
              <a:solidFill>
                <a:srgbClr val="DDDDDD"/>
              </a:solidFill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6208776" y="2157984"/>
            <a:ext cx="5175600" cy="1234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6364224" y="2267712"/>
            <a:ext cx="4864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POOR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Over 1 px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Redo it. Remove blurry pairs and take more varied views.</a:t>
            </a:r>
            <a:endParaRPr sz="1500">
              <a:solidFill>
                <a:srgbClr val="DDDDDD"/>
              </a:solidFill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813816" y="3575304"/>
            <a:ext cx="10570500" cy="868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923544" y="3666744"/>
            <a:ext cx="103509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COMMON CAUSES OF A POOR RESULT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111111"/>
                </a:solidFill>
              </a:rPr>
              <a:t>Board not flat, motion blur, board only at one angle, board partly out of frame, wrong square size, cameras moved.</a:t>
            </a:r>
            <a:endParaRPr sz="16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RECTIFICATION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Making the Rows Line Up</a:t>
            </a:r>
            <a:endParaRPr b="1" sz="3800"/>
          </a:p>
        </p:txBody>
      </p:sp>
      <p:sp>
        <p:nvSpPr>
          <p:cNvPr id="272" name="Google Shape;272;p19"/>
          <p:cNvSpPr txBox="1"/>
          <p:nvPr/>
        </p:nvSpPr>
        <p:spPr>
          <a:xfrm>
            <a:off x="722376" y="1591056"/>
            <a:ext cx="10753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Our formula assumes a matching point is on the </a:t>
            </a:r>
            <a:r>
              <a:rPr b="1" lang="en-US" sz="1700">
                <a:solidFill>
                  <a:srgbClr val="333333"/>
                </a:solidFill>
              </a:rPr>
              <a:t>same row</a:t>
            </a:r>
            <a:r>
              <a:rPr lang="en-US" sz="1700">
                <a:solidFill>
                  <a:srgbClr val="333333"/>
                </a:solidFill>
              </a:rPr>
              <a:t> in both images. Rectification warps both images so that is true.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13816" y="2468880"/>
            <a:ext cx="51756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923544" y="2560320"/>
            <a:ext cx="495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BEFORE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A point may sit on row 200 in the left image and row 207 in the right. The matcher would have to search everywhere.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6208776" y="2468880"/>
            <a:ext cx="51756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318504" y="2560320"/>
            <a:ext cx="495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AFTER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Both images are straightened and aligned. The match is on the same row, so the search is fast.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813816" y="3977640"/>
            <a:ext cx="10570500" cy="8688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969264" y="4087368"/>
            <a:ext cx="102597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WATCH OUT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Rectifying changes the focal length and center. Always use the new f, cx and cy it returns in the depth formulas.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DISPARITY MAP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A Disparity for Every Pixel</a:t>
            </a:r>
            <a:endParaRPr b="1" sz="3800"/>
          </a:p>
        </p:txBody>
      </p:sp>
      <p:sp>
        <p:nvSpPr>
          <p:cNvPr id="285" name="Google Shape;285;p20"/>
          <p:cNvSpPr txBox="1"/>
          <p:nvPr/>
        </p:nvSpPr>
        <p:spPr>
          <a:xfrm>
            <a:off x="722376" y="1591056"/>
            <a:ext cx="10753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StereoSGBM compares small patches along each row and gives a disparity map. Brighter pixels mean closer.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813816" y="2468880"/>
            <a:ext cx="51756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923544" y="2560320"/>
            <a:ext cx="495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MAX_DISP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111"/>
                </a:solidFill>
              </a:rPr>
              <a:t>e.g. 160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Largest disparity it searches. Must be a multiple of 16.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6208776" y="2468880"/>
            <a:ext cx="5175600" cy="13260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6318504" y="2560320"/>
            <a:ext cx="495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CLOSEST MEASURABLE DEPTH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111"/>
                </a:solidFill>
              </a:rPr>
              <a:t>700 × 60 ÷ 160 ≈ 263 mm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Z_min = f · B ÷ max_disp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813816" y="3977640"/>
            <a:ext cx="10570500" cy="10515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969264" y="4087368"/>
            <a:ext cx="10259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WHY IT MATTERS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An object closer than Z_min needs a disparity larger than the search range, so the matcher cannot find it. The arm works from about 300 to 500 mm, so 160 covers it.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#3</a:t>
            </a:r>
            <a:endParaRPr b="1" sz="3800"/>
          </a:p>
        </p:txBody>
      </p:sp>
      <p:sp>
        <p:nvSpPr>
          <p:cNvPr id="298" name="Google Shape;298;p21"/>
          <p:cNvSpPr/>
          <p:nvPr/>
        </p:nvSpPr>
        <p:spPr>
          <a:xfrm>
            <a:off x="813816" y="1591056"/>
            <a:ext cx="10570500" cy="1426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923544" y="1682496"/>
            <a:ext cx="1035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700 px</a:t>
            </a:r>
            <a:r>
              <a:rPr lang="en-US" sz="1800">
                <a:solidFill>
                  <a:srgbClr val="111111"/>
                </a:solidFill>
              </a:rPr>
              <a:t>, B = </a:t>
            </a:r>
            <a:r>
              <a:rPr b="1" lang="en-US" sz="1800">
                <a:solidFill>
                  <a:srgbClr val="D60000"/>
                </a:solidFill>
              </a:rPr>
              <a:t>60 mm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max_disp = </a:t>
            </a:r>
            <a:r>
              <a:rPr b="1" lang="en-US" sz="1800">
                <a:solidFill>
                  <a:srgbClr val="D60000"/>
                </a:solidFill>
              </a:rPr>
              <a:t>64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What is the closest depth that can be measured?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813816" y="3191256"/>
            <a:ext cx="10570500" cy="1417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69264" y="3300984"/>
            <a:ext cx="102597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Z_min = f · B ÷ max_disp = 42,000 ÷ 64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Z_min ≈ 656 mm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The arm’s 300 to 500 mm range would be lost. Use 160 to reach down to about 263 mm.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"/>
          <p:cNvSpPr txBox="1"/>
          <p:nvPr/>
        </p:nvSpPr>
        <p:spPr>
          <a:xfrm>
            <a:off x="722376" y="475488"/>
            <a:ext cx="603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PIXEL TO 3D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722376" y="822960"/>
            <a:ext cx="6629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A Pixel Becomes a 3D Point</a:t>
            </a:r>
            <a:endParaRPr b="1" sz="3800"/>
          </a:p>
        </p:txBody>
      </p:sp>
      <p:sp>
        <p:nvSpPr>
          <p:cNvPr id="308" name="Google Shape;308;p22"/>
          <p:cNvSpPr txBox="1"/>
          <p:nvPr/>
        </p:nvSpPr>
        <p:spPr>
          <a:xfrm>
            <a:off x="722376" y="1591056"/>
            <a:ext cx="5852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With depth Z known, the pixel’s position gives the sideways and vertical offsets, in the camera’s frame.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813816" y="2468880"/>
            <a:ext cx="5715000" cy="1600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969264" y="2578608"/>
            <a:ext cx="54042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CAMERA FRAME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X = (u − cx) · Z ÷ f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Y = (v − cy) · Z ÷ f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Z = f · B ÷ d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813816" y="4251960"/>
            <a:ext cx="5715000" cy="8688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923544" y="4343400"/>
            <a:ext cx="5495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Same top-left pixel origin as Lesson 9: v grows downward, so Y points down.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7406640" y="1600200"/>
            <a:ext cx="3566100" cy="2651700"/>
          </a:xfrm>
          <a:prstGeom prst="rect">
            <a:avLst/>
          </a:prstGeom>
          <a:noFill/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22"/>
          <p:cNvCxnSpPr/>
          <p:nvPr/>
        </p:nvCxnSpPr>
        <p:spPr>
          <a:xfrm>
            <a:off x="9189720" y="1600200"/>
            <a:ext cx="0" cy="2651700"/>
          </a:xfrm>
          <a:prstGeom prst="straightConnector1">
            <a:avLst/>
          </a:prstGeom>
          <a:noFill/>
          <a:ln cap="flat" cmpd="sng" w="152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2"/>
          <p:cNvCxnSpPr/>
          <p:nvPr/>
        </p:nvCxnSpPr>
        <p:spPr>
          <a:xfrm>
            <a:off x="7406640" y="2926080"/>
            <a:ext cx="3566100" cy="0"/>
          </a:xfrm>
          <a:prstGeom prst="straightConnector1">
            <a:avLst/>
          </a:prstGeom>
          <a:noFill/>
          <a:ln cap="flat" cmpd="sng" w="15250">
            <a:solidFill>
              <a:srgbClr val="8CC06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2"/>
          <p:cNvSpPr txBox="1"/>
          <p:nvPr/>
        </p:nvSpPr>
        <p:spPr>
          <a:xfrm>
            <a:off x="9208008" y="1645920"/>
            <a:ext cx="164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(cx, cy) center</a:t>
            </a:r>
            <a:endParaRPr b="1" sz="1200">
              <a:solidFill>
                <a:srgbClr val="3A7A1F"/>
              </a:solidFill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774936" y="3328416"/>
            <a:ext cx="109800" cy="109800"/>
          </a:xfrm>
          <a:prstGeom prst="ellipse">
            <a:avLst/>
          </a:prstGeom>
          <a:solidFill>
            <a:srgbClr val="D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9555480" y="3474720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(u, v)</a:t>
            </a:r>
            <a:endParaRPr b="1" sz="1200">
              <a:solidFill>
                <a:srgbClr val="D60000"/>
              </a:solidFill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7315200" y="434340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</a:rPr>
              <a:t>X is right, Y is down, Z is forward.</a:t>
            </a:r>
            <a:endParaRPr sz="13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WORKED EXAMPLE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Pixel to Camera Frame</a:t>
            </a:r>
            <a:endParaRPr b="1" sz="3800"/>
          </a:p>
        </p:txBody>
      </p:sp>
      <p:sp>
        <p:nvSpPr>
          <p:cNvPr id="326" name="Google Shape;326;p23"/>
          <p:cNvSpPr/>
          <p:nvPr/>
        </p:nvSpPr>
        <p:spPr>
          <a:xfrm>
            <a:off x="813816" y="1591056"/>
            <a:ext cx="10570500" cy="1042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923544" y="1682496"/>
            <a:ext cx="103509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700 px</a:t>
            </a:r>
            <a:r>
              <a:rPr lang="en-US" sz="1800">
                <a:solidFill>
                  <a:srgbClr val="111111"/>
                </a:solidFill>
              </a:rPr>
              <a:t>, cx = </a:t>
            </a:r>
            <a:r>
              <a:rPr b="1" lang="en-US" sz="1800">
                <a:solidFill>
                  <a:srgbClr val="D60000"/>
                </a:solidFill>
              </a:rPr>
              <a:t>320</a:t>
            </a:r>
            <a:r>
              <a:rPr lang="en-US" sz="1800">
                <a:solidFill>
                  <a:srgbClr val="111111"/>
                </a:solidFill>
              </a:rPr>
              <a:t>, cy = </a:t>
            </a:r>
            <a:r>
              <a:rPr b="1" lang="en-US" sz="1800">
                <a:solidFill>
                  <a:srgbClr val="D60000"/>
                </a:solidFill>
              </a:rPr>
              <a:t>240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Pixel (u, v) = </a:t>
            </a:r>
            <a:r>
              <a:rPr b="1" lang="en-US" sz="1800">
                <a:solidFill>
                  <a:srgbClr val="D60000"/>
                </a:solidFill>
              </a:rPr>
              <a:t>(400, 300)</a:t>
            </a:r>
            <a:r>
              <a:rPr lang="en-US" sz="1800">
                <a:solidFill>
                  <a:srgbClr val="111111"/>
                </a:solidFill>
              </a:rPr>
              <a:t>, depth Z = </a:t>
            </a:r>
            <a:r>
              <a:rPr b="1" lang="en-US" sz="1800">
                <a:solidFill>
                  <a:srgbClr val="D60000"/>
                </a:solidFill>
              </a:rPr>
              <a:t>600 mm</a:t>
            </a:r>
            <a:endParaRPr b="1" sz="1800">
              <a:solidFill>
                <a:srgbClr val="D60000"/>
              </a:solidFill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813816" y="2825496"/>
            <a:ext cx="10570500" cy="14631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969264" y="2935224"/>
            <a:ext cx="102597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X = (400 − 320) × 600 ÷ 700 = 68.6 mm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Y = (300 − 240) × 600 ÷ 700 = 51.4 mm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Point = (68.6, 51.4, 600) mm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TRY IT YOURSELF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Try It Yourself #4</a:t>
            </a:r>
            <a:endParaRPr b="1" sz="3800"/>
          </a:p>
        </p:txBody>
      </p:sp>
      <p:sp>
        <p:nvSpPr>
          <p:cNvPr id="336" name="Google Shape;336;p24"/>
          <p:cNvSpPr/>
          <p:nvPr/>
        </p:nvSpPr>
        <p:spPr>
          <a:xfrm>
            <a:off x="813816" y="1591056"/>
            <a:ext cx="10570500" cy="1426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923544" y="1682496"/>
            <a:ext cx="10350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 = </a:t>
            </a:r>
            <a:r>
              <a:rPr b="1" lang="en-US" sz="1800">
                <a:solidFill>
                  <a:srgbClr val="D60000"/>
                </a:solidFill>
              </a:rPr>
              <a:t>800 px</a:t>
            </a:r>
            <a:r>
              <a:rPr lang="en-US" sz="1800">
                <a:solidFill>
                  <a:srgbClr val="111111"/>
                </a:solidFill>
              </a:rPr>
              <a:t>, cx = </a:t>
            </a:r>
            <a:r>
              <a:rPr b="1" lang="en-US" sz="1800">
                <a:solidFill>
                  <a:srgbClr val="D60000"/>
                </a:solidFill>
              </a:rPr>
              <a:t>320</a:t>
            </a:r>
            <a:r>
              <a:rPr lang="en-US" sz="1800">
                <a:solidFill>
                  <a:srgbClr val="111111"/>
                </a:solidFill>
              </a:rPr>
              <a:t>, cy = </a:t>
            </a:r>
            <a:r>
              <a:rPr b="1" lang="en-US" sz="1800">
                <a:solidFill>
                  <a:srgbClr val="D60000"/>
                </a:solidFill>
              </a:rPr>
              <a:t>240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Pixel (u, v) = </a:t>
            </a:r>
            <a:r>
              <a:rPr b="1" lang="en-US" sz="1800">
                <a:solidFill>
                  <a:srgbClr val="D60000"/>
                </a:solidFill>
              </a:rPr>
              <a:t>(240, 300)</a:t>
            </a:r>
            <a:r>
              <a:rPr lang="en-US" sz="1800">
                <a:solidFill>
                  <a:srgbClr val="111111"/>
                </a:solidFill>
              </a:rPr>
              <a:t>, depth Z = </a:t>
            </a:r>
            <a:r>
              <a:rPr b="1" lang="en-US" sz="1800">
                <a:solidFill>
                  <a:srgbClr val="D60000"/>
                </a:solidFill>
              </a:rPr>
              <a:t>400 mm</a:t>
            </a:r>
            <a:endParaRPr b="1" sz="1800">
              <a:solidFill>
                <a:srgbClr val="D6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Find X and Y.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813816" y="3191256"/>
            <a:ext cx="10570500" cy="17832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969264" y="3300984"/>
            <a:ext cx="10259700" cy="16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X = (240 − 320) × 400 ÷ 800 = −40 mm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Y = (300 − 240) × 400 ÷ 800 = 30 mm</a:t>
            </a:r>
            <a:endParaRPr sz="16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Point = (−40, 30, 400) mm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Negative X means left of the camera’s center line.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INTO THE ARM’S WORLD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Camera Frame to Base Frame</a:t>
            </a:r>
            <a:endParaRPr b="1" sz="3800"/>
          </a:p>
        </p:txBody>
      </p:sp>
      <p:sp>
        <p:nvSpPr>
          <p:cNvPr id="346" name="Google Shape;346;p25"/>
          <p:cNvSpPr txBox="1"/>
          <p:nvPr/>
        </p:nvSpPr>
        <p:spPr>
          <a:xfrm>
            <a:off x="722376" y="1591056"/>
            <a:ext cx="1075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3333"/>
                </a:solidFill>
              </a:rPr>
              <a:t>The camera sits at (cam_x, cam_y, cam_z) in the base frame and looks along the arm’s +x direction.</a:t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813816" y="2157984"/>
            <a:ext cx="10570500" cy="15087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969264" y="2267712"/>
            <a:ext cx="102597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CONVERSION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x_b = cam_x + Z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y_b = cam_y − X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z_b = cam_z − Y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813816" y="3849624"/>
            <a:ext cx="51756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923544" y="3941064"/>
            <a:ext cx="49560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WHY THE SIGNS FLIP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Camera X points right, but the arm’s +y points left. Camera Y points down, but +z points up.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6208776" y="3849624"/>
            <a:ext cx="5175600" cy="10974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318504" y="3941064"/>
            <a:ext cx="49560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THEN CHECK REACH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The arm has two 250 mm links, so a target farther than 500 mm from the shoulder is out of reach.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WORKED EXAMPLE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Where Should the Gripper Go?</a:t>
            </a:r>
            <a:endParaRPr b="1" sz="3800"/>
          </a:p>
        </p:txBody>
      </p:sp>
      <p:sp>
        <p:nvSpPr>
          <p:cNvPr id="359" name="Google Shape;359;p26"/>
          <p:cNvSpPr/>
          <p:nvPr/>
        </p:nvSpPr>
        <p:spPr>
          <a:xfrm>
            <a:off x="813816" y="1591056"/>
            <a:ext cx="10570500" cy="10425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923544" y="1682496"/>
            <a:ext cx="103509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Camera at </a:t>
            </a:r>
            <a:r>
              <a:rPr b="1" lang="en-US" sz="1800">
                <a:solidFill>
                  <a:srgbClr val="D60000"/>
                </a:solidFill>
              </a:rPr>
              <a:t>(100, 0, 150) mm</a:t>
            </a:r>
            <a:r>
              <a:rPr lang="en-US" sz="1800">
                <a:solidFill>
                  <a:srgbClr val="111111"/>
                </a:solidFill>
              </a:rPr>
              <a:t> in the base frame.</a:t>
            </a:r>
            <a:endParaRPr sz="18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solidFill>
                  <a:srgbClr val="111111"/>
                </a:solidFill>
              </a:rPr>
              <a:t>Camera-frame point from the cup: </a:t>
            </a:r>
            <a:r>
              <a:rPr b="1" lang="en-US" sz="1800">
                <a:solidFill>
                  <a:srgbClr val="D60000"/>
                </a:solidFill>
              </a:rPr>
              <a:t>(34.3, 25.7, 300) mm</a:t>
            </a:r>
            <a:endParaRPr b="1" sz="1800">
              <a:solidFill>
                <a:srgbClr val="D60000"/>
              </a:solidFill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813816" y="2825496"/>
            <a:ext cx="6400800" cy="26061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969264" y="2935224"/>
            <a:ext cx="6090000" cy="24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SOLUTION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x_b = 100 + 300 = 400 mm</a:t>
            </a:r>
            <a:endParaRPr sz="15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y_b = 0 − 34.3 = −34.3 mm</a:t>
            </a:r>
            <a:endParaRPr sz="15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z_b = 150 − 25.7 = 124.3 mm</a:t>
            </a:r>
            <a:endParaRPr sz="15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DDDD"/>
                </a:solidFill>
              </a:rPr>
              <a:t>Distance = √(400² + 34.3² + 124.3²) = 420.3 mm</a:t>
            </a:r>
            <a:endParaRPr sz="1500">
              <a:solidFill>
                <a:srgbClr val="DDDDDD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</a:rPr>
              <a:t>Target (400, −34.3, 124.3), within reach</a:t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900">
                <a:solidFill>
                  <a:srgbClr val="FFFFFF"/>
                </a:solidFill>
              </a:rPr>
              <a:t>θ</a:t>
            </a:r>
            <a:r>
              <a:rPr b="1" baseline="-25000" lang="en-US" sz="1900">
                <a:solidFill>
                  <a:srgbClr val="FFFFFF"/>
                </a:solidFill>
              </a:rPr>
              <a:t>B</a:t>
            </a:r>
            <a:r>
              <a:rPr b="1" lang="en-US" sz="1900">
                <a:solidFill>
                  <a:srgbClr val="FFFFFF"/>
                </a:solidFill>
              </a:rPr>
              <a:t> = atan2(−34.3, 400) = −4.9°</a:t>
            </a:r>
            <a:endParaRPr b="1" sz="1900">
              <a:solidFill>
                <a:srgbClr val="FFFFFF"/>
              </a:solidFill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434072" y="2825496"/>
            <a:ext cx="3950100" cy="26061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7543800" y="2916936"/>
            <a:ext cx="37308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WHY NOT THE LESSON 9 ANGLE?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From the camera, the cup is atan(34.3 ÷ 300) = </a:t>
            </a:r>
            <a:r>
              <a:rPr b="1" lang="en-US" sz="1500">
                <a:solidFill>
                  <a:srgbClr val="D60000"/>
                </a:solidFill>
              </a:rPr>
              <a:t>6.5°</a:t>
            </a:r>
            <a:r>
              <a:rPr lang="en-US" sz="1500">
                <a:solidFill>
                  <a:srgbClr val="111111"/>
                </a:solidFill>
              </a:rPr>
              <a:t> to the right. The base sits 100 mm behind the camera, so it only needs to turn </a:t>
            </a:r>
            <a:r>
              <a:rPr b="1" lang="en-US" sz="1500">
                <a:solidFill>
                  <a:srgbClr val="D60000"/>
                </a:solidFill>
              </a:rPr>
              <a:t>4.9°</a:t>
            </a:r>
            <a:r>
              <a:rPr lang="en-US" sz="1500">
                <a:solidFill>
                  <a:srgbClr val="111111"/>
                </a:solidFill>
              </a:rPr>
              <a:t>.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DAY 2 · CHECK WITH CODE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The Whole Workflow in Code</a:t>
            </a:r>
            <a:endParaRPr b="1" sz="3800"/>
          </a:p>
        </p:txBody>
      </p:sp>
      <p:sp>
        <p:nvSpPr>
          <p:cNvPr id="371" name="Google Shape;371;p27"/>
          <p:cNvSpPr/>
          <p:nvPr/>
        </p:nvSpPr>
        <p:spPr>
          <a:xfrm>
            <a:off x="813816" y="1591056"/>
            <a:ext cx="10570500" cy="3108900"/>
          </a:xfrm>
          <a:prstGeom prst="roundRect">
            <a:avLst>
              <a:gd fmla="val 16667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969264" y="1700784"/>
            <a:ext cx="10259700" cy="29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PYTHON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stereo_helper </a:t>
            </a:r>
            <a:r>
              <a:rPr lang="en-US" sz="1300">
                <a:solidFill>
                  <a:srgbClr val="8CC06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rms1, K1, d1 = calibrate_camera(obj, pts_L, size)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rms2, K2, d2 = calibrate_camera(obj, pts_R, size)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rms, R, T = calibrate_stereo(obj, pts_L, pts_R, K1, d1, K2, d2, size)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L, Rt, f, cx, cy = rectify_pair(left, right, K1, d1, K2, d2, R, T, size)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disp = disparity_map(L, Rt, max_disp=160)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Z = depth_from_disparity(median_disparity(disp, box), f, baseline_mm(T))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u, v = (box[0] + box[2]) / 2, (box[1] + box[3]) / 2    </a:t>
            </a:r>
            <a:r>
              <a:rPr lang="en-US" sz="1300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# box from Lesson 9</a:t>
            </a:r>
            <a:endParaRPr sz="1300">
              <a:solidFill>
                <a:srgbClr val="A0A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 = pixel_to_camera(u, v, Z, f, cx, cy)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target = camera_to_base(P, cam_pos=(100, 0, 150))</a:t>
            </a:r>
            <a:endParaRPr sz="13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813816" y="4882896"/>
            <a:ext cx="5175600" cy="1005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923544" y="4974336"/>
            <a:ext cx="4956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CHECK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Use the worked examples. You should get (68.6, 51.4, 600) and (400, −34.3, 124.3).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6208776" y="4882896"/>
            <a:ext cx="5175600" cy="10059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D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"/>
          <p:cNvSpPr txBox="1"/>
          <p:nvPr/>
        </p:nvSpPr>
        <p:spPr>
          <a:xfrm>
            <a:off x="6318504" y="4974336"/>
            <a:ext cx="4956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60000"/>
                </a:solidFill>
              </a:rPr>
              <a:t>ALWAYS</a:t>
            </a:r>
            <a:endParaRPr b="1" sz="1200">
              <a:solidFill>
                <a:srgbClr val="D6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111111"/>
                </a:solidFill>
              </a:rPr>
              <a:t>Print the reprojection error first. Do not trust depth if it is above 1 px.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/>
        </p:nvSpPr>
        <p:spPr>
          <a:xfrm>
            <a:off x="722376" y="475488"/>
            <a:ext cx="1075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A7A1F"/>
                </a:solidFill>
              </a:rPr>
              <a:t>WRAP-UP</a:t>
            </a:r>
            <a:endParaRPr b="1" sz="1500">
              <a:solidFill>
                <a:srgbClr val="3A7A1F"/>
              </a:solidFill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722376" y="822960"/>
            <a:ext cx="1075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/>
              <a:t>What We Can Now Do</a:t>
            </a:r>
            <a:endParaRPr b="1" sz="3800"/>
          </a:p>
        </p:txBody>
      </p:sp>
      <p:sp>
        <p:nvSpPr>
          <p:cNvPr id="383" name="Google Shape;383;p28"/>
          <p:cNvSpPr/>
          <p:nvPr/>
        </p:nvSpPr>
        <p:spPr>
          <a:xfrm>
            <a:off x="813816" y="1591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923544" y="1682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1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Turn disparity into depth and judge how accurate it is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6208776" y="1591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F2C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6318504" y="1682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1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Choose a baseline that fits the working range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813816" y="2734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923544" y="2825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2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Calibrate a stereo pair and check reprojection error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6208776" y="2734056"/>
            <a:ext cx="5175600" cy="987600"/>
          </a:xfrm>
          <a:prstGeom prst="roundRect">
            <a:avLst>
              <a:gd fmla="val 16667" name="adj"/>
            </a:avLst>
          </a:prstGeom>
          <a:noFill/>
          <a:ln cap="flat" cmpd="sng" w="15250">
            <a:solidFill>
              <a:srgbClr val="8CC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6318504" y="2825496"/>
            <a:ext cx="495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A7A1F"/>
                </a:solidFill>
              </a:rPr>
              <a:t>DAY 2</a:t>
            </a:r>
            <a:endParaRPr b="1" sz="1200">
              <a:solidFill>
                <a:srgbClr val="3A7A1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>
                <a:solidFill>
                  <a:srgbClr val="111111"/>
                </a:solidFill>
              </a:rPr>
              <a:t>Rectify, build a disparity map and turn a pixel into arm coordinates</a:t>
            </a:r>
            <a:endParaRPr sz="1700">
              <a:solidFill>
                <a:srgbClr val="111111"/>
              </a:solidFill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813816" y="3968496"/>
            <a:ext cx="10570500" cy="10059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969264" y="4078224"/>
            <a:ext cx="10259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08B"/>
                </a:solidFill>
              </a:rPr>
              <a:t>PUTTING IT TOGETHER</a:t>
            </a:r>
            <a:endParaRPr b="1" sz="1200">
              <a:solidFill>
                <a:srgbClr val="9FD08B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rgbClr val="DDDDDD"/>
                </a:solidFill>
              </a:rPr>
              <a:t>Detection tells the arm what and which way. Stereo tells it how far. Together they give a 3D target, and inverse kinematics from Lessons 6 to 8 turns it into joint angles.</a:t>
            </a:r>
            <a:endParaRPr sz="1600">
              <a:solidFill>
                <a:srgbClr val="DDDDD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