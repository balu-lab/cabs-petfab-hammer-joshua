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B618EA-D9DA-4E60-A3DF-9A4245665855}">
  <a:tblStyle styleId="{9CB618EA-D9DA-4E60-A3DF-9A42456658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l6_cove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l6_cove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l6_reca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l6_reca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l6_fkik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l6_fkik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l6_problem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l6_proble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l6_lawcos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l6_lawco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l6_lawcosex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l6_lawcose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l6_try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l6_try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l6_try1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l6_try1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l6_triangl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l6_triangl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l6_elbow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l6_elbo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l6_elbowex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l6_elbowe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l6_shoulde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l6_shoulde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l6_shoulderex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l6_shouldere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l6_answe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l6_answe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l6_try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l6_try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l6_try2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l6_try2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l6_try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l6_try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l6_try3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l6_try3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l6_updown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l6_updown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l6_reach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l6_reac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l6_reca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l6_reca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l6_where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l6_where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l6_bas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l6_bas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l6_flatten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l6_flatten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l6_atan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l6_atan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l6_recip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l6_recip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l6_ex3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l6_ex3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l6_check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l6_check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l6_try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l6_try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l6_try4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l6_try4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l6_try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l6_try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l6_try5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l6_try5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l6_try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l6_try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l6_try6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l6_try6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l6_tricky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l6_trick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l6_proscons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l6_proscon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l6_learne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l6_learne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/>
        </p:nvSpPr>
        <p:spPr>
          <a:xfrm>
            <a:off x="731520" y="1097280"/>
            <a:ext cx="5943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The Trigonometric Approach to Inverse Kinematics</a:t>
            </a:r>
            <a:endParaRPr b="1" sz="3600"/>
          </a:p>
        </p:txBody>
      </p:sp>
      <p:sp>
        <p:nvSpPr>
          <p:cNvPr id="20" name="Google Shape;20;p3"/>
          <p:cNvSpPr txBox="1"/>
          <p:nvPr/>
        </p:nvSpPr>
        <p:spPr>
          <a:xfrm>
            <a:off x="731520" y="3474720"/>
            <a:ext cx="57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</a:rPr>
              <a:t>Robotic Arm Course · Lesson 6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731520" y="4114800"/>
            <a:ext cx="576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Day 1: The flat arm with triangles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Day 2: Adding the base turn (3D)</a:t>
            </a:r>
            <a:endParaRPr sz="2000"/>
          </a:p>
        </p:txBody>
      </p:sp>
      <p:sp>
        <p:nvSpPr>
          <p:cNvPr id="22" name="Google Shape;22;p3"/>
          <p:cNvSpPr/>
          <p:nvPr/>
        </p:nvSpPr>
        <p:spPr>
          <a:xfrm>
            <a:off x="6675120" y="5138928"/>
            <a:ext cx="4846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3"/>
          <p:cNvCxnSpPr/>
          <p:nvPr/>
        </p:nvCxnSpPr>
        <p:spPr>
          <a:xfrm flipH="1" rot="10800000">
            <a:off x="7315200" y="3655200"/>
            <a:ext cx="1374000" cy="137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" name="Google Shape;24;p3"/>
          <p:cNvCxnSpPr/>
          <p:nvPr/>
        </p:nvCxnSpPr>
        <p:spPr>
          <a:xfrm flipH="1" rot="10800000">
            <a:off x="7315200" y="3655200"/>
            <a:ext cx="1374000" cy="137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8689179" y="3655221"/>
            <a:ext cx="19431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8689179" y="3655221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/>
          <p:nvPr/>
        </p:nvSpPr>
        <p:spPr>
          <a:xfrm>
            <a:off x="7205472" y="49194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57945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052255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3"/>
          <p:cNvCxnSpPr/>
          <p:nvPr/>
        </p:nvCxnSpPr>
        <p:spPr>
          <a:xfrm flipH="1" rot="10800000">
            <a:off x="7315200" y="3655200"/>
            <a:ext cx="3317100" cy="1374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" name="Google Shape;31;p3"/>
          <p:cNvSpPr/>
          <p:nvPr/>
        </p:nvSpPr>
        <p:spPr>
          <a:xfrm>
            <a:off x="10476831" y="3499773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0586559" y="3609501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 Lesson 5 left off:</a:t>
            </a:r>
            <a:endParaRPr sz="2400"/>
          </a:p>
        </p:txBody>
      </p:sp>
      <p:sp>
        <p:nvSpPr>
          <p:cNvPr id="38" name="Google Shape;38;p4"/>
          <p:cNvSpPr txBox="1"/>
          <p:nvPr/>
        </p:nvSpPr>
        <p:spPr>
          <a:xfrm>
            <a:off x="274320" y="822960"/>
            <a:ext cx="56694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Forward kinematics (FK):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angles in, tip position out.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tip_3d(45, 45, -45)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gives </a:t>
            </a:r>
            <a:r>
              <a:rPr lang="en-US" sz="2200">
                <a:solidFill>
                  <a:srgbClr val="FF0000"/>
                </a:solidFill>
              </a:rPr>
              <a:t>[301.78, 301.78, 176.78]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Today we go the other way.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We know where the tip should go.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We find the angles.</a:t>
            </a:r>
            <a:endParaRPr sz="2200"/>
          </a:p>
        </p:txBody>
      </p:sp>
      <p:sp>
        <p:nvSpPr>
          <p:cNvPr id="39" name="Google Shape;39;p4"/>
          <p:cNvSpPr/>
          <p:nvPr/>
        </p:nvSpPr>
        <p:spPr>
          <a:xfrm flipH="1" rot="-2749560">
            <a:off x="7587156" y="2567299"/>
            <a:ext cx="1795248" cy="4422661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4"/>
          <p:cNvCxnSpPr/>
          <p:nvPr/>
        </p:nvCxnSpPr>
        <p:spPr>
          <a:xfrm flipH="1">
            <a:off x="6222960" y="4023360"/>
            <a:ext cx="1000800" cy="10299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" name="Google Shape;41;p4"/>
          <p:cNvCxnSpPr/>
          <p:nvPr/>
        </p:nvCxnSpPr>
        <p:spPr>
          <a:xfrm>
            <a:off x="7223760" y="4023360"/>
            <a:ext cx="3780600" cy="515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" name="Google Shape;42;p4"/>
          <p:cNvCxnSpPr/>
          <p:nvPr/>
        </p:nvCxnSpPr>
        <p:spPr>
          <a:xfrm rot="10800000">
            <a:off x="7223760" y="1564560"/>
            <a:ext cx="0" cy="2458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" name="Google Shape;43;p4"/>
          <p:cNvSpPr/>
          <p:nvPr/>
        </p:nvSpPr>
        <p:spPr>
          <a:xfrm>
            <a:off x="6931152" y="3913747"/>
            <a:ext cx="585300" cy="2193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4"/>
          <p:cNvCxnSpPr/>
          <p:nvPr/>
        </p:nvCxnSpPr>
        <p:spPr>
          <a:xfrm flipH="1" rot="10800000">
            <a:off x="7223760" y="3035460"/>
            <a:ext cx="710400" cy="9879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" name="Google Shape;45;p4"/>
          <p:cNvCxnSpPr/>
          <p:nvPr/>
        </p:nvCxnSpPr>
        <p:spPr>
          <a:xfrm flipH="1" rot="10800000">
            <a:off x="7223760" y="3035460"/>
            <a:ext cx="710400" cy="987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" name="Google Shape;46;p4"/>
          <p:cNvCxnSpPr/>
          <p:nvPr/>
        </p:nvCxnSpPr>
        <p:spPr>
          <a:xfrm>
            <a:off x="7934225" y="3035417"/>
            <a:ext cx="1004700" cy="8073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4"/>
          <p:cNvCxnSpPr/>
          <p:nvPr/>
        </p:nvCxnSpPr>
        <p:spPr>
          <a:xfrm>
            <a:off x="7934225" y="3035417"/>
            <a:ext cx="1004700" cy="807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" name="Google Shape;48;p4"/>
          <p:cNvSpPr/>
          <p:nvPr/>
        </p:nvSpPr>
        <p:spPr>
          <a:xfrm>
            <a:off x="7114032" y="391363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824497" y="2925689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8829247" y="3732851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756095" y="3659699"/>
            <a:ext cx="365700" cy="3657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8893255" y="3796859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5811502" y="4916224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54" name="Google Shape;54;p4"/>
          <p:cNvSpPr txBox="1"/>
          <p:nvPr/>
        </p:nvSpPr>
        <p:spPr>
          <a:xfrm>
            <a:off x="11022770" y="4127365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55" name="Google Shape;55;p4"/>
          <p:cNvSpPr txBox="1"/>
          <p:nvPr/>
        </p:nvSpPr>
        <p:spPr>
          <a:xfrm>
            <a:off x="6812280" y="138181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</a:t>
            </a:r>
            <a:endParaRPr sz="2000"/>
          </a:p>
        </p:txBody>
      </p:sp>
      <p:sp>
        <p:nvSpPr>
          <p:cNvPr id="56" name="Google Shape;56;p4"/>
          <p:cNvSpPr txBox="1"/>
          <p:nvPr/>
        </p:nvSpPr>
        <p:spPr>
          <a:xfrm>
            <a:off x="9167575" y="3568259"/>
            <a:ext cx="292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(301.78, 301.78, 176.78)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Forward vs. inverse kinematics:</a:t>
            </a:r>
            <a:endParaRPr sz="2400"/>
          </a:p>
        </p:txBody>
      </p:sp>
      <p:sp>
        <p:nvSpPr>
          <p:cNvPr id="62" name="Google Shape;62;p5"/>
          <p:cNvSpPr/>
          <p:nvPr/>
        </p:nvSpPr>
        <p:spPr>
          <a:xfrm>
            <a:off x="274320" y="868680"/>
            <a:ext cx="5577900" cy="22860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411480" y="960120"/>
            <a:ext cx="53034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Forward kinematics (FK)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angles → tip position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Always exactly one answer.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Lessons 3, 4 and 5.</a:t>
            </a:r>
            <a:endParaRPr sz="2200"/>
          </a:p>
        </p:txBody>
      </p:sp>
      <p:sp>
        <p:nvSpPr>
          <p:cNvPr id="64" name="Google Shape;64;p5"/>
          <p:cNvSpPr/>
          <p:nvPr/>
        </p:nvSpPr>
        <p:spPr>
          <a:xfrm>
            <a:off x="6309360" y="868680"/>
            <a:ext cx="5577900" cy="22860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6446520" y="960120"/>
            <a:ext cx="53034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Inverse kinematics (IK)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tip position → angles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There can be no answer, one or two.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Lessons 6, 7 and 8.</a:t>
            </a:r>
            <a:endParaRPr sz="2200"/>
          </a:p>
        </p:txBody>
      </p:sp>
      <p:sp>
        <p:nvSpPr>
          <p:cNvPr id="66" name="Google Shape;66;p5"/>
          <p:cNvSpPr txBox="1"/>
          <p:nvPr/>
        </p:nvSpPr>
        <p:spPr>
          <a:xfrm>
            <a:off x="274320" y="3566160"/>
            <a:ext cx="115215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robot is told a target, like “pick up the cup at (x, y, z)”. Its motors need angles, not positions. IK is the step that turns the target into angles.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Lesson 3 used triangles to go forward. Today we use the same triangles backwards.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IK problem (flat arm):</a:t>
            </a:r>
            <a:endParaRPr sz="2400"/>
          </a:p>
        </p:txBody>
      </p:sp>
      <p:sp>
        <p:nvSpPr>
          <p:cNvPr id="72" name="Google Shape;72;p6"/>
          <p:cNvSpPr txBox="1"/>
          <p:nvPr/>
        </p:nvSpPr>
        <p:spPr>
          <a:xfrm>
            <a:off x="274320" y="822960"/>
            <a:ext cx="53949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We know: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 mm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the target (X, Y)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We want: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/>
              <a:t> and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endParaRPr baseline="-25000"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We solve the flat arm first. On Day 2 we add the base turn.</a:t>
            </a:r>
            <a:endParaRPr sz="2200"/>
          </a:p>
        </p:txBody>
      </p:sp>
      <p:sp>
        <p:nvSpPr>
          <p:cNvPr id="73" name="Google Shape;73;p6"/>
          <p:cNvSpPr/>
          <p:nvPr/>
        </p:nvSpPr>
        <p:spPr>
          <a:xfrm>
            <a:off x="5852160" y="5321808"/>
            <a:ext cx="56694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" name="Google Shape;74;p6"/>
          <p:cNvCxnSpPr/>
          <p:nvPr/>
        </p:nvCxnSpPr>
        <p:spPr>
          <a:xfrm>
            <a:off x="6400800" y="5212080"/>
            <a:ext cx="20118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" name="Google Shape;75;p6"/>
          <p:cNvCxnSpPr/>
          <p:nvPr/>
        </p:nvCxnSpPr>
        <p:spPr>
          <a:xfrm flipH="1" rot="10800000">
            <a:off x="7936424" y="2835856"/>
            <a:ext cx="840600" cy="8406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6" name="Google Shape;76;p6"/>
          <p:cNvCxnSpPr/>
          <p:nvPr/>
        </p:nvCxnSpPr>
        <p:spPr>
          <a:xfrm flipH="1" rot="10800000">
            <a:off x="6400800" y="3676380"/>
            <a:ext cx="1535700" cy="1535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6"/>
          <p:cNvCxnSpPr/>
          <p:nvPr/>
        </p:nvCxnSpPr>
        <p:spPr>
          <a:xfrm flipH="1" rot="10800000">
            <a:off x="6400800" y="3676380"/>
            <a:ext cx="1535700" cy="153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6"/>
          <p:cNvCxnSpPr/>
          <p:nvPr/>
        </p:nvCxnSpPr>
        <p:spPr>
          <a:xfrm>
            <a:off x="7936424" y="3676456"/>
            <a:ext cx="21717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6"/>
          <p:cNvCxnSpPr/>
          <p:nvPr/>
        </p:nvCxnSpPr>
        <p:spPr>
          <a:xfrm>
            <a:off x="7936424" y="3676456"/>
            <a:ext cx="21717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6"/>
          <p:cNvSpPr/>
          <p:nvPr/>
        </p:nvSpPr>
        <p:spPr>
          <a:xfrm>
            <a:off x="629107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7826696" y="356672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9998396" y="356672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9952676" y="3521008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0062404" y="3630736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6"/>
          <p:cNvCxnSpPr/>
          <p:nvPr/>
        </p:nvCxnSpPr>
        <p:spPr>
          <a:xfrm rot="10800000">
            <a:off x="7297500" y="5033580"/>
            <a:ext cx="17700" cy="178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6"/>
          <p:cNvCxnSpPr/>
          <p:nvPr/>
        </p:nvCxnSpPr>
        <p:spPr>
          <a:xfrm rot="10800000">
            <a:off x="7245730" y="4862089"/>
            <a:ext cx="51900" cy="17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6"/>
          <p:cNvCxnSpPr/>
          <p:nvPr/>
        </p:nvCxnSpPr>
        <p:spPr>
          <a:xfrm rot="10800000">
            <a:off x="7160995" y="4704054"/>
            <a:ext cx="84600" cy="158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6"/>
          <p:cNvCxnSpPr/>
          <p:nvPr/>
        </p:nvCxnSpPr>
        <p:spPr>
          <a:xfrm rot="10800000">
            <a:off x="7047396" y="4565467"/>
            <a:ext cx="113700" cy="13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6"/>
          <p:cNvCxnSpPr/>
          <p:nvPr/>
        </p:nvCxnSpPr>
        <p:spPr>
          <a:xfrm rot="10800000">
            <a:off x="8833124" y="3497956"/>
            <a:ext cx="17700" cy="178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6"/>
          <p:cNvCxnSpPr/>
          <p:nvPr/>
        </p:nvCxnSpPr>
        <p:spPr>
          <a:xfrm rot="10800000">
            <a:off x="8781354" y="3326466"/>
            <a:ext cx="51900" cy="17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6"/>
          <p:cNvCxnSpPr/>
          <p:nvPr/>
        </p:nvCxnSpPr>
        <p:spPr>
          <a:xfrm rot="10800000">
            <a:off x="8696619" y="3168430"/>
            <a:ext cx="84600" cy="158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6"/>
          <p:cNvCxnSpPr/>
          <p:nvPr/>
        </p:nvCxnSpPr>
        <p:spPr>
          <a:xfrm rot="10800000">
            <a:off x="8583020" y="3029843"/>
            <a:ext cx="113700" cy="13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6"/>
          <p:cNvSpPr txBox="1"/>
          <p:nvPr/>
        </p:nvSpPr>
        <p:spPr>
          <a:xfrm>
            <a:off x="7406640" y="4645152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= ?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8987984" y="2990656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= ?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9193724" y="3905056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target (X, Y)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law of cosines:</a:t>
            </a:r>
            <a:endParaRPr sz="2400"/>
          </a:p>
        </p:txBody>
      </p:sp>
      <p:sp>
        <p:nvSpPr>
          <p:cNvPr id="101" name="Google Shape;101;p7"/>
          <p:cNvSpPr txBox="1"/>
          <p:nvPr/>
        </p:nvSpPr>
        <p:spPr>
          <a:xfrm>
            <a:off x="274320" y="822960"/>
            <a:ext cx="60351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For any triangle with sides a, b and c, where C is the angle opposite side c: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</a:rPr>
              <a:t>c² = a² + b² − 2ab cos C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Solve it for the angle: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</a:rPr>
              <a:t>cos C = (a² + b² − c²) ÷ (2ab)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Use it when you know all three sides and want an angle.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If C = 90°, then cos C = 0 and it becomes the Pythagorean theorem: c² = a² + b².</a:t>
            </a:r>
            <a:endParaRPr sz="2100"/>
          </a:p>
        </p:txBody>
      </p:sp>
      <p:cxnSp>
        <p:nvCxnSpPr>
          <p:cNvPr id="102" name="Google Shape;102;p7"/>
          <p:cNvCxnSpPr/>
          <p:nvPr/>
        </p:nvCxnSpPr>
        <p:spPr>
          <a:xfrm>
            <a:off x="6949440" y="5394960"/>
            <a:ext cx="43890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7"/>
          <p:cNvCxnSpPr/>
          <p:nvPr/>
        </p:nvCxnSpPr>
        <p:spPr>
          <a:xfrm rot="10800000">
            <a:off x="8503860" y="1828860"/>
            <a:ext cx="2834700" cy="3566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7"/>
          <p:cNvCxnSpPr/>
          <p:nvPr/>
        </p:nvCxnSpPr>
        <p:spPr>
          <a:xfrm flipH="1">
            <a:off x="6949320" y="1828800"/>
            <a:ext cx="1554600" cy="3566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7"/>
          <p:cNvSpPr/>
          <p:nvPr/>
        </p:nvSpPr>
        <p:spPr>
          <a:xfrm>
            <a:off x="6858000" y="530352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1247120" y="530352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8412480" y="173736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" name="Google Shape;108;p7"/>
          <p:cNvCxnSpPr/>
          <p:nvPr/>
        </p:nvCxnSpPr>
        <p:spPr>
          <a:xfrm rot="10800000">
            <a:off x="7616940" y="5237460"/>
            <a:ext cx="18300" cy="157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7"/>
          <p:cNvCxnSpPr/>
          <p:nvPr/>
        </p:nvCxnSpPr>
        <p:spPr>
          <a:xfrm rot="10800000">
            <a:off x="7562875" y="5088214"/>
            <a:ext cx="54000" cy="14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7"/>
          <p:cNvCxnSpPr/>
          <p:nvPr/>
        </p:nvCxnSpPr>
        <p:spPr>
          <a:xfrm rot="10800000">
            <a:off x="7475763" y="4955211"/>
            <a:ext cx="87000" cy="132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7"/>
          <p:cNvCxnSpPr/>
          <p:nvPr/>
        </p:nvCxnSpPr>
        <p:spPr>
          <a:xfrm rot="10800000">
            <a:off x="7360603" y="4846142"/>
            <a:ext cx="115200" cy="109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7"/>
          <p:cNvCxnSpPr/>
          <p:nvPr/>
        </p:nvCxnSpPr>
        <p:spPr>
          <a:xfrm rot="10800000">
            <a:off x="7223551" y="4766318"/>
            <a:ext cx="137100" cy="79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7"/>
          <p:cNvSpPr txBox="1"/>
          <p:nvPr/>
        </p:nvSpPr>
        <p:spPr>
          <a:xfrm>
            <a:off x="7635240" y="4828032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C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040880" y="333756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</a:t>
            </a:r>
            <a:endParaRPr sz="2000"/>
          </a:p>
        </p:txBody>
      </p:sp>
      <p:sp>
        <p:nvSpPr>
          <p:cNvPr id="115" name="Google Shape;115;p7"/>
          <p:cNvSpPr txBox="1"/>
          <p:nvPr/>
        </p:nvSpPr>
        <p:spPr>
          <a:xfrm>
            <a:off x="8961120" y="5504688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</a:t>
            </a:r>
            <a:endParaRPr sz="2000"/>
          </a:p>
        </p:txBody>
      </p:sp>
      <p:sp>
        <p:nvSpPr>
          <p:cNvPr id="116" name="Google Shape;116;p7"/>
          <p:cNvSpPr txBox="1"/>
          <p:nvPr/>
        </p:nvSpPr>
        <p:spPr>
          <a:xfrm>
            <a:off x="10104120" y="329184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the law of cosines</a:t>
            </a:r>
            <a:endParaRPr sz="2400"/>
          </a:p>
        </p:txBody>
      </p:sp>
      <p:sp>
        <p:nvSpPr>
          <p:cNvPr id="122" name="Google Shape;122;p8"/>
          <p:cNvSpPr txBox="1"/>
          <p:nvPr/>
        </p:nvSpPr>
        <p:spPr>
          <a:xfrm>
            <a:off x="274320" y="822960"/>
            <a:ext cx="62178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 triangle has a = 250, b = 250 and c = 300.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Find the angle C.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 C = (250² + 250² − 300²) ÷ (2 × 250 × 250)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= (125,000 − 90,000) ÷ 125,000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= 0.28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</a:rPr>
              <a:t>C = cos</a:t>
            </a:r>
            <a:r>
              <a:rPr baseline="30000" lang="en-US" sz="2100">
                <a:solidFill>
                  <a:srgbClr val="FF0000"/>
                </a:solidFill>
              </a:rPr>
              <a:t>−1</a:t>
            </a:r>
            <a:r>
              <a:rPr lang="en-US" sz="2100">
                <a:solidFill>
                  <a:srgbClr val="FF0000"/>
                </a:solidFill>
              </a:rPr>
              <a:t>(0.28) = 73.74°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</a:t>
            </a:r>
            <a:r>
              <a:rPr baseline="30000" lang="en-US" sz="2100"/>
              <a:t>−1</a:t>
            </a:r>
            <a:r>
              <a:rPr lang="en-US" sz="2100"/>
              <a:t> is the inverse cosine key (also called arccos). Set your calculator to degrees.</a:t>
            </a:r>
            <a:endParaRPr sz="2100"/>
          </a:p>
        </p:txBody>
      </p:sp>
      <p:cxnSp>
        <p:nvCxnSpPr>
          <p:cNvPr id="123" name="Google Shape;123;p8"/>
          <p:cNvCxnSpPr/>
          <p:nvPr/>
        </p:nvCxnSpPr>
        <p:spPr>
          <a:xfrm>
            <a:off x="7498080" y="5394960"/>
            <a:ext cx="28575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8"/>
          <p:cNvCxnSpPr/>
          <p:nvPr/>
        </p:nvCxnSpPr>
        <p:spPr>
          <a:xfrm rot="10800000">
            <a:off x="8298180" y="2651760"/>
            <a:ext cx="2057400" cy="2743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8"/>
          <p:cNvCxnSpPr/>
          <p:nvPr/>
        </p:nvCxnSpPr>
        <p:spPr>
          <a:xfrm flipH="1">
            <a:off x="7498070" y="2651757"/>
            <a:ext cx="800100" cy="2743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8"/>
          <p:cNvSpPr/>
          <p:nvPr/>
        </p:nvSpPr>
        <p:spPr>
          <a:xfrm>
            <a:off x="7406640" y="530352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10264140" y="530352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8206730" y="2560317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8"/>
          <p:cNvCxnSpPr/>
          <p:nvPr/>
        </p:nvCxnSpPr>
        <p:spPr>
          <a:xfrm rot="10800000">
            <a:off x="8123460" y="5258760"/>
            <a:ext cx="14700" cy="136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8"/>
          <p:cNvCxnSpPr/>
          <p:nvPr/>
        </p:nvCxnSpPr>
        <p:spPr>
          <a:xfrm rot="10800000">
            <a:off x="8080291" y="5128813"/>
            <a:ext cx="43200" cy="129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8"/>
          <p:cNvCxnSpPr/>
          <p:nvPr/>
        </p:nvCxnSpPr>
        <p:spPr>
          <a:xfrm rot="10800000">
            <a:off x="8010257" y="5010810"/>
            <a:ext cx="69900" cy="117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8"/>
          <p:cNvCxnSpPr/>
          <p:nvPr/>
        </p:nvCxnSpPr>
        <p:spPr>
          <a:xfrm rot="10800000">
            <a:off x="7916543" y="4910711"/>
            <a:ext cx="93600" cy="100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8"/>
          <p:cNvCxnSpPr/>
          <p:nvPr/>
        </p:nvCxnSpPr>
        <p:spPr>
          <a:xfrm rot="10800000">
            <a:off x="7803860" y="4832715"/>
            <a:ext cx="112800" cy="78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8"/>
          <p:cNvCxnSpPr/>
          <p:nvPr/>
        </p:nvCxnSpPr>
        <p:spPr>
          <a:xfrm rot="10800000">
            <a:off x="7677391" y="4780513"/>
            <a:ext cx="126600" cy="5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8"/>
          <p:cNvSpPr txBox="1"/>
          <p:nvPr/>
        </p:nvSpPr>
        <p:spPr>
          <a:xfrm>
            <a:off x="8138160" y="4736592"/>
            <a:ext cx="91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C = ?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029445" y="3749039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250</a:t>
            </a:r>
            <a:endParaRPr sz="2000"/>
          </a:p>
        </p:txBody>
      </p:sp>
      <p:sp>
        <p:nvSpPr>
          <p:cNvPr id="137" name="Google Shape;137;p8"/>
          <p:cNvSpPr txBox="1"/>
          <p:nvPr/>
        </p:nvSpPr>
        <p:spPr>
          <a:xfrm>
            <a:off x="8606790" y="5504688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250</a:t>
            </a:r>
            <a:endParaRPr sz="2000"/>
          </a:p>
        </p:txBody>
      </p:sp>
      <p:sp>
        <p:nvSpPr>
          <p:cNvPr id="138" name="Google Shape;138;p8"/>
          <p:cNvSpPr txBox="1"/>
          <p:nvPr/>
        </p:nvSpPr>
        <p:spPr>
          <a:xfrm>
            <a:off x="9555475" y="3703319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300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#1:</a:t>
            </a:r>
            <a:endParaRPr sz="2400"/>
          </a:p>
        </p:txBody>
      </p:sp>
      <p:sp>
        <p:nvSpPr>
          <p:cNvPr id="144" name="Google Shape;144;p9"/>
          <p:cNvSpPr txBox="1"/>
          <p:nvPr/>
        </p:nvSpPr>
        <p:spPr>
          <a:xfrm>
            <a:off x="274320" y="822960"/>
            <a:ext cx="11521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the angle C opposite side c. In both triangles a = b = 250.</a:t>
            </a:r>
            <a:endParaRPr sz="2200"/>
          </a:p>
        </p:txBody>
      </p:sp>
      <p:sp>
        <p:nvSpPr>
          <p:cNvPr id="145" name="Google Shape;145;p9"/>
          <p:cNvSpPr txBox="1"/>
          <p:nvPr/>
        </p:nvSpPr>
        <p:spPr>
          <a:xfrm>
            <a:off x="27432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(a)  c = 250</a:t>
            </a:r>
            <a:endParaRPr sz="2200">
              <a:solidFill>
                <a:srgbClr val="FF0000"/>
              </a:solidFill>
            </a:endParaRPr>
          </a:p>
        </p:txBody>
      </p:sp>
      <p:cxnSp>
        <p:nvCxnSpPr>
          <p:cNvPr id="146" name="Google Shape;146;p9"/>
          <p:cNvCxnSpPr/>
          <p:nvPr/>
        </p:nvCxnSpPr>
        <p:spPr>
          <a:xfrm>
            <a:off x="1097280" y="4206240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9"/>
          <p:cNvCxnSpPr/>
          <p:nvPr/>
        </p:nvCxnSpPr>
        <p:spPr>
          <a:xfrm rot="10800000">
            <a:off x="2068680" y="2523540"/>
            <a:ext cx="971700" cy="1682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9"/>
          <p:cNvCxnSpPr/>
          <p:nvPr/>
        </p:nvCxnSpPr>
        <p:spPr>
          <a:xfrm flipH="1">
            <a:off x="1097130" y="2523466"/>
            <a:ext cx="971700" cy="1682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9"/>
          <p:cNvSpPr/>
          <p:nvPr/>
        </p:nvSpPr>
        <p:spPr>
          <a:xfrm>
            <a:off x="1024128" y="4133088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2967228" y="4133088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1995678" y="2450314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p9"/>
          <p:cNvCxnSpPr/>
          <p:nvPr/>
        </p:nvCxnSpPr>
        <p:spPr>
          <a:xfrm rot="10800000">
            <a:off x="1499760" y="4120740"/>
            <a:ext cx="9000" cy="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9"/>
          <p:cNvCxnSpPr/>
          <p:nvPr/>
        </p:nvCxnSpPr>
        <p:spPr>
          <a:xfrm rot="10800000">
            <a:off x="1473068" y="4038788"/>
            <a:ext cx="26700" cy="81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9"/>
          <p:cNvCxnSpPr/>
          <p:nvPr/>
        </p:nvCxnSpPr>
        <p:spPr>
          <a:xfrm rot="10800000">
            <a:off x="1430286" y="3964476"/>
            <a:ext cx="42900" cy="7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9"/>
          <p:cNvCxnSpPr/>
          <p:nvPr/>
        </p:nvCxnSpPr>
        <p:spPr>
          <a:xfrm rot="10800000">
            <a:off x="1372574" y="3900478"/>
            <a:ext cx="57600" cy="63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9"/>
          <p:cNvCxnSpPr/>
          <p:nvPr/>
        </p:nvCxnSpPr>
        <p:spPr>
          <a:xfrm rot="10800000">
            <a:off x="1303014" y="3849751"/>
            <a:ext cx="69600" cy="50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9"/>
          <p:cNvSpPr txBox="1"/>
          <p:nvPr/>
        </p:nvSpPr>
        <p:spPr>
          <a:xfrm>
            <a:off x="1492055" y="366930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C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2691765" y="3090533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</a:t>
            </a:r>
            <a:endParaRPr sz="1800"/>
          </a:p>
        </p:txBody>
      </p:sp>
      <p:sp>
        <p:nvSpPr>
          <p:cNvPr id="159" name="Google Shape;159;p9"/>
          <p:cNvSpPr txBox="1"/>
          <p:nvPr/>
        </p:nvSpPr>
        <p:spPr>
          <a:xfrm>
            <a:off x="612648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(b)  c = 400</a:t>
            </a:r>
            <a:endParaRPr sz="2200">
              <a:solidFill>
                <a:srgbClr val="FF0000"/>
              </a:solidFill>
            </a:endParaRPr>
          </a:p>
        </p:txBody>
      </p:sp>
      <p:cxnSp>
        <p:nvCxnSpPr>
          <p:cNvPr id="160" name="Google Shape;160;p9"/>
          <p:cNvCxnSpPr/>
          <p:nvPr/>
        </p:nvCxnSpPr>
        <p:spPr>
          <a:xfrm>
            <a:off x="6949440" y="4206240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9"/>
          <p:cNvCxnSpPr/>
          <p:nvPr/>
        </p:nvCxnSpPr>
        <p:spPr>
          <a:xfrm rot="10800000">
            <a:off x="6405240" y="2340840"/>
            <a:ext cx="2487300" cy="1865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9"/>
          <p:cNvCxnSpPr/>
          <p:nvPr/>
        </p:nvCxnSpPr>
        <p:spPr>
          <a:xfrm>
            <a:off x="6405379" y="2340862"/>
            <a:ext cx="544200" cy="1865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9"/>
          <p:cNvSpPr/>
          <p:nvPr/>
        </p:nvSpPr>
        <p:spPr>
          <a:xfrm>
            <a:off x="6876288" y="4133088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8819388" y="4133088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332227" y="2267710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9"/>
          <p:cNvCxnSpPr/>
          <p:nvPr/>
        </p:nvCxnSpPr>
        <p:spPr>
          <a:xfrm rot="10800000">
            <a:off x="7349820" y="4111740"/>
            <a:ext cx="11100" cy="9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9"/>
          <p:cNvCxnSpPr/>
          <p:nvPr/>
        </p:nvCxnSpPr>
        <p:spPr>
          <a:xfrm rot="10800000">
            <a:off x="7317513" y="4022301"/>
            <a:ext cx="32400" cy="89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9"/>
          <p:cNvCxnSpPr/>
          <p:nvPr/>
        </p:nvCxnSpPr>
        <p:spPr>
          <a:xfrm rot="10800000">
            <a:off x="7265279" y="3942721"/>
            <a:ext cx="52200" cy="79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9"/>
          <p:cNvCxnSpPr/>
          <p:nvPr/>
        </p:nvCxnSpPr>
        <p:spPr>
          <a:xfrm rot="10800000">
            <a:off x="7196355" y="3877186"/>
            <a:ext cx="69000" cy="65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9"/>
          <p:cNvCxnSpPr/>
          <p:nvPr/>
        </p:nvCxnSpPr>
        <p:spPr>
          <a:xfrm rot="10800000">
            <a:off x="7114129" y="3829056"/>
            <a:ext cx="82200" cy="48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9"/>
          <p:cNvCxnSpPr/>
          <p:nvPr/>
        </p:nvCxnSpPr>
        <p:spPr>
          <a:xfrm rot="10800000">
            <a:off x="7023193" y="3801539"/>
            <a:ext cx="90900" cy="27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9"/>
          <p:cNvCxnSpPr/>
          <p:nvPr/>
        </p:nvCxnSpPr>
        <p:spPr>
          <a:xfrm rot="10800000">
            <a:off x="6927949" y="3795397"/>
            <a:ext cx="95100" cy="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9"/>
          <p:cNvCxnSpPr/>
          <p:nvPr/>
        </p:nvCxnSpPr>
        <p:spPr>
          <a:xfrm flipH="1">
            <a:off x="6834166" y="3795315"/>
            <a:ext cx="93900" cy="1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9"/>
          <p:cNvSpPr txBox="1"/>
          <p:nvPr/>
        </p:nvSpPr>
        <p:spPr>
          <a:xfrm>
            <a:off x="7178040" y="342900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C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7786119" y="2999231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#1: solution</a:t>
            </a:r>
            <a:endParaRPr sz="2400"/>
          </a:p>
        </p:txBody>
      </p:sp>
      <p:sp>
        <p:nvSpPr>
          <p:cNvPr id="181" name="Google Shape;181;p10"/>
          <p:cNvSpPr txBox="1"/>
          <p:nvPr/>
        </p:nvSpPr>
        <p:spPr>
          <a:xfrm>
            <a:off x="274320" y="822960"/>
            <a:ext cx="11521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the angle C opposite side c. In both triangles a = b = 250.</a:t>
            </a:r>
            <a:endParaRPr sz="2200"/>
          </a:p>
        </p:txBody>
      </p:sp>
      <p:sp>
        <p:nvSpPr>
          <p:cNvPr id="182" name="Google Shape;182;p10"/>
          <p:cNvSpPr txBox="1"/>
          <p:nvPr/>
        </p:nvSpPr>
        <p:spPr>
          <a:xfrm>
            <a:off x="27432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(a)  c = 250</a:t>
            </a:r>
            <a:endParaRPr sz="2200">
              <a:solidFill>
                <a:srgbClr val="FF0000"/>
              </a:solidFill>
            </a:endParaRPr>
          </a:p>
        </p:txBody>
      </p:sp>
      <p:cxnSp>
        <p:nvCxnSpPr>
          <p:cNvPr id="183" name="Google Shape;183;p10"/>
          <p:cNvCxnSpPr/>
          <p:nvPr/>
        </p:nvCxnSpPr>
        <p:spPr>
          <a:xfrm>
            <a:off x="1097280" y="4206240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0"/>
          <p:cNvCxnSpPr/>
          <p:nvPr/>
        </p:nvCxnSpPr>
        <p:spPr>
          <a:xfrm rot="10800000">
            <a:off x="2068680" y="2523540"/>
            <a:ext cx="971700" cy="1682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0"/>
          <p:cNvCxnSpPr/>
          <p:nvPr/>
        </p:nvCxnSpPr>
        <p:spPr>
          <a:xfrm flipH="1">
            <a:off x="1097130" y="2523466"/>
            <a:ext cx="971700" cy="1682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10"/>
          <p:cNvSpPr/>
          <p:nvPr/>
        </p:nvSpPr>
        <p:spPr>
          <a:xfrm>
            <a:off x="1024128" y="4133088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2967228" y="4133088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1995678" y="2450314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" name="Google Shape;189;p10"/>
          <p:cNvCxnSpPr/>
          <p:nvPr/>
        </p:nvCxnSpPr>
        <p:spPr>
          <a:xfrm rot="10800000">
            <a:off x="1499760" y="4120740"/>
            <a:ext cx="9000" cy="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0"/>
          <p:cNvCxnSpPr/>
          <p:nvPr/>
        </p:nvCxnSpPr>
        <p:spPr>
          <a:xfrm rot="10800000">
            <a:off x="1473068" y="4038788"/>
            <a:ext cx="26700" cy="81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0"/>
          <p:cNvCxnSpPr/>
          <p:nvPr/>
        </p:nvCxnSpPr>
        <p:spPr>
          <a:xfrm rot="10800000">
            <a:off x="1430286" y="3964476"/>
            <a:ext cx="42900" cy="7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0"/>
          <p:cNvCxnSpPr/>
          <p:nvPr/>
        </p:nvCxnSpPr>
        <p:spPr>
          <a:xfrm rot="10800000">
            <a:off x="1372574" y="3900478"/>
            <a:ext cx="57600" cy="63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0"/>
          <p:cNvCxnSpPr/>
          <p:nvPr/>
        </p:nvCxnSpPr>
        <p:spPr>
          <a:xfrm rot="10800000">
            <a:off x="1303014" y="3849751"/>
            <a:ext cx="69600" cy="50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10"/>
          <p:cNvSpPr txBox="1"/>
          <p:nvPr/>
        </p:nvSpPr>
        <p:spPr>
          <a:xfrm>
            <a:off x="1391000" y="3596350"/>
            <a:ext cx="4572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C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2691765" y="3090533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</a:t>
            </a:r>
            <a:endParaRPr sz="1800"/>
          </a:p>
        </p:txBody>
      </p:sp>
      <p:sp>
        <p:nvSpPr>
          <p:cNvPr id="196" name="Google Shape;196;p10"/>
          <p:cNvSpPr txBox="1"/>
          <p:nvPr/>
        </p:nvSpPr>
        <p:spPr>
          <a:xfrm>
            <a:off x="274320" y="4572000"/>
            <a:ext cx="5669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cos C = (125,000 − 62,500) ÷ 125,000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= 0.5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C = cos</a:t>
            </a:r>
            <a:r>
              <a:rPr baseline="30000" lang="en-US" sz="2000">
                <a:solidFill>
                  <a:srgbClr val="FF0000"/>
                </a:solidFill>
              </a:rPr>
              <a:t>−1</a:t>
            </a:r>
            <a:r>
              <a:rPr lang="en-US" sz="2000">
                <a:solidFill>
                  <a:srgbClr val="FF0000"/>
                </a:solidFill>
              </a:rPr>
              <a:t>(0.5) = 60°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612648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(b)  c = 400</a:t>
            </a:r>
            <a:endParaRPr sz="2200">
              <a:solidFill>
                <a:srgbClr val="FF0000"/>
              </a:solidFill>
            </a:endParaRPr>
          </a:p>
        </p:txBody>
      </p:sp>
      <p:cxnSp>
        <p:nvCxnSpPr>
          <p:cNvPr id="198" name="Google Shape;198;p10"/>
          <p:cNvCxnSpPr/>
          <p:nvPr/>
        </p:nvCxnSpPr>
        <p:spPr>
          <a:xfrm>
            <a:off x="6949440" y="4206240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10"/>
          <p:cNvCxnSpPr/>
          <p:nvPr/>
        </p:nvCxnSpPr>
        <p:spPr>
          <a:xfrm rot="10800000">
            <a:off x="6405240" y="2340840"/>
            <a:ext cx="2487300" cy="1865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10"/>
          <p:cNvCxnSpPr/>
          <p:nvPr/>
        </p:nvCxnSpPr>
        <p:spPr>
          <a:xfrm>
            <a:off x="6405379" y="2340862"/>
            <a:ext cx="544200" cy="1865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10"/>
          <p:cNvSpPr/>
          <p:nvPr/>
        </p:nvSpPr>
        <p:spPr>
          <a:xfrm>
            <a:off x="6876288" y="4133088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8819388" y="4133088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6332227" y="2267710"/>
            <a:ext cx="146400" cy="1464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10"/>
          <p:cNvCxnSpPr/>
          <p:nvPr/>
        </p:nvCxnSpPr>
        <p:spPr>
          <a:xfrm rot="10800000">
            <a:off x="7349820" y="4111740"/>
            <a:ext cx="11100" cy="9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0"/>
          <p:cNvCxnSpPr/>
          <p:nvPr/>
        </p:nvCxnSpPr>
        <p:spPr>
          <a:xfrm rot="10800000">
            <a:off x="7317513" y="4022301"/>
            <a:ext cx="32400" cy="89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10"/>
          <p:cNvCxnSpPr/>
          <p:nvPr/>
        </p:nvCxnSpPr>
        <p:spPr>
          <a:xfrm rot="10800000">
            <a:off x="7265279" y="3942721"/>
            <a:ext cx="52200" cy="79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0"/>
          <p:cNvCxnSpPr/>
          <p:nvPr/>
        </p:nvCxnSpPr>
        <p:spPr>
          <a:xfrm rot="10800000">
            <a:off x="7196355" y="3877186"/>
            <a:ext cx="69000" cy="65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10"/>
          <p:cNvCxnSpPr/>
          <p:nvPr/>
        </p:nvCxnSpPr>
        <p:spPr>
          <a:xfrm rot="10800000">
            <a:off x="7114129" y="3829056"/>
            <a:ext cx="82200" cy="48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0"/>
          <p:cNvCxnSpPr/>
          <p:nvPr/>
        </p:nvCxnSpPr>
        <p:spPr>
          <a:xfrm rot="10800000">
            <a:off x="7023193" y="3801539"/>
            <a:ext cx="90900" cy="27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0"/>
          <p:cNvCxnSpPr/>
          <p:nvPr/>
        </p:nvCxnSpPr>
        <p:spPr>
          <a:xfrm rot="10800000">
            <a:off x="6927949" y="3795397"/>
            <a:ext cx="95100" cy="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0"/>
          <p:cNvCxnSpPr/>
          <p:nvPr/>
        </p:nvCxnSpPr>
        <p:spPr>
          <a:xfrm flipH="1">
            <a:off x="6834166" y="3795315"/>
            <a:ext cx="93900" cy="1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10"/>
          <p:cNvSpPr txBox="1"/>
          <p:nvPr/>
        </p:nvSpPr>
        <p:spPr>
          <a:xfrm>
            <a:off x="7178040" y="342900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C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7786119" y="2999231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</a:t>
            </a:r>
            <a:endParaRPr sz="1800"/>
          </a:p>
        </p:txBody>
      </p:sp>
      <p:sp>
        <p:nvSpPr>
          <p:cNvPr id="214" name="Google Shape;214;p10"/>
          <p:cNvSpPr txBox="1"/>
          <p:nvPr/>
        </p:nvSpPr>
        <p:spPr>
          <a:xfrm>
            <a:off x="6126480" y="4572000"/>
            <a:ext cx="5669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cos C = (125,000 − 160,000) ÷ 125,000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= −0.28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C = cos</a:t>
            </a:r>
            <a:r>
              <a:rPr baseline="30000" lang="en-US" sz="2000">
                <a:solidFill>
                  <a:srgbClr val="FF0000"/>
                </a:solidFill>
              </a:rPr>
              <a:t>−1</a:t>
            </a:r>
            <a:r>
              <a:rPr lang="en-US" sz="2000">
                <a:solidFill>
                  <a:srgbClr val="FF0000"/>
                </a:solidFill>
              </a:rPr>
              <a:t>(−0.28) = 106.26°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274320" y="5989320"/>
            <a:ext cx="11521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 negative cosine means the angle is bigger than 90°.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arm makes a triangle:</a:t>
            </a:r>
            <a:endParaRPr sz="2400"/>
          </a:p>
        </p:txBody>
      </p:sp>
      <p:sp>
        <p:nvSpPr>
          <p:cNvPr id="221" name="Google Shape;221;p11"/>
          <p:cNvSpPr txBox="1"/>
          <p:nvPr/>
        </p:nvSpPr>
        <p:spPr>
          <a:xfrm>
            <a:off x="274320" y="822960"/>
            <a:ext cx="54864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Draw a straight line D from the shoulder to the target.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two links and D make a triangle. We know all three sides: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250</a:t>
            </a:r>
            <a:r>
              <a:rPr lang="en-US" sz="2200"/>
              <a:t> and </a:t>
            </a: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D = √(X² + Y²)</a:t>
            </a:r>
            <a:r>
              <a:rPr lang="en-US" sz="2200"/>
              <a:t>  (Pythagorean theorem)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So the law of cosines can find the angles of this triangle. They give us the joint angles.</a:t>
            </a:r>
            <a:endParaRPr sz="2200"/>
          </a:p>
        </p:txBody>
      </p:sp>
      <p:sp>
        <p:nvSpPr>
          <p:cNvPr id="222" name="Google Shape;222;p11"/>
          <p:cNvSpPr/>
          <p:nvPr/>
        </p:nvSpPr>
        <p:spPr>
          <a:xfrm>
            <a:off x="5852160" y="5321808"/>
            <a:ext cx="56694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" name="Google Shape;223;p11"/>
          <p:cNvCxnSpPr/>
          <p:nvPr/>
        </p:nvCxnSpPr>
        <p:spPr>
          <a:xfrm flipH="1" rot="10800000">
            <a:off x="6400800" y="3676380"/>
            <a:ext cx="1535700" cy="1535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11"/>
          <p:cNvCxnSpPr/>
          <p:nvPr/>
        </p:nvCxnSpPr>
        <p:spPr>
          <a:xfrm flipH="1" rot="10800000">
            <a:off x="6400800" y="3676380"/>
            <a:ext cx="1535700" cy="153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1"/>
          <p:cNvCxnSpPr/>
          <p:nvPr/>
        </p:nvCxnSpPr>
        <p:spPr>
          <a:xfrm>
            <a:off x="7936424" y="3676456"/>
            <a:ext cx="21717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11"/>
          <p:cNvCxnSpPr/>
          <p:nvPr/>
        </p:nvCxnSpPr>
        <p:spPr>
          <a:xfrm>
            <a:off x="7936424" y="3676456"/>
            <a:ext cx="21717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11"/>
          <p:cNvSpPr/>
          <p:nvPr/>
        </p:nvSpPr>
        <p:spPr>
          <a:xfrm>
            <a:off x="629107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7826696" y="356672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9998396" y="356672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11"/>
          <p:cNvCxnSpPr/>
          <p:nvPr/>
        </p:nvCxnSpPr>
        <p:spPr>
          <a:xfrm flipH="1" rot="10800000">
            <a:off x="6400800" y="3676380"/>
            <a:ext cx="3707400" cy="153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1" name="Google Shape;231;p11"/>
          <p:cNvSpPr/>
          <p:nvPr/>
        </p:nvSpPr>
        <p:spPr>
          <a:xfrm>
            <a:off x="9952676" y="3521008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10062404" y="3630736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11"/>
          <p:cNvCxnSpPr/>
          <p:nvPr/>
        </p:nvCxnSpPr>
        <p:spPr>
          <a:xfrm>
            <a:off x="6400800" y="5212080"/>
            <a:ext cx="37074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11"/>
          <p:cNvCxnSpPr/>
          <p:nvPr/>
        </p:nvCxnSpPr>
        <p:spPr>
          <a:xfrm rot="10800000">
            <a:off x="10108124" y="3676380"/>
            <a:ext cx="0" cy="15357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5" name="Google Shape;235;p11"/>
          <p:cNvSpPr txBox="1"/>
          <p:nvPr/>
        </p:nvSpPr>
        <p:spPr>
          <a:xfrm>
            <a:off x="6391372" y="4124228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</a:t>
            </a:r>
            <a:r>
              <a:rPr baseline="-25000" lang="en-US" sz="2000"/>
              <a:t>1</a:t>
            </a:r>
            <a:endParaRPr baseline="-25000" sz="2000"/>
          </a:p>
        </p:txBody>
      </p:sp>
      <p:sp>
        <p:nvSpPr>
          <p:cNvPr id="236" name="Google Shape;236;p11"/>
          <p:cNvSpPr txBox="1"/>
          <p:nvPr/>
        </p:nvSpPr>
        <p:spPr>
          <a:xfrm>
            <a:off x="8839394" y="3173536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</a:t>
            </a:r>
            <a:r>
              <a:rPr baseline="-25000" lang="en-US" sz="2000"/>
              <a:t>2</a:t>
            </a:r>
            <a:endParaRPr baseline="-25000" sz="2000"/>
          </a:p>
        </p:txBody>
      </p:sp>
      <p:sp>
        <p:nvSpPr>
          <p:cNvPr id="237" name="Google Shape;237;p11"/>
          <p:cNvSpPr txBox="1"/>
          <p:nvPr/>
        </p:nvSpPr>
        <p:spPr>
          <a:xfrm>
            <a:off x="8437342" y="4398548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D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8071582" y="562356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239" name="Google Shape;239;p11"/>
          <p:cNvSpPr txBox="1"/>
          <p:nvPr/>
        </p:nvSpPr>
        <p:spPr>
          <a:xfrm>
            <a:off x="10217852" y="4261388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240" name="Google Shape;240;p11"/>
          <p:cNvSpPr txBox="1"/>
          <p:nvPr/>
        </p:nvSpPr>
        <p:spPr>
          <a:xfrm>
            <a:off x="9468044" y="2990656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target (X, Y)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1: the elbow angle θ</a:t>
            </a:r>
            <a:r>
              <a:rPr baseline="-25000" lang="en-US" sz="2400"/>
              <a:t>E</a:t>
            </a:r>
            <a:endParaRPr baseline="-25000" sz="2400"/>
          </a:p>
        </p:txBody>
      </p:sp>
      <p:sp>
        <p:nvSpPr>
          <p:cNvPr id="246" name="Google Shape;246;p12"/>
          <p:cNvSpPr txBox="1"/>
          <p:nvPr/>
        </p:nvSpPr>
        <p:spPr>
          <a:xfrm>
            <a:off x="274320" y="777240"/>
            <a:ext cx="63093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law of cosines gives γ, the angle inside the triangle at the elbow: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cos γ = (L</a:t>
            </a:r>
            <a:r>
              <a:rPr baseline="-25000" lang="en-US" sz="2000"/>
              <a:t>1</a:t>
            </a:r>
            <a:r>
              <a:rPr lang="en-US" sz="2000"/>
              <a:t>² + L</a:t>
            </a:r>
            <a:r>
              <a:rPr baseline="-25000" lang="en-US" sz="2000"/>
              <a:t>2</a:t>
            </a:r>
            <a:r>
              <a:rPr lang="en-US" sz="2000"/>
              <a:t>² − D²) ÷ (2 L</a:t>
            </a:r>
            <a:r>
              <a:rPr baseline="-25000" lang="en-US" sz="2000"/>
              <a:t>1</a:t>
            </a:r>
            <a:r>
              <a:rPr lang="en-US" sz="2000"/>
              <a:t> L</a:t>
            </a:r>
            <a:r>
              <a:rPr baseline="-25000" lang="en-US" sz="2000"/>
              <a:t>2</a:t>
            </a:r>
            <a:r>
              <a:rPr lang="en-US" sz="2000"/>
              <a:t>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θ</a:t>
            </a:r>
            <a:r>
              <a:rPr baseline="-25000" lang="en-US" sz="2000"/>
              <a:t>E</a:t>
            </a:r>
            <a:r>
              <a:rPr lang="en-US" sz="2000"/>
              <a:t> is the bend away from a straight arm, so its size is 180° − γ. Because cos(180° − γ) = −cos γ: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cos 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= (D² − L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² − L</a:t>
            </a:r>
            <a:r>
              <a:rPr baseline="-25000" lang="en-US" sz="2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²) ÷ (2 L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 L</a:t>
            </a:r>
            <a:r>
              <a:rPr baseline="-25000" lang="en-US" sz="2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Check: a straight arm has D = 500, so cos θ</a:t>
            </a:r>
            <a:r>
              <a:rPr baseline="-25000" lang="en-US" sz="2000"/>
              <a:t>E</a:t>
            </a:r>
            <a:r>
              <a:rPr lang="en-US" sz="2000"/>
              <a:t> = 1 and θ</a:t>
            </a:r>
            <a:r>
              <a:rPr baseline="-25000" lang="en-US" sz="2000"/>
              <a:t>E</a:t>
            </a:r>
            <a:r>
              <a:rPr lang="en-US" sz="2000"/>
              <a:t> = 0°.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Our forearm bends down (elbow up), so θ</a:t>
            </a:r>
            <a:r>
              <a:rPr baseline="-25000" lang="en-US" sz="2000"/>
              <a:t>E</a:t>
            </a:r>
            <a:r>
              <a:rPr lang="en-US" sz="2000"/>
              <a:t> is negative.</a:t>
            </a:r>
            <a:endParaRPr sz="2000"/>
          </a:p>
        </p:txBody>
      </p:sp>
      <p:sp>
        <p:nvSpPr>
          <p:cNvPr id="247" name="Google Shape;247;p12"/>
          <p:cNvSpPr/>
          <p:nvPr/>
        </p:nvSpPr>
        <p:spPr>
          <a:xfrm>
            <a:off x="6583680" y="5321808"/>
            <a:ext cx="5212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" name="Google Shape;248;p12"/>
          <p:cNvCxnSpPr/>
          <p:nvPr/>
        </p:nvCxnSpPr>
        <p:spPr>
          <a:xfrm flipH="1" rot="10800000">
            <a:off x="8533557" y="2787363"/>
            <a:ext cx="840600" cy="8406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12"/>
          <p:cNvCxnSpPr/>
          <p:nvPr/>
        </p:nvCxnSpPr>
        <p:spPr>
          <a:xfrm flipH="1" rot="10800000">
            <a:off x="6949440" y="3628080"/>
            <a:ext cx="1584000" cy="158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12"/>
          <p:cNvCxnSpPr/>
          <p:nvPr/>
        </p:nvCxnSpPr>
        <p:spPr>
          <a:xfrm flipH="1" rot="10800000">
            <a:off x="6949440" y="3628080"/>
            <a:ext cx="1584000" cy="158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12"/>
          <p:cNvCxnSpPr/>
          <p:nvPr/>
        </p:nvCxnSpPr>
        <p:spPr>
          <a:xfrm>
            <a:off x="8533557" y="3627963"/>
            <a:ext cx="22404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12"/>
          <p:cNvCxnSpPr/>
          <p:nvPr/>
        </p:nvCxnSpPr>
        <p:spPr>
          <a:xfrm>
            <a:off x="8533557" y="3627963"/>
            <a:ext cx="2240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12"/>
          <p:cNvSpPr/>
          <p:nvPr/>
        </p:nvSpPr>
        <p:spPr>
          <a:xfrm>
            <a:off x="683971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8423829" y="3518235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10664109" y="3518235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2"/>
          <p:cNvCxnSpPr/>
          <p:nvPr/>
        </p:nvCxnSpPr>
        <p:spPr>
          <a:xfrm flipH="1" rot="10800000">
            <a:off x="6949440" y="3628080"/>
            <a:ext cx="3824400" cy="1584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7" name="Google Shape;257;p12"/>
          <p:cNvSpPr/>
          <p:nvPr/>
        </p:nvSpPr>
        <p:spPr>
          <a:xfrm>
            <a:off x="10618389" y="3472515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10728117" y="3582243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" name="Google Shape;259;p12"/>
          <p:cNvCxnSpPr/>
          <p:nvPr/>
        </p:nvCxnSpPr>
        <p:spPr>
          <a:xfrm>
            <a:off x="8177939" y="3983581"/>
            <a:ext cx="92700" cy="732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12"/>
          <p:cNvCxnSpPr/>
          <p:nvPr/>
        </p:nvCxnSpPr>
        <p:spPr>
          <a:xfrm>
            <a:off x="8270782" y="4056773"/>
            <a:ext cx="107400" cy="495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12"/>
          <p:cNvCxnSpPr/>
          <p:nvPr/>
        </p:nvCxnSpPr>
        <p:spPr>
          <a:xfrm>
            <a:off x="8378146" y="4106268"/>
            <a:ext cx="116100" cy="23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12"/>
          <p:cNvCxnSpPr/>
          <p:nvPr/>
        </p:nvCxnSpPr>
        <p:spPr>
          <a:xfrm flipH="1" rot="10800000">
            <a:off x="8494099" y="4124832"/>
            <a:ext cx="118200" cy="45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12"/>
          <p:cNvCxnSpPr/>
          <p:nvPr/>
        </p:nvCxnSpPr>
        <p:spPr>
          <a:xfrm flipH="1" rot="10800000">
            <a:off x="8612231" y="4092591"/>
            <a:ext cx="113700" cy="32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12"/>
          <p:cNvCxnSpPr/>
          <p:nvPr/>
        </p:nvCxnSpPr>
        <p:spPr>
          <a:xfrm flipH="1" rot="10800000">
            <a:off x="8726016" y="4034700"/>
            <a:ext cx="103200" cy="57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12"/>
          <p:cNvCxnSpPr/>
          <p:nvPr/>
        </p:nvCxnSpPr>
        <p:spPr>
          <a:xfrm flipH="1" rot="10800000">
            <a:off x="8829166" y="3954734"/>
            <a:ext cx="86700" cy="80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12"/>
          <p:cNvCxnSpPr/>
          <p:nvPr/>
        </p:nvCxnSpPr>
        <p:spPr>
          <a:xfrm flipH="1" rot="10800000">
            <a:off x="8915981" y="3856183"/>
            <a:ext cx="65700" cy="984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12"/>
          <p:cNvCxnSpPr/>
          <p:nvPr/>
        </p:nvCxnSpPr>
        <p:spPr>
          <a:xfrm flipH="1" rot="10800000">
            <a:off x="8981662" y="3745284"/>
            <a:ext cx="40800" cy="111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12"/>
          <p:cNvCxnSpPr/>
          <p:nvPr/>
        </p:nvCxnSpPr>
        <p:spPr>
          <a:xfrm flipH="1" rot="10800000">
            <a:off x="9022581" y="3628067"/>
            <a:ext cx="13800" cy="117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12"/>
          <p:cNvCxnSpPr/>
          <p:nvPr/>
        </p:nvCxnSpPr>
        <p:spPr>
          <a:xfrm rot="10800000">
            <a:off x="9475377" y="3440763"/>
            <a:ext cx="18300" cy="187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12"/>
          <p:cNvCxnSpPr/>
          <p:nvPr/>
        </p:nvCxnSpPr>
        <p:spPr>
          <a:xfrm rot="10800000">
            <a:off x="9420629" y="3260653"/>
            <a:ext cx="54600" cy="180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12"/>
          <p:cNvCxnSpPr/>
          <p:nvPr/>
        </p:nvCxnSpPr>
        <p:spPr>
          <a:xfrm rot="10800000">
            <a:off x="9331792" y="3094641"/>
            <a:ext cx="88800" cy="16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12"/>
          <p:cNvCxnSpPr/>
          <p:nvPr/>
        </p:nvCxnSpPr>
        <p:spPr>
          <a:xfrm rot="10800000">
            <a:off x="9212468" y="2949049"/>
            <a:ext cx="119400" cy="14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12"/>
          <p:cNvSpPr txBox="1"/>
          <p:nvPr/>
        </p:nvSpPr>
        <p:spPr>
          <a:xfrm>
            <a:off x="8487837" y="4085163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γ</a:t>
            </a:r>
            <a:endParaRPr sz="2000"/>
          </a:p>
        </p:txBody>
      </p:sp>
      <p:sp>
        <p:nvSpPr>
          <p:cNvPr id="274" name="Google Shape;274;p12"/>
          <p:cNvSpPr txBox="1"/>
          <p:nvPr/>
        </p:nvSpPr>
        <p:spPr>
          <a:xfrm>
            <a:off x="9585117" y="2942163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endParaRPr baseline="-25000" sz="2000">
              <a:solidFill>
                <a:srgbClr val="FF0000"/>
              </a:solidFill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9044519" y="4374301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D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the elbow</a:t>
            </a:r>
            <a:endParaRPr sz="2400"/>
          </a:p>
        </p:txBody>
      </p:sp>
      <p:sp>
        <p:nvSpPr>
          <p:cNvPr id="281" name="Google Shape;281;p13"/>
          <p:cNvSpPr txBox="1"/>
          <p:nvPr/>
        </p:nvSpPr>
        <p:spPr>
          <a:xfrm>
            <a:off x="274320" y="822960"/>
            <a:ext cx="64008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Target (X, Y) = </a:t>
            </a:r>
            <a:r>
              <a:rPr lang="en-US" sz="2100">
                <a:solidFill>
                  <a:srgbClr val="FF0000"/>
                </a:solidFill>
              </a:rPr>
              <a:t>(426.78, 176.78)</a:t>
            </a:r>
            <a:r>
              <a:rPr lang="en-US" sz="2100"/>
              <a:t>, the tip from Lesson 4.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D² = 426.78² + 176.78² = 213,392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(so D = 461.94)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 θ</a:t>
            </a:r>
            <a:r>
              <a:rPr baseline="-25000" lang="en-US" sz="2100"/>
              <a:t>E</a:t>
            </a:r>
            <a:r>
              <a:rPr lang="en-US" sz="2100"/>
              <a:t> = (213,392 − 62,500 − 62,500) ÷ 125,000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= 0.7071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</a:t>
            </a:r>
            <a:r>
              <a:rPr baseline="30000" lang="en-US" sz="2100"/>
              <a:t>−1</a:t>
            </a:r>
            <a:r>
              <a:rPr lang="en-US" sz="2100"/>
              <a:t>(0.7071) = 45°. Elbow up, so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E</a:t>
            </a:r>
            <a:r>
              <a:rPr lang="en-US" sz="2100">
                <a:solidFill>
                  <a:srgbClr val="FF0000"/>
                </a:solidFill>
              </a:rPr>
              <a:t> = −45°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282" name="Google Shape;282;p13"/>
          <p:cNvSpPr/>
          <p:nvPr/>
        </p:nvSpPr>
        <p:spPr>
          <a:xfrm>
            <a:off x="6858000" y="5321808"/>
            <a:ext cx="49377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13"/>
          <p:cNvCxnSpPr/>
          <p:nvPr/>
        </p:nvCxnSpPr>
        <p:spPr>
          <a:xfrm flipH="1" rot="10800000">
            <a:off x="8759384" y="2835856"/>
            <a:ext cx="840600" cy="8406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13"/>
          <p:cNvCxnSpPr/>
          <p:nvPr/>
        </p:nvCxnSpPr>
        <p:spPr>
          <a:xfrm flipH="1" rot="10800000">
            <a:off x="7223760" y="3676380"/>
            <a:ext cx="1535700" cy="1535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13"/>
          <p:cNvCxnSpPr/>
          <p:nvPr/>
        </p:nvCxnSpPr>
        <p:spPr>
          <a:xfrm flipH="1" rot="10800000">
            <a:off x="7223760" y="3676380"/>
            <a:ext cx="1535700" cy="153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13"/>
          <p:cNvCxnSpPr/>
          <p:nvPr/>
        </p:nvCxnSpPr>
        <p:spPr>
          <a:xfrm>
            <a:off x="8759384" y="3676456"/>
            <a:ext cx="21717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13"/>
          <p:cNvCxnSpPr/>
          <p:nvPr/>
        </p:nvCxnSpPr>
        <p:spPr>
          <a:xfrm>
            <a:off x="8759384" y="3676456"/>
            <a:ext cx="21717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13"/>
          <p:cNvSpPr/>
          <p:nvPr/>
        </p:nvSpPr>
        <p:spPr>
          <a:xfrm>
            <a:off x="711403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8649656" y="356672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10821356" y="356672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1" name="Google Shape;291;p13"/>
          <p:cNvCxnSpPr/>
          <p:nvPr/>
        </p:nvCxnSpPr>
        <p:spPr>
          <a:xfrm flipH="1" rot="10800000">
            <a:off x="7223760" y="3676380"/>
            <a:ext cx="3707400" cy="153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2" name="Google Shape;292;p13"/>
          <p:cNvSpPr/>
          <p:nvPr/>
        </p:nvSpPr>
        <p:spPr>
          <a:xfrm>
            <a:off x="10775636" y="3521008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10885364" y="3630736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13"/>
          <p:cNvCxnSpPr/>
          <p:nvPr/>
        </p:nvCxnSpPr>
        <p:spPr>
          <a:xfrm rot="10800000">
            <a:off x="9701204" y="3489256"/>
            <a:ext cx="18300" cy="187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13"/>
          <p:cNvCxnSpPr/>
          <p:nvPr/>
        </p:nvCxnSpPr>
        <p:spPr>
          <a:xfrm rot="10800000">
            <a:off x="9646455" y="3309146"/>
            <a:ext cx="54600" cy="180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13"/>
          <p:cNvCxnSpPr/>
          <p:nvPr/>
        </p:nvCxnSpPr>
        <p:spPr>
          <a:xfrm rot="10800000">
            <a:off x="9557619" y="3143134"/>
            <a:ext cx="88800" cy="16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13"/>
          <p:cNvCxnSpPr/>
          <p:nvPr/>
        </p:nvCxnSpPr>
        <p:spPr>
          <a:xfrm rot="10800000">
            <a:off x="9438294" y="2997542"/>
            <a:ext cx="119400" cy="14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13"/>
          <p:cNvSpPr txBox="1"/>
          <p:nvPr/>
        </p:nvSpPr>
        <p:spPr>
          <a:xfrm>
            <a:off x="9810944" y="2990656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= −45°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9168862" y="4444268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D = 461.94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2: the shoulder angle θ</a:t>
            </a:r>
            <a:r>
              <a:rPr baseline="-25000" lang="en-US" sz="2400"/>
              <a:t>S</a:t>
            </a:r>
            <a:endParaRPr baseline="-25000" sz="2400"/>
          </a:p>
        </p:txBody>
      </p:sp>
      <p:sp>
        <p:nvSpPr>
          <p:cNvPr id="305" name="Google Shape;305;p14"/>
          <p:cNvSpPr txBox="1"/>
          <p:nvPr/>
        </p:nvSpPr>
        <p:spPr>
          <a:xfrm>
            <a:off x="274320" y="777240"/>
            <a:ext cx="6217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θ</a:t>
            </a:r>
            <a:r>
              <a:rPr baseline="-25000" lang="en-US" sz="2000"/>
              <a:t>S</a:t>
            </a:r>
            <a:r>
              <a:rPr lang="en-US" sz="2000"/>
              <a:t> is measured from the floor. It is made of two angles.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φ is the tilt of the line D: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φ = tan</a:t>
            </a:r>
            <a:r>
              <a:rPr baseline="30000" lang="en-US" sz="2000">
                <a:solidFill>
                  <a:srgbClr val="FF0000"/>
                </a:solidFill>
              </a:rPr>
              <a:t>−1</a:t>
            </a:r>
            <a:r>
              <a:rPr lang="en-US" sz="2000">
                <a:solidFill>
                  <a:srgbClr val="FF0000"/>
                </a:solidFill>
              </a:rPr>
              <a:t>(Y ÷ X)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δ is the angle between D and the upper arm (the law of cosines again):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cos δ = (L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² + D² − L</a:t>
            </a:r>
            <a:r>
              <a:rPr baseline="-25000" lang="en-US" sz="2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²) ÷ (2 L</a:t>
            </a:r>
            <a:r>
              <a:rPr baseline="-25000" lang="en-US" sz="2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 D)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Our arm has L</a:t>
            </a:r>
            <a:r>
              <a:rPr baseline="-25000" lang="en-US" sz="2000"/>
              <a:t>1</a:t>
            </a:r>
            <a:r>
              <a:rPr lang="en-US" sz="2000"/>
              <a:t> = L</a:t>
            </a:r>
            <a:r>
              <a:rPr baseline="-25000" lang="en-US" sz="2000"/>
              <a:t>2</a:t>
            </a:r>
            <a:r>
              <a:rPr lang="en-US" sz="2000"/>
              <a:t>, so this is just cos δ = D ÷ 500.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Elbow up: the upper arm is above D, so </a:t>
            </a: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= φ + δ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6583680" y="5321808"/>
            <a:ext cx="5212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7" name="Google Shape;307;p14"/>
          <p:cNvCxnSpPr/>
          <p:nvPr/>
        </p:nvCxnSpPr>
        <p:spPr>
          <a:xfrm>
            <a:off x="6949440" y="5212080"/>
            <a:ext cx="21945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14"/>
          <p:cNvCxnSpPr/>
          <p:nvPr/>
        </p:nvCxnSpPr>
        <p:spPr>
          <a:xfrm flipH="1" rot="10800000">
            <a:off x="6949440" y="3628080"/>
            <a:ext cx="1584000" cy="158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14"/>
          <p:cNvCxnSpPr/>
          <p:nvPr/>
        </p:nvCxnSpPr>
        <p:spPr>
          <a:xfrm flipH="1" rot="10800000">
            <a:off x="6949440" y="3628080"/>
            <a:ext cx="1584000" cy="158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14"/>
          <p:cNvCxnSpPr/>
          <p:nvPr/>
        </p:nvCxnSpPr>
        <p:spPr>
          <a:xfrm>
            <a:off x="8533557" y="3627963"/>
            <a:ext cx="22404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14"/>
          <p:cNvCxnSpPr/>
          <p:nvPr/>
        </p:nvCxnSpPr>
        <p:spPr>
          <a:xfrm>
            <a:off x="8533557" y="3627963"/>
            <a:ext cx="2240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14"/>
          <p:cNvSpPr/>
          <p:nvPr/>
        </p:nvSpPr>
        <p:spPr>
          <a:xfrm>
            <a:off x="683971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8423829" y="3518235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10664109" y="3518235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5" name="Google Shape;315;p14"/>
          <p:cNvCxnSpPr/>
          <p:nvPr/>
        </p:nvCxnSpPr>
        <p:spPr>
          <a:xfrm flipH="1" rot="10800000">
            <a:off x="6949440" y="3628080"/>
            <a:ext cx="3824400" cy="1584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6" name="Google Shape;316;p14"/>
          <p:cNvSpPr/>
          <p:nvPr/>
        </p:nvSpPr>
        <p:spPr>
          <a:xfrm>
            <a:off x="10618389" y="3472515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10728117" y="3582243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" name="Google Shape;318;p14"/>
          <p:cNvCxnSpPr/>
          <p:nvPr/>
        </p:nvCxnSpPr>
        <p:spPr>
          <a:xfrm rot="10800000">
            <a:off x="8399880" y="5020980"/>
            <a:ext cx="12600" cy="1911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14"/>
          <p:cNvCxnSpPr/>
          <p:nvPr/>
        </p:nvCxnSpPr>
        <p:spPr>
          <a:xfrm rot="10800000">
            <a:off x="8362763" y="4833315"/>
            <a:ext cx="37200" cy="187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14"/>
          <p:cNvCxnSpPr/>
          <p:nvPr/>
        </p:nvCxnSpPr>
        <p:spPr>
          <a:xfrm rot="10800000">
            <a:off x="8301128" y="4652217"/>
            <a:ext cx="61500" cy="181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14"/>
          <p:cNvCxnSpPr/>
          <p:nvPr/>
        </p:nvCxnSpPr>
        <p:spPr>
          <a:xfrm rot="10800000">
            <a:off x="7741435" y="4754754"/>
            <a:ext cx="52800" cy="10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14"/>
          <p:cNvCxnSpPr/>
          <p:nvPr/>
        </p:nvCxnSpPr>
        <p:spPr>
          <a:xfrm rot="10800000">
            <a:off x="7674734" y="4655280"/>
            <a:ext cx="66600" cy="9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14"/>
          <p:cNvCxnSpPr/>
          <p:nvPr/>
        </p:nvCxnSpPr>
        <p:spPr>
          <a:xfrm rot="10800000">
            <a:off x="7595982" y="4565429"/>
            <a:ext cx="78900" cy="90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14"/>
          <p:cNvSpPr txBox="1"/>
          <p:nvPr/>
        </p:nvSpPr>
        <p:spPr>
          <a:xfrm>
            <a:off x="8503920" y="475488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155CC"/>
                </a:solidFill>
              </a:rPr>
              <a:t>φ</a:t>
            </a:r>
            <a:endParaRPr sz="2000">
              <a:solidFill>
                <a:srgbClr val="1155CC"/>
              </a:solidFill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7790688" y="4315968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δ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9410279" y="4374301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D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the shoulder</a:t>
            </a:r>
            <a:endParaRPr sz="2400"/>
          </a:p>
        </p:txBody>
      </p:sp>
      <p:sp>
        <p:nvSpPr>
          <p:cNvPr id="332" name="Google Shape;332;p15"/>
          <p:cNvSpPr txBox="1"/>
          <p:nvPr/>
        </p:nvSpPr>
        <p:spPr>
          <a:xfrm>
            <a:off x="274320" y="822960"/>
            <a:ext cx="64923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Same target (426.78, 176.78), with D = 461.94.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φ = tan</a:t>
            </a:r>
            <a:r>
              <a:rPr baseline="30000" lang="en-US" sz="2100"/>
              <a:t>−1</a:t>
            </a:r>
            <a:r>
              <a:rPr lang="en-US" sz="2100"/>
              <a:t>(176.78 ÷ 426.78) = 22.5°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 δ = (62,500 + 213,392 − 62,500) ÷ (2 × 250 × 461.94)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= 213,392 ÷ 230,970 = 0.9239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(the same as 461.94 ÷ 500)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δ = cos</a:t>
            </a:r>
            <a:r>
              <a:rPr baseline="30000" lang="en-US" sz="2100"/>
              <a:t>−1</a:t>
            </a:r>
            <a:r>
              <a:rPr lang="en-US" sz="2100"/>
              <a:t>(0.9239) = 22.5°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S</a:t>
            </a:r>
            <a:r>
              <a:rPr lang="en-US" sz="2100">
                <a:solidFill>
                  <a:srgbClr val="FF0000"/>
                </a:solidFill>
              </a:rPr>
              <a:t> = 22.5° + 22.5° = 45°</a:t>
            </a:r>
            <a:endParaRPr sz="2100">
              <a:solidFill>
                <a:srgbClr val="FF0000"/>
              </a:solidFill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6858000" y="5321808"/>
            <a:ext cx="49377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" name="Google Shape;334;p15"/>
          <p:cNvCxnSpPr/>
          <p:nvPr/>
        </p:nvCxnSpPr>
        <p:spPr>
          <a:xfrm>
            <a:off x="7223760" y="5212080"/>
            <a:ext cx="21945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15"/>
          <p:cNvCxnSpPr/>
          <p:nvPr/>
        </p:nvCxnSpPr>
        <p:spPr>
          <a:xfrm flipH="1" rot="10800000">
            <a:off x="7223760" y="3676380"/>
            <a:ext cx="1535700" cy="1535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15"/>
          <p:cNvCxnSpPr/>
          <p:nvPr/>
        </p:nvCxnSpPr>
        <p:spPr>
          <a:xfrm flipH="1" rot="10800000">
            <a:off x="7223760" y="3676380"/>
            <a:ext cx="1535700" cy="153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15"/>
          <p:cNvCxnSpPr/>
          <p:nvPr/>
        </p:nvCxnSpPr>
        <p:spPr>
          <a:xfrm>
            <a:off x="8759384" y="3676456"/>
            <a:ext cx="21717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15"/>
          <p:cNvCxnSpPr/>
          <p:nvPr/>
        </p:nvCxnSpPr>
        <p:spPr>
          <a:xfrm>
            <a:off x="8759384" y="3676456"/>
            <a:ext cx="21717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15"/>
          <p:cNvSpPr/>
          <p:nvPr/>
        </p:nvSpPr>
        <p:spPr>
          <a:xfrm>
            <a:off x="711403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8649656" y="356672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10821356" y="356672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15"/>
          <p:cNvCxnSpPr/>
          <p:nvPr/>
        </p:nvCxnSpPr>
        <p:spPr>
          <a:xfrm flipH="1" rot="10800000">
            <a:off x="7223760" y="3676380"/>
            <a:ext cx="3707400" cy="153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3" name="Google Shape;343;p15"/>
          <p:cNvSpPr/>
          <p:nvPr/>
        </p:nvSpPr>
        <p:spPr>
          <a:xfrm>
            <a:off x="10775636" y="3521008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10885364" y="3630736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5" name="Google Shape;345;p15"/>
          <p:cNvCxnSpPr/>
          <p:nvPr/>
        </p:nvCxnSpPr>
        <p:spPr>
          <a:xfrm rot="10800000">
            <a:off x="8674200" y="5020980"/>
            <a:ext cx="12600" cy="1911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15"/>
          <p:cNvCxnSpPr/>
          <p:nvPr/>
        </p:nvCxnSpPr>
        <p:spPr>
          <a:xfrm rot="10800000">
            <a:off x="8637083" y="4833315"/>
            <a:ext cx="37200" cy="187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15"/>
          <p:cNvCxnSpPr/>
          <p:nvPr/>
        </p:nvCxnSpPr>
        <p:spPr>
          <a:xfrm rot="10800000">
            <a:off x="8575448" y="4652217"/>
            <a:ext cx="61500" cy="181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15"/>
          <p:cNvCxnSpPr/>
          <p:nvPr/>
        </p:nvCxnSpPr>
        <p:spPr>
          <a:xfrm rot="10800000">
            <a:off x="8015755" y="4754754"/>
            <a:ext cx="52800" cy="10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15"/>
          <p:cNvCxnSpPr/>
          <p:nvPr/>
        </p:nvCxnSpPr>
        <p:spPr>
          <a:xfrm rot="10800000">
            <a:off x="7949054" y="4655280"/>
            <a:ext cx="66600" cy="9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15"/>
          <p:cNvCxnSpPr/>
          <p:nvPr/>
        </p:nvCxnSpPr>
        <p:spPr>
          <a:xfrm rot="10800000">
            <a:off x="7870302" y="4565429"/>
            <a:ext cx="78900" cy="90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15"/>
          <p:cNvSpPr txBox="1"/>
          <p:nvPr/>
        </p:nvSpPr>
        <p:spPr>
          <a:xfrm>
            <a:off x="8778240" y="475488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155CC"/>
                </a:solidFill>
              </a:rPr>
              <a:t>φ</a:t>
            </a:r>
            <a:endParaRPr sz="2000">
              <a:solidFill>
                <a:srgbClr val="1155CC"/>
              </a:solidFill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8065008" y="4315968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δ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answer:</a:t>
            </a:r>
            <a:endParaRPr sz="2400"/>
          </a:p>
        </p:txBody>
      </p:sp>
      <p:sp>
        <p:nvSpPr>
          <p:cNvPr id="358" name="Google Shape;358;p16"/>
          <p:cNvSpPr txBox="1"/>
          <p:nvPr/>
        </p:nvSpPr>
        <p:spPr>
          <a:xfrm>
            <a:off x="274320" y="822960"/>
            <a:ext cx="60351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IK found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45°</a:t>
            </a:r>
            <a:r>
              <a:rPr lang="en-US" sz="2200"/>
              <a:t> and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−45°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These are the angles Lesson 4 started with.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Check with FK (Lesson 5):</a:t>
            </a:r>
            <a:endParaRPr sz="2200"/>
          </a:p>
        </p:txBody>
      </p:sp>
      <p:sp>
        <p:nvSpPr>
          <p:cNvPr id="359" name="Google Shape;359;p16"/>
          <p:cNvSpPr/>
          <p:nvPr/>
        </p:nvSpPr>
        <p:spPr>
          <a:xfrm>
            <a:off x="274320" y="3383280"/>
            <a:ext cx="5669400" cy="4725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 txBox="1"/>
          <p:nvPr/>
        </p:nvSpPr>
        <p:spPr>
          <a:xfrm>
            <a:off x="274320" y="3383280"/>
            <a:ext cx="56694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show(flat_tip(45, -45))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274320" y="3901440"/>
            <a:ext cx="56694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[426.78, 176.78]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274320" y="4572000"/>
            <a:ext cx="5852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FK lands back on the target, so the angles are right.</a:t>
            </a:r>
            <a:endParaRPr sz="2200"/>
          </a:p>
        </p:txBody>
      </p:sp>
      <p:graphicFrame>
        <p:nvGraphicFramePr>
          <p:cNvPr id="363" name="Google Shape;363;p16"/>
          <p:cNvGraphicFramePr/>
          <p:nvPr/>
        </p:nvGraphicFramePr>
        <p:xfrm>
          <a:off x="69494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{9CB618EA-D9DA-4E60-A3DF-9A4245665855}</a:tableStyleId>
              </a:tblPr>
              <a:tblGrid>
                <a:gridCol w="2194550"/>
                <a:gridCol w="2377425"/>
              </a:tblGrid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Step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Value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461.94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cos θ</a:t>
                      </a:r>
                      <a:r>
                        <a:rPr baseline="-25000" lang="en-US" sz="2000"/>
                        <a:t>E</a:t>
                      </a:r>
                      <a:endParaRPr baseline="-25000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0.7071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θ</a:t>
                      </a:r>
                      <a:r>
                        <a:rPr baseline="-25000" lang="en-US" sz="2000"/>
                        <a:t>E</a:t>
                      </a:r>
                      <a:endParaRPr baseline="-25000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−45°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φ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22.5°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δ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22.5°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θ</a:t>
                      </a:r>
                      <a:r>
                        <a:rPr baseline="-25000" lang="en-US" sz="2000"/>
                        <a:t>S</a:t>
                      </a:r>
                      <a:endParaRPr baseline="-25000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45°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#2:</a:t>
            </a:r>
            <a:endParaRPr sz="2400"/>
          </a:p>
        </p:txBody>
      </p:sp>
      <p:sp>
        <p:nvSpPr>
          <p:cNvPr id="369" name="Google Shape;369;p17"/>
          <p:cNvSpPr txBox="1"/>
          <p:nvPr/>
        </p:nvSpPr>
        <p:spPr>
          <a:xfrm>
            <a:off x="274320" y="822960"/>
            <a:ext cx="11521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θ</a:t>
            </a:r>
            <a:r>
              <a:rPr baseline="-25000" lang="en-US" sz="2200"/>
              <a:t>S</a:t>
            </a:r>
            <a:r>
              <a:rPr lang="en-US" sz="2200"/>
              <a:t> and θ</a:t>
            </a:r>
            <a:r>
              <a:rPr baseline="-25000" lang="en-US" sz="2200"/>
              <a:t>E</a:t>
            </a:r>
            <a:r>
              <a:rPr lang="en-US" sz="2200"/>
              <a:t> (elbow up) for the target </a:t>
            </a:r>
            <a:r>
              <a:rPr lang="en-US" sz="2200">
                <a:solidFill>
                  <a:srgbClr val="FF0000"/>
                </a:solidFill>
              </a:rPr>
              <a:t>(341.51, 341.51)</a:t>
            </a:r>
            <a:r>
              <a:rPr lang="en-US" sz="2200"/>
              <a:t>. L</a:t>
            </a:r>
            <a:r>
              <a:rPr baseline="-25000" lang="en-US" sz="2200"/>
              <a:t>1</a:t>
            </a:r>
            <a:r>
              <a:rPr lang="en-US" sz="2200"/>
              <a:t> = L</a:t>
            </a:r>
            <a:r>
              <a:rPr baseline="-25000" lang="en-US" sz="2200"/>
              <a:t>2</a:t>
            </a:r>
            <a:r>
              <a:rPr lang="en-US" sz="2200"/>
              <a:t> = 250 mm.</a:t>
            </a:r>
            <a:endParaRPr sz="2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#2: solution</a:t>
            </a:r>
            <a:endParaRPr sz="2400"/>
          </a:p>
        </p:txBody>
      </p:sp>
      <p:sp>
        <p:nvSpPr>
          <p:cNvPr id="375" name="Google Shape;375;p18"/>
          <p:cNvSpPr txBox="1"/>
          <p:nvPr/>
        </p:nvSpPr>
        <p:spPr>
          <a:xfrm>
            <a:off x="274320" y="822960"/>
            <a:ext cx="11521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θ</a:t>
            </a:r>
            <a:r>
              <a:rPr baseline="-25000" lang="en-US" sz="2200"/>
              <a:t>S</a:t>
            </a:r>
            <a:r>
              <a:rPr lang="en-US" sz="2200"/>
              <a:t> and θ</a:t>
            </a:r>
            <a:r>
              <a:rPr baseline="-25000" lang="en-US" sz="2200"/>
              <a:t>E</a:t>
            </a:r>
            <a:r>
              <a:rPr lang="en-US" sz="2200"/>
              <a:t> (elbow up) for the target </a:t>
            </a:r>
            <a:r>
              <a:rPr lang="en-US" sz="2200">
                <a:solidFill>
                  <a:srgbClr val="FF0000"/>
                </a:solidFill>
              </a:rPr>
              <a:t>(341.51, 341.51)</a:t>
            </a:r>
            <a:r>
              <a:rPr lang="en-US" sz="2200"/>
              <a:t>. L</a:t>
            </a:r>
            <a:r>
              <a:rPr baseline="-25000" lang="en-US" sz="2200"/>
              <a:t>1</a:t>
            </a:r>
            <a:r>
              <a:rPr lang="en-US" sz="2200"/>
              <a:t> = L</a:t>
            </a:r>
            <a:r>
              <a:rPr baseline="-25000" lang="en-US" sz="2200"/>
              <a:t>2</a:t>
            </a:r>
            <a:r>
              <a:rPr lang="en-US" sz="2200"/>
              <a:t> = 250 mm.</a:t>
            </a:r>
            <a:endParaRPr sz="2200"/>
          </a:p>
        </p:txBody>
      </p:sp>
      <p:sp>
        <p:nvSpPr>
          <p:cNvPr id="376" name="Google Shape;376;p18"/>
          <p:cNvSpPr txBox="1"/>
          <p:nvPr/>
        </p:nvSpPr>
        <p:spPr>
          <a:xfrm>
            <a:off x="274320" y="1737360"/>
            <a:ext cx="6949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D² = 341.51² + 341.51² = 233,258  (D = 482.97)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 θ</a:t>
            </a:r>
            <a:r>
              <a:rPr baseline="-25000" lang="en-US" sz="2100"/>
              <a:t>E</a:t>
            </a:r>
            <a:r>
              <a:rPr lang="en-US" sz="2100"/>
              <a:t> = (233,258 − 125,000) ÷ 125,000 = 0.8661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→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E</a:t>
            </a:r>
            <a:r>
              <a:rPr lang="en-US" sz="2100">
                <a:solidFill>
                  <a:srgbClr val="FF0000"/>
                </a:solidFill>
              </a:rPr>
              <a:t> = −30°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φ = tan</a:t>
            </a:r>
            <a:r>
              <a:rPr baseline="30000" lang="en-US" sz="2100"/>
              <a:t>−1</a:t>
            </a:r>
            <a:r>
              <a:rPr lang="en-US" sz="2100"/>
              <a:t>(341.51 ÷ 341.51) = 45°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 δ = 482.97 ÷ 500 = 0.9659 → δ = 15°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→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S</a:t>
            </a:r>
            <a:r>
              <a:rPr lang="en-US" sz="2100">
                <a:solidFill>
                  <a:srgbClr val="FF0000"/>
                </a:solidFill>
              </a:rPr>
              <a:t> = 45° + 15° = 60°</a:t>
            </a:r>
            <a:endParaRPr sz="2100">
              <a:solidFill>
                <a:srgbClr val="FF0000"/>
              </a:solidFill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274320" y="5486400"/>
            <a:ext cx="1152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This is Lesson 4’s Try it yourself #2 run backwards. Check: flat_tip(60, -30) gives [341.51, 341.51].</a:t>
            </a:r>
            <a:endParaRPr sz="2000"/>
          </a:p>
        </p:txBody>
      </p:sp>
      <p:sp>
        <p:nvSpPr>
          <p:cNvPr id="378" name="Google Shape;378;p18"/>
          <p:cNvSpPr/>
          <p:nvPr/>
        </p:nvSpPr>
        <p:spPr>
          <a:xfrm>
            <a:off x="7772400" y="5230368"/>
            <a:ext cx="40233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9" name="Google Shape;379;p18"/>
          <p:cNvCxnSpPr/>
          <p:nvPr/>
        </p:nvCxnSpPr>
        <p:spPr>
          <a:xfrm flipH="1" rot="10800000">
            <a:off x="8229600" y="3635940"/>
            <a:ext cx="857400" cy="1484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18"/>
          <p:cNvCxnSpPr/>
          <p:nvPr/>
        </p:nvCxnSpPr>
        <p:spPr>
          <a:xfrm flipH="1" rot="10800000">
            <a:off x="8229600" y="3635940"/>
            <a:ext cx="857400" cy="1484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18"/>
          <p:cNvCxnSpPr/>
          <p:nvPr/>
        </p:nvCxnSpPr>
        <p:spPr>
          <a:xfrm flipH="1" rot="10800000">
            <a:off x="9086909" y="2778474"/>
            <a:ext cx="1484700" cy="8574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18"/>
          <p:cNvCxnSpPr/>
          <p:nvPr/>
        </p:nvCxnSpPr>
        <p:spPr>
          <a:xfrm flipH="1" rot="10800000">
            <a:off x="9086909" y="2778474"/>
            <a:ext cx="1484700" cy="857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18"/>
          <p:cNvSpPr/>
          <p:nvPr/>
        </p:nvSpPr>
        <p:spPr>
          <a:xfrm>
            <a:off x="811987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8"/>
          <p:cNvSpPr/>
          <p:nvPr/>
        </p:nvSpPr>
        <p:spPr>
          <a:xfrm>
            <a:off x="8977181" y="3526146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"/>
          <p:cNvSpPr/>
          <p:nvPr/>
        </p:nvSpPr>
        <p:spPr>
          <a:xfrm>
            <a:off x="10461948" y="2668836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6" name="Google Shape;386;p18"/>
          <p:cNvCxnSpPr/>
          <p:nvPr/>
        </p:nvCxnSpPr>
        <p:spPr>
          <a:xfrm flipH="1" rot="10800000">
            <a:off x="8229600" y="2778540"/>
            <a:ext cx="2342100" cy="2342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7" name="Google Shape;387;p18"/>
          <p:cNvSpPr/>
          <p:nvPr/>
        </p:nvSpPr>
        <p:spPr>
          <a:xfrm>
            <a:off x="10416228" y="2623116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>
            <a:off x="10525956" y="2732844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#3:</a:t>
            </a:r>
            <a:endParaRPr sz="2400"/>
          </a:p>
        </p:txBody>
      </p:sp>
      <p:sp>
        <p:nvSpPr>
          <p:cNvPr id="394" name="Google Shape;394;p19"/>
          <p:cNvSpPr txBox="1"/>
          <p:nvPr/>
        </p:nvSpPr>
        <p:spPr>
          <a:xfrm>
            <a:off x="274320" y="822960"/>
            <a:ext cx="11521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θ</a:t>
            </a:r>
            <a:r>
              <a:rPr baseline="-25000" lang="en-US" sz="2200"/>
              <a:t>S</a:t>
            </a:r>
            <a:r>
              <a:rPr lang="en-US" sz="2200"/>
              <a:t> and θ</a:t>
            </a:r>
            <a:r>
              <a:rPr baseline="-25000" lang="en-US" sz="2200"/>
              <a:t>E</a:t>
            </a:r>
            <a:r>
              <a:rPr lang="en-US" sz="2200"/>
              <a:t> (elbow up) for the target </a:t>
            </a:r>
            <a:r>
              <a:rPr lang="en-US" sz="2200">
                <a:solidFill>
                  <a:srgbClr val="FF0000"/>
                </a:solidFill>
              </a:rPr>
              <a:t>(250, 250)</a:t>
            </a:r>
            <a:r>
              <a:rPr lang="en-US" sz="2200"/>
              <a:t>. L</a:t>
            </a:r>
            <a:r>
              <a:rPr baseline="-25000" lang="en-US" sz="2200"/>
              <a:t>1</a:t>
            </a:r>
            <a:r>
              <a:rPr lang="en-US" sz="2200"/>
              <a:t> = L</a:t>
            </a:r>
            <a:r>
              <a:rPr baseline="-25000" lang="en-US" sz="2200"/>
              <a:t>2</a:t>
            </a:r>
            <a:r>
              <a:rPr lang="en-US" sz="2200"/>
              <a:t> = 250 mm.</a:t>
            </a:r>
            <a:endParaRPr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#3: solution</a:t>
            </a:r>
            <a:endParaRPr sz="2400"/>
          </a:p>
        </p:txBody>
      </p:sp>
      <p:sp>
        <p:nvSpPr>
          <p:cNvPr id="400" name="Google Shape;400;p20"/>
          <p:cNvSpPr txBox="1"/>
          <p:nvPr/>
        </p:nvSpPr>
        <p:spPr>
          <a:xfrm>
            <a:off x="274320" y="822960"/>
            <a:ext cx="11521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θ</a:t>
            </a:r>
            <a:r>
              <a:rPr baseline="-25000" lang="en-US" sz="2200"/>
              <a:t>S</a:t>
            </a:r>
            <a:r>
              <a:rPr lang="en-US" sz="2200"/>
              <a:t> and θ</a:t>
            </a:r>
            <a:r>
              <a:rPr baseline="-25000" lang="en-US" sz="2200"/>
              <a:t>E</a:t>
            </a:r>
            <a:r>
              <a:rPr lang="en-US" sz="2200"/>
              <a:t> (elbow up) for the target </a:t>
            </a:r>
            <a:r>
              <a:rPr lang="en-US" sz="2200">
                <a:solidFill>
                  <a:srgbClr val="FF0000"/>
                </a:solidFill>
              </a:rPr>
              <a:t>(250, 250)</a:t>
            </a:r>
            <a:r>
              <a:rPr lang="en-US" sz="2200"/>
              <a:t>. L</a:t>
            </a:r>
            <a:r>
              <a:rPr baseline="-25000" lang="en-US" sz="2200"/>
              <a:t>1</a:t>
            </a:r>
            <a:r>
              <a:rPr lang="en-US" sz="2200"/>
              <a:t> = L</a:t>
            </a:r>
            <a:r>
              <a:rPr baseline="-25000" lang="en-US" sz="2200"/>
              <a:t>2</a:t>
            </a:r>
            <a:r>
              <a:rPr lang="en-US" sz="2200"/>
              <a:t> = 250 mm.</a:t>
            </a:r>
            <a:endParaRPr sz="2200"/>
          </a:p>
        </p:txBody>
      </p:sp>
      <p:sp>
        <p:nvSpPr>
          <p:cNvPr id="401" name="Google Shape;401;p20"/>
          <p:cNvSpPr txBox="1"/>
          <p:nvPr/>
        </p:nvSpPr>
        <p:spPr>
          <a:xfrm>
            <a:off x="274320" y="1737360"/>
            <a:ext cx="6949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D² = 250² + 250² = 125,000  (D = 353.55)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 θ</a:t>
            </a:r>
            <a:r>
              <a:rPr baseline="-25000" lang="en-US" sz="2100"/>
              <a:t>E</a:t>
            </a:r>
            <a:r>
              <a:rPr lang="en-US" sz="2100"/>
              <a:t> = (125,000 − 125,000) ÷ 125,000 = 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→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E</a:t>
            </a:r>
            <a:r>
              <a:rPr lang="en-US" sz="2100">
                <a:solidFill>
                  <a:srgbClr val="FF0000"/>
                </a:solidFill>
              </a:rPr>
              <a:t> = −90°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φ = tan</a:t>
            </a:r>
            <a:r>
              <a:rPr baseline="30000" lang="en-US" sz="2100"/>
              <a:t>−1</a:t>
            </a:r>
            <a:r>
              <a:rPr lang="en-US" sz="2100"/>
              <a:t>(250 ÷ 250) = 45°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 δ = 353.55 ÷ 500 = 0.7071 → δ = 45°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→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S</a:t>
            </a:r>
            <a:r>
              <a:rPr lang="en-US" sz="2100">
                <a:solidFill>
                  <a:srgbClr val="FF0000"/>
                </a:solidFill>
              </a:rPr>
              <a:t> = 45° + 45° = 90°</a:t>
            </a:r>
            <a:endParaRPr sz="2100">
              <a:solidFill>
                <a:srgbClr val="FF0000"/>
              </a:solidFill>
            </a:endParaRPr>
          </a:p>
        </p:txBody>
      </p:sp>
      <p:sp>
        <p:nvSpPr>
          <p:cNvPr id="402" name="Google Shape;402;p20"/>
          <p:cNvSpPr txBox="1"/>
          <p:nvPr/>
        </p:nvSpPr>
        <p:spPr>
          <a:xfrm>
            <a:off x="274320" y="5486400"/>
            <a:ext cx="1152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upper arm points straight up and the forearm points straight across. Check: flat_tip(90, -90) gives [250.0, 250.0].</a:t>
            </a:r>
            <a:endParaRPr sz="2000"/>
          </a:p>
        </p:txBody>
      </p:sp>
      <p:sp>
        <p:nvSpPr>
          <p:cNvPr id="403" name="Google Shape;403;p20"/>
          <p:cNvSpPr/>
          <p:nvPr/>
        </p:nvSpPr>
        <p:spPr>
          <a:xfrm>
            <a:off x="7772400" y="5230368"/>
            <a:ext cx="40233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4" name="Google Shape;404;p20"/>
          <p:cNvCxnSpPr/>
          <p:nvPr/>
        </p:nvCxnSpPr>
        <p:spPr>
          <a:xfrm rot="10800000">
            <a:off x="8229600" y="3406140"/>
            <a:ext cx="0" cy="17145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20"/>
          <p:cNvCxnSpPr/>
          <p:nvPr/>
        </p:nvCxnSpPr>
        <p:spPr>
          <a:xfrm rot="10800000">
            <a:off x="8229600" y="3406140"/>
            <a:ext cx="0" cy="1714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20"/>
          <p:cNvCxnSpPr/>
          <p:nvPr/>
        </p:nvCxnSpPr>
        <p:spPr>
          <a:xfrm>
            <a:off x="8229600" y="3406140"/>
            <a:ext cx="17145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0"/>
          <p:cNvCxnSpPr/>
          <p:nvPr/>
        </p:nvCxnSpPr>
        <p:spPr>
          <a:xfrm>
            <a:off x="8229600" y="3406140"/>
            <a:ext cx="17145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0"/>
          <p:cNvSpPr/>
          <p:nvPr/>
        </p:nvSpPr>
        <p:spPr>
          <a:xfrm>
            <a:off x="811987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0"/>
          <p:cNvSpPr/>
          <p:nvPr/>
        </p:nvSpPr>
        <p:spPr>
          <a:xfrm>
            <a:off x="8119872" y="32964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9834372" y="32964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1" name="Google Shape;411;p20"/>
          <p:cNvCxnSpPr/>
          <p:nvPr/>
        </p:nvCxnSpPr>
        <p:spPr>
          <a:xfrm flipH="1" rot="10800000">
            <a:off x="8229600" y="3406140"/>
            <a:ext cx="1714500" cy="171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2" name="Google Shape;412;p20"/>
          <p:cNvSpPr/>
          <p:nvPr/>
        </p:nvSpPr>
        <p:spPr>
          <a:xfrm>
            <a:off x="9788652" y="3250692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0"/>
          <p:cNvSpPr/>
          <p:nvPr/>
        </p:nvSpPr>
        <p:spPr>
          <a:xfrm>
            <a:off x="9898380" y="3360420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Elbow up or elbow down:</a:t>
            </a:r>
            <a:endParaRPr sz="2400"/>
          </a:p>
        </p:txBody>
      </p:sp>
      <p:sp>
        <p:nvSpPr>
          <p:cNvPr id="419" name="Google Shape;419;p21"/>
          <p:cNvSpPr txBox="1"/>
          <p:nvPr/>
        </p:nvSpPr>
        <p:spPr>
          <a:xfrm>
            <a:off x="274320" y="822960"/>
            <a:ext cx="60351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</a:t>
            </a:r>
            <a:r>
              <a:rPr baseline="30000" lang="en-US" sz="2100"/>
              <a:t>−1</a:t>
            </a:r>
            <a:r>
              <a:rPr lang="en-US" sz="2100"/>
              <a:t> only gives a positive angle (here 45°). We choose the sign of θ</a:t>
            </a:r>
            <a:r>
              <a:rPr baseline="-25000" lang="en-US" sz="2100"/>
              <a:t>E</a:t>
            </a:r>
            <a:r>
              <a:rPr lang="en-US" sz="2100"/>
              <a:t>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Elbow up: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E</a:t>
            </a:r>
            <a:r>
              <a:rPr lang="en-US" sz="2100">
                <a:solidFill>
                  <a:srgbClr val="FF0000"/>
                </a:solidFill>
              </a:rPr>
              <a:t> = −45°</a:t>
            </a:r>
            <a:r>
              <a:rPr lang="en-US" sz="2100"/>
              <a:t> and θ</a:t>
            </a:r>
            <a:r>
              <a:rPr baseline="-25000" lang="en-US" sz="2100"/>
              <a:t>S</a:t>
            </a:r>
            <a:r>
              <a:rPr lang="en-US" sz="2100"/>
              <a:t> = φ + δ = </a:t>
            </a:r>
            <a:r>
              <a:rPr lang="en-US" sz="2100">
                <a:solidFill>
                  <a:srgbClr val="FF0000"/>
                </a:solidFill>
              </a:rPr>
              <a:t>45°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Elbow down: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E</a:t>
            </a:r>
            <a:r>
              <a:rPr lang="en-US" sz="2100">
                <a:solidFill>
                  <a:srgbClr val="FF0000"/>
                </a:solidFill>
              </a:rPr>
              <a:t> = +45°</a:t>
            </a:r>
            <a:r>
              <a:rPr lang="en-US" sz="2100"/>
              <a:t> and θ</a:t>
            </a:r>
            <a:r>
              <a:rPr baseline="-25000" lang="en-US" sz="2100"/>
              <a:t>S</a:t>
            </a:r>
            <a:r>
              <a:rPr lang="en-US" sz="2100"/>
              <a:t> = φ − δ = </a:t>
            </a:r>
            <a:r>
              <a:rPr lang="en-US" sz="2100">
                <a:solidFill>
                  <a:srgbClr val="FF0000"/>
                </a:solidFill>
              </a:rPr>
              <a:t>0°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Both put the tip on (426.78, 176.78).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In this course we use elbow up. Check the real arm’s joint limits before you use elbow down.</a:t>
            </a:r>
            <a:endParaRPr sz="2100"/>
          </a:p>
        </p:txBody>
      </p:sp>
      <p:sp>
        <p:nvSpPr>
          <p:cNvPr id="420" name="Google Shape;420;p21"/>
          <p:cNvSpPr/>
          <p:nvPr/>
        </p:nvSpPr>
        <p:spPr>
          <a:xfrm>
            <a:off x="6583680" y="5230368"/>
            <a:ext cx="5212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1" name="Google Shape;421;p21"/>
          <p:cNvCxnSpPr/>
          <p:nvPr/>
        </p:nvCxnSpPr>
        <p:spPr>
          <a:xfrm flipH="1" rot="10800000">
            <a:off x="6949440" y="3536640"/>
            <a:ext cx="3824400" cy="1584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21"/>
          <p:cNvCxnSpPr/>
          <p:nvPr/>
        </p:nvCxnSpPr>
        <p:spPr>
          <a:xfrm>
            <a:off x="6949440" y="5120640"/>
            <a:ext cx="2240400" cy="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21"/>
          <p:cNvCxnSpPr/>
          <p:nvPr/>
        </p:nvCxnSpPr>
        <p:spPr>
          <a:xfrm>
            <a:off x="6949440" y="5120640"/>
            <a:ext cx="2240400" cy="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21"/>
          <p:cNvCxnSpPr/>
          <p:nvPr/>
        </p:nvCxnSpPr>
        <p:spPr>
          <a:xfrm flipH="1" rot="10800000">
            <a:off x="9189720" y="3536640"/>
            <a:ext cx="1584000" cy="15840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21"/>
          <p:cNvCxnSpPr/>
          <p:nvPr/>
        </p:nvCxnSpPr>
        <p:spPr>
          <a:xfrm flipH="1" rot="10800000">
            <a:off x="9189720" y="3536640"/>
            <a:ext cx="1584000" cy="15840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21"/>
          <p:cNvSpPr/>
          <p:nvPr/>
        </p:nvSpPr>
        <p:spPr>
          <a:xfrm>
            <a:off x="6848856" y="502005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1"/>
          <p:cNvSpPr/>
          <p:nvPr/>
        </p:nvSpPr>
        <p:spPr>
          <a:xfrm>
            <a:off x="9089136" y="502005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"/>
          <p:cNvSpPr/>
          <p:nvPr/>
        </p:nvSpPr>
        <p:spPr>
          <a:xfrm>
            <a:off x="10673253" y="3435939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9" name="Google Shape;429;p21"/>
          <p:cNvCxnSpPr/>
          <p:nvPr/>
        </p:nvCxnSpPr>
        <p:spPr>
          <a:xfrm flipH="1" rot="10800000">
            <a:off x="6949440" y="3536640"/>
            <a:ext cx="1584000" cy="158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21"/>
          <p:cNvCxnSpPr/>
          <p:nvPr/>
        </p:nvCxnSpPr>
        <p:spPr>
          <a:xfrm flipH="1" rot="10800000">
            <a:off x="6949440" y="3536640"/>
            <a:ext cx="1584000" cy="158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21"/>
          <p:cNvCxnSpPr/>
          <p:nvPr/>
        </p:nvCxnSpPr>
        <p:spPr>
          <a:xfrm>
            <a:off x="8533557" y="3536523"/>
            <a:ext cx="22404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21"/>
          <p:cNvCxnSpPr/>
          <p:nvPr/>
        </p:nvCxnSpPr>
        <p:spPr>
          <a:xfrm>
            <a:off x="8533557" y="3536523"/>
            <a:ext cx="2240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21"/>
          <p:cNvSpPr/>
          <p:nvPr/>
        </p:nvSpPr>
        <p:spPr>
          <a:xfrm>
            <a:off x="683971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1"/>
          <p:cNvSpPr/>
          <p:nvPr/>
        </p:nvSpPr>
        <p:spPr>
          <a:xfrm>
            <a:off x="8423829" y="3426795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1"/>
          <p:cNvSpPr/>
          <p:nvPr/>
        </p:nvSpPr>
        <p:spPr>
          <a:xfrm>
            <a:off x="10664109" y="3426795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1"/>
          <p:cNvSpPr/>
          <p:nvPr/>
        </p:nvSpPr>
        <p:spPr>
          <a:xfrm>
            <a:off x="10618389" y="3381075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1"/>
          <p:cNvSpPr/>
          <p:nvPr/>
        </p:nvSpPr>
        <p:spPr>
          <a:xfrm>
            <a:off x="10728117" y="3490803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1"/>
          <p:cNvSpPr txBox="1"/>
          <p:nvPr/>
        </p:nvSpPr>
        <p:spPr>
          <a:xfrm>
            <a:off x="7070517" y="2987883"/>
            <a:ext cx="146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elbow up</a:t>
            </a:r>
            <a:endParaRPr sz="2000"/>
          </a:p>
        </p:txBody>
      </p:sp>
      <p:sp>
        <p:nvSpPr>
          <p:cNvPr id="439" name="Google Shape;439;p21"/>
          <p:cNvSpPr txBox="1"/>
          <p:nvPr/>
        </p:nvSpPr>
        <p:spPr>
          <a:xfrm>
            <a:off x="8641080" y="553212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</a:rPr>
              <a:t>elbow down</a:t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Can the arm reach it?</a:t>
            </a:r>
            <a:endParaRPr sz="2400"/>
          </a:p>
        </p:txBody>
      </p:sp>
      <p:sp>
        <p:nvSpPr>
          <p:cNvPr id="445" name="Google Shape;445;p22"/>
          <p:cNvSpPr txBox="1"/>
          <p:nvPr/>
        </p:nvSpPr>
        <p:spPr>
          <a:xfrm>
            <a:off x="274320" y="822960"/>
            <a:ext cx="59436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 triangle can only close if D ≤ L</a:t>
            </a:r>
            <a:r>
              <a:rPr baseline="-25000" lang="en-US" sz="2100"/>
              <a:t>1</a:t>
            </a:r>
            <a:r>
              <a:rPr lang="en-US" sz="2100"/>
              <a:t> + L</a:t>
            </a:r>
            <a:r>
              <a:rPr baseline="-25000" lang="en-US" sz="2100"/>
              <a:t>2</a:t>
            </a:r>
            <a:r>
              <a:rPr lang="en-US" sz="2100"/>
              <a:t> = </a:t>
            </a:r>
            <a:r>
              <a:rPr lang="en-US" sz="2100">
                <a:solidFill>
                  <a:srgbClr val="FF0000"/>
                </a:solidFill>
              </a:rPr>
              <a:t>500 mm</a:t>
            </a:r>
            <a:r>
              <a:rPr lang="en-US" sz="2100"/>
              <a:t>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If D is bigger, cos θ</a:t>
            </a:r>
            <a:r>
              <a:rPr baseline="-25000" lang="en-US" sz="2100"/>
              <a:t>E</a:t>
            </a:r>
            <a:r>
              <a:rPr lang="en-US" sz="2100"/>
              <a:t> comes out bigger than 1, and cos</a:t>
            </a:r>
            <a:r>
              <a:rPr baseline="30000" lang="en-US" sz="2100"/>
              <a:t>−1</a:t>
            </a:r>
            <a:r>
              <a:rPr lang="en-US" sz="2100"/>
              <a:t> gives an error. No angle has a cosine bigger than 1.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So always check cos θ</a:t>
            </a:r>
            <a:r>
              <a:rPr baseline="-25000" lang="en-US" sz="2100"/>
              <a:t>E</a:t>
            </a:r>
            <a:r>
              <a:rPr lang="en-US" sz="2100"/>
              <a:t> first: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between −1 and 1: the target is reachable.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anything else: </a:t>
            </a:r>
            <a:r>
              <a:rPr lang="en-US" sz="2100">
                <a:solidFill>
                  <a:srgbClr val="FF0000"/>
                </a:solidFill>
              </a:rPr>
              <a:t>the target is out of reach</a:t>
            </a:r>
            <a:r>
              <a:rPr lang="en-US" sz="2100"/>
              <a:t>, and the robot must not move.</a:t>
            </a:r>
            <a:endParaRPr sz="2100"/>
          </a:p>
        </p:txBody>
      </p:sp>
      <p:sp>
        <p:nvSpPr>
          <p:cNvPr id="446" name="Google Shape;446;p22"/>
          <p:cNvSpPr/>
          <p:nvPr/>
        </p:nvSpPr>
        <p:spPr>
          <a:xfrm>
            <a:off x="5852160" y="5230368"/>
            <a:ext cx="59436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7" name="Google Shape;447;p22"/>
          <p:cNvCxnSpPr/>
          <p:nvPr/>
        </p:nvCxnSpPr>
        <p:spPr>
          <a:xfrm flipH="1" rot="10800000">
            <a:off x="6035040" y="4824240"/>
            <a:ext cx="15600" cy="2964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22"/>
          <p:cNvCxnSpPr/>
          <p:nvPr/>
        </p:nvCxnSpPr>
        <p:spPr>
          <a:xfrm flipH="1" rot="10800000">
            <a:off x="6050568" y="4531239"/>
            <a:ext cx="46500" cy="2931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22"/>
          <p:cNvCxnSpPr/>
          <p:nvPr/>
        </p:nvCxnSpPr>
        <p:spPr>
          <a:xfrm flipH="1" rot="10800000">
            <a:off x="6096984" y="4244785"/>
            <a:ext cx="76800" cy="2865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22"/>
          <p:cNvCxnSpPr/>
          <p:nvPr/>
        </p:nvCxnSpPr>
        <p:spPr>
          <a:xfrm flipH="1" rot="10800000">
            <a:off x="6173777" y="3967788"/>
            <a:ext cx="106200" cy="2769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22"/>
          <p:cNvCxnSpPr/>
          <p:nvPr/>
        </p:nvCxnSpPr>
        <p:spPr>
          <a:xfrm flipH="1" rot="10800000">
            <a:off x="6280108" y="3703388"/>
            <a:ext cx="134700" cy="2643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22"/>
          <p:cNvCxnSpPr/>
          <p:nvPr/>
        </p:nvCxnSpPr>
        <p:spPr>
          <a:xfrm flipH="1" rot="10800000">
            <a:off x="6414810" y="3454620"/>
            <a:ext cx="161700" cy="2487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22"/>
          <p:cNvCxnSpPr/>
          <p:nvPr/>
        </p:nvCxnSpPr>
        <p:spPr>
          <a:xfrm flipH="1" rot="10800000">
            <a:off x="6576408" y="3223780"/>
            <a:ext cx="186600" cy="2307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22"/>
          <p:cNvCxnSpPr/>
          <p:nvPr/>
        </p:nvCxnSpPr>
        <p:spPr>
          <a:xfrm flipH="1" rot="10800000">
            <a:off x="6763132" y="3014196"/>
            <a:ext cx="209700" cy="2097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22"/>
          <p:cNvCxnSpPr/>
          <p:nvPr/>
        </p:nvCxnSpPr>
        <p:spPr>
          <a:xfrm flipH="1" rot="10800000">
            <a:off x="6972936" y="2827492"/>
            <a:ext cx="230700" cy="1866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22"/>
          <p:cNvCxnSpPr/>
          <p:nvPr/>
        </p:nvCxnSpPr>
        <p:spPr>
          <a:xfrm flipH="1" rot="10800000">
            <a:off x="7203520" y="2665668"/>
            <a:ext cx="248700" cy="1617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22"/>
          <p:cNvCxnSpPr/>
          <p:nvPr/>
        </p:nvCxnSpPr>
        <p:spPr>
          <a:xfrm flipH="1" rot="10800000">
            <a:off x="7452360" y="2531070"/>
            <a:ext cx="264300" cy="1347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22"/>
          <p:cNvCxnSpPr/>
          <p:nvPr/>
        </p:nvCxnSpPr>
        <p:spPr>
          <a:xfrm flipH="1" rot="10800000">
            <a:off x="7716728" y="2424868"/>
            <a:ext cx="276900" cy="1062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22"/>
          <p:cNvCxnSpPr/>
          <p:nvPr/>
        </p:nvCxnSpPr>
        <p:spPr>
          <a:xfrm flipH="1" rot="10800000">
            <a:off x="7993728" y="2347937"/>
            <a:ext cx="286500" cy="768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22"/>
          <p:cNvCxnSpPr/>
          <p:nvPr/>
        </p:nvCxnSpPr>
        <p:spPr>
          <a:xfrm flipH="1" rot="10800000">
            <a:off x="8280325" y="2301444"/>
            <a:ext cx="293100" cy="465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22"/>
          <p:cNvCxnSpPr/>
          <p:nvPr/>
        </p:nvCxnSpPr>
        <p:spPr>
          <a:xfrm flipH="1" rot="10800000">
            <a:off x="8573379" y="2285928"/>
            <a:ext cx="296400" cy="156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22"/>
          <p:cNvCxnSpPr/>
          <p:nvPr/>
        </p:nvCxnSpPr>
        <p:spPr>
          <a:xfrm>
            <a:off x="8869680" y="2286000"/>
            <a:ext cx="296400" cy="156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22"/>
          <p:cNvCxnSpPr/>
          <p:nvPr/>
        </p:nvCxnSpPr>
        <p:spPr>
          <a:xfrm>
            <a:off x="9165981" y="2301528"/>
            <a:ext cx="293100" cy="465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22"/>
          <p:cNvCxnSpPr/>
          <p:nvPr/>
        </p:nvCxnSpPr>
        <p:spPr>
          <a:xfrm>
            <a:off x="9459035" y="2347944"/>
            <a:ext cx="286500" cy="768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22"/>
          <p:cNvCxnSpPr/>
          <p:nvPr/>
        </p:nvCxnSpPr>
        <p:spPr>
          <a:xfrm>
            <a:off x="9745632" y="2424737"/>
            <a:ext cx="276900" cy="1062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22"/>
          <p:cNvCxnSpPr/>
          <p:nvPr/>
        </p:nvCxnSpPr>
        <p:spPr>
          <a:xfrm>
            <a:off x="10022632" y="2531068"/>
            <a:ext cx="264300" cy="1347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22"/>
          <p:cNvCxnSpPr/>
          <p:nvPr/>
        </p:nvCxnSpPr>
        <p:spPr>
          <a:xfrm>
            <a:off x="10287000" y="2665770"/>
            <a:ext cx="248700" cy="1617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22"/>
          <p:cNvCxnSpPr/>
          <p:nvPr/>
        </p:nvCxnSpPr>
        <p:spPr>
          <a:xfrm>
            <a:off x="10535840" y="2827368"/>
            <a:ext cx="230700" cy="1866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22"/>
          <p:cNvCxnSpPr/>
          <p:nvPr/>
        </p:nvCxnSpPr>
        <p:spPr>
          <a:xfrm>
            <a:off x="10766424" y="3014092"/>
            <a:ext cx="209700" cy="2097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22"/>
          <p:cNvCxnSpPr/>
          <p:nvPr/>
        </p:nvCxnSpPr>
        <p:spPr>
          <a:xfrm>
            <a:off x="10976228" y="3223896"/>
            <a:ext cx="186600" cy="2307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22"/>
          <p:cNvCxnSpPr/>
          <p:nvPr/>
        </p:nvCxnSpPr>
        <p:spPr>
          <a:xfrm>
            <a:off x="11162952" y="3454480"/>
            <a:ext cx="161700" cy="2487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22"/>
          <p:cNvCxnSpPr/>
          <p:nvPr/>
        </p:nvCxnSpPr>
        <p:spPr>
          <a:xfrm>
            <a:off x="11324550" y="3703320"/>
            <a:ext cx="134700" cy="2643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22"/>
          <p:cNvCxnSpPr/>
          <p:nvPr/>
        </p:nvCxnSpPr>
        <p:spPr>
          <a:xfrm>
            <a:off x="11459252" y="3967688"/>
            <a:ext cx="106200" cy="2769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22"/>
          <p:cNvCxnSpPr/>
          <p:nvPr/>
        </p:nvCxnSpPr>
        <p:spPr>
          <a:xfrm>
            <a:off x="11565583" y="4244688"/>
            <a:ext cx="76800" cy="2865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22"/>
          <p:cNvCxnSpPr/>
          <p:nvPr/>
        </p:nvCxnSpPr>
        <p:spPr>
          <a:xfrm>
            <a:off x="11642376" y="4531285"/>
            <a:ext cx="46500" cy="2931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22"/>
          <p:cNvCxnSpPr/>
          <p:nvPr/>
        </p:nvCxnSpPr>
        <p:spPr>
          <a:xfrm>
            <a:off x="11688792" y="4824339"/>
            <a:ext cx="15600" cy="296400"/>
          </a:xfrm>
          <a:prstGeom prst="straightConnector1">
            <a:avLst/>
          </a:prstGeom>
          <a:noFill/>
          <a:ln cap="flat" cmpd="sng" w="317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22"/>
          <p:cNvCxnSpPr/>
          <p:nvPr/>
        </p:nvCxnSpPr>
        <p:spPr>
          <a:xfrm flipH="1" rot="10800000">
            <a:off x="8869680" y="4118340"/>
            <a:ext cx="1002300" cy="10023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22"/>
          <p:cNvCxnSpPr/>
          <p:nvPr/>
        </p:nvCxnSpPr>
        <p:spPr>
          <a:xfrm flipH="1" rot="10800000">
            <a:off x="8869680" y="4118340"/>
            <a:ext cx="1002300" cy="1002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22"/>
          <p:cNvCxnSpPr/>
          <p:nvPr/>
        </p:nvCxnSpPr>
        <p:spPr>
          <a:xfrm>
            <a:off x="9871877" y="4118443"/>
            <a:ext cx="14172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>
            <a:off x="9871877" y="4118443"/>
            <a:ext cx="14172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22"/>
          <p:cNvSpPr/>
          <p:nvPr/>
        </p:nvSpPr>
        <p:spPr>
          <a:xfrm>
            <a:off x="875995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2"/>
          <p:cNvSpPr/>
          <p:nvPr/>
        </p:nvSpPr>
        <p:spPr>
          <a:xfrm>
            <a:off x="9762149" y="4008715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2"/>
          <p:cNvSpPr/>
          <p:nvPr/>
        </p:nvSpPr>
        <p:spPr>
          <a:xfrm>
            <a:off x="11179469" y="4008715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2"/>
          <p:cNvSpPr/>
          <p:nvPr/>
        </p:nvSpPr>
        <p:spPr>
          <a:xfrm>
            <a:off x="11133749" y="3962995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2"/>
          <p:cNvSpPr/>
          <p:nvPr/>
        </p:nvSpPr>
        <p:spPr>
          <a:xfrm>
            <a:off x="11243477" y="4072723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11091672" y="1947672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11201400" y="2057400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2"/>
          <p:cNvSpPr txBox="1"/>
          <p:nvPr/>
        </p:nvSpPr>
        <p:spPr>
          <a:xfrm>
            <a:off x="10652760" y="237744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too far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489" name="Google Shape;489;p22"/>
          <p:cNvSpPr txBox="1"/>
          <p:nvPr/>
        </p:nvSpPr>
        <p:spPr>
          <a:xfrm>
            <a:off x="7406640" y="3108960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reachable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490" name="Google Shape;490;p22"/>
          <p:cNvSpPr txBox="1"/>
          <p:nvPr/>
        </p:nvSpPr>
        <p:spPr>
          <a:xfrm>
            <a:off x="9006840" y="187452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500 mm</a:t>
            </a:r>
            <a:endParaRPr sz="2000"/>
          </a:p>
        </p:txBody>
      </p:sp>
      <p:cxnSp>
        <p:nvCxnSpPr>
          <p:cNvPr id="491" name="Google Shape;491;p22"/>
          <p:cNvCxnSpPr/>
          <p:nvPr/>
        </p:nvCxnSpPr>
        <p:spPr>
          <a:xfrm rot="10800000">
            <a:off x="8869680" y="2285940"/>
            <a:ext cx="0" cy="28347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Day 1 recap:</a:t>
            </a:r>
            <a:endParaRPr sz="2400"/>
          </a:p>
        </p:txBody>
      </p:sp>
      <p:sp>
        <p:nvSpPr>
          <p:cNvPr id="497" name="Google Shape;497;p23"/>
          <p:cNvSpPr txBox="1"/>
          <p:nvPr/>
        </p:nvSpPr>
        <p:spPr>
          <a:xfrm>
            <a:off x="274320" y="822960"/>
            <a:ext cx="115215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Triangle: the two links and the line D, with </a:t>
            </a:r>
            <a:r>
              <a:rPr lang="en-US" sz="2200">
                <a:solidFill>
                  <a:srgbClr val="FF0000"/>
                </a:solidFill>
              </a:rPr>
              <a:t>D = √(X² + Y²)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Elbow: </a:t>
            </a:r>
            <a:r>
              <a:rPr lang="en-US" sz="2200">
                <a:solidFill>
                  <a:srgbClr val="FF0000"/>
                </a:solidFill>
              </a:rPr>
              <a:t>cos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(D² − 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² −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²) ÷ (2 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)</a:t>
            </a:r>
            <a:r>
              <a:rPr lang="en-US" sz="2200"/>
              <a:t>. Elbow up, so θ</a:t>
            </a:r>
            <a:r>
              <a:rPr baseline="-25000" lang="en-US" sz="2200"/>
              <a:t>E</a:t>
            </a:r>
            <a:r>
              <a:rPr lang="en-US" sz="2200"/>
              <a:t> is negative.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 Shoulder: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φ + δ</a:t>
            </a:r>
            <a:r>
              <a:rPr lang="en-US" sz="2200"/>
              <a:t>, with φ = tan</a:t>
            </a:r>
            <a:r>
              <a:rPr baseline="30000" lang="en-US" sz="2200"/>
              <a:t>−1</a:t>
            </a:r>
            <a:r>
              <a:rPr lang="en-US" sz="2200"/>
              <a:t>(Y ÷ X) and cos δ = (L</a:t>
            </a:r>
            <a:r>
              <a:rPr baseline="-25000" lang="en-US" sz="2200"/>
              <a:t>1</a:t>
            </a:r>
            <a:r>
              <a:rPr lang="en-US" sz="2200"/>
              <a:t>² + D² − L</a:t>
            </a:r>
            <a:r>
              <a:rPr baseline="-25000" lang="en-US" sz="2200"/>
              <a:t>2</a:t>
            </a:r>
            <a:r>
              <a:rPr lang="en-US" sz="2200"/>
              <a:t>²) ÷ (2 L</a:t>
            </a:r>
            <a:r>
              <a:rPr baseline="-25000" lang="en-US" sz="2200"/>
              <a:t>1</a:t>
            </a:r>
            <a:r>
              <a:rPr lang="en-US" sz="2200"/>
              <a:t> D).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4.  Checks: cos θ</a:t>
            </a:r>
            <a:r>
              <a:rPr baseline="-25000" lang="en-US" sz="2200"/>
              <a:t>E</a:t>
            </a:r>
            <a:r>
              <a:rPr lang="en-US" sz="2200"/>
              <a:t> must be between −1 and 1. Then check the answer with FK.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Tomorrow the base turns too, so we need 3D.</a:t>
            </a:r>
            <a:endParaRPr sz="2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Day 2: where Day 1 left off</a:t>
            </a:r>
            <a:endParaRPr sz="2400"/>
          </a:p>
        </p:txBody>
      </p:sp>
      <p:sp>
        <p:nvSpPr>
          <p:cNvPr id="503" name="Google Shape;503;p24"/>
          <p:cNvSpPr txBox="1"/>
          <p:nvPr/>
        </p:nvSpPr>
        <p:spPr>
          <a:xfrm>
            <a:off x="274320" y="822960"/>
            <a:ext cx="5852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What is θ</a:t>
            </a:r>
            <a:r>
              <a:rPr baseline="-25000" lang="en-US" sz="2200"/>
              <a:t>E</a:t>
            </a:r>
            <a:r>
              <a:rPr lang="en-US" sz="2200"/>
              <a:t> for a straight arm?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What is the largest D the arm can reach?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 What is the sign of θ</a:t>
            </a:r>
            <a:r>
              <a:rPr baseline="-25000" lang="en-US" sz="2200"/>
              <a:t>E</a:t>
            </a:r>
            <a:r>
              <a:rPr lang="en-US" sz="2200"/>
              <a:t> for elbow up?</a:t>
            </a:r>
            <a:endParaRPr sz="2200"/>
          </a:p>
        </p:txBody>
      </p:sp>
      <p:sp>
        <p:nvSpPr>
          <p:cNvPr id="504" name="Google Shape;504;p24"/>
          <p:cNvSpPr/>
          <p:nvPr/>
        </p:nvSpPr>
        <p:spPr>
          <a:xfrm>
            <a:off x="6583680" y="5230368"/>
            <a:ext cx="5212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5" name="Google Shape;505;p24"/>
          <p:cNvCxnSpPr/>
          <p:nvPr/>
        </p:nvCxnSpPr>
        <p:spPr>
          <a:xfrm flipH="1" rot="10800000">
            <a:off x="6949440" y="3536640"/>
            <a:ext cx="1584000" cy="158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24"/>
          <p:cNvCxnSpPr/>
          <p:nvPr/>
        </p:nvCxnSpPr>
        <p:spPr>
          <a:xfrm flipH="1" rot="10800000">
            <a:off x="6949440" y="3536640"/>
            <a:ext cx="1584000" cy="158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24"/>
          <p:cNvCxnSpPr/>
          <p:nvPr/>
        </p:nvCxnSpPr>
        <p:spPr>
          <a:xfrm>
            <a:off x="8533557" y="3536523"/>
            <a:ext cx="22404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24"/>
          <p:cNvCxnSpPr/>
          <p:nvPr/>
        </p:nvCxnSpPr>
        <p:spPr>
          <a:xfrm>
            <a:off x="8533557" y="3536523"/>
            <a:ext cx="2240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24"/>
          <p:cNvSpPr/>
          <p:nvPr/>
        </p:nvSpPr>
        <p:spPr>
          <a:xfrm>
            <a:off x="683971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4"/>
          <p:cNvSpPr/>
          <p:nvPr/>
        </p:nvSpPr>
        <p:spPr>
          <a:xfrm>
            <a:off x="8423829" y="3426795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4"/>
          <p:cNvSpPr/>
          <p:nvPr/>
        </p:nvSpPr>
        <p:spPr>
          <a:xfrm>
            <a:off x="10664109" y="3426795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2" name="Google Shape;512;p24"/>
          <p:cNvCxnSpPr/>
          <p:nvPr/>
        </p:nvCxnSpPr>
        <p:spPr>
          <a:xfrm flipH="1" rot="10800000">
            <a:off x="6949440" y="3536640"/>
            <a:ext cx="3824400" cy="1584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13" name="Google Shape;513;p24"/>
          <p:cNvSpPr/>
          <p:nvPr/>
        </p:nvSpPr>
        <p:spPr>
          <a:xfrm>
            <a:off x="10618389" y="3381075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4"/>
          <p:cNvSpPr/>
          <p:nvPr/>
        </p:nvSpPr>
        <p:spPr>
          <a:xfrm>
            <a:off x="10728117" y="3490803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4"/>
          <p:cNvSpPr txBox="1"/>
          <p:nvPr/>
        </p:nvSpPr>
        <p:spPr>
          <a:xfrm>
            <a:off x="9044519" y="4282861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D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1: the base aims the arm</a:t>
            </a:r>
            <a:endParaRPr sz="2400"/>
          </a:p>
        </p:txBody>
      </p:sp>
      <p:sp>
        <p:nvSpPr>
          <p:cNvPr id="521" name="Google Shape;521;p25"/>
          <p:cNvSpPr txBox="1"/>
          <p:nvPr/>
        </p:nvSpPr>
        <p:spPr>
          <a:xfrm>
            <a:off x="274320" y="822960"/>
            <a:ext cx="64008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Look from above. The base turns until the arm points at the target’s (x, y) spot.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Lesson 4: x = R cos θ</a:t>
            </a:r>
            <a:r>
              <a:rPr baseline="-25000" lang="en-US" sz="2000"/>
              <a:t>B</a:t>
            </a:r>
            <a:r>
              <a:rPr lang="en-US" sz="2000"/>
              <a:t> and y = R sin θ</a:t>
            </a:r>
            <a:r>
              <a:rPr baseline="-25000" lang="en-US" sz="2000"/>
              <a:t>B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Divide: y ÷ x = tan θ</a:t>
            </a:r>
            <a:r>
              <a:rPr baseline="-25000" lang="en-US" sz="2000"/>
              <a:t>B</a:t>
            </a:r>
            <a:r>
              <a:rPr lang="en-US" sz="2000"/>
              <a:t>, so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r>
              <a:rPr lang="en-US" sz="2000">
                <a:solidFill>
                  <a:srgbClr val="FF0000"/>
                </a:solidFill>
              </a:rPr>
              <a:t> = tan</a:t>
            </a:r>
            <a:r>
              <a:rPr baseline="30000" lang="en-US" sz="2000">
                <a:solidFill>
                  <a:srgbClr val="FF0000"/>
                </a:solidFill>
              </a:rPr>
              <a:t>−1</a:t>
            </a:r>
            <a:r>
              <a:rPr lang="en-US" sz="2000">
                <a:solidFill>
                  <a:srgbClr val="FF0000"/>
                </a:solidFill>
              </a:rPr>
              <a:t>(y ÷ x)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Target (301.78, 301.78, 176.78):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θ</a:t>
            </a:r>
            <a:r>
              <a:rPr baseline="-25000" lang="en-US" sz="2000"/>
              <a:t>B</a:t>
            </a:r>
            <a:r>
              <a:rPr lang="en-US" sz="2000"/>
              <a:t> = tan</a:t>
            </a:r>
            <a:r>
              <a:rPr baseline="30000" lang="en-US" sz="2000"/>
              <a:t>−1</a:t>
            </a:r>
            <a:r>
              <a:rPr lang="en-US" sz="2000"/>
              <a:t>(301.78 ÷ 301.78) = tan</a:t>
            </a:r>
            <a:r>
              <a:rPr baseline="30000" lang="en-US" sz="2000"/>
              <a:t>−1</a:t>
            </a:r>
            <a:r>
              <a:rPr lang="en-US" sz="2000"/>
              <a:t>(1) = </a:t>
            </a:r>
            <a:r>
              <a:rPr lang="en-US" sz="2000">
                <a:solidFill>
                  <a:srgbClr val="FF0000"/>
                </a:solidFill>
              </a:rPr>
              <a:t>45°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Careful: plain tan</a:t>
            </a:r>
            <a:r>
              <a:rPr baseline="30000" lang="en-US" sz="2000"/>
              <a:t>−1</a:t>
            </a:r>
            <a:r>
              <a:rPr lang="en-US" sz="2000"/>
              <a:t> can point the wrong way. See “Why atan2?”.</a:t>
            </a:r>
            <a:endParaRPr sz="2000"/>
          </a:p>
        </p:txBody>
      </p:sp>
      <p:cxnSp>
        <p:nvCxnSpPr>
          <p:cNvPr id="522" name="Google Shape;522;p25"/>
          <p:cNvCxnSpPr/>
          <p:nvPr/>
        </p:nvCxnSpPr>
        <p:spPr>
          <a:xfrm>
            <a:off x="7406640" y="5394960"/>
            <a:ext cx="42063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25"/>
          <p:cNvCxnSpPr/>
          <p:nvPr/>
        </p:nvCxnSpPr>
        <p:spPr>
          <a:xfrm rot="10800000">
            <a:off x="7680960" y="1188660"/>
            <a:ext cx="0" cy="42063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4" name="Google Shape;524;p25"/>
          <p:cNvSpPr txBox="1"/>
          <p:nvPr/>
        </p:nvSpPr>
        <p:spPr>
          <a:xfrm>
            <a:off x="11521440" y="5440680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x</a:t>
            </a:r>
            <a:endParaRPr sz="1800"/>
          </a:p>
        </p:txBody>
      </p:sp>
      <p:sp>
        <p:nvSpPr>
          <p:cNvPr id="525" name="Google Shape;525;p25"/>
          <p:cNvSpPr txBox="1"/>
          <p:nvPr/>
        </p:nvSpPr>
        <p:spPr>
          <a:xfrm>
            <a:off x="7754112" y="1097280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y</a:t>
            </a:r>
            <a:endParaRPr sz="1800"/>
          </a:p>
        </p:txBody>
      </p:sp>
      <p:sp>
        <p:nvSpPr>
          <p:cNvPr id="526" name="Google Shape;526;p25"/>
          <p:cNvSpPr txBox="1"/>
          <p:nvPr/>
        </p:nvSpPr>
        <p:spPr>
          <a:xfrm>
            <a:off x="10058400" y="914400"/>
            <a:ext cx="146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top view</a:t>
            </a:r>
            <a:endParaRPr sz="1600">
              <a:solidFill>
                <a:srgbClr val="434343"/>
              </a:solidFill>
            </a:endParaRPr>
          </a:p>
        </p:txBody>
      </p:sp>
      <p:cxnSp>
        <p:nvCxnSpPr>
          <p:cNvPr id="527" name="Google Shape;527;p25"/>
          <p:cNvCxnSpPr/>
          <p:nvPr/>
        </p:nvCxnSpPr>
        <p:spPr>
          <a:xfrm flipH="1" rot="10800000">
            <a:off x="7680960" y="2497560"/>
            <a:ext cx="2897400" cy="28974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25"/>
          <p:cNvCxnSpPr/>
          <p:nvPr/>
        </p:nvCxnSpPr>
        <p:spPr>
          <a:xfrm flipH="1" rot="10800000">
            <a:off x="7680960" y="2497560"/>
            <a:ext cx="2897400" cy="2897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25"/>
          <p:cNvSpPr/>
          <p:nvPr/>
        </p:nvSpPr>
        <p:spPr>
          <a:xfrm>
            <a:off x="7571232" y="528523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5"/>
          <p:cNvSpPr/>
          <p:nvPr/>
        </p:nvSpPr>
        <p:spPr>
          <a:xfrm>
            <a:off x="10422962" y="2342062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5"/>
          <p:cNvSpPr/>
          <p:nvPr/>
        </p:nvSpPr>
        <p:spPr>
          <a:xfrm>
            <a:off x="10532690" y="2451790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2" name="Google Shape;532;p25"/>
          <p:cNvCxnSpPr/>
          <p:nvPr/>
        </p:nvCxnSpPr>
        <p:spPr>
          <a:xfrm rot="10800000">
            <a:off x="10578410" y="2497560"/>
            <a:ext cx="0" cy="2897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25"/>
          <p:cNvCxnSpPr/>
          <p:nvPr/>
        </p:nvCxnSpPr>
        <p:spPr>
          <a:xfrm>
            <a:off x="7680960" y="2497510"/>
            <a:ext cx="28974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25"/>
          <p:cNvCxnSpPr/>
          <p:nvPr/>
        </p:nvCxnSpPr>
        <p:spPr>
          <a:xfrm rot="10800000">
            <a:off x="8577660" y="5216460"/>
            <a:ext cx="17700" cy="178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25"/>
          <p:cNvCxnSpPr/>
          <p:nvPr/>
        </p:nvCxnSpPr>
        <p:spPr>
          <a:xfrm rot="10800000">
            <a:off x="8525890" y="5044969"/>
            <a:ext cx="51900" cy="17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25"/>
          <p:cNvCxnSpPr/>
          <p:nvPr/>
        </p:nvCxnSpPr>
        <p:spPr>
          <a:xfrm rot="10800000">
            <a:off x="8441155" y="4886934"/>
            <a:ext cx="84600" cy="158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25"/>
          <p:cNvCxnSpPr/>
          <p:nvPr/>
        </p:nvCxnSpPr>
        <p:spPr>
          <a:xfrm rot="10800000">
            <a:off x="8327556" y="4748347"/>
            <a:ext cx="113700" cy="13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25"/>
          <p:cNvSpPr txBox="1"/>
          <p:nvPr/>
        </p:nvSpPr>
        <p:spPr>
          <a:xfrm>
            <a:off x="8686800" y="4828032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endParaRPr baseline="-25000" sz="2000">
              <a:solidFill>
                <a:srgbClr val="FF0000"/>
              </a:solidFill>
            </a:endParaRPr>
          </a:p>
        </p:txBody>
      </p:sp>
      <p:sp>
        <p:nvSpPr>
          <p:cNvPr id="539" name="Google Shape;539;p25"/>
          <p:cNvSpPr txBox="1"/>
          <p:nvPr/>
        </p:nvSpPr>
        <p:spPr>
          <a:xfrm>
            <a:off x="8778240" y="338328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</a:t>
            </a:r>
            <a:endParaRPr sz="2000"/>
          </a:p>
        </p:txBody>
      </p:sp>
      <p:sp>
        <p:nvSpPr>
          <p:cNvPr id="540" name="Google Shape;540;p25"/>
          <p:cNvSpPr txBox="1"/>
          <p:nvPr/>
        </p:nvSpPr>
        <p:spPr>
          <a:xfrm>
            <a:off x="10212650" y="5440680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x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541" name="Google Shape;541;p25"/>
          <p:cNvSpPr txBox="1"/>
          <p:nvPr/>
        </p:nvSpPr>
        <p:spPr>
          <a:xfrm>
            <a:off x="7269480" y="2268910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y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2: flatten 3D into 2D</a:t>
            </a:r>
            <a:endParaRPr sz="2400"/>
          </a:p>
        </p:txBody>
      </p:sp>
      <p:sp>
        <p:nvSpPr>
          <p:cNvPr id="547" name="Google Shape;547;p26"/>
          <p:cNvSpPr txBox="1"/>
          <p:nvPr/>
        </p:nvSpPr>
        <p:spPr>
          <a:xfrm>
            <a:off x="274320" y="822960"/>
            <a:ext cx="56694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arm always stays in one upright plane: the plane the base points at.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Measure the target inside that plane: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how far out: </a:t>
            </a:r>
            <a:r>
              <a:rPr lang="en-US" sz="2200">
                <a:solidFill>
                  <a:srgbClr val="FF0000"/>
                </a:solidFill>
              </a:rPr>
              <a:t>R = √(x² + y²)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how high: </a:t>
            </a:r>
            <a:r>
              <a:rPr lang="en-US" sz="2200">
                <a:solidFill>
                  <a:srgbClr val="FF0000"/>
                </a:solidFill>
              </a:rPr>
              <a:t>z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Then (R, z) plays the role of (X, Y) from Day 1. The elbow and shoulder steps do not change.</a:t>
            </a:r>
            <a:endParaRPr sz="2200"/>
          </a:p>
        </p:txBody>
      </p:sp>
      <p:sp>
        <p:nvSpPr>
          <p:cNvPr id="548" name="Google Shape;548;p26"/>
          <p:cNvSpPr/>
          <p:nvPr/>
        </p:nvSpPr>
        <p:spPr>
          <a:xfrm flipH="1" rot="-2749560">
            <a:off x="7678596" y="2567299"/>
            <a:ext cx="1795248" cy="4422661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9" name="Google Shape;549;p26"/>
          <p:cNvCxnSpPr/>
          <p:nvPr/>
        </p:nvCxnSpPr>
        <p:spPr>
          <a:xfrm flipH="1">
            <a:off x="6314400" y="4023360"/>
            <a:ext cx="1000800" cy="10299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26"/>
          <p:cNvCxnSpPr/>
          <p:nvPr/>
        </p:nvCxnSpPr>
        <p:spPr>
          <a:xfrm>
            <a:off x="7315200" y="4023360"/>
            <a:ext cx="3780600" cy="515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26"/>
          <p:cNvCxnSpPr/>
          <p:nvPr/>
        </p:nvCxnSpPr>
        <p:spPr>
          <a:xfrm rot="10800000">
            <a:off x="7315200" y="1564560"/>
            <a:ext cx="0" cy="2458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2" name="Google Shape;552;p26"/>
          <p:cNvSpPr/>
          <p:nvPr/>
        </p:nvSpPr>
        <p:spPr>
          <a:xfrm>
            <a:off x="7022592" y="3913747"/>
            <a:ext cx="585300" cy="2193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3" name="Google Shape;553;p26"/>
          <p:cNvCxnSpPr/>
          <p:nvPr/>
        </p:nvCxnSpPr>
        <p:spPr>
          <a:xfrm>
            <a:off x="7315200" y="4023360"/>
            <a:ext cx="1715100" cy="1377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26"/>
          <p:cNvCxnSpPr/>
          <p:nvPr/>
        </p:nvCxnSpPr>
        <p:spPr>
          <a:xfrm rot="10800000">
            <a:off x="9030415" y="3842472"/>
            <a:ext cx="0" cy="155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26"/>
          <p:cNvCxnSpPr/>
          <p:nvPr/>
        </p:nvCxnSpPr>
        <p:spPr>
          <a:xfrm flipH="1" rot="10800000">
            <a:off x="7315200" y="3035460"/>
            <a:ext cx="710400" cy="9879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26"/>
          <p:cNvCxnSpPr/>
          <p:nvPr/>
        </p:nvCxnSpPr>
        <p:spPr>
          <a:xfrm flipH="1" rot="10800000">
            <a:off x="7315200" y="3035460"/>
            <a:ext cx="710400" cy="987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26"/>
          <p:cNvCxnSpPr/>
          <p:nvPr/>
        </p:nvCxnSpPr>
        <p:spPr>
          <a:xfrm>
            <a:off x="8025665" y="3035417"/>
            <a:ext cx="1004700" cy="8073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26"/>
          <p:cNvCxnSpPr/>
          <p:nvPr/>
        </p:nvCxnSpPr>
        <p:spPr>
          <a:xfrm>
            <a:off x="8025665" y="3035417"/>
            <a:ext cx="1004700" cy="807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26"/>
          <p:cNvSpPr/>
          <p:nvPr/>
        </p:nvSpPr>
        <p:spPr>
          <a:xfrm>
            <a:off x="7205472" y="391363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6"/>
          <p:cNvSpPr/>
          <p:nvPr/>
        </p:nvSpPr>
        <p:spPr>
          <a:xfrm>
            <a:off x="7915937" y="2925689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6"/>
          <p:cNvSpPr/>
          <p:nvPr/>
        </p:nvSpPr>
        <p:spPr>
          <a:xfrm>
            <a:off x="8920687" y="3732851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6"/>
          <p:cNvSpPr/>
          <p:nvPr/>
        </p:nvSpPr>
        <p:spPr>
          <a:xfrm>
            <a:off x="8847535" y="3659699"/>
            <a:ext cx="365700" cy="3657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6"/>
          <p:cNvSpPr/>
          <p:nvPr/>
        </p:nvSpPr>
        <p:spPr>
          <a:xfrm>
            <a:off x="8984695" y="3796859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6"/>
          <p:cNvSpPr txBox="1"/>
          <p:nvPr/>
        </p:nvSpPr>
        <p:spPr>
          <a:xfrm>
            <a:off x="5902942" y="4916224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565" name="Google Shape;565;p26"/>
          <p:cNvSpPr txBox="1"/>
          <p:nvPr/>
        </p:nvSpPr>
        <p:spPr>
          <a:xfrm>
            <a:off x="11114210" y="4127365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566" name="Google Shape;566;p26"/>
          <p:cNvSpPr txBox="1"/>
          <p:nvPr/>
        </p:nvSpPr>
        <p:spPr>
          <a:xfrm>
            <a:off x="6903720" y="138181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</a:t>
            </a:r>
            <a:endParaRPr sz="2000"/>
          </a:p>
        </p:txBody>
      </p:sp>
      <p:sp>
        <p:nvSpPr>
          <p:cNvPr id="567" name="Google Shape;567;p26"/>
          <p:cNvSpPr txBox="1"/>
          <p:nvPr/>
        </p:nvSpPr>
        <p:spPr>
          <a:xfrm>
            <a:off x="8167128" y="4799499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R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568" name="Google Shape;568;p26"/>
          <p:cNvSpPr txBox="1"/>
          <p:nvPr/>
        </p:nvSpPr>
        <p:spPr>
          <a:xfrm>
            <a:off x="9121855" y="4439045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z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Why atan2?</a:t>
            </a:r>
            <a:endParaRPr sz="2400"/>
          </a:p>
        </p:txBody>
      </p:sp>
      <p:sp>
        <p:nvSpPr>
          <p:cNvPr id="574" name="Google Shape;574;p27"/>
          <p:cNvSpPr txBox="1"/>
          <p:nvPr/>
        </p:nvSpPr>
        <p:spPr>
          <a:xfrm>
            <a:off x="274320" y="777240"/>
            <a:ext cx="6583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Try the spot (x, y) = </a:t>
            </a:r>
            <a:r>
              <a:rPr lang="en-US" sz="2000">
                <a:solidFill>
                  <a:srgbClr val="FF0000"/>
                </a:solidFill>
              </a:rPr>
              <a:t>(−125, 216.51)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tan</a:t>
            </a:r>
            <a:r>
              <a:rPr baseline="30000" lang="en-US" sz="2000"/>
              <a:t>−1</a:t>
            </a:r>
            <a:r>
              <a:rPr lang="en-US" sz="2000"/>
              <a:t>(216.51 ÷ −125) = tan</a:t>
            </a:r>
            <a:r>
              <a:rPr baseline="30000" lang="en-US" sz="2000"/>
              <a:t>−1</a:t>
            </a:r>
            <a:r>
              <a:rPr lang="en-US" sz="2000"/>
              <a:t>(−1.732) = −60°.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That points the wrong way!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 ÷ x is the same for (−125, 216.51) and (125, −216.51), so tan</a:t>
            </a:r>
            <a:r>
              <a:rPr baseline="30000" lang="en-US" sz="2000"/>
              <a:t>−1</a:t>
            </a:r>
            <a:r>
              <a:rPr lang="en-US" sz="2000"/>
              <a:t> cannot tell them apart.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atan2(y, x) looks at the signs of both y and x, so it picks the right one: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atan2(216.51, −125) = 120°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Python: math.degrees(math.atan2(y, x))</a:t>
            </a:r>
            <a:endParaRPr sz="2000"/>
          </a:p>
        </p:txBody>
      </p:sp>
      <p:cxnSp>
        <p:nvCxnSpPr>
          <p:cNvPr id="575" name="Google Shape;575;p27"/>
          <p:cNvCxnSpPr/>
          <p:nvPr/>
        </p:nvCxnSpPr>
        <p:spPr>
          <a:xfrm>
            <a:off x="6949440" y="3931920"/>
            <a:ext cx="49377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27"/>
          <p:cNvCxnSpPr/>
          <p:nvPr/>
        </p:nvCxnSpPr>
        <p:spPr>
          <a:xfrm rot="10800000">
            <a:off x="9418320" y="1280160"/>
            <a:ext cx="0" cy="50292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p27"/>
          <p:cNvSpPr txBox="1"/>
          <p:nvPr/>
        </p:nvSpPr>
        <p:spPr>
          <a:xfrm>
            <a:off x="11795760" y="397764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578" name="Google Shape;578;p27"/>
          <p:cNvSpPr txBox="1"/>
          <p:nvPr/>
        </p:nvSpPr>
        <p:spPr>
          <a:xfrm>
            <a:off x="9491472" y="118872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cxnSp>
        <p:nvCxnSpPr>
          <p:cNvPr id="579" name="Google Shape;579;p27"/>
          <p:cNvCxnSpPr/>
          <p:nvPr/>
        </p:nvCxnSpPr>
        <p:spPr>
          <a:xfrm rot="10800000">
            <a:off x="8332620" y="2051220"/>
            <a:ext cx="1085700" cy="1880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27"/>
          <p:cNvCxnSpPr/>
          <p:nvPr/>
        </p:nvCxnSpPr>
        <p:spPr>
          <a:xfrm rot="10800000">
            <a:off x="8332620" y="2051220"/>
            <a:ext cx="1085700" cy="1880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27"/>
          <p:cNvCxnSpPr/>
          <p:nvPr/>
        </p:nvCxnSpPr>
        <p:spPr>
          <a:xfrm>
            <a:off x="9418320" y="3931920"/>
            <a:ext cx="1086000" cy="18807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2" name="Google Shape;582;p27"/>
          <p:cNvSpPr/>
          <p:nvPr/>
        </p:nvSpPr>
        <p:spPr>
          <a:xfrm>
            <a:off x="9308592" y="382219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8177022" y="1895693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8286750" y="2005421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5" name="Google Shape;585;p27"/>
          <p:cNvCxnSpPr/>
          <p:nvPr/>
        </p:nvCxnSpPr>
        <p:spPr>
          <a:xfrm rot="10800000">
            <a:off x="10041000" y="3784320"/>
            <a:ext cx="17400" cy="147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27"/>
          <p:cNvCxnSpPr/>
          <p:nvPr/>
        </p:nvCxnSpPr>
        <p:spPr>
          <a:xfrm rot="10800000">
            <a:off x="9990447" y="3644507"/>
            <a:ext cx="50700" cy="139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27"/>
          <p:cNvCxnSpPr/>
          <p:nvPr/>
        </p:nvCxnSpPr>
        <p:spPr>
          <a:xfrm rot="10800000">
            <a:off x="9908716" y="3520453"/>
            <a:ext cx="81600" cy="124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27"/>
          <p:cNvCxnSpPr/>
          <p:nvPr/>
        </p:nvCxnSpPr>
        <p:spPr>
          <a:xfrm rot="10800000">
            <a:off x="9800650" y="3418485"/>
            <a:ext cx="108000" cy="10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27"/>
          <p:cNvCxnSpPr/>
          <p:nvPr/>
        </p:nvCxnSpPr>
        <p:spPr>
          <a:xfrm rot="10800000">
            <a:off x="9671849" y="3344097"/>
            <a:ext cx="128700" cy="7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27"/>
          <p:cNvCxnSpPr/>
          <p:nvPr/>
        </p:nvCxnSpPr>
        <p:spPr>
          <a:xfrm rot="10800000">
            <a:off x="9529343" y="3301588"/>
            <a:ext cx="142500" cy="42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27"/>
          <p:cNvCxnSpPr/>
          <p:nvPr/>
        </p:nvCxnSpPr>
        <p:spPr>
          <a:xfrm rot="10800000">
            <a:off x="9380969" y="3292864"/>
            <a:ext cx="148500" cy="8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27"/>
          <p:cNvCxnSpPr/>
          <p:nvPr/>
        </p:nvCxnSpPr>
        <p:spPr>
          <a:xfrm flipH="1">
            <a:off x="9234703" y="3292923"/>
            <a:ext cx="146400" cy="25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27"/>
          <p:cNvCxnSpPr/>
          <p:nvPr/>
        </p:nvCxnSpPr>
        <p:spPr>
          <a:xfrm flipH="1">
            <a:off x="9098243" y="3318730"/>
            <a:ext cx="136500" cy="5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27"/>
          <p:cNvCxnSpPr/>
          <p:nvPr/>
        </p:nvCxnSpPr>
        <p:spPr>
          <a:xfrm flipH="1">
            <a:off x="10402260" y="3931920"/>
            <a:ext cx="21900" cy="2091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27"/>
          <p:cNvCxnSpPr/>
          <p:nvPr/>
        </p:nvCxnSpPr>
        <p:spPr>
          <a:xfrm flipH="1">
            <a:off x="10337080" y="4141046"/>
            <a:ext cx="65100" cy="2001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27"/>
          <p:cNvCxnSpPr/>
          <p:nvPr/>
        </p:nvCxnSpPr>
        <p:spPr>
          <a:xfrm flipH="1">
            <a:off x="10232201" y="4341032"/>
            <a:ext cx="105000" cy="1821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27"/>
          <p:cNvCxnSpPr/>
          <p:nvPr/>
        </p:nvCxnSpPr>
        <p:spPr>
          <a:xfrm flipH="1">
            <a:off x="10091362" y="4523138"/>
            <a:ext cx="140700" cy="1563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27"/>
          <p:cNvCxnSpPr/>
          <p:nvPr/>
        </p:nvCxnSpPr>
        <p:spPr>
          <a:xfrm flipH="1">
            <a:off x="9921258" y="4679405"/>
            <a:ext cx="170100" cy="1236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" name="Google Shape;599;p27"/>
          <p:cNvSpPr txBox="1"/>
          <p:nvPr/>
        </p:nvSpPr>
        <p:spPr>
          <a:xfrm>
            <a:off x="9921240" y="2971800"/>
            <a:ext cx="82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120°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600" name="Google Shape;600;p27"/>
          <p:cNvSpPr txBox="1"/>
          <p:nvPr/>
        </p:nvSpPr>
        <p:spPr>
          <a:xfrm>
            <a:off x="10241280" y="4480560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</a:rPr>
              <a:t>−60° (wrong)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601" name="Google Shape;601;p27"/>
          <p:cNvSpPr txBox="1"/>
          <p:nvPr/>
        </p:nvSpPr>
        <p:spPr>
          <a:xfrm>
            <a:off x="7418070" y="1502501"/>
            <a:ext cx="2103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(−125, 216.51)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full recipe:</a:t>
            </a:r>
            <a:endParaRPr sz="2400"/>
          </a:p>
        </p:txBody>
      </p:sp>
      <p:sp>
        <p:nvSpPr>
          <p:cNvPr id="607" name="Google Shape;607;p28"/>
          <p:cNvSpPr txBox="1"/>
          <p:nvPr/>
        </p:nvSpPr>
        <p:spPr>
          <a:xfrm>
            <a:off x="274320" y="822960"/>
            <a:ext cx="11613000" cy="5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Aim the base: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 = atan2(y, x)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Flatten: </a:t>
            </a:r>
            <a:r>
              <a:rPr lang="en-US" sz="2200">
                <a:solidFill>
                  <a:srgbClr val="FF0000"/>
                </a:solidFill>
              </a:rPr>
              <a:t>R = √(x² + y²)</a:t>
            </a:r>
            <a:r>
              <a:rPr lang="en-US" sz="2200"/>
              <a:t>, then </a:t>
            </a:r>
            <a:r>
              <a:rPr lang="en-US" sz="2200">
                <a:solidFill>
                  <a:srgbClr val="FF0000"/>
                </a:solidFill>
              </a:rPr>
              <a:t>D² = R² + z²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 Elbow: </a:t>
            </a:r>
            <a:r>
              <a:rPr lang="en-US" sz="2200">
                <a:solidFill>
                  <a:srgbClr val="FF0000"/>
                </a:solidFill>
              </a:rPr>
              <a:t>cos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(D² − 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² −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²) ÷ (2 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Check that cos θ</a:t>
            </a:r>
            <a:r>
              <a:rPr baseline="-25000" lang="en-US" sz="2200"/>
              <a:t>E</a:t>
            </a:r>
            <a:r>
              <a:rPr lang="en-US" sz="2200"/>
              <a:t> is between −1 and 1. Elbow up, so θ</a:t>
            </a:r>
            <a:r>
              <a:rPr baseline="-25000" lang="en-US" sz="2200"/>
              <a:t>E</a:t>
            </a:r>
            <a:r>
              <a:rPr lang="en-US" sz="2200"/>
              <a:t> is negative.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4.  Shoulder: </a:t>
            </a:r>
            <a:r>
              <a:rPr lang="en-US" sz="2200">
                <a:solidFill>
                  <a:srgbClr val="FF0000"/>
                </a:solidFill>
              </a:rPr>
              <a:t>φ = tan</a:t>
            </a:r>
            <a:r>
              <a:rPr baseline="30000" lang="en-US" sz="2200">
                <a:solidFill>
                  <a:srgbClr val="FF0000"/>
                </a:solidFill>
              </a:rPr>
              <a:t>−1</a:t>
            </a:r>
            <a:r>
              <a:rPr lang="en-US" sz="2200">
                <a:solidFill>
                  <a:srgbClr val="FF0000"/>
                </a:solidFill>
              </a:rPr>
              <a:t>(z ÷ R)</a:t>
            </a:r>
            <a:r>
              <a:rPr lang="en-US" sz="2200"/>
              <a:t> and </a:t>
            </a:r>
            <a:r>
              <a:rPr lang="en-US" sz="2200">
                <a:solidFill>
                  <a:srgbClr val="FF0000"/>
                </a:solidFill>
              </a:rPr>
              <a:t>cos δ = (L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² + D² −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²) ÷ (2 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D)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φ + δ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Four steps, a few formulas, and an exact answer. No guessing.</a:t>
            </a: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</a:t>
            </a:r>
            <a:endParaRPr sz="2400"/>
          </a:p>
        </p:txBody>
      </p:sp>
      <p:sp>
        <p:nvSpPr>
          <p:cNvPr id="613" name="Google Shape;613;p29"/>
          <p:cNvSpPr txBox="1"/>
          <p:nvPr/>
        </p:nvSpPr>
        <p:spPr>
          <a:xfrm>
            <a:off x="274320" y="777240"/>
            <a:ext cx="58521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Find θ</a:t>
            </a:r>
            <a:r>
              <a:rPr baseline="-25000" lang="en-US" sz="2100"/>
              <a:t>B</a:t>
            </a:r>
            <a:r>
              <a:rPr lang="en-US" sz="2100"/>
              <a:t>, θ</a:t>
            </a:r>
            <a:r>
              <a:rPr baseline="-25000" lang="en-US" sz="2100"/>
              <a:t>S</a:t>
            </a:r>
            <a:r>
              <a:rPr lang="en-US" sz="2100"/>
              <a:t> and θ</a:t>
            </a:r>
            <a:r>
              <a:rPr baseline="-25000" lang="en-US" sz="2100"/>
              <a:t>E</a:t>
            </a:r>
            <a:r>
              <a:rPr lang="en-US" sz="2100"/>
              <a:t> for the target </a:t>
            </a:r>
            <a:r>
              <a:rPr lang="en-US" sz="2100">
                <a:solidFill>
                  <a:srgbClr val="FF0000"/>
                </a:solidFill>
              </a:rPr>
              <a:t>(301.78, 301.78, 176.78)</a:t>
            </a:r>
            <a:r>
              <a:rPr lang="en-US" sz="2100"/>
              <a:t>, the tip from Lesson 4.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θ</a:t>
            </a:r>
            <a:r>
              <a:rPr baseline="-25000" lang="en-US" sz="2100"/>
              <a:t>B</a:t>
            </a:r>
            <a:r>
              <a:rPr lang="en-US" sz="2100"/>
              <a:t> = atan2(301.78, 301.78) = </a:t>
            </a:r>
            <a:r>
              <a:rPr lang="en-US" sz="2100">
                <a:solidFill>
                  <a:srgbClr val="FF0000"/>
                </a:solidFill>
              </a:rPr>
              <a:t>45°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R = √(301.78² + 301.78²) = </a:t>
            </a:r>
            <a:r>
              <a:rPr lang="en-US" sz="2100">
                <a:solidFill>
                  <a:srgbClr val="FF0000"/>
                </a:solidFill>
              </a:rPr>
              <a:t>426.78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     z = </a:t>
            </a:r>
            <a:r>
              <a:rPr lang="en-US" sz="2100">
                <a:solidFill>
                  <a:srgbClr val="FF0000"/>
                </a:solidFill>
              </a:rPr>
              <a:t>176.78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Now it is the flat arm with target (426.78, 176.78): Day 1’s worked example!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3.  θ</a:t>
            </a:r>
            <a:r>
              <a:rPr baseline="-25000" lang="en-US" sz="2100"/>
              <a:t>E</a:t>
            </a:r>
            <a:r>
              <a:rPr lang="en-US" sz="2100"/>
              <a:t> = </a:t>
            </a:r>
            <a:r>
              <a:rPr lang="en-US" sz="2100">
                <a:solidFill>
                  <a:srgbClr val="FF0000"/>
                </a:solidFill>
              </a:rPr>
              <a:t>−45°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4.  θ</a:t>
            </a:r>
            <a:r>
              <a:rPr baseline="-25000" lang="en-US" sz="2100"/>
              <a:t>S</a:t>
            </a:r>
            <a:r>
              <a:rPr lang="en-US" sz="2100"/>
              <a:t> = </a:t>
            </a:r>
            <a:r>
              <a:rPr lang="en-US" sz="2100">
                <a:solidFill>
                  <a:srgbClr val="FF0000"/>
                </a:solidFill>
              </a:rPr>
              <a:t>45°</a:t>
            </a:r>
            <a:endParaRPr sz="2100">
              <a:solidFill>
                <a:srgbClr val="FF0000"/>
              </a:solidFill>
            </a:endParaRPr>
          </a:p>
        </p:txBody>
      </p:sp>
      <p:sp>
        <p:nvSpPr>
          <p:cNvPr id="614" name="Google Shape;614;p29"/>
          <p:cNvSpPr/>
          <p:nvPr/>
        </p:nvSpPr>
        <p:spPr>
          <a:xfrm flipH="1" rot="-2749560">
            <a:off x="7678596" y="2567299"/>
            <a:ext cx="1795248" cy="4422661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5" name="Google Shape;615;p29"/>
          <p:cNvCxnSpPr/>
          <p:nvPr/>
        </p:nvCxnSpPr>
        <p:spPr>
          <a:xfrm flipH="1">
            <a:off x="6314400" y="4023360"/>
            <a:ext cx="1000800" cy="10299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29"/>
          <p:cNvCxnSpPr/>
          <p:nvPr/>
        </p:nvCxnSpPr>
        <p:spPr>
          <a:xfrm>
            <a:off x="7315200" y="4023360"/>
            <a:ext cx="3780600" cy="515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29"/>
          <p:cNvCxnSpPr/>
          <p:nvPr/>
        </p:nvCxnSpPr>
        <p:spPr>
          <a:xfrm rot="10800000">
            <a:off x="7315200" y="1564560"/>
            <a:ext cx="0" cy="2458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29"/>
          <p:cNvSpPr/>
          <p:nvPr/>
        </p:nvSpPr>
        <p:spPr>
          <a:xfrm>
            <a:off x="7022592" y="3913747"/>
            <a:ext cx="585300" cy="2193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9" name="Google Shape;619;p29"/>
          <p:cNvCxnSpPr/>
          <p:nvPr/>
        </p:nvCxnSpPr>
        <p:spPr>
          <a:xfrm>
            <a:off x="7315200" y="4023360"/>
            <a:ext cx="1715100" cy="1377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29"/>
          <p:cNvCxnSpPr/>
          <p:nvPr/>
        </p:nvCxnSpPr>
        <p:spPr>
          <a:xfrm rot="10800000">
            <a:off x="9030415" y="3842472"/>
            <a:ext cx="0" cy="155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29"/>
          <p:cNvCxnSpPr/>
          <p:nvPr/>
        </p:nvCxnSpPr>
        <p:spPr>
          <a:xfrm flipH="1" rot="10800000">
            <a:off x="7315200" y="3035460"/>
            <a:ext cx="710400" cy="9879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29"/>
          <p:cNvCxnSpPr/>
          <p:nvPr/>
        </p:nvCxnSpPr>
        <p:spPr>
          <a:xfrm flipH="1" rot="10800000">
            <a:off x="7315200" y="3035460"/>
            <a:ext cx="710400" cy="987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29"/>
          <p:cNvCxnSpPr/>
          <p:nvPr/>
        </p:nvCxnSpPr>
        <p:spPr>
          <a:xfrm>
            <a:off x="8025665" y="3035417"/>
            <a:ext cx="1004700" cy="8073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29"/>
          <p:cNvCxnSpPr/>
          <p:nvPr/>
        </p:nvCxnSpPr>
        <p:spPr>
          <a:xfrm>
            <a:off x="8025665" y="3035417"/>
            <a:ext cx="1004700" cy="807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5" name="Google Shape;625;p29"/>
          <p:cNvSpPr/>
          <p:nvPr/>
        </p:nvSpPr>
        <p:spPr>
          <a:xfrm>
            <a:off x="7205472" y="391363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9"/>
          <p:cNvSpPr/>
          <p:nvPr/>
        </p:nvSpPr>
        <p:spPr>
          <a:xfrm>
            <a:off x="7915937" y="2925689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9"/>
          <p:cNvSpPr/>
          <p:nvPr/>
        </p:nvSpPr>
        <p:spPr>
          <a:xfrm>
            <a:off x="8920687" y="3732851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9"/>
          <p:cNvSpPr/>
          <p:nvPr/>
        </p:nvSpPr>
        <p:spPr>
          <a:xfrm>
            <a:off x="8847535" y="3659699"/>
            <a:ext cx="365700" cy="3657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9"/>
          <p:cNvSpPr/>
          <p:nvPr/>
        </p:nvSpPr>
        <p:spPr>
          <a:xfrm>
            <a:off x="8984695" y="3796859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9"/>
          <p:cNvSpPr txBox="1"/>
          <p:nvPr/>
        </p:nvSpPr>
        <p:spPr>
          <a:xfrm>
            <a:off x="5902942" y="4916224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631" name="Google Shape;631;p29"/>
          <p:cNvSpPr txBox="1"/>
          <p:nvPr/>
        </p:nvSpPr>
        <p:spPr>
          <a:xfrm>
            <a:off x="11114210" y="4127365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632" name="Google Shape;632;p29"/>
          <p:cNvSpPr txBox="1"/>
          <p:nvPr/>
        </p:nvSpPr>
        <p:spPr>
          <a:xfrm>
            <a:off x="6903720" y="138181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</a:t>
            </a:r>
            <a:endParaRPr sz="2000"/>
          </a:p>
        </p:txBody>
      </p:sp>
      <p:cxnSp>
        <p:nvCxnSpPr>
          <p:cNvPr id="633" name="Google Shape;633;p29"/>
          <p:cNvCxnSpPr/>
          <p:nvPr/>
        </p:nvCxnSpPr>
        <p:spPr>
          <a:xfrm>
            <a:off x="7002457" y="4345243"/>
            <a:ext cx="114900" cy="12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29"/>
          <p:cNvCxnSpPr/>
          <p:nvPr/>
        </p:nvCxnSpPr>
        <p:spPr>
          <a:xfrm>
            <a:off x="7117288" y="4357781"/>
            <a:ext cx="118200" cy="6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29"/>
          <p:cNvCxnSpPr/>
          <p:nvPr/>
        </p:nvCxnSpPr>
        <p:spPr>
          <a:xfrm>
            <a:off x="7235505" y="4364597"/>
            <a:ext cx="119700" cy="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29"/>
          <p:cNvCxnSpPr/>
          <p:nvPr/>
        </p:nvCxnSpPr>
        <p:spPr>
          <a:xfrm flipH="1" rot="10800000">
            <a:off x="7355086" y="4360774"/>
            <a:ext cx="118800" cy="4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29"/>
          <p:cNvCxnSpPr/>
          <p:nvPr/>
        </p:nvCxnSpPr>
        <p:spPr>
          <a:xfrm flipH="1" rot="10800000">
            <a:off x="7473984" y="4350196"/>
            <a:ext cx="116100" cy="1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29"/>
          <p:cNvCxnSpPr/>
          <p:nvPr/>
        </p:nvCxnSpPr>
        <p:spPr>
          <a:xfrm flipH="1" rot="10800000">
            <a:off x="7590165" y="4333846"/>
            <a:ext cx="111600" cy="16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29"/>
          <p:cNvSpPr txBox="1"/>
          <p:nvPr/>
        </p:nvSpPr>
        <p:spPr>
          <a:xfrm>
            <a:off x="7192148" y="4335513"/>
            <a:ext cx="68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</a:rPr>
              <a:t>θ</a:t>
            </a:r>
            <a:r>
              <a:rPr baseline="-25000" lang="en-US" sz="1600">
                <a:solidFill>
                  <a:srgbClr val="FF0000"/>
                </a:solidFill>
              </a:rPr>
              <a:t>B</a:t>
            </a:r>
            <a:endParaRPr baseline="-25000" sz="1600">
              <a:solidFill>
                <a:srgbClr val="FF0000"/>
              </a:solidFill>
            </a:endParaRPr>
          </a:p>
        </p:txBody>
      </p:sp>
      <p:sp>
        <p:nvSpPr>
          <p:cNvPr id="640" name="Google Shape;640;p29"/>
          <p:cNvSpPr txBox="1"/>
          <p:nvPr/>
        </p:nvSpPr>
        <p:spPr>
          <a:xfrm>
            <a:off x="8167128" y="4799499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R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641" name="Google Shape;641;p29"/>
          <p:cNvSpPr txBox="1"/>
          <p:nvPr/>
        </p:nvSpPr>
        <p:spPr>
          <a:xfrm>
            <a:off x="9121855" y="4439045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z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Check it with FK:</a:t>
            </a:r>
            <a:endParaRPr sz="2400"/>
          </a:p>
        </p:txBody>
      </p:sp>
      <p:sp>
        <p:nvSpPr>
          <p:cNvPr id="647" name="Google Shape;647;p30"/>
          <p:cNvSpPr/>
          <p:nvPr/>
        </p:nvSpPr>
        <p:spPr>
          <a:xfrm>
            <a:off x="274320" y="868680"/>
            <a:ext cx="3520500" cy="11430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0"/>
          <p:cNvSpPr txBox="1"/>
          <p:nvPr/>
        </p:nvSpPr>
        <p:spPr>
          <a:xfrm>
            <a:off x="274320" y="868680"/>
            <a:ext cx="3520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target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(301.78, 301.78, 176.78)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49" name="Google Shape;649;p30"/>
          <p:cNvSpPr/>
          <p:nvPr/>
        </p:nvSpPr>
        <p:spPr>
          <a:xfrm>
            <a:off x="4343400" y="868680"/>
            <a:ext cx="3520500" cy="11430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0"/>
          <p:cNvSpPr txBox="1"/>
          <p:nvPr/>
        </p:nvSpPr>
        <p:spPr>
          <a:xfrm>
            <a:off x="4343400" y="868680"/>
            <a:ext cx="3520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IK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θ</a:t>
            </a:r>
            <a:r>
              <a:rPr baseline="-25000" lang="en-US" sz="1800">
                <a:solidFill>
                  <a:srgbClr val="FF0000"/>
                </a:solidFill>
              </a:rPr>
              <a:t>B</a:t>
            </a:r>
            <a:r>
              <a:rPr lang="en-US" sz="1800">
                <a:solidFill>
                  <a:srgbClr val="FF0000"/>
                </a:solidFill>
              </a:rPr>
              <a:t>, θ</a:t>
            </a:r>
            <a:r>
              <a:rPr baseline="-25000" lang="en-US" sz="1800">
                <a:solidFill>
                  <a:srgbClr val="FF0000"/>
                </a:solidFill>
              </a:rPr>
              <a:t>S</a:t>
            </a:r>
            <a:r>
              <a:rPr lang="en-US" sz="1800">
                <a:solidFill>
                  <a:srgbClr val="FF0000"/>
                </a:solidFill>
              </a:rPr>
              <a:t>, θ</a:t>
            </a:r>
            <a:r>
              <a:rPr baseline="-25000" lang="en-US" sz="1800">
                <a:solidFill>
                  <a:srgbClr val="FF0000"/>
                </a:solidFill>
              </a:rPr>
              <a:t>E</a:t>
            </a:r>
            <a:r>
              <a:rPr lang="en-US" sz="1800">
                <a:solidFill>
                  <a:srgbClr val="FF0000"/>
                </a:solidFill>
              </a:rPr>
              <a:t> = 45°, 45°, −45°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8412480" y="868680"/>
            <a:ext cx="3520500" cy="11430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0"/>
          <p:cNvSpPr txBox="1"/>
          <p:nvPr/>
        </p:nvSpPr>
        <p:spPr>
          <a:xfrm>
            <a:off x="8412480" y="868680"/>
            <a:ext cx="3520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FK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(301.78, 301.78, 176.78)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653" name="Google Shape;653;p30"/>
          <p:cNvCxnSpPr/>
          <p:nvPr/>
        </p:nvCxnSpPr>
        <p:spPr>
          <a:xfrm>
            <a:off x="3840480" y="1435608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4" name="Google Shape;654;p30"/>
          <p:cNvCxnSpPr/>
          <p:nvPr/>
        </p:nvCxnSpPr>
        <p:spPr>
          <a:xfrm>
            <a:off x="7909560" y="1435608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5" name="Google Shape;655;p30"/>
          <p:cNvSpPr txBox="1"/>
          <p:nvPr/>
        </p:nvSpPr>
        <p:spPr>
          <a:xfrm>
            <a:off x="274320" y="2286000"/>
            <a:ext cx="115215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Put the IK angles back into FK. If the tip lands on the target, the angles are right.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Three ways to do FK: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Lesson 4’s link table, by hand.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The Desmos graph from Lesson 4: u = 45, v = 45, w = −45 gives d = (3.0178, 3.0178, 1.7678), so (301.78, 301.78, 176.78) mm.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3.  Lesson 5’s code: show(tip_3d(45, 45, -45)) prints </a:t>
            </a:r>
            <a:r>
              <a:rPr lang="en-US" sz="2100">
                <a:solidFill>
                  <a:srgbClr val="FF0000"/>
                </a:solidFill>
              </a:rPr>
              <a:t>[301.78, 301.78, 176.78]</a:t>
            </a:r>
            <a:r>
              <a:rPr lang="en-US" sz="2100"/>
              <a:t>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Make it a habit: always check IK with FK.</a:t>
            </a:r>
            <a:endParaRPr sz="2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#4:</a:t>
            </a:r>
            <a:endParaRPr sz="2400"/>
          </a:p>
        </p:txBody>
      </p:sp>
      <p:sp>
        <p:nvSpPr>
          <p:cNvPr id="661" name="Google Shape;661;p31"/>
          <p:cNvSpPr txBox="1"/>
          <p:nvPr/>
        </p:nvSpPr>
        <p:spPr>
          <a:xfrm>
            <a:off x="274320" y="777240"/>
            <a:ext cx="11521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θ</a:t>
            </a:r>
            <a:r>
              <a:rPr baseline="-25000" lang="en-US" sz="2200"/>
              <a:t>B</a:t>
            </a:r>
            <a:r>
              <a:rPr lang="en-US" sz="2200"/>
              <a:t>, θ</a:t>
            </a:r>
            <a:r>
              <a:rPr baseline="-25000" lang="en-US" sz="2200"/>
              <a:t>S</a:t>
            </a:r>
            <a:r>
              <a:rPr lang="en-US" sz="2200"/>
              <a:t> and θ</a:t>
            </a:r>
            <a:r>
              <a:rPr baseline="-25000" lang="en-US" sz="2200"/>
              <a:t>E</a:t>
            </a:r>
            <a:r>
              <a:rPr lang="en-US" sz="2200"/>
              <a:t> (elbow up) for the target </a:t>
            </a:r>
            <a:r>
              <a:rPr lang="en-US" sz="2200">
                <a:solidFill>
                  <a:srgbClr val="FF0000"/>
                </a:solidFill>
              </a:rPr>
              <a:t>(295.75, 170.75, 91.51)</a:t>
            </a:r>
            <a:r>
              <a:rPr lang="en-US" sz="2200"/>
              <a:t>.</a:t>
            </a:r>
            <a:endParaRPr sz="2200"/>
          </a:p>
        </p:txBody>
      </p:sp>
      <p:sp>
        <p:nvSpPr>
          <p:cNvPr id="662" name="Google Shape;662;p31"/>
          <p:cNvSpPr txBox="1"/>
          <p:nvPr/>
        </p:nvSpPr>
        <p:spPr>
          <a:xfrm>
            <a:off x="274320" y="1645920"/>
            <a:ext cx="1152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Use the four-step recipe. Hint: this tip came from Lesson 4’s Try it yourself #5.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#4: solution</a:t>
            </a:r>
            <a:endParaRPr sz="2400"/>
          </a:p>
        </p:txBody>
      </p:sp>
      <p:sp>
        <p:nvSpPr>
          <p:cNvPr id="668" name="Google Shape;668;p32"/>
          <p:cNvSpPr txBox="1"/>
          <p:nvPr/>
        </p:nvSpPr>
        <p:spPr>
          <a:xfrm>
            <a:off x="274320" y="777240"/>
            <a:ext cx="11521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θ</a:t>
            </a:r>
            <a:r>
              <a:rPr baseline="-25000" lang="en-US" sz="2200"/>
              <a:t>B</a:t>
            </a:r>
            <a:r>
              <a:rPr lang="en-US" sz="2200"/>
              <a:t>, θ</a:t>
            </a:r>
            <a:r>
              <a:rPr baseline="-25000" lang="en-US" sz="2200"/>
              <a:t>S</a:t>
            </a:r>
            <a:r>
              <a:rPr lang="en-US" sz="2200"/>
              <a:t> and θ</a:t>
            </a:r>
            <a:r>
              <a:rPr baseline="-25000" lang="en-US" sz="2200"/>
              <a:t>E</a:t>
            </a:r>
            <a:r>
              <a:rPr lang="en-US" sz="2200"/>
              <a:t> (elbow up) for the target </a:t>
            </a:r>
            <a:r>
              <a:rPr lang="en-US" sz="2200">
                <a:solidFill>
                  <a:srgbClr val="FF0000"/>
                </a:solidFill>
              </a:rPr>
              <a:t>(295.75, 170.75, 91.51)</a:t>
            </a:r>
            <a:r>
              <a:rPr lang="en-US" sz="2200"/>
              <a:t>.</a:t>
            </a:r>
            <a:endParaRPr sz="2200"/>
          </a:p>
        </p:txBody>
      </p:sp>
      <p:sp>
        <p:nvSpPr>
          <p:cNvPr id="669" name="Google Shape;669;p32"/>
          <p:cNvSpPr txBox="1"/>
          <p:nvPr/>
        </p:nvSpPr>
        <p:spPr>
          <a:xfrm>
            <a:off x="274320" y="1508760"/>
            <a:ext cx="115215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θ</a:t>
            </a:r>
            <a:r>
              <a:rPr baseline="-25000" lang="en-US" sz="2100"/>
              <a:t>B</a:t>
            </a:r>
            <a:r>
              <a:rPr lang="en-US" sz="2100"/>
              <a:t> = atan2(170.75, 295.75) = </a:t>
            </a:r>
            <a:r>
              <a:rPr lang="en-US" sz="2100">
                <a:solidFill>
                  <a:srgbClr val="FF0000"/>
                </a:solidFill>
              </a:rPr>
              <a:t>30°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R = √(295.75² + 170.75²) = 341.50 and z = 91.51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     D² = 341.50² + 91.51² ≈ 125,000  (D = 353.55)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3.  cos θ</a:t>
            </a:r>
            <a:r>
              <a:rPr baseline="-25000" lang="en-US" sz="2100"/>
              <a:t>E</a:t>
            </a:r>
            <a:r>
              <a:rPr lang="en-US" sz="2100"/>
              <a:t> = (125,000 − 125,000) ÷ 125,000 = 0 →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E</a:t>
            </a:r>
            <a:r>
              <a:rPr lang="en-US" sz="2100">
                <a:solidFill>
                  <a:srgbClr val="FF0000"/>
                </a:solidFill>
              </a:rPr>
              <a:t> = −90°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4.  φ = tan</a:t>
            </a:r>
            <a:r>
              <a:rPr baseline="30000" lang="en-US" sz="2100"/>
              <a:t>−1</a:t>
            </a:r>
            <a:r>
              <a:rPr lang="en-US" sz="2100"/>
              <a:t>(91.51 ÷ 341.50) = 15°, cos δ = 353.55 ÷ 500 = 0.7071 → δ = 45°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     →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S</a:t>
            </a:r>
            <a:r>
              <a:rPr lang="en-US" sz="2100">
                <a:solidFill>
                  <a:srgbClr val="FF0000"/>
                </a:solidFill>
              </a:rPr>
              <a:t> = 15° + 45° = 60°</a:t>
            </a:r>
            <a:endParaRPr sz="2100">
              <a:solidFill>
                <a:srgbClr val="FF0000"/>
              </a:solidFill>
            </a:endParaRPr>
          </a:p>
        </p:txBody>
      </p:sp>
      <p:sp>
        <p:nvSpPr>
          <p:cNvPr id="670" name="Google Shape;670;p32"/>
          <p:cNvSpPr txBox="1"/>
          <p:nvPr/>
        </p:nvSpPr>
        <p:spPr>
          <a:xfrm>
            <a:off x="274320" y="4023360"/>
            <a:ext cx="1152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Lesson 4’s Try it yourself #5 run backwards: (30°, 60°, −90°). Check: show(tip_3d(30, 60, -90)) gives [295.75, 170.75, 91.51].</a:t>
            </a:r>
            <a:endParaRPr sz="2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#5:</a:t>
            </a:r>
            <a:endParaRPr sz="2400"/>
          </a:p>
        </p:txBody>
      </p:sp>
      <p:sp>
        <p:nvSpPr>
          <p:cNvPr id="676" name="Google Shape;676;p33"/>
          <p:cNvSpPr txBox="1"/>
          <p:nvPr/>
        </p:nvSpPr>
        <p:spPr>
          <a:xfrm>
            <a:off x="274320" y="777240"/>
            <a:ext cx="11521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θ</a:t>
            </a:r>
            <a:r>
              <a:rPr baseline="-25000" lang="en-US" sz="2200"/>
              <a:t>B</a:t>
            </a:r>
            <a:r>
              <a:rPr lang="en-US" sz="2200"/>
              <a:t>, θ</a:t>
            </a:r>
            <a:r>
              <a:rPr baseline="-25000" lang="en-US" sz="2200"/>
              <a:t>S</a:t>
            </a:r>
            <a:r>
              <a:rPr lang="en-US" sz="2200"/>
              <a:t> and θ</a:t>
            </a:r>
            <a:r>
              <a:rPr baseline="-25000" lang="en-US" sz="2200"/>
              <a:t>E</a:t>
            </a:r>
            <a:r>
              <a:rPr lang="en-US" sz="2200"/>
              <a:t> (elbow up) for the target </a:t>
            </a:r>
            <a:r>
              <a:rPr lang="en-US" sz="2200">
                <a:solidFill>
                  <a:srgbClr val="FF0000"/>
                </a:solidFill>
              </a:rPr>
              <a:t>(−324.76, 187.50, 216.51)</a:t>
            </a:r>
            <a:r>
              <a:rPr lang="en-US" sz="2200"/>
              <a:t>.</a:t>
            </a:r>
            <a:endParaRPr sz="2200"/>
          </a:p>
        </p:txBody>
      </p:sp>
      <p:sp>
        <p:nvSpPr>
          <p:cNvPr id="677" name="Google Shape;677;p33"/>
          <p:cNvSpPr txBox="1"/>
          <p:nvPr/>
        </p:nvSpPr>
        <p:spPr>
          <a:xfrm>
            <a:off x="274320" y="1645920"/>
            <a:ext cx="1152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Careful with θ</a:t>
            </a:r>
            <a:r>
              <a:rPr baseline="-25000" lang="en-US" sz="2000"/>
              <a:t>B</a:t>
            </a:r>
            <a:r>
              <a:rPr lang="en-US" sz="2000"/>
              <a:t>: x is negative.</a:t>
            </a:r>
            <a:endParaRPr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#5: solution</a:t>
            </a:r>
            <a:endParaRPr sz="2400"/>
          </a:p>
        </p:txBody>
      </p:sp>
      <p:sp>
        <p:nvSpPr>
          <p:cNvPr id="683" name="Google Shape;683;p34"/>
          <p:cNvSpPr txBox="1"/>
          <p:nvPr/>
        </p:nvSpPr>
        <p:spPr>
          <a:xfrm>
            <a:off x="274320" y="777240"/>
            <a:ext cx="11521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θ</a:t>
            </a:r>
            <a:r>
              <a:rPr baseline="-25000" lang="en-US" sz="2200"/>
              <a:t>B</a:t>
            </a:r>
            <a:r>
              <a:rPr lang="en-US" sz="2200"/>
              <a:t>, θ</a:t>
            </a:r>
            <a:r>
              <a:rPr baseline="-25000" lang="en-US" sz="2200"/>
              <a:t>S</a:t>
            </a:r>
            <a:r>
              <a:rPr lang="en-US" sz="2200"/>
              <a:t> and θ</a:t>
            </a:r>
            <a:r>
              <a:rPr baseline="-25000" lang="en-US" sz="2200"/>
              <a:t>E</a:t>
            </a:r>
            <a:r>
              <a:rPr lang="en-US" sz="2200"/>
              <a:t> (elbow up) for the target </a:t>
            </a:r>
            <a:r>
              <a:rPr lang="en-US" sz="2200">
                <a:solidFill>
                  <a:srgbClr val="FF0000"/>
                </a:solidFill>
              </a:rPr>
              <a:t>(−324.76, 187.50, 216.51)</a:t>
            </a:r>
            <a:r>
              <a:rPr lang="en-US" sz="2200"/>
              <a:t>.</a:t>
            </a:r>
            <a:endParaRPr sz="2200"/>
          </a:p>
        </p:txBody>
      </p:sp>
      <p:sp>
        <p:nvSpPr>
          <p:cNvPr id="684" name="Google Shape;684;p34"/>
          <p:cNvSpPr txBox="1"/>
          <p:nvPr/>
        </p:nvSpPr>
        <p:spPr>
          <a:xfrm>
            <a:off x="274320" y="1508760"/>
            <a:ext cx="115215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θ</a:t>
            </a:r>
            <a:r>
              <a:rPr baseline="-25000" lang="en-US" sz="2100"/>
              <a:t>B</a:t>
            </a:r>
            <a:r>
              <a:rPr lang="en-US" sz="2100"/>
              <a:t> = atan2(187.50, −324.76) = </a:t>
            </a:r>
            <a:r>
              <a:rPr lang="en-US" sz="2100">
                <a:solidFill>
                  <a:srgbClr val="FF0000"/>
                </a:solidFill>
              </a:rPr>
              <a:t>150°</a:t>
            </a:r>
            <a:r>
              <a:rPr lang="en-US" sz="2100"/>
              <a:t>  (plain tan</a:t>
            </a:r>
            <a:r>
              <a:rPr baseline="30000" lang="en-US" sz="2100"/>
              <a:t>−1</a:t>
            </a:r>
            <a:r>
              <a:rPr lang="en-US" sz="2100"/>
              <a:t> says −30°)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R = √(324.76² + 187.50²) = 375.00 and z = 216.51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     D² = 375.00² + 216.51² = 187,502  (D = 433.01)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3.  cos θ</a:t>
            </a:r>
            <a:r>
              <a:rPr baseline="-25000" lang="en-US" sz="2100"/>
              <a:t>E</a:t>
            </a:r>
            <a:r>
              <a:rPr lang="en-US" sz="2100"/>
              <a:t> = (187,502 − 125,000) ÷ 125,000 = 0.5 →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E</a:t>
            </a:r>
            <a:r>
              <a:rPr lang="en-US" sz="2100">
                <a:solidFill>
                  <a:srgbClr val="FF0000"/>
                </a:solidFill>
              </a:rPr>
              <a:t> = −60°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4.  φ = tan</a:t>
            </a:r>
            <a:r>
              <a:rPr baseline="30000" lang="en-US" sz="2100"/>
              <a:t>−1</a:t>
            </a:r>
            <a:r>
              <a:rPr lang="en-US" sz="2100"/>
              <a:t>(216.51 ÷ 375.00) = 30°, cos δ = 433.01 ÷ 500 = 0.8660 → δ = 30°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     →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S</a:t>
            </a:r>
            <a:r>
              <a:rPr lang="en-US" sz="2100">
                <a:solidFill>
                  <a:srgbClr val="FF0000"/>
                </a:solidFill>
              </a:rPr>
              <a:t> = 30° + 30° = 60°</a:t>
            </a:r>
            <a:endParaRPr sz="2100">
              <a:solidFill>
                <a:srgbClr val="FF0000"/>
              </a:solidFill>
            </a:endParaRPr>
          </a:p>
        </p:txBody>
      </p:sp>
      <p:sp>
        <p:nvSpPr>
          <p:cNvPr id="685" name="Google Shape;685;p34"/>
          <p:cNvSpPr txBox="1"/>
          <p:nvPr/>
        </p:nvSpPr>
        <p:spPr>
          <a:xfrm>
            <a:off x="274320" y="4023360"/>
            <a:ext cx="1152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Check: show(tip_3d(150, 60, -60)) gives [-324.76, 187.5, 216.51].</a:t>
            </a:r>
            <a:endParaRPr sz="2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#6: can the arm reach it?</a:t>
            </a:r>
            <a:endParaRPr sz="2400"/>
          </a:p>
        </p:txBody>
      </p:sp>
      <p:sp>
        <p:nvSpPr>
          <p:cNvPr id="691" name="Google Shape;691;p35"/>
          <p:cNvSpPr txBox="1"/>
          <p:nvPr/>
        </p:nvSpPr>
        <p:spPr>
          <a:xfrm>
            <a:off x="274320" y="777240"/>
            <a:ext cx="11521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D = √(x² + y² + z²) for each target and compare it with 500 mm.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(a) </a:t>
            </a:r>
            <a:r>
              <a:rPr lang="en-US" sz="2200">
                <a:solidFill>
                  <a:srgbClr val="FF0000"/>
                </a:solidFill>
              </a:rPr>
              <a:t>(200, 200, 200)</a:t>
            </a:r>
            <a:r>
              <a:rPr lang="en-US" sz="2200"/>
              <a:t>          (b) </a:t>
            </a:r>
            <a:r>
              <a:rPr lang="en-US" sz="2200">
                <a:solidFill>
                  <a:srgbClr val="FF0000"/>
                </a:solidFill>
              </a:rPr>
              <a:t>(400, 300, 200)</a:t>
            </a:r>
            <a:endParaRPr sz="2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#6: solution</a:t>
            </a:r>
            <a:endParaRPr sz="2400"/>
          </a:p>
        </p:txBody>
      </p:sp>
      <p:sp>
        <p:nvSpPr>
          <p:cNvPr id="697" name="Google Shape;697;p36"/>
          <p:cNvSpPr txBox="1"/>
          <p:nvPr/>
        </p:nvSpPr>
        <p:spPr>
          <a:xfrm>
            <a:off x="274320" y="777240"/>
            <a:ext cx="11521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Find D = √(x² + y² + z²) for each target and compare it with 500 mm.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(a) </a:t>
            </a:r>
            <a:r>
              <a:rPr lang="en-US" sz="2200">
                <a:solidFill>
                  <a:srgbClr val="FF0000"/>
                </a:solidFill>
              </a:rPr>
              <a:t>(200, 200, 200)</a:t>
            </a:r>
            <a:r>
              <a:rPr lang="en-US" sz="2200"/>
              <a:t>          (b) </a:t>
            </a:r>
            <a:r>
              <a:rPr lang="en-US" sz="2200">
                <a:solidFill>
                  <a:srgbClr val="FF0000"/>
                </a:solidFill>
              </a:rPr>
              <a:t>(400, 300, 200)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698" name="Google Shape;698;p36"/>
          <p:cNvSpPr txBox="1"/>
          <p:nvPr/>
        </p:nvSpPr>
        <p:spPr>
          <a:xfrm>
            <a:off x="274320" y="2560320"/>
            <a:ext cx="115215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(a)  D = √(40,000 + 40,000 + 40,000) = 346.41 mm. Less than 500: </a:t>
            </a:r>
            <a:r>
              <a:rPr lang="en-US" sz="2200">
                <a:solidFill>
                  <a:srgbClr val="FF0000"/>
                </a:solidFill>
              </a:rPr>
              <a:t>reachable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(cos θ</a:t>
            </a:r>
            <a:r>
              <a:rPr baseline="-25000" lang="en-US" sz="2200"/>
              <a:t>E</a:t>
            </a:r>
            <a:r>
              <a:rPr lang="en-US" sz="2200"/>
              <a:t> = −0.04)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(b)  D = √(160,000 + 90,000 + 40,000) = 538.52 mm. More than 500: </a:t>
            </a:r>
            <a:r>
              <a:rPr lang="en-US" sz="2200">
                <a:solidFill>
                  <a:srgbClr val="FF0000"/>
                </a:solidFill>
              </a:rPr>
              <a:t>out of reach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cos θ</a:t>
            </a:r>
            <a:r>
              <a:rPr baseline="-25000" lang="en-US" sz="2200"/>
              <a:t>E</a:t>
            </a:r>
            <a:r>
              <a:rPr lang="en-US" sz="2200"/>
              <a:t> = 1.32, which is impossible.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For (b) the robot should report an error instead of moving.</a:t>
            </a:r>
            <a:endParaRPr sz="2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When IK gets tricky:</a:t>
            </a:r>
            <a:endParaRPr sz="2400"/>
          </a:p>
        </p:txBody>
      </p:sp>
      <p:graphicFrame>
        <p:nvGraphicFramePr>
          <p:cNvPr id="704" name="Google Shape;704;p37"/>
          <p:cNvGraphicFramePr/>
          <p:nvPr/>
        </p:nvGraphicFramePr>
        <p:xfrm>
          <a:off x="27432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{9CB618EA-D9DA-4E60-A3DF-9A4245665855}</a:tableStyleId>
              </a:tblPr>
              <a:tblGrid>
                <a:gridCol w="2377425"/>
                <a:gridCol w="2377425"/>
                <a:gridCol w="6675100"/>
              </a:tblGrid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Case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Answers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Why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 &gt; 500 mm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none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the triangle cannot close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 = 500 mm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one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the arm is fully straight, θ</a:t>
                      </a:r>
                      <a:r>
                        <a:rPr baseline="-25000" lang="en-US" sz="2000"/>
                        <a:t>E</a:t>
                      </a:r>
                      <a:r>
                        <a:rPr lang="en-US" sz="2000"/>
                        <a:t> = 0°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 &lt; 500 mm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two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elbow up or elbow down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 = y = 0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infinitely many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the target is right above the base, so any θ</a:t>
                      </a:r>
                      <a:r>
                        <a:rPr baseline="-25000" lang="en-US" sz="2000"/>
                        <a:t>B</a:t>
                      </a:r>
                      <a:r>
                        <a:rPr lang="en-US" sz="2000"/>
                        <a:t> works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5" name="Google Shape;705;p37"/>
          <p:cNvSpPr txBox="1"/>
          <p:nvPr/>
        </p:nvSpPr>
        <p:spPr>
          <a:xfrm>
            <a:off x="274320" y="3931920"/>
            <a:ext cx="11521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FK always gives exactly one answer. IK can give none, one, two or infinitely many.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Near full reach, rounding matters: (433.01, 250.00) is really a straight arm, but the rounded numbers give θ</a:t>
            </a:r>
            <a:r>
              <a:rPr baseline="-25000" lang="en-US" sz="2100"/>
              <a:t>E</a:t>
            </a:r>
            <a:r>
              <a:rPr lang="en-US" sz="2100"/>
              <a:t> = −0.35°, not 0°. </a:t>
            </a:r>
            <a:r>
              <a:rPr lang="en-US" sz="2100"/>
              <a:t>If rounding pushes the cosine just above 1 (like 1.001), treat it as 1. The arm is straight, not out of reach.</a:t>
            </a:r>
            <a:endParaRPr sz="2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Trigonometry for IK: pros and cons</a:t>
            </a:r>
            <a:endParaRPr sz="2400"/>
          </a:p>
        </p:txBody>
      </p:sp>
      <p:sp>
        <p:nvSpPr>
          <p:cNvPr id="711" name="Google Shape;711;p38"/>
          <p:cNvSpPr/>
          <p:nvPr/>
        </p:nvSpPr>
        <p:spPr>
          <a:xfrm>
            <a:off x="274320" y="868680"/>
            <a:ext cx="5577900" cy="2926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8"/>
          <p:cNvSpPr txBox="1"/>
          <p:nvPr/>
        </p:nvSpPr>
        <p:spPr>
          <a:xfrm>
            <a:off x="411480" y="960120"/>
            <a:ext cx="530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Pros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+  An exact answer from a few formulas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+  Fast: nothing repeats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+  Easy to check with FK</a:t>
            </a:r>
            <a:endParaRPr sz="2100"/>
          </a:p>
        </p:txBody>
      </p:sp>
      <p:sp>
        <p:nvSpPr>
          <p:cNvPr id="713" name="Google Shape;713;p38"/>
          <p:cNvSpPr/>
          <p:nvPr/>
        </p:nvSpPr>
        <p:spPr>
          <a:xfrm>
            <a:off x="6309360" y="868680"/>
            <a:ext cx="5577900" cy="2926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8"/>
          <p:cNvSpPr txBox="1"/>
          <p:nvPr/>
        </p:nvSpPr>
        <p:spPr>
          <a:xfrm>
            <a:off x="6446520" y="960120"/>
            <a:ext cx="530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Cons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−  New triangles for every new joint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−  Special cases: quadrants, reach, two answers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−  Only works if the arm can be drawn as triangles</a:t>
            </a:r>
            <a:endParaRPr sz="2100"/>
          </a:p>
        </p:txBody>
      </p:sp>
      <p:sp>
        <p:nvSpPr>
          <p:cNvPr id="715" name="Google Shape;715;p38"/>
          <p:cNvSpPr txBox="1"/>
          <p:nvPr/>
        </p:nvSpPr>
        <p:spPr>
          <a:xfrm>
            <a:off x="274320" y="4206240"/>
            <a:ext cx="11521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If the arm had six joints, which method would you use for IK? Why?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Trigonometry is a great fit for our arm. Bigger arms need a method that does not depend on drawing triangles.</a:t>
            </a:r>
            <a:endParaRPr sz="2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What we learned:</a:t>
            </a:r>
            <a:endParaRPr sz="2400"/>
          </a:p>
        </p:txBody>
      </p:sp>
      <p:sp>
        <p:nvSpPr>
          <p:cNvPr id="721" name="Google Shape;721;p39"/>
          <p:cNvSpPr txBox="1"/>
          <p:nvPr/>
        </p:nvSpPr>
        <p:spPr>
          <a:xfrm>
            <a:off x="274320" y="822960"/>
            <a:ext cx="11521500" cy="5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IK goes from a target to the joint angles. It can have no answer, one or two.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The arm makes a triangle, so the law of cosines gives θ</a:t>
            </a:r>
            <a:r>
              <a:rPr baseline="-25000" lang="en-US" sz="2200"/>
              <a:t>E</a:t>
            </a:r>
            <a:r>
              <a:rPr lang="en-US" sz="2200"/>
              <a:t> and δ.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 θ</a:t>
            </a:r>
            <a:r>
              <a:rPr baseline="-25000" lang="en-US" sz="2200"/>
              <a:t>B</a:t>
            </a:r>
            <a:r>
              <a:rPr lang="en-US" sz="2200"/>
              <a:t> = atan2(y, x), and R = √(x² + y²) flattens 3D into 2D.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4.  θ</a:t>
            </a:r>
            <a:r>
              <a:rPr baseline="-25000" lang="en-US" sz="2200"/>
              <a:t>S</a:t>
            </a:r>
            <a:r>
              <a:rPr lang="en-US" sz="2200"/>
              <a:t> = φ + δ (elbow up). Always check the answer with FK.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Next time (Lesson 7): gradient descent, a method that works for any arm. It guesses, measures the error and improves.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