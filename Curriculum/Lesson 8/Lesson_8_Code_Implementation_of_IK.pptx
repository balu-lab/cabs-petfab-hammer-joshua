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3223AE-07BE-48C7-8F87-4ED89DAF483B}">
  <a:tblStyle styleId="{DB3223AE-07BE-48C7-8F87-4ED89DAF48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l8_cove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" name="Google Shape;17;l8_cove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l8_reca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l8_reca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l8_setup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l8_setu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l8_invers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l8_invers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l8_try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l8_try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l8_try1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l8_try1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l8_ste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l8_ste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l8_try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l8_try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l8_try2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l8_try2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l8_ste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l8_ste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l8_ste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l8_ste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l8_ste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l8_ste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l8_runflat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l8_runfla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l8_reach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l8_rea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l8_try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l8_try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l8_try3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l8_try3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l8_ste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l8_ste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l8_try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l8_try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l8_try4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l8_try4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l8_reca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l8_reca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l8_where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l8_where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l8_ste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l8_ste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l8_testerr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l8_tester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l8_ste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l8_ste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l8_ste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l8_ste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l8_rung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l8_rung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l8_try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l8_try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l8_try5a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l8_try5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l8_test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l8_test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l8_results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l8_result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l8_jacobian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l8_jacobia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l8_jacmetho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l8_jacmetho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l8_realcod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l8_realco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l8_compare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l8_compar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l8_learned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l8_learne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/>
        </p:nvSpPr>
        <p:spPr>
          <a:xfrm>
            <a:off x="731520" y="1097280"/>
            <a:ext cx="5943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Code Implementation of Inverse Kinematics and Other Methods</a:t>
            </a:r>
            <a:endParaRPr b="1" sz="3600"/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3474720"/>
            <a:ext cx="576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34343"/>
                </a:solidFill>
              </a:rPr>
              <a:t>Robotic Arm Course · Lesson 8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731520" y="4114800"/>
            <a:ext cx="576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1: Lesson 6’s triangles in Python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Day 2: Gradient descent in Python, and the Jacobian</a:t>
            </a:r>
            <a:endParaRPr sz="2000"/>
          </a:p>
        </p:txBody>
      </p:sp>
      <p:sp>
        <p:nvSpPr>
          <p:cNvPr id="22" name="Google Shape;22;p3"/>
          <p:cNvSpPr/>
          <p:nvPr/>
        </p:nvSpPr>
        <p:spPr>
          <a:xfrm>
            <a:off x="6675120" y="513892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3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/>
          <p:nvPr/>
        </p:nvSpPr>
        <p:spPr>
          <a:xfrm>
            <a:off x="720547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5794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5225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" name="Google Shape;30;p3"/>
          <p:cNvCxnSpPr/>
          <p:nvPr/>
        </p:nvCxnSpPr>
        <p:spPr>
          <a:xfrm flipH="1" rot="10800000">
            <a:off x="7315200" y="3655200"/>
            <a:ext cx="3317100" cy="137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" name="Google Shape;31;p3"/>
          <p:cNvSpPr/>
          <p:nvPr/>
        </p:nvSpPr>
        <p:spPr>
          <a:xfrm>
            <a:off x="10476831" y="3499773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10586559" y="3609501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Where Lessons 5 to 7 left off:</a:t>
            </a:r>
            <a:endParaRPr sz="2400"/>
          </a:p>
        </p:txBody>
      </p:sp>
      <p:sp>
        <p:nvSpPr>
          <p:cNvPr id="38" name="Google Shape;38;p4"/>
          <p:cNvSpPr txBox="1"/>
          <p:nvPr/>
        </p:nvSpPr>
        <p:spPr>
          <a:xfrm>
            <a:off x="274320" y="822960"/>
            <a:ext cx="5852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5: FK in code.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tip_3d(45, 45, -45)</a:t>
            </a:r>
            <a:r>
              <a:rPr lang="en-US" sz="2100"/>
              <a:t> gives </a:t>
            </a:r>
            <a:r>
              <a:rPr lang="en-US" sz="2100">
                <a:solidFill>
                  <a:srgbClr val="FF0000"/>
                </a:solidFill>
              </a:rPr>
              <a:t>[301.78, 301.78, 176.78]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6: triangles gave </a:t>
            </a:r>
            <a:r>
              <a:rPr lang="en-US" sz="2100">
                <a:solidFill>
                  <a:srgbClr val="FF0000"/>
                </a:solidFill>
              </a:rPr>
              <a:t>θ</a:t>
            </a:r>
            <a:r>
              <a:rPr baseline="-25000" lang="en-US" sz="2100">
                <a:solidFill>
                  <a:srgbClr val="FF0000"/>
                </a:solidFill>
              </a:rPr>
              <a:t>B</a:t>
            </a:r>
            <a:r>
              <a:rPr lang="en-US" sz="2100">
                <a:solidFill>
                  <a:srgbClr val="FF0000"/>
                </a:solidFill>
              </a:rPr>
              <a:t> = 45°, θ</a:t>
            </a:r>
            <a:r>
              <a:rPr baseline="-25000" lang="en-US" sz="2100">
                <a:solidFill>
                  <a:srgbClr val="FF0000"/>
                </a:solidFill>
              </a:rPr>
              <a:t>S</a:t>
            </a:r>
            <a:r>
              <a:rPr lang="en-US" sz="2100">
                <a:solidFill>
                  <a:srgbClr val="FF0000"/>
                </a:solidFill>
              </a:rPr>
              <a:t> = 45°, θ</a:t>
            </a:r>
            <a:r>
              <a:rPr baseline="-25000" lang="en-US" sz="2100">
                <a:solidFill>
                  <a:srgbClr val="FF0000"/>
                </a:solidFill>
              </a:rPr>
              <a:t>E</a:t>
            </a:r>
            <a:r>
              <a:rPr lang="en-US" sz="2100">
                <a:solidFill>
                  <a:srgbClr val="FF0000"/>
                </a:solidFill>
              </a:rPr>
              <a:t> = −45°</a:t>
            </a:r>
            <a:r>
              <a:rPr lang="en-US" sz="2100"/>
              <a:t>, by hand.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7: gradient descent got within 0.5 mm. A computer took the 84 steps.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Today we write both IK methods in Python, and check every answer with FK from Lesson 5.</a:t>
            </a:r>
            <a:endParaRPr sz="2100"/>
          </a:p>
        </p:txBody>
      </p:sp>
      <p:sp>
        <p:nvSpPr>
          <p:cNvPr id="39" name="Google Shape;39;p4"/>
          <p:cNvSpPr/>
          <p:nvPr/>
        </p:nvSpPr>
        <p:spPr>
          <a:xfrm flipH="1" rot="-2749560">
            <a:off x="7587156" y="2567299"/>
            <a:ext cx="1795248" cy="4422661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4"/>
          <p:cNvCxnSpPr/>
          <p:nvPr/>
        </p:nvCxnSpPr>
        <p:spPr>
          <a:xfrm flipH="1">
            <a:off x="6222960" y="4023360"/>
            <a:ext cx="1000800" cy="10299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" name="Google Shape;41;p4"/>
          <p:cNvCxnSpPr/>
          <p:nvPr/>
        </p:nvCxnSpPr>
        <p:spPr>
          <a:xfrm>
            <a:off x="7223760" y="4023360"/>
            <a:ext cx="3780600" cy="5154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" name="Google Shape;42;p4"/>
          <p:cNvCxnSpPr/>
          <p:nvPr/>
        </p:nvCxnSpPr>
        <p:spPr>
          <a:xfrm rot="10800000">
            <a:off x="7223760" y="1564560"/>
            <a:ext cx="0" cy="24588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" name="Google Shape;43;p4"/>
          <p:cNvSpPr/>
          <p:nvPr/>
        </p:nvSpPr>
        <p:spPr>
          <a:xfrm>
            <a:off x="6931152" y="3913747"/>
            <a:ext cx="585300" cy="2193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4"/>
          <p:cNvCxnSpPr/>
          <p:nvPr/>
        </p:nvCxnSpPr>
        <p:spPr>
          <a:xfrm flipH="1" rot="10800000">
            <a:off x="7223760" y="3035460"/>
            <a:ext cx="710400" cy="9879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4"/>
          <p:cNvCxnSpPr/>
          <p:nvPr/>
        </p:nvCxnSpPr>
        <p:spPr>
          <a:xfrm flipH="1" rot="10800000">
            <a:off x="7223760" y="3035460"/>
            <a:ext cx="710400" cy="987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" name="Google Shape;46;p4"/>
          <p:cNvCxnSpPr/>
          <p:nvPr/>
        </p:nvCxnSpPr>
        <p:spPr>
          <a:xfrm>
            <a:off x="7934225" y="3035417"/>
            <a:ext cx="1004700" cy="807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4"/>
          <p:cNvCxnSpPr/>
          <p:nvPr/>
        </p:nvCxnSpPr>
        <p:spPr>
          <a:xfrm>
            <a:off x="7934225" y="3035417"/>
            <a:ext cx="1004700" cy="80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4"/>
          <p:cNvSpPr/>
          <p:nvPr/>
        </p:nvSpPr>
        <p:spPr>
          <a:xfrm>
            <a:off x="7114032" y="391363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824497" y="2925689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829247" y="3732851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756095" y="3659699"/>
            <a:ext cx="365700" cy="3657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893255" y="3796859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5811502" y="4916224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x</a:t>
            </a:r>
            <a:endParaRPr sz="2000"/>
          </a:p>
        </p:txBody>
      </p:sp>
      <p:sp>
        <p:nvSpPr>
          <p:cNvPr id="54" name="Google Shape;54;p4"/>
          <p:cNvSpPr txBox="1"/>
          <p:nvPr/>
        </p:nvSpPr>
        <p:spPr>
          <a:xfrm>
            <a:off x="11022770" y="4127365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y</a:t>
            </a:r>
            <a:endParaRPr sz="2000"/>
          </a:p>
        </p:txBody>
      </p:sp>
      <p:sp>
        <p:nvSpPr>
          <p:cNvPr id="55" name="Google Shape;55;p4"/>
          <p:cNvSpPr txBox="1"/>
          <p:nvPr/>
        </p:nvSpPr>
        <p:spPr>
          <a:xfrm>
            <a:off x="6812280" y="138181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</a:t>
            </a:r>
            <a:endParaRPr sz="2000"/>
          </a:p>
        </p:txBody>
      </p:sp>
      <p:sp>
        <p:nvSpPr>
          <p:cNvPr id="56" name="Google Shape;56;p4"/>
          <p:cNvSpPr txBox="1"/>
          <p:nvPr/>
        </p:nvSpPr>
        <p:spPr>
          <a:xfrm>
            <a:off x="9167575" y="3568259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(301.78, 301.78, 176.78)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Setting up:</a:t>
            </a:r>
            <a:endParaRPr sz="2400"/>
          </a:p>
        </p:txBody>
      </p:sp>
      <p:sp>
        <p:nvSpPr>
          <p:cNvPr id="62" name="Google Shape;62;p5"/>
          <p:cNvSpPr txBox="1"/>
          <p:nvPr/>
        </p:nvSpPr>
        <p:spPr>
          <a:xfrm>
            <a:off x="274320" y="822960"/>
            <a:ext cx="60351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Make a folder with arm.py from Lesson 5 in it.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Open ik_starter.py and save a copy as ik.py in the same folder.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Run it. Nothing prints. If there is no error, it works.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We add to ik.py, one step at a time.</a:t>
            </a:r>
            <a:endParaRPr sz="2100"/>
          </a:p>
        </p:txBody>
      </p:sp>
      <p:sp>
        <p:nvSpPr>
          <p:cNvPr id="63" name="Google Shape;63;p5"/>
          <p:cNvSpPr/>
          <p:nvPr/>
        </p:nvSpPr>
        <p:spPr>
          <a:xfrm>
            <a:off x="6583680" y="868680"/>
            <a:ext cx="5303400" cy="624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6583680" y="868680"/>
            <a:ext cx="53034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from arm import L1, L2, show, flat_tip, tip_3d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6583680" y="1767840"/>
            <a:ext cx="5303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 second line brings in Lesson 5’s code: the link lengths, show(), and the FK functions flat_tip and tip_3d.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We use FK to check every IK answer.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From a number back to an angle:</a:t>
            </a:r>
            <a:endParaRPr sz="2400"/>
          </a:p>
        </p:txBody>
      </p:sp>
      <p:sp>
        <p:nvSpPr>
          <p:cNvPr id="71" name="Google Shape;71;p6"/>
          <p:cNvSpPr txBox="1"/>
          <p:nvPr/>
        </p:nvSpPr>
        <p:spPr>
          <a:xfrm>
            <a:off x="274320" y="777240"/>
            <a:ext cx="11521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Lesson 6 used cos</a:t>
            </a:r>
            <a:r>
              <a:rPr baseline="30000" lang="en-US" sz="2100"/>
              <a:t>−1</a:t>
            </a:r>
            <a:r>
              <a:rPr lang="en-US" sz="2100"/>
              <a:t> and tan</a:t>
            </a:r>
            <a:r>
              <a:rPr baseline="30000" lang="en-US" sz="2100"/>
              <a:t>−1</a:t>
            </a:r>
            <a:r>
              <a:rPr lang="en-US" sz="2100"/>
              <a:t>. In Python they are math.acos and math.atan2.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Like sin and cos, they work in radians. math.degrees() changes radians back into degrees.</a:t>
            </a:r>
            <a:endParaRPr sz="2100"/>
          </a:p>
        </p:txBody>
      </p:sp>
      <p:sp>
        <p:nvSpPr>
          <p:cNvPr id="72" name="Google Shape;72;p6"/>
          <p:cNvSpPr/>
          <p:nvPr/>
        </p:nvSpPr>
        <p:spPr>
          <a:xfrm>
            <a:off x="274320" y="2148840"/>
            <a:ext cx="8778300" cy="13716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/>
        </p:nvSpPr>
        <p:spPr>
          <a:xfrm>
            <a:off x="274320" y="2148840"/>
            <a:ext cx="8778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print(math.acos(0))                      </a:t>
            </a: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1.5707963267948966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print(math.degrees(math.acos(0)))        </a:t>
            </a: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90.0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print(math.degrees(math.atan2(1, 1)))    </a:t>
            </a: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45.0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274320" y="384048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math.acos(0) is 90° written in radians (π ÷ 2).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atan2(y, x) looks at the signs of both y and x, so it always points the right way (Lesson 6, Day 2).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what does each line print?</a:t>
            </a:r>
            <a:endParaRPr sz="2400"/>
          </a:p>
        </p:txBody>
      </p:sp>
      <p:sp>
        <p:nvSpPr>
          <p:cNvPr id="80" name="Google Shape;80;p7"/>
          <p:cNvSpPr/>
          <p:nvPr/>
        </p:nvSpPr>
        <p:spPr>
          <a:xfrm>
            <a:off x="274320" y="822960"/>
            <a:ext cx="7680900" cy="914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 txBox="1"/>
          <p:nvPr/>
        </p:nvSpPr>
        <p:spPr>
          <a:xfrm>
            <a:off x="274320" y="82296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print(round(math.degrees(math.acos(0.5)),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print(round(math.degrees(math.atan2(1, -1)),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print(math.acos(1.5))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274320" y="210312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Guess first. Then run them to check.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Hint: line 3 asks for the angle whose cosine is 1.5.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#1: solution</a:t>
            </a:r>
            <a:endParaRPr sz="2400"/>
          </a:p>
        </p:txBody>
      </p:sp>
      <p:sp>
        <p:nvSpPr>
          <p:cNvPr id="88" name="Google Shape;88;p8"/>
          <p:cNvSpPr/>
          <p:nvPr/>
        </p:nvSpPr>
        <p:spPr>
          <a:xfrm>
            <a:off x="274320" y="822960"/>
            <a:ext cx="7680900" cy="914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 txBox="1"/>
          <p:nvPr/>
        </p:nvSpPr>
        <p:spPr>
          <a:xfrm>
            <a:off x="274320" y="82296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print(round(math.degrees(math.acos(0.5)),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print(round(math.degrees(math.atan2(1, -1)),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print(math.acos(1.5))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" name="Google Shape;90;p8"/>
          <p:cNvSpPr txBox="1"/>
          <p:nvPr/>
        </p:nvSpPr>
        <p:spPr>
          <a:xfrm>
            <a:off x="274320" y="1874520"/>
            <a:ext cx="7680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60.0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135.0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ValueError: math domain error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" name="Google Shape;91;p8"/>
          <p:cNvSpPr txBox="1"/>
          <p:nvPr/>
        </p:nvSpPr>
        <p:spPr>
          <a:xfrm>
            <a:off x="274320" y="3063240"/>
            <a:ext cx="11521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cos 60° = 0.5. The direction (−1, 1) is up and to the left: 135°.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 angle has a cosine bigger than 1, so Python stops with an error. In Lesson 6 that meant the target is out of reach.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1: the law of cosines</a:t>
            </a:r>
            <a:endParaRPr sz="2400"/>
          </a:p>
        </p:txBody>
      </p:sp>
      <p:sp>
        <p:nvSpPr>
          <p:cNvPr id="97" name="Google Shape;97;p9"/>
          <p:cNvSpPr/>
          <p:nvPr/>
        </p:nvSpPr>
        <p:spPr>
          <a:xfrm>
            <a:off x="274320" y="822960"/>
            <a:ext cx="6949500" cy="1082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 txBox="1"/>
          <p:nvPr/>
        </p:nvSpPr>
        <p:spPr>
          <a:xfrm>
            <a:off x="274320" y="822960"/>
            <a:ext cx="69495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law_of_cosines(a, b, c):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cos_c = (a ** 2 + b ** 2 - c ** 2) / (2 * a * b)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cos_c = max(-1, min(1, cos_c))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math.degrees(math.acos(cos_c))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274320" y="213360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Test it:</a:t>
            </a:r>
            <a:endParaRPr sz="1800"/>
          </a:p>
        </p:txBody>
      </p:sp>
      <p:sp>
        <p:nvSpPr>
          <p:cNvPr id="100" name="Google Shape;100;p9"/>
          <p:cNvSpPr/>
          <p:nvPr/>
        </p:nvSpPr>
        <p:spPr>
          <a:xfrm>
            <a:off x="274320" y="2590800"/>
            <a:ext cx="6949500" cy="441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 txBox="1"/>
          <p:nvPr/>
        </p:nvSpPr>
        <p:spPr>
          <a:xfrm>
            <a:off x="274320" y="2590800"/>
            <a:ext cx="6949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print(round(law_of_cosines(250, 250, 300),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p9"/>
          <p:cNvSpPr txBox="1"/>
          <p:nvPr/>
        </p:nvSpPr>
        <p:spPr>
          <a:xfrm>
            <a:off x="274320" y="3078480"/>
            <a:ext cx="6949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73.74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7589520" y="822960"/>
            <a:ext cx="43890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 angle opposite side c, from Lesson 6: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0000"/>
                </a:solidFill>
              </a:rPr>
              <a:t>cos C = (a² + b² − c²) ÷ (2ab)</a:t>
            </a:r>
            <a:endParaRPr sz="19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Line 3 keeps cos_c between −1 and 1. Rounding can give 1.0000001, which would crash acos.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73.74° is Lesson 6’s worked example.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run law_of_cosines</a:t>
            </a:r>
            <a:endParaRPr sz="2400"/>
          </a:p>
        </p:txBody>
      </p:sp>
      <p:sp>
        <p:nvSpPr>
          <p:cNvPr id="109" name="Google Shape;109;p10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 C for triangles with these sides: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1.  250, 250, 250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2.  250, 250, 400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Compare with Lesson 6, Try it yourself #1.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#2: solution</a:t>
            </a:r>
            <a:endParaRPr sz="2400"/>
          </a:p>
        </p:txBody>
      </p:sp>
      <p:sp>
        <p:nvSpPr>
          <p:cNvPr id="115" name="Google Shape;115;p11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 C for triangles with these sides: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1.  250, 250, 250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2.  250, 250, 400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Compare with Lesson 6, Try it yourself #1.</a:t>
            </a:r>
            <a:endParaRPr sz="2100"/>
          </a:p>
        </p:txBody>
      </p:sp>
      <p:sp>
        <p:nvSpPr>
          <p:cNvPr id="116" name="Google Shape;116;p11"/>
          <p:cNvSpPr/>
          <p:nvPr/>
        </p:nvSpPr>
        <p:spPr>
          <a:xfrm>
            <a:off x="274320" y="2834640"/>
            <a:ext cx="6949500" cy="655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274320" y="2834640"/>
            <a:ext cx="69495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print(round(law_of_cosines(250, 250, 250),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print(round(law_of_cosines(250, 250, 400),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274320" y="3535680"/>
            <a:ext cx="69495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60.0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106.26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274320" y="4511040"/>
            <a:ext cx="115215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All three sides equal gives 60°. In (2) the cosine is negative, so the angle is bigger than 90°.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2: the elbow</a:t>
            </a:r>
            <a:endParaRPr sz="2400"/>
          </a:p>
        </p:txBody>
      </p:sp>
      <p:sp>
        <p:nvSpPr>
          <p:cNvPr id="125" name="Google Shape;125;p12"/>
          <p:cNvSpPr/>
          <p:nvPr/>
        </p:nvSpPr>
        <p:spPr>
          <a:xfrm>
            <a:off x="274320" y="822960"/>
            <a:ext cx="6217800" cy="868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2"/>
          <p:cNvSpPr txBox="1"/>
          <p:nvPr/>
        </p:nvSpPr>
        <p:spPr>
          <a:xfrm>
            <a:off x="274320" y="822960"/>
            <a:ext cx="6217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elbow(D):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gamma = law_of_cosines(L1, L2, D)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-(180 - gamma)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274320" y="187452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Test it:</a:t>
            </a:r>
            <a:endParaRPr sz="1800"/>
          </a:p>
        </p:txBody>
      </p:sp>
      <p:sp>
        <p:nvSpPr>
          <p:cNvPr id="128" name="Google Shape;128;p12"/>
          <p:cNvSpPr/>
          <p:nvPr/>
        </p:nvSpPr>
        <p:spPr>
          <a:xfrm>
            <a:off x="274320" y="2331720"/>
            <a:ext cx="6217800" cy="655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 txBox="1"/>
          <p:nvPr/>
        </p:nvSpPr>
        <p:spPr>
          <a:xfrm>
            <a:off x="274320" y="2331720"/>
            <a:ext cx="62178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print(round(elbow(461.94),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print(round(elbow(353.55),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274320" y="3032760"/>
            <a:ext cx="62178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-45.0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-90.0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274320" y="3916680"/>
            <a:ext cx="62178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γ is the angle inside the triangle at the elbow. The elbow bends 180° − γ away from a straight arm.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minus sign: elbow up, the forearm bends down, so θ</a:t>
            </a:r>
            <a:r>
              <a:rPr baseline="-25000" lang="en-US" sz="1800"/>
              <a:t>E</a:t>
            </a:r>
            <a:r>
              <a:rPr lang="en-US" sz="1800"/>
              <a:t> is negative.</a:t>
            </a:r>
            <a:endParaRPr sz="1800"/>
          </a:p>
        </p:txBody>
      </p:sp>
      <p:sp>
        <p:nvSpPr>
          <p:cNvPr id="132" name="Google Shape;132;p12"/>
          <p:cNvSpPr/>
          <p:nvPr/>
        </p:nvSpPr>
        <p:spPr>
          <a:xfrm>
            <a:off x="6949440" y="523036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12"/>
          <p:cNvCxnSpPr/>
          <p:nvPr/>
        </p:nvCxnSpPr>
        <p:spPr>
          <a:xfrm flipH="1" rot="10800000">
            <a:off x="8850824" y="2744416"/>
            <a:ext cx="840600" cy="84060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2"/>
          <p:cNvCxnSpPr/>
          <p:nvPr/>
        </p:nvCxnSpPr>
        <p:spPr>
          <a:xfrm flipH="1" rot="10800000">
            <a:off x="7315200" y="358494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2"/>
          <p:cNvCxnSpPr/>
          <p:nvPr/>
        </p:nvCxnSpPr>
        <p:spPr>
          <a:xfrm flipH="1" rot="10800000">
            <a:off x="7315200" y="358494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2"/>
          <p:cNvCxnSpPr/>
          <p:nvPr/>
        </p:nvCxnSpPr>
        <p:spPr>
          <a:xfrm>
            <a:off x="8850824" y="358501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2"/>
          <p:cNvCxnSpPr/>
          <p:nvPr/>
        </p:nvCxnSpPr>
        <p:spPr>
          <a:xfrm>
            <a:off x="8850824" y="358501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12"/>
          <p:cNvSpPr/>
          <p:nvPr/>
        </p:nvSpPr>
        <p:spPr>
          <a:xfrm>
            <a:off x="720547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874109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1091279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12"/>
          <p:cNvCxnSpPr/>
          <p:nvPr/>
        </p:nvCxnSpPr>
        <p:spPr>
          <a:xfrm flipH="1" rot="10800000">
            <a:off x="7315200" y="3584940"/>
            <a:ext cx="3707400" cy="153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2" name="Google Shape;142;p12"/>
          <p:cNvSpPr/>
          <p:nvPr/>
        </p:nvSpPr>
        <p:spPr>
          <a:xfrm>
            <a:off x="10867076" y="342956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10976804" y="353929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" name="Google Shape;144;p12"/>
          <p:cNvCxnSpPr/>
          <p:nvPr/>
        </p:nvCxnSpPr>
        <p:spPr>
          <a:xfrm>
            <a:off x="8495206" y="3940634"/>
            <a:ext cx="92700" cy="732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2"/>
          <p:cNvCxnSpPr/>
          <p:nvPr/>
        </p:nvCxnSpPr>
        <p:spPr>
          <a:xfrm>
            <a:off x="8588049" y="4013826"/>
            <a:ext cx="107400" cy="49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2"/>
          <p:cNvCxnSpPr/>
          <p:nvPr/>
        </p:nvCxnSpPr>
        <p:spPr>
          <a:xfrm>
            <a:off x="8695413" y="4063322"/>
            <a:ext cx="116100" cy="23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2"/>
          <p:cNvCxnSpPr/>
          <p:nvPr/>
        </p:nvCxnSpPr>
        <p:spPr>
          <a:xfrm flipH="1" rot="10800000">
            <a:off x="8811365" y="4081886"/>
            <a:ext cx="118200" cy="4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2"/>
          <p:cNvCxnSpPr/>
          <p:nvPr/>
        </p:nvCxnSpPr>
        <p:spPr>
          <a:xfrm flipH="1" rot="10800000">
            <a:off x="8929498" y="4049644"/>
            <a:ext cx="113700" cy="32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2"/>
          <p:cNvCxnSpPr/>
          <p:nvPr/>
        </p:nvCxnSpPr>
        <p:spPr>
          <a:xfrm flipH="1" rot="10800000">
            <a:off x="9043283" y="3991754"/>
            <a:ext cx="103200" cy="57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2"/>
          <p:cNvCxnSpPr/>
          <p:nvPr/>
        </p:nvCxnSpPr>
        <p:spPr>
          <a:xfrm flipH="1" rot="10800000">
            <a:off x="9146433" y="3911787"/>
            <a:ext cx="86700" cy="801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12"/>
          <p:cNvCxnSpPr/>
          <p:nvPr/>
        </p:nvCxnSpPr>
        <p:spPr>
          <a:xfrm flipH="1" rot="10800000">
            <a:off x="9233247" y="3813237"/>
            <a:ext cx="65700" cy="984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2"/>
          <p:cNvCxnSpPr/>
          <p:nvPr/>
        </p:nvCxnSpPr>
        <p:spPr>
          <a:xfrm flipH="1" rot="10800000">
            <a:off x="9298929" y="3702337"/>
            <a:ext cx="40800" cy="111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2"/>
          <p:cNvCxnSpPr/>
          <p:nvPr/>
        </p:nvCxnSpPr>
        <p:spPr>
          <a:xfrm flipH="1" rot="10800000">
            <a:off x="9339848" y="3585121"/>
            <a:ext cx="13800" cy="117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2"/>
          <p:cNvCxnSpPr/>
          <p:nvPr/>
        </p:nvCxnSpPr>
        <p:spPr>
          <a:xfrm rot="10800000">
            <a:off x="9792644" y="3397816"/>
            <a:ext cx="18300" cy="187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2"/>
          <p:cNvCxnSpPr/>
          <p:nvPr/>
        </p:nvCxnSpPr>
        <p:spPr>
          <a:xfrm rot="10800000">
            <a:off x="9737895" y="3217706"/>
            <a:ext cx="54600" cy="18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2"/>
          <p:cNvCxnSpPr/>
          <p:nvPr/>
        </p:nvCxnSpPr>
        <p:spPr>
          <a:xfrm rot="10800000">
            <a:off x="9649059" y="3051694"/>
            <a:ext cx="88800" cy="16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12"/>
          <p:cNvCxnSpPr/>
          <p:nvPr/>
        </p:nvCxnSpPr>
        <p:spPr>
          <a:xfrm rot="10800000">
            <a:off x="9529734" y="2906102"/>
            <a:ext cx="119400" cy="14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2"/>
          <p:cNvSpPr txBox="1"/>
          <p:nvPr/>
        </p:nvSpPr>
        <p:spPr>
          <a:xfrm>
            <a:off x="8805104" y="4042216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γ</a:t>
            </a:r>
            <a:endParaRPr sz="2000"/>
          </a:p>
        </p:txBody>
      </p:sp>
      <p:sp>
        <p:nvSpPr>
          <p:cNvPr id="159" name="Google Shape;159;p12"/>
          <p:cNvSpPr txBox="1"/>
          <p:nvPr/>
        </p:nvSpPr>
        <p:spPr>
          <a:xfrm>
            <a:off x="9902384" y="2899216"/>
            <a:ext cx="64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θ</a:t>
            </a:r>
            <a:r>
              <a:rPr baseline="-25000" lang="en-US" sz="2000">
                <a:solidFill>
                  <a:srgbClr val="FF0000"/>
                </a:solidFill>
              </a:rPr>
              <a:t>E</a:t>
            </a:r>
            <a:endParaRPr baseline="-25000" sz="2000">
              <a:solidFill>
                <a:srgbClr val="FF0000"/>
              </a:solidFill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9260302" y="4352828"/>
            <a:ext cx="155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 = 461.94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3: the shoulder</a:t>
            </a:r>
            <a:endParaRPr sz="2400"/>
          </a:p>
        </p:txBody>
      </p:sp>
      <p:sp>
        <p:nvSpPr>
          <p:cNvPr id="166" name="Google Shape;166;p13"/>
          <p:cNvSpPr/>
          <p:nvPr/>
        </p:nvSpPr>
        <p:spPr>
          <a:xfrm>
            <a:off x="274320" y="822960"/>
            <a:ext cx="6217800" cy="1082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"/>
          <p:cNvSpPr txBox="1"/>
          <p:nvPr/>
        </p:nvSpPr>
        <p:spPr>
          <a:xfrm>
            <a:off x="274320" y="822960"/>
            <a:ext cx="62178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shoulder(X, Y, D):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phi = math.degrees(math.atan2(Y, X))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delta = law_of_cosines(L1, D, L2)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phi + delta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274320" y="208788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Test it:</a:t>
            </a:r>
            <a:endParaRPr sz="1800"/>
          </a:p>
        </p:txBody>
      </p:sp>
      <p:sp>
        <p:nvSpPr>
          <p:cNvPr id="169" name="Google Shape;169;p13"/>
          <p:cNvSpPr/>
          <p:nvPr/>
        </p:nvSpPr>
        <p:spPr>
          <a:xfrm>
            <a:off x="274320" y="2545080"/>
            <a:ext cx="6217800" cy="441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274320" y="2545080"/>
            <a:ext cx="6217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print(round(shoulder(426.78, 176.78, 461.94), 2))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274320" y="3032760"/>
            <a:ext cx="6217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45.0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274320" y="3703320"/>
            <a:ext cx="62178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φ is the tilt of the line D. δ is the angle between D and the upper arm, so the side opposite δ is L2. Elbow up: </a:t>
            </a:r>
            <a:r>
              <a:rPr lang="en-US" sz="1800">
                <a:solidFill>
                  <a:srgbClr val="FF0000"/>
                </a:solidFill>
              </a:rPr>
              <a:t>θ</a:t>
            </a:r>
            <a:r>
              <a:rPr baseline="-25000" lang="en-US" sz="1800">
                <a:solidFill>
                  <a:srgbClr val="FF0000"/>
                </a:solidFill>
              </a:rPr>
              <a:t>S</a:t>
            </a:r>
            <a:r>
              <a:rPr lang="en-US" sz="1800">
                <a:solidFill>
                  <a:srgbClr val="FF0000"/>
                </a:solidFill>
              </a:rPr>
              <a:t> = φ + δ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949440" y="523036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3"/>
          <p:cNvCxnSpPr/>
          <p:nvPr/>
        </p:nvCxnSpPr>
        <p:spPr>
          <a:xfrm>
            <a:off x="7315200" y="5120640"/>
            <a:ext cx="2194500" cy="0"/>
          </a:xfrm>
          <a:prstGeom prst="straightConnector1">
            <a:avLst/>
          </a:prstGeom>
          <a:noFill/>
          <a:ln cap="flat" cmpd="sng" w="25400">
            <a:solidFill>
              <a:srgbClr val="43434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3"/>
          <p:cNvCxnSpPr/>
          <p:nvPr/>
        </p:nvCxnSpPr>
        <p:spPr>
          <a:xfrm flipH="1" rot="10800000">
            <a:off x="7315200" y="3584940"/>
            <a:ext cx="1535700" cy="15357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3"/>
          <p:cNvCxnSpPr/>
          <p:nvPr/>
        </p:nvCxnSpPr>
        <p:spPr>
          <a:xfrm flipH="1" rot="10800000">
            <a:off x="7315200" y="3584940"/>
            <a:ext cx="1535700" cy="1535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3"/>
          <p:cNvCxnSpPr/>
          <p:nvPr/>
        </p:nvCxnSpPr>
        <p:spPr>
          <a:xfrm>
            <a:off x="8850824" y="3585016"/>
            <a:ext cx="21717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3"/>
          <p:cNvCxnSpPr/>
          <p:nvPr/>
        </p:nvCxnSpPr>
        <p:spPr>
          <a:xfrm>
            <a:off x="8850824" y="3585016"/>
            <a:ext cx="21717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13"/>
          <p:cNvSpPr/>
          <p:nvPr/>
        </p:nvSpPr>
        <p:spPr>
          <a:xfrm>
            <a:off x="720547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3"/>
          <p:cNvSpPr/>
          <p:nvPr/>
        </p:nvSpPr>
        <p:spPr>
          <a:xfrm>
            <a:off x="874109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"/>
          <p:cNvSpPr/>
          <p:nvPr/>
        </p:nvSpPr>
        <p:spPr>
          <a:xfrm>
            <a:off x="10912796" y="3475288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2" name="Google Shape;182;p13"/>
          <p:cNvCxnSpPr/>
          <p:nvPr/>
        </p:nvCxnSpPr>
        <p:spPr>
          <a:xfrm flipH="1" rot="10800000">
            <a:off x="7315200" y="3584940"/>
            <a:ext cx="3707400" cy="1535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3" name="Google Shape;183;p13"/>
          <p:cNvSpPr/>
          <p:nvPr/>
        </p:nvSpPr>
        <p:spPr>
          <a:xfrm>
            <a:off x="10867076" y="3429568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10976804" y="3539296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13"/>
          <p:cNvCxnSpPr/>
          <p:nvPr/>
        </p:nvCxnSpPr>
        <p:spPr>
          <a:xfrm rot="10800000">
            <a:off x="8765640" y="4929540"/>
            <a:ext cx="12600" cy="1911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3"/>
          <p:cNvCxnSpPr/>
          <p:nvPr/>
        </p:nvCxnSpPr>
        <p:spPr>
          <a:xfrm rot="10800000">
            <a:off x="8728523" y="4741875"/>
            <a:ext cx="37200" cy="1878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3"/>
          <p:cNvCxnSpPr/>
          <p:nvPr/>
        </p:nvCxnSpPr>
        <p:spPr>
          <a:xfrm rot="10800000">
            <a:off x="8666888" y="4560777"/>
            <a:ext cx="61500" cy="181200"/>
          </a:xfrm>
          <a:prstGeom prst="straightConnector1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3"/>
          <p:cNvCxnSpPr/>
          <p:nvPr/>
        </p:nvCxnSpPr>
        <p:spPr>
          <a:xfrm rot="10800000">
            <a:off x="8107195" y="4663314"/>
            <a:ext cx="52800" cy="10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3"/>
          <p:cNvCxnSpPr/>
          <p:nvPr/>
        </p:nvCxnSpPr>
        <p:spPr>
          <a:xfrm rot="10800000">
            <a:off x="8040494" y="4563840"/>
            <a:ext cx="66600" cy="99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3"/>
          <p:cNvCxnSpPr/>
          <p:nvPr/>
        </p:nvCxnSpPr>
        <p:spPr>
          <a:xfrm rot="10800000">
            <a:off x="7961742" y="4473989"/>
            <a:ext cx="78900" cy="90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3"/>
          <p:cNvSpPr txBox="1"/>
          <p:nvPr/>
        </p:nvSpPr>
        <p:spPr>
          <a:xfrm>
            <a:off x="8869680" y="4663440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155CC"/>
                </a:solidFill>
              </a:rPr>
              <a:t>φ</a:t>
            </a:r>
            <a:endParaRPr sz="2000">
              <a:solidFill>
                <a:srgbClr val="1155CC"/>
              </a:solidFill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8156448" y="4224528"/>
            <a:ext cx="365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δ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9717502" y="4307108"/>
            <a:ext cx="457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D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4: the flat arm</a:t>
            </a:r>
            <a:endParaRPr sz="2400"/>
          </a:p>
        </p:txBody>
      </p:sp>
      <p:sp>
        <p:nvSpPr>
          <p:cNvPr id="199" name="Google Shape;199;p14"/>
          <p:cNvSpPr/>
          <p:nvPr/>
        </p:nvSpPr>
        <p:spPr>
          <a:xfrm>
            <a:off x="274320" y="822960"/>
            <a:ext cx="7589400" cy="1295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274320" y="822960"/>
            <a:ext cx="7589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ik_flat(X, Y):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 = math.sqrt(X ** 2 + Y ** 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if D &gt; L1 + L2: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  raise ValueError("target is out of reach")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[shoulder(X, Y, D), elbow(D)]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8046720" y="822960"/>
            <a:ext cx="39318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D comes from the Pythagorean theorem.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If D is longer than both links together (500 mm), there is no triangle. raise stops the code with a message.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Then Steps 2 and 3 do the rest.</a:t>
            </a:r>
            <a:endParaRPr sz="1900"/>
          </a:p>
        </p:txBody>
      </p:sp>
      <p:sp>
        <p:nvSpPr>
          <p:cNvPr id="202" name="Google Shape;202;p14"/>
          <p:cNvSpPr txBox="1"/>
          <p:nvPr/>
        </p:nvSpPr>
        <p:spPr>
          <a:xfrm>
            <a:off x="274320" y="2484120"/>
            <a:ext cx="7589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Each line is one step of Lesson 6’s recipe for the flat arm.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 the worked example:</a:t>
            </a:r>
            <a:endParaRPr sz="2400"/>
          </a:p>
        </p:txBody>
      </p:sp>
      <p:sp>
        <p:nvSpPr>
          <p:cNvPr id="208" name="Google Shape;208;p15"/>
          <p:cNvSpPr/>
          <p:nvPr/>
        </p:nvSpPr>
        <p:spPr>
          <a:xfrm>
            <a:off x="274320" y="822960"/>
            <a:ext cx="5852100" cy="457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274320" y="822960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show(ik_flat(426.78, 176.78))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274320" y="1325880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[45.0, -45.0]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274320" y="2011680"/>
            <a:ext cx="6035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Lesson 6 found θ</a:t>
            </a:r>
            <a:r>
              <a:rPr baseline="-25000" lang="en-US" sz="2000"/>
              <a:t>S</a:t>
            </a:r>
            <a:r>
              <a:rPr lang="en-US" sz="2000"/>
              <a:t> = 45° and θ</a:t>
            </a:r>
            <a:r>
              <a:rPr baseline="-25000" lang="en-US" sz="2000"/>
              <a:t>E</a:t>
            </a:r>
            <a:r>
              <a:rPr lang="en-US" sz="2000"/>
              <a:t> = −45°.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Now check it with FK from Lesson 5:</a:t>
            </a:r>
            <a:endParaRPr sz="2000"/>
          </a:p>
        </p:txBody>
      </p:sp>
      <p:sp>
        <p:nvSpPr>
          <p:cNvPr id="212" name="Google Shape;212;p15"/>
          <p:cNvSpPr/>
          <p:nvPr/>
        </p:nvSpPr>
        <p:spPr>
          <a:xfrm>
            <a:off x="274320" y="3154680"/>
            <a:ext cx="5852100" cy="457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274320" y="3154680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show(flat_tip(45.0, -45.0))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274320" y="3657600"/>
            <a:ext cx="585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[426.78, 176.78]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274320" y="4343400"/>
            <a:ext cx="6035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IK, then FK, brings us back to the target. </a:t>
            </a:r>
            <a:r>
              <a:rPr lang="en-US" sz="2000">
                <a:solidFill>
                  <a:srgbClr val="FF0000"/>
                </a:solidFill>
              </a:rPr>
              <a:t>Do this check every time.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6766560" y="5230368"/>
            <a:ext cx="5029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5"/>
          <p:cNvCxnSpPr/>
          <p:nvPr/>
        </p:nvCxnSpPr>
        <p:spPr>
          <a:xfrm flipH="1" rot="10800000">
            <a:off x="7132320" y="3423240"/>
            <a:ext cx="1697400" cy="16974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5"/>
          <p:cNvCxnSpPr/>
          <p:nvPr/>
        </p:nvCxnSpPr>
        <p:spPr>
          <a:xfrm flipH="1" rot="10800000">
            <a:off x="7132320" y="3423240"/>
            <a:ext cx="1697400" cy="1697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5"/>
          <p:cNvCxnSpPr/>
          <p:nvPr/>
        </p:nvCxnSpPr>
        <p:spPr>
          <a:xfrm>
            <a:off x="8829588" y="3423372"/>
            <a:ext cx="24003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5"/>
          <p:cNvCxnSpPr/>
          <p:nvPr/>
        </p:nvCxnSpPr>
        <p:spPr>
          <a:xfrm>
            <a:off x="8829588" y="3423372"/>
            <a:ext cx="24003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15"/>
          <p:cNvSpPr/>
          <p:nvPr/>
        </p:nvSpPr>
        <p:spPr>
          <a:xfrm>
            <a:off x="702259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8719860" y="331364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11120160" y="3313644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11074440" y="3267924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11184168" y="3377652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9492528" y="273757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(426.78, 176.78)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Out of reach:</a:t>
            </a:r>
            <a:endParaRPr sz="2400"/>
          </a:p>
        </p:txBody>
      </p:sp>
      <p:sp>
        <p:nvSpPr>
          <p:cNvPr id="232" name="Google Shape;232;p16"/>
          <p:cNvSpPr/>
          <p:nvPr/>
        </p:nvSpPr>
        <p:spPr>
          <a:xfrm>
            <a:off x="274320" y="822960"/>
            <a:ext cx="6035100" cy="457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274320" y="822960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show(ik_flat(400, 400))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274320" y="1325880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ValueError: target is out of reach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274320" y="1965960"/>
            <a:ext cx="60351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D = 565.69 mm, more than 500 mm. A robot must not move when there is no answer.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To print a message instead of stopping, use try and except:</a:t>
            </a:r>
            <a:endParaRPr sz="1900"/>
          </a:p>
        </p:txBody>
      </p:sp>
      <p:sp>
        <p:nvSpPr>
          <p:cNvPr id="236" name="Google Shape;236;p16"/>
          <p:cNvSpPr/>
          <p:nvPr/>
        </p:nvSpPr>
        <p:spPr>
          <a:xfrm>
            <a:off x="274320" y="3657600"/>
            <a:ext cx="6035100" cy="1143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274320" y="3657600"/>
            <a:ext cx="6035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try: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show(ik_flat(400, 400))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except ValueError: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print("out of reach")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274320" y="4846320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out of reach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6675120" y="5230368"/>
            <a:ext cx="51207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16"/>
          <p:cNvCxnSpPr/>
          <p:nvPr/>
        </p:nvCxnSpPr>
        <p:spPr>
          <a:xfrm>
            <a:off x="7040880" y="1691640"/>
            <a:ext cx="298800" cy="129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6"/>
          <p:cNvCxnSpPr/>
          <p:nvPr/>
        </p:nvCxnSpPr>
        <p:spPr>
          <a:xfrm>
            <a:off x="7339737" y="1704688"/>
            <a:ext cx="296700" cy="390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6"/>
          <p:cNvCxnSpPr/>
          <p:nvPr/>
        </p:nvCxnSpPr>
        <p:spPr>
          <a:xfrm>
            <a:off x="7636320" y="1743734"/>
            <a:ext cx="292200" cy="648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16"/>
          <p:cNvCxnSpPr/>
          <p:nvPr/>
        </p:nvCxnSpPr>
        <p:spPr>
          <a:xfrm>
            <a:off x="7928371" y="1808480"/>
            <a:ext cx="285300" cy="900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16"/>
          <p:cNvCxnSpPr/>
          <p:nvPr/>
        </p:nvCxnSpPr>
        <p:spPr>
          <a:xfrm>
            <a:off x="8213667" y="1898434"/>
            <a:ext cx="276300" cy="1146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16"/>
          <p:cNvCxnSpPr/>
          <p:nvPr/>
        </p:nvCxnSpPr>
        <p:spPr>
          <a:xfrm>
            <a:off x="8490038" y="2012911"/>
            <a:ext cx="265200" cy="1380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6"/>
          <p:cNvCxnSpPr/>
          <p:nvPr/>
        </p:nvCxnSpPr>
        <p:spPr>
          <a:xfrm>
            <a:off x="8755380" y="2151039"/>
            <a:ext cx="252300" cy="1608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6"/>
          <p:cNvCxnSpPr/>
          <p:nvPr/>
        </p:nvCxnSpPr>
        <p:spPr>
          <a:xfrm>
            <a:off x="9007674" y="2311768"/>
            <a:ext cx="237300" cy="1821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6"/>
          <p:cNvCxnSpPr/>
          <p:nvPr/>
        </p:nvCxnSpPr>
        <p:spPr>
          <a:xfrm>
            <a:off x="9244999" y="2493874"/>
            <a:ext cx="220500" cy="2022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6"/>
          <p:cNvCxnSpPr/>
          <p:nvPr/>
        </p:nvCxnSpPr>
        <p:spPr>
          <a:xfrm>
            <a:off x="9465549" y="2695971"/>
            <a:ext cx="202200" cy="2205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16"/>
          <p:cNvCxnSpPr/>
          <p:nvPr/>
        </p:nvCxnSpPr>
        <p:spPr>
          <a:xfrm>
            <a:off x="9667646" y="2916521"/>
            <a:ext cx="182100" cy="2373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16"/>
          <p:cNvCxnSpPr/>
          <p:nvPr/>
        </p:nvCxnSpPr>
        <p:spPr>
          <a:xfrm>
            <a:off x="9849752" y="3153846"/>
            <a:ext cx="160800" cy="2523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16"/>
          <p:cNvCxnSpPr/>
          <p:nvPr/>
        </p:nvCxnSpPr>
        <p:spPr>
          <a:xfrm>
            <a:off x="10010481" y="3406140"/>
            <a:ext cx="138000" cy="2652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16"/>
          <p:cNvCxnSpPr/>
          <p:nvPr/>
        </p:nvCxnSpPr>
        <p:spPr>
          <a:xfrm>
            <a:off x="10148609" y="3671482"/>
            <a:ext cx="114600" cy="2763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10263086" y="3947853"/>
            <a:ext cx="90000" cy="2853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16"/>
          <p:cNvCxnSpPr/>
          <p:nvPr/>
        </p:nvCxnSpPr>
        <p:spPr>
          <a:xfrm>
            <a:off x="10353040" y="4233149"/>
            <a:ext cx="64800" cy="2922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16"/>
          <p:cNvCxnSpPr/>
          <p:nvPr/>
        </p:nvCxnSpPr>
        <p:spPr>
          <a:xfrm>
            <a:off x="10417786" y="4525200"/>
            <a:ext cx="39000" cy="2967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16"/>
          <p:cNvCxnSpPr/>
          <p:nvPr/>
        </p:nvCxnSpPr>
        <p:spPr>
          <a:xfrm>
            <a:off x="10456832" y="4821783"/>
            <a:ext cx="12900" cy="298800"/>
          </a:xfrm>
          <a:prstGeom prst="straightConnector1">
            <a:avLst/>
          </a:prstGeom>
          <a:noFill/>
          <a:ln cap="flat" cmpd="sng" w="254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16"/>
          <p:cNvCxnSpPr/>
          <p:nvPr/>
        </p:nvCxnSpPr>
        <p:spPr>
          <a:xfrm flipH="1" rot="10800000">
            <a:off x="7040880" y="3908340"/>
            <a:ext cx="1212300" cy="1212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16"/>
          <p:cNvCxnSpPr/>
          <p:nvPr/>
        </p:nvCxnSpPr>
        <p:spPr>
          <a:xfrm flipH="1" rot="10800000">
            <a:off x="7040880" y="3908340"/>
            <a:ext cx="1212300" cy="1212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6"/>
          <p:cNvCxnSpPr/>
          <p:nvPr/>
        </p:nvCxnSpPr>
        <p:spPr>
          <a:xfrm flipH="1" rot="10800000">
            <a:off x="8253215" y="2696005"/>
            <a:ext cx="1212300" cy="12123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16"/>
          <p:cNvCxnSpPr/>
          <p:nvPr/>
        </p:nvCxnSpPr>
        <p:spPr>
          <a:xfrm flipH="1" rot="10800000">
            <a:off x="8253215" y="2696005"/>
            <a:ext cx="1212300" cy="1212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16"/>
          <p:cNvSpPr/>
          <p:nvPr/>
        </p:nvSpPr>
        <p:spPr>
          <a:xfrm>
            <a:off x="6931152" y="501091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8143487" y="3798577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9355821" y="258624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6"/>
          <p:cNvCxnSpPr/>
          <p:nvPr/>
        </p:nvCxnSpPr>
        <p:spPr>
          <a:xfrm flipH="1" rot="10800000">
            <a:off x="9465549" y="2377371"/>
            <a:ext cx="318600" cy="318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6" name="Google Shape;266;p16"/>
          <p:cNvSpPr/>
          <p:nvPr/>
        </p:nvSpPr>
        <p:spPr>
          <a:xfrm>
            <a:off x="9628654" y="2221970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9738382" y="2331698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8778262" y="1691618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(400, 400)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8595360" y="4663440"/>
            <a:ext cx="201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AA84F"/>
                </a:solidFill>
              </a:rPr>
              <a:t>reach: 500 mm</a:t>
            </a:r>
            <a:endParaRPr sz="1600"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run ik_flat</a:t>
            </a:r>
            <a:endParaRPr sz="2400"/>
          </a:p>
        </p:txBody>
      </p:sp>
      <p:sp>
        <p:nvSpPr>
          <p:cNvPr id="275" name="Google Shape;275;p17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angles for the targets: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(341.51, 341.51)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(250, 250)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Then check each answer with flat_tip. Compare with Lesson 6, Try it yourself #2 and #3.</a:t>
            </a:r>
            <a:endParaRPr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#3: solution</a:t>
            </a:r>
            <a:endParaRPr sz="2400"/>
          </a:p>
        </p:txBody>
      </p:sp>
      <p:sp>
        <p:nvSpPr>
          <p:cNvPr id="281" name="Google Shape;281;p18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angles for the targets: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(341.51, 341.51)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(250, 250)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Then check each answer with flat_tip. Compare with Lesson 6, Try it yourself #2 and #3.</a:t>
            </a:r>
            <a:endParaRPr sz="2100"/>
          </a:p>
        </p:txBody>
      </p:sp>
      <p:sp>
        <p:nvSpPr>
          <p:cNvPr id="282" name="Google Shape;282;p18"/>
          <p:cNvSpPr/>
          <p:nvPr/>
        </p:nvSpPr>
        <p:spPr>
          <a:xfrm>
            <a:off x="274320" y="2743200"/>
            <a:ext cx="5486400" cy="685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"/>
          <p:cNvSpPr txBox="1"/>
          <p:nvPr/>
        </p:nvSpPr>
        <p:spPr>
          <a:xfrm>
            <a:off x="274320" y="27432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show(ik_flat(341.51, 341.51))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show(ik_flat(250, 250))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274320" y="347472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[60.0, -30.0]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[90.0, -90.0]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6217920" y="2743200"/>
            <a:ext cx="5486400" cy="685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 txBox="1"/>
          <p:nvPr/>
        </p:nvSpPr>
        <p:spPr>
          <a:xfrm>
            <a:off x="6217920" y="27432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show(flat_tip(60, -30))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show(flat_tip(90, -90))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6217920" y="347472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[341.51, 341.51]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[250.0, 250.0]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274320" y="4937760"/>
            <a:ext cx="11521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same answers as Lesson 6, and FK puts both tips back on the targets. In (2) the upper arm points straight up and the forearm points straight across.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5: the whole arm in 3D</a:t>
            </a:r>
            <a:endParaRPr sz="2400"/>
          </a:p>
        </p:txBody>
      </p:sp>
      <p:sp>
        <p:nvSpPr>
          <p:cNvPr id="294" name="Google Shape;294;p19"/>
          <p:cNvSpPr/>
          <p:nvPr/>
        </p:nvSpPr>
        <p:spPr>
          <a:xfrm>
            <a:off x="274320" y="822960"/>
            <a:ext cx="7406700" cy="12954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274320" y="822960"/>
            <a:ext cx="74067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ik_3d(x, y, z):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theta_b = math.degrees(math.atan2(y, x))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 = math.sqrt(x ** 2 + y ** 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theta_s, theta_e = ik_flat(R, z)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[theta_b, theta_s, theta_e]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274320" y="230124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Test it:</a:t>
            </a:r>
            <a:endParaRPr sz="1800"/>
          </a:p>
        </p:txBody>
      </p:sp>
      <p:sp>
        <p:nvSpPr>
          <p:cNvPr id="297" name="Google Shape;297;p19"/>
          <p:cNvSpPr/>
          <p:nvPr/>
        </p:nvSpPr>
        <p:spPr>
          <a:xfrm>
            <a:off x="274320" y="2758440"/>
            <a:ext cx="7406700" cy="655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274320" y="2758440"/>
            <a:ext cx="7406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show(ik_3d(301.78, 301.78, 176.78))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show(tip_3d(45.0, 45.0, -45.0))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274320" y="3459480"/>
            <a:ext cx="7406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[45.0, 45.0, -45.0]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[301.78, 301.78, 176.78]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7955280" y="822960"/>
            <a:ext cx="40233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Lesson 6, Day 2: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1.  atan2 aims the base.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2.  R is the reach across the floor.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3.  (R, z) is a flat-arm target, so ik_flat does the rest.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ik_flat already checks the reach, so ik_3d does not need its own check.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run ik_3d</a:t>
            </a:r>
            <a:endParaRPr sz="2400"/>
          </a:p>
        </p:txBody>
      </p:sp>
      <p:sp>
        <p:nvSpPr>
          <p:cNvPr id="306" name="Google Shape;306;p20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angles for the targets: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(295.75, 170.75, 91.51)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(−324.76, 187.50, 216.51)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Check each answer with tip_3d. Compare with Lesson 6, Try it yourself #4 and #5.</a:t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#4: solution</a:t>
            </a:r>
            <a:endParaRPr sz="2400"/>
          </a:p>
        </p:txBody>
      </p:sp>
      <p:sp>
        <p:nvSpPr>
          <p:cNvPr id="312" name="Google Shape;312;p21"/>
          <p:cNvSpPr txBox="1"/>
          <p:nvPr/>
        </p:nvSpPr>
        <p:spPr>
          <a:xfrm>
            <a:off x="274320" y="777240"/>
            <a:ext cx="115215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Find the angles for the targets: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(295.75, 170.75, 91.51)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(−324.76, 187.50, 216.51)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Check each answer with tip_3d. Compare with Lesson 6, Try it yourself #4 and #5.</a:t>
            </a:r>
            <a:endParaRPr sz="2100"/>
          </a:p>
        </p:txBody>
      </p:sp>
      <p:sp>
        <p:nvSpPr>
          <p:cNvPr id="313" name="Google Shape;313;p21"/>
          <p:cNvSpPr/>
          <p:nvPr/>
        </p:nvSpPr>
        <p:spPr>
          <a:xfrm>
            <a:off x="274320" y="2743200"/>
            <a:ext cx="7315200" cy="685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274320" y="27432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show(ik_3d(295.75, 170.75, 91.51))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show(ik_3d(-324.76, 187.50, 216.51))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274320" y="347472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[30.0, 60.0, -90.0]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[150.0, 60.0, -60.0]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274320" y="4480560"/>
            <a:ext cx="115215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tip_3d puts both tips back on the targets. In (2) atan2 gives 150°. Plain atan would give −30° (Lesson 6).</a:t>
            </a:r>
            <a:endParaRPr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1 recap:</a:t>
            </a:r>
            <a:endParaRPr sz="2400"/>
          </a:p>
        </p:txBody>
      </p:sp>
      <p:sp>
        <p:nvSpPr>
          <p:cNvPr id="322" name="Google Shape;322;p22"/>
          <p:cNvSpPr txBox="1"/>
          <p:nvPr/>
        </p:nvSpPr>
        <p:spPr>
          <a:xfrm>
            <a:off x="274320" y="822960"/>
            <a:ext cx="6035100" cy="57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law_of_cosines: an angle from three sides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elbow and shoulder: Lesson 6’s Steps 1 and 2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ik_flat: the flat arm, with a reach check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ik_3d: atan2 aims the base, then ik_flat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Always check IK with FK.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Tomorrow: Lesson 7’s gradient descent in code.</a:t>
            </a:r>
            <a:endParaRPr sz="2100"/>
          </a:p>
        </p:txBody>
      </p:sp>
      <p:sp>
        <p:nvSpPr>
          <p:cNvPr id="323" name="Google Shape;323;p22"/>
          <p:cNvSpPr/>
          <p:nvPr/>
        </p:nvSpPr>
        <p:spPr>
          <a:xfrm>
            <a:off x="6675120" y="5138928"/>
            <a:ext cx="4846200" cy="27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4" name="Google Shape;324;p22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2"/>
          <p:cNvCxnSpPr/>
          <p:nvPr/>
        </p:nvCxnSpPr>
        <p:spPr>
          <a:xfrm flipH="1" rot="10800000">
            <a:off x="7315200" y="3655200"/>
            <a:ext cx="1374000" cy="1374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2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152400">
            <a:solidFill>
              <a:srgbClr val="3C3C3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2"/>
          <p:cNvCxnSpPr/>
          <p:nvPr/>
        </p:nvCxnSpPr>
        <p:spPr>
          <a:xfrm>
            <a:off x="8689179" y="3655221"/>
            <a:ext cx="19431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22"/>
          <p:cNvSpPr/>
          <p:nvPr/>
        </p:nvSpPr>
        <p:spPr>
          <a:xfrm>
            <a:off x="7205472" y="4919472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/>
          <p:nvPr/>
        </p:nvSpPr>
        <p:spPr>
          <a:xfrm>
            <a:off x="85794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10522551" y="3545493"/>
            <a:ext cx="219600" cy="219600"/>
          </a:xfrm>
          <a:prstGeom prst="ellipse">
            <a:avLst/>
          </a:prstGeom>
          <a:solidFill>
            <a:srgbClr val="F1C232"/>
          </a:solidFill>
          <a:ln cap="flat" cmpd="sng" w="12700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22"/>
          <p:cNvCxnSpPr/>
          <p:nvPr/>
        </p:nvCxnSpPr>
        <p:spPr>
          <a:xfrm flipH="1" rot="10800000">
            <a:off x="7315200" y="3655200"/>
            <a:ext cx="3317100" cy="1374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" name="Google Shape;332;p22"/>
          <p:cNvSpPr/>
          <p:nvPr/>
        </p:nvSpPr>
        <p:spPr>
          <a:xfrm>
            <a:off x="10476831" y="3499773"/>
            <a:ext cx="310800" cy="310800"/>
          </a:xfrm>
          <a:prstGeom prst="ellipse">
            <a:avLst/>
          </a:pr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10586559" y="3609501"/>
            <a:ext cx="91500" cy="915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Day 2: where Day 1 left off</a:t>
            </a:r>
            <a:endParaRPr sz="2400"/>
          </a:p>
        </p:txBody>
      </p:sp>
      <p:sp>
        <p:nvSpPr>
          <p:cNvPr id="339" name="Google Shape;339;p23"/>
          <p:cNvSpPr txBox="1"/>
          <p:nvPr/>
        </p:nvSpPr>
        <p:spPr>
          <a:xfrm>
            <a:off x="274320" y="822960"/>
            <a:ext cx="1152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1.  What does ik_flat(400, 400) do?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2.  Why does ik_3d use atan2 and not atan?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3.  How do we check an IK answer?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Today Lesson 7’s loop becomes code: error, cost, slopes, and the loop itself.</a:t>
            </a:r>
            <a:endParaRPr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6: the error and the cost</a:t>
            </a:r>
            <a:endParaRPr sz="2400"/>
          </a:p>
        </p:txBody>
      </p:sp>
      <p:sp>
        <p:nvSpPr>
          <p:cNvPr id="345" name="Google Shape;345;p24"/>
          <p:cNvSpPr/>
          <p:nvPr/>
        </p:nvSpPr>
        <p:spPr>
          <a:xfrm>
            <a:off x="274320" y="822960"/>
            <a:ext cx="7223700" cy="23622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274320" y="822960"/>
            <a:ext cx="72237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error(angles, target):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degrees = [math.degrees(a) for a in angles]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tip = tip_3d(*degrees)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total = 0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for i in range(3):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  total += (tip[i] - target[i]) ** 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math.sqrt(total)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def cost(angles, target):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return (error(angles, target) / L1) ** 2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24"/>
          <p:cNvSpPr txBox="1"/>
          <p:nvPr/>
        </p:nvSpPr>
        <p:spPr>
          <a:xfrm>
            <a:off x="7772400" y="822960"/>
            <a:ext cx="42063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Lesson 7’s step rule uses radians, so the angles come in as radians.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Line 2 makes a new list with each angle in degrees, for tip_3d.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tip_3d(*degrees) puts the three numbers of the list in as three inputs.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error is the distance in 3D. The cost is Lesson 7’s </a:t>
            </a:r>
            <a:r>
              <a:rPr lang="en-US" sz="1800">
                <a:solidFill>
                  <a:srgbClr val="FF0000"/>
                </a:solidFill>
              </a:rPr>
              <a:t>C = (error ÷ 250)²</a:t>
            </a:r>
            <a:r>
              <a:rPr lang="en-US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Test the error:</a:t>
            </a:r>
            <a:endParaRPr sz="2400"/>
          </a:p>
        </p:txBody>
      </p:sp>
      <p:sp>
        <p:nvSpPr>
          <p:cNvPr id="353" name="Google Shape;353;p25"/>
          <p:cNvSpPr/>
          <p:nvPr/>
        </p:nvSpPr>
        <p:spPr>
          <a:xfrm>
            <a:off x="274320" y="822960"/>
            <a:ext cx="7863900" cy="1143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 txBox="1"/>
          <p:nvPr/>
        </p:nvSpPr>
        <p:spPr>
          <a:xfrm>
            <a:off x="274320" y="822960"/>
            <a:ext cx="786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target = (301.78, 301.78, 176.78)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start = [math.radians(a) for a in (0, 45, -45)]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print(round(error(start, target),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print(round(cost(start, target),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274320" y="2011680"/>
            <a:ext cx="786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326.64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1.71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6" name="Google Shape;356;p25"/>
          <p:cNvSpPr txBox="1"/>
          <p:nvPr/>
        </p:nvSpPr>
        <p:spPr>
          <a:xfrm>
            <a:off x="274320" y="3017520"/>
            <a:ext cx="11521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start pose (0°, 45°, −45°) puts the tip at (426.78, 0, 176.78). It is 326.64 mm from the target, the first row of Lesson 7’s “Watching the error fall”.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cost is (326.64 ÷ 250)² = 1.71.</a:t>
            </a:r>
            <a:endParaRPr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7: the slopes</a:t>
            </a:r>
            <a:endParaRPr sz="2400"/>
          </a:p>
        </p:txBody>
      </p:sp>
      <p:sp>
        <p:nvSpPr>
          <p:cNvPr id="362" name="Google Shape;362;p26"/>
          <p:cNvSpPr/>
          <p:nvPr/>
        </p:nvSpPr>
        <p:spPr>
          <a:xfrm>
            <a:off x="274320" y="822960"/>
            <a:ext cx="7589400" cy="2011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274320" y="822960"/>
            <a:ext cx="7589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slopes(angles, target, h=0.0001):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result = []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for i in range(3):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up = list(angles)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up[i] += h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down = list(angles)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down[i] -= h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result.append((cost(up, target) - cost(down, target)) / (2 * h))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result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274320" y="301752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Test it:</a:t>
            </a:r>
            <a:endParaRPr sz="1800"/>
          </a:p>
        </p:txBody>
      </p:sp>
      <p:sp>
        <p:nvSpPr>
          <p:cNvPr id="365" name="Google Shape;365;p26"/>
          <p:cNvSpPr/>
          <p:nvPr/>
        </p:nvSpPr>
        <p:spPr>
          <a:xfrm>
            <a:off x="274320" y="3474720"/>
            <a:ext cx="7589400" cy="4266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274320" y="3474720"/>
            <a:ext cx="7589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show(slopes(start, target))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274320" y="3947160"/>
            <a:ext cx="7589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[-4.12, -0.71, 0.0]</a:t>
            </a:r>
            <a:endParaRPr sz="13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8092440" y="822960"/>
            <a:ext cx="39318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Nudge one joint at a time, as in Lesson 7.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list(angles) makes a copy, so the other joints stay where they are.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Nudging up and down and dividing by 2h is fairer than nudging one side.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h = 0.0001 rad is a tiny turn.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Negative slopes: θ</a:t>
            </a:r>
            <a:r>
              <a:rPr baseline="-25000" lang="en-US" sz="1800"/>
              <a:t>B</a:t>
            </a:r>
            <a:r>
              <a:rPr lang="en-US" sz="1800"/>
              <a:t> and θ</a:t>
            </a:r>
            <a:r>
              <a:rPr baseline="-25000" lang="en-US" sz="1800"/>
              <a:t>S</a:t>
            </a:r>
            <a:r>
              <a:rPr lang="en-US" sz="1800"/>
              <a:t> must get bigger.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 8: the loop</a:t>
            </a:r>
            <a:endParaRPr sz="2400"/>
          </a:p>
        </p:txBody>
      </p:sp>
      <p:sp>
        <p:nvSpPr>
          <p:cNvPr id="374" name="Google Shape;374;p27"/>
          <p:cNvSpPr/>
          <p:nvPr/>
        </p:nvSpPr>
        <p:spPr>
          <a:xfrm>
            <a:off x="274320" y="822960"/>
            <a:ext cx="7680900" cy="2407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274320" y="822960"/>
            <a:ext cx="7680900" cy="24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def ik_gd(target, start=(0, 45, -45), eta=0.1,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  tol=0.5, max_steps=1000):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angles = [math.radians(a) for a in start]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steps = 0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while steps &lt; max_steps and error(angles, target) &gt;= tol: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g = slopes(angles, target)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for i in range(3):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    angles[i] = angles[i] - eta * g[i]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    steps += 1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degrees = [math.degrees(a) for a in angles]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    return degrees, steps, error(angles, target)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8183880" y="822960"/>
            <a:ext cx="38406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defaults are Lesson 7’s settings.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while repeats as long as there are steps left and the error is not small enough yet.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The update is Lesson 7’s step rule: </a:t>
            </a:r>
            <a:r>
              <a:rPr lang="en-US" sz="1800">
                <a:solidFill>
                  <a:srgbClr val="FF0000"/>
                </a:solidFill>
              </a:rPr>
              <a:t>θ</a:t>
            </a:r>
            <a:r>
              <a:rPr baseline="-25000" lang="en-US" sz="1800">
                <a:solidFill>
                  <a:srgbClr val="FF0000"/>
                </a:solidFill>
              </a:rPr>
              <a:t>new</a:t>
            </a:r>
            <a:r>
              <a:rPr lang="en-US" sz="1800">
                <a:solidFill>
                  <a:srgbClr val="FF0000"/>
                </a:solidFill>
              </a:rPr>
              <a:t> = θ − η × slope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return sends back three things: the angles, the steps and the error.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Run the worked example:</a:t>
            </a:r>
            <a:endParaRPr sz="2400"/>
          </a:p>
        </p:txBody>
      </p:sp>
      <p:sp>
        <p:nvSpPr>
          <p:cNvPr id="382" name="Google Shape;382;p28"/>
          <p:cNvSpPr/>
          <p:nvPr/>
        </p:nvSpPr>
        <p:spPr>
          <a:xfrm>
            <a:off x="274320" y="822960"/>
            <a:ext cx="7863900" cy="11430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274320" y="822960"/>
            <a:ext cx="786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angles, steps, err = ik_gd((301.78, 301.78, 176.78))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show(angles)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print(steps, round(err, 2))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show(tip_3d(*angles))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274320" y="2011680"/>
            <a:ext cx="7863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[45.0, 45.15, -45.29]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84 0.49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[301.45, 301.45, 176.63]</a:t>
            </a:r>
            <a:endParaRPr sz="1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274320" y="3246120"/>
            <a:ext cx="115215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The same answer the computer gave in Lesson 7: 84 steps, and the tip is 0.49 mm from the target. Lesson 6’s exact answer is (45°, 45°, −45°).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angles, steps, err = ... takes the three things that ik_gd returns.</a:t>
            </a:r>
            <a:endParaRPr sz="2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change the learning rate</a:t>
            </a:r>
            <a:endParaRPr sz="2400"/>
          </a:p>
        </p:txBody>
      </p:sp>
      <p:sp>
        <p:nvSpPr>
          <p:cNvPr id="391" name="Google Shape;391;p29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Run the worked example with eta=0.02, eta=0.2 and eta=0.3. How many steps does each take? Guess first.</a:t>
            </a:r>
            <a:endParaRPr sz="2100"/>
          </a:p>
        </p:txBody>
      </p:sp>
      <p:sp>
        <p:nvSpPr>
          <p:cNvPr id="392" name="Google Shape;392;p29"/>
          <p:cNvSpPr/>
          <p:nvPr/>
        </p:nvSpPr>
        <p:spPr>
          <a:xfrm>
            <a:off x="274320" y="1691640"/>
            <a:ext cx="7863900" cy="441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9"/>
          <p:cNvSpPr txBox="1"/>
          <p:nvPr/>
        </p:nvSpPr>
        <p:spPr>
          <a:xfrm>
            <a:off x="274320" y="1691640"/>
            <a:ext cx="7863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angles, steps, err = ik_gd((301.78, 301.78, 176.78), eta=0.2)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Try it yourself #5: solution</a:t>
            </a:r>
            <a:endParaRPr sz="2400"/>
          </a:p>
        </p:txBody>
      </p:sp>
      <p:sp>
        <p:nvSpPr>
          <p:cNvPr id="399" name="Google Shape;399;p30"/>
          <p:cNvSpPr txBox="1"/>
          <p:nvPr/>
        </p:nvSpPr>
        <p:spPr>
          <a:xfrm>
            <a:off x="274320" y="777240"/>
            <a:ext cx="11521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Run the worked example with eta=0.02, eta=0.2 and eta=0.3. How many steps does each take? Guess first.</a:t>
            </a:r>
            <a:endParaRPr sz="2100"/>
          </a:p>
        </p:txBody>
      </p:sp>
      <p:sp>
        <p:nvSpPr>
          <p:cNvPr id="400" name="Google Shape;400;p30"/>
          <p:cNvSpPr/>
          <p:nvPr/>
        </p:nvSpPr>
        <p:spPr>
          <a:xfrm>
            <a:off x="274320" y="1691640"/>
            <a:ext cx="7863900" cy="441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"/>
          <p:cNvSpPr txBox="1"/>
          <p:nvPr/>
        </p:nvSpPr>
        <p:spPr>
          <a:xfrm>
            <a:off x="274320" y="1691640"/>
            <a:ext cx="7863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angles, steps, err = ik_gd((301.78, 301.78, 176.78), eta=0.2)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02" name="Google Shape;402;p30"/>
          <p:cNvGraphicFramePr/>
          <p:nvPr/>
        </p:nvGraphicFramePr>
        <p:xfrm>
          <a:off x="27432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{DB3223AE-07BE-48C7-8F87-4ED89DAF483B}</a:tableStyleId>
              </a:tblPr>
              <a:tblGrid>
                <a:gridCol w="1463025"/>
                <a:gridCol w="2011675"/>
                <a:gridCol w="402335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η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steps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error at the end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364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under 0.5 mm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84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under 0.5 mm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under 0.5 mm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0.3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1000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288.01 mm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3" name="Google Shape;403;p30"/>
          <p:cNvSpPr txBox="1"/>
          <p:nvPr/>
        </p:nvSpPr>
        <p:spPr>
          <a:xfrm>
            <a:off x="274320" y="4983480"/>
            <a:ext cx="11521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η = 0.3 is too big. The error bounces between 234.5 and 288.0 mm and never settles, as in Lesson 7. ik_gd stops at the step limit, so </a:t>
            </a:r>
            <a:r>
              <a:rPr lang="en-US" sz="2000">
                <a:solidFill>
                  <a:srgbClr val="FF0000"/>
                </a:solidFill>
              </a:rPr>
              <a:t>always look at the error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1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Test both methods:</a:t>
            </a:r>
            <a:endParaRPr sz="2400"/>
          </a:p>
        </p:txBody>
      </p:sp>
      <p:sp>
        <p:nvSpPr>
          <p:cNvPr id="409" name="Google Shape;409;p31"/>
          <p:cNvSpPr/>
          <p:nvPr/>
        </p:nvSpPr>
        <p:spPr>
          <a:xfrm>
            <a:off x="274320" y="777240"/>
            <a:ext cx="7772400" cy="29718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274320" y="777240"/>
            <a:ext cx="77724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targets = [(301.78, 301.78, 176.78), (295.75, 170.75, 91.51),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   (-324.76, 187.50, 216.51), (400, 300, 200)]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for target in targets: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print("target:", target)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try: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angles = ik_3d(*target)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print("  trig:", end=" ")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show(angles)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except ValueError: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  print("  trig: out of reach")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angles, steps, err = ik_gd(target)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print("  gd:  ", end=" ")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show(angles)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print("        ", steps, "steps, error", round(err, 2), "mm")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31"/>
          <p:cNvSpPr txBox="1"/>
          <p:nvPr/>
        </p:nvSpPr>
        <p:spPr>
          <a:xfrm>
            <a:off x="8275320" y="777240"/>
            <a:ext cx="37491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check_ik.py runs both methods on targets from Lesson 6.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try and except catch the out of reach error, so the loop keeps going.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end=" " keeps show() on the same line.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Run it and compare the two answers for each target.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the tests show:</a:t>
            </a:r>
            <a:endParaRPr sz="2400"/>
          </a:p>
        </p:txBody>
      </p:sp>
      <p:graphicFrame>
        <p:nvGraphicFramePr>
          <p:cNvPr id="417" name="Google Shape;417;p32"/>
          <p:cNvGraphicFramePr/>
          <p:nvPr/>
        </p:nvGraphicFramePr>
        <p:xfrm>
          <a:off x="27432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{DB3223AE-07BE-48C7-8F87-4ED89DAF483B}</a:tableStyleId>
              </a:tblPr>
              <a:tblGrid>
                <a:gridCol w="3291825"/>
                <a:gridCol w="3291825"/>
                <a:gridCol w="4937750"/>
              </a:tblGrid>
              <a:tr h="5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Target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Trigonometry (Day 1)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Gradient descent (Day 2)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(301.78, 301.78, 176.78)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[45.0, 45.0, -45.0]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[45.0, 45.15, -45.29], 84 steps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(295.75, 170.75, 91.51)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[30.0, 60.0, -90.0]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[30.0, 59.91, -89.85], 79 steps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(−324.76, 187.50, 216.51)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[150.0, 60.0, -60.0]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[-30.0, 179.88, -59.78], 179 steps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(400, 300, 200)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out of reach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0000"/>
                          </a:solidFill>
                        </a:rPr>
                        <a:t>[36.87, 21.8, 0.0], 1000 steps, 38.52 mm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18" name="Google Shape;418;p32"/>
          <p:cNvSpPr txBox="1"/>
          <p:nvPr/>
        </p:nvSpPr>
        <p:spPr>
          <a:xfrm>
            <a:off x="274320" y="3703320"/>
            <a:ext cx="11521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Rows 1 and 2: the same pose. Gradient descent is close, not exact.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Row 3: both are right. Gradient descent found the other valley: the base points away and the arm reaches back over the top (Lesson 7).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Row 4: trigonometry stops with an error. Gradient descent ends 38.52 mm short with no error. </a:t>
            </a:r>
            <a:r>
              <a:rPr lang="en-US" sz="1900">
                <a:solidFill>
                  <a:srgbClr val="FF0000"/>
                </a:solidFill>
              </a:rPr>
              <a:t>Always check the error.</a:t>
            </a:r>
            <a:endParaRPr sz="1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3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The Jacobian: how the tip moves</a:t>
            </a:r>
            <a:endParaRPr sz="2400"/>
          </a:p>
        </p:txBody>
      </p:sp>
      <p:sp>
        <p:nvSpPr>
          <p:cNvPr id="424" name="Google Shape;424;p33"/>
          <p:cNvSpPr txBox="1"/>
          <p:nvPr/>
        </p:nvSpPr>
        <p:spPr>
          <a:xfrm>
            <a:off x="274320" y="777240"/>
            <a:ext cx="115215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How far does the tip move when one joint turns by 1°? Nudge that joint and run FK, as in Lesson 7.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At the pose (45°, 45°, −45°):</a:t>
            </a:r>
            <a:endParaRPr sz="2100"/>
          </a:p>
        </p:txBody>
      </p:sp>
      <p:graphicFrame>
        <p:nvGraphicFramePr>
          <p:cNvPr id="425" name="Google Shape;425;p33"/>
          <p:cNvGraphicFramePr/>
          <p:nvPr/>
        </p:nvGraphicFramePr>
        <p:xfrm>
          <a:off x="27432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{DB3223AE-07BE-48C7-8F87-4ED89DAF483B}</a:tableStyleId>
              </a:tblPr>
              <a:tblGrid>
                <a:gridCol w="2926075"/>
                <a:gridCol w="1737350"/>
                <a:gridCol w="1737350"/>
                <a:gridCol w="1737350"/>
              </a:tblGrid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Joint turns 1°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x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y (mm)</a:t>
                      </a:r>
                      <a:endParaRPr b="1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z (mm)</a:t>
                      </a:r>
                      <a:endParaRPr b="1" sz="1800"/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θ</a:t>
                      </a:r>
                      <a:r>
                        <a:rPr baseline="-25000" lang="en-US" sz="1800"/>
                        <a:t>B</a:t>
                      </a:r>
                      <a:endParaRPr baseline="-25000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−5.27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5.27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0.00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θ</a:t>
                      </a:r>
                      <a:r>
                        <a:rPr baseline="-25000" lang="en-US" sz="1800"/>
                        <a:t>S</a:t>
                      </a:r>
                      <a:endParaRPr baseline="-25000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−2.18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−2.18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7.45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θ</a:t>
                      </a:r>
                      <a:r>
                        <a:rPr baseline="-25000" lang="en-US" sz="1800"/>
                        <a:t>E</a:t>
                      </a:r>
                      <a:endParaRPr baseline="-25000"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0.00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0.00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4.36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26" name="Google Shape;426;p33"/>
          <p:cNvSpPr txBox="1"/>
          <p:nvPr/>
        </p:nvSpPr>
        <p:spPr>
          <a:xfrm>
            <a:off x="274320" y="4251960"/>
            <a:ext cx="115215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This table is called the </a:t>
            </a:r>
            <a:r>
              <a:rPr b="1" lang="en-US" sz="2000"/>
              <a:t>Jacobian</a:t>
            </a:r>
            <a:r>
              <a:rPr lang="en-US" sz="2000"/>
              <a:t>. It says how each joint moves the tip.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θ</a:t>
            </a:r>
            <a:r>
              <a:rPr baseline="-25000" lang="en-US" sz="2000"/>
              <a:t>B</a:t>
            </a:r>
            <a:r>
              <a:rPr lang="en-US" sz="2000"/>
              <a:t> swings the tip around the base. θ</a:t>
            </a:r>
            <a:r>
              <a:rPr baseline="-25000" lang="en-US" sz="2000"/>
              <a:t>E</a:t>
            </a:r>
            <a:r>
              <a:rPr lang="en-US" sz="2000"/>
              <a:t> lifts it straight up, because the forearm points straight across in this pose (250 mm × 1° in radians = 4.36 mm).</a:t>
            </a:r>
            <a:endParaRPr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 Jacobian method:</a:t>
            </a:r>
            <a:endParaRPr sz="2400"/>
          </a:p>
        </p:txBody>
      </p:sp>
      <p:sp>
        <p:nvSpPr>
          <p:cNvPr id="432" name="Google Shape;432;p34"/>
          <p:cNvSpPr txBox="1"/>
          <p:nvPr/>
        </p:nvSpPr>
        <p:spPr>
          <a:xfrm>
            <a:off x="274320" y="777240"/>
            <a:ext cx="11521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Gradient descent asks: which way is downhill? Then it takes a small step.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Jacobian method asks: which turns of all three joints move the tip straight to the target? The table answers that.</a:t>
            </a:r>
            <a:endParaRPr sz="2000"/>
          </a:p>
        </p:txBody>
      </p:sp>
      <p:sp>
        <p:nvSpPr>
          <p:cNvPr id="433" name="Google Shape;433;p34"/>
          <p:cNvSpPr/>
          <p:nvPr/>
        </p:nvSpPr>
        <p:spPr>
          <a:xfrm>
            <a:off x="274320" y="2240280"/>
            <a:ext cx="5852100" cy="4419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274320" y="2240280"/>
            <a:ext cx="5852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python jacobian_preview.py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34"/>
          <p:cNvSpPr txBox="1"/>
          <p:nvPr/>
        </p:nvSpPr>
        <p:spPr>
          <a:xfrm>
            <a:off x="274320" y="2727960"/>
            <a:ext cx="58521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[45.0, 45.0, -45.0]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Jacobian: 5 steps, 0.01 mm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gradient descent: 84 steps, 0.49 mm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36" name="Google Shape;436;p34"/>
          <p:cNvGraphicFramePr/>
          <p:nvPr/>
        </p:nvGraphicFramePr>
        <p:xfrm>
          <a:off x="6400800" y="2240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{DB3223AE-07BE-48C7-8F87-4ED89DAF483B}</a:tableStyleId>
              </a:tblPr>
              <a:tblGrid>
                <a:gridCol w="27432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Target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Jacobian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GD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(301.78, 301.78, 176.78)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5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(295.75, 170.75, 91.51)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4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(−125, 216.51, 250)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11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37" name="Google Shape;437;p34"/>
          <p:cNvSpPr txBox="1"/>
          <p:nvPr/>
        </p:nvSpPr>
        <p:spPr>
          <a:xfrm>
            <a:off x="274320" y="4572000"/>
            <a:ext cx="11521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You do not need to write this code. It limits each turn to 20° so it never jumps too far.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It has limits too: near a straight arm the table cannot push the tip farther out, and out of reach it also ends short. Real robots add safety steps for that.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IK inside the arm’s own code:</a:t>
            </a:r>
            <a:endParaRPr sz="2400"/>
          </a:p>
        </p:txBody>
      </p:sp>
      <p:sp>
        <p:nvSpPr>
          <p:cNvPr id="443" name="Google Shape;443;p35"/>
          <p:cNvSpPr/>
          <p:nvPr/>
        </p:nvSpPr>
        <p:spPr>
          <a:xfrm>
            <a:off x="274320" y="777240"/>
            <a:ext cx="7863900" cy="30786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274320" y="777240"/>
            <a:ext cx="78639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def inverse_kinematics(x, y, z, t4=0.0):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theta1 = math.atan2(y, x)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r      = math.hypot(x, y)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h      = z - L1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d2     = r * r + h * h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d      = math.sqrt(d2)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if d &gt; L2 + L3 or d &lt; abs(L2 - L3) or d &lt; 1e-9: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    return []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cos_t3 = max(-1.0, min(1.0, (_L2_SQ + _L3_SQ - d2) / _2L2L3))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theta3 = math.pi - math.acos(cos_t3)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alpha    = math.atan2(h, r)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cos_beta = max(-1.0, min(1.0, (_L2_SQ + d2 - _L3_SQ) / (_2L2 * d)))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beta     = math.pi - (alpha + math.acos(cos_beta))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Courier New"/>
                <a:ea typeface="Courier New"/>
                <a:cs typeface="Courier New"/>
                <a:sym typeface="Courier New"/>
              </a:rPr>
              <a:t>    theta2   = math.pi / 2 - beta + _ELBOW_OFF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35"/>
          <p:cNvSpPr txBox="1"/>
          <p:nvPr/>
        </p:nvSpPr>
        <p:spPr>
          <a:xfrm>
            <a:off x="8321040" y="777240"/>
            <a:ext cx="3657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From Code/waypoint.py, the arm’s control program.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Find the base angle, the reach, the reach check, the elbow (law of cosines) and the shoulder.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Here L2 and L3 are the links, 0.22 m each, and L1 is the shoulder height. It works in metres and radians, and measures the shoulder from straight up.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/>
              <a:t>The steps are Lesson 6’s.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6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Three ways to do IK:</a:t>
            </a:r>
            <a:endParaRPr sz="2400"/>
          </a:p>
        </p:txBody>
      </p:sp>
      <p:graphicFrame>
        <p:nvGraphicFramePr>
          <p:cNvPr id="451" name="Google Shape;451;p36"/>
          <p:cNvGraphicFramePr/>
          <p:nvPr/>
        </p:nvGraphicFramePr>
        <p:xfrm>
          <a:off x="27432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{DB3223AE-07BE-48C7-8F87-4ED89DAF483B}</a:tableStyleId>
              </a:tblPr>
              <a:tblGrid>
                <a:gridCol w="2377425"/>
                <a:gridCol w="2926075"/>
                <a:gridCol w="3108950"/>
                <a:gridCol w="3108950"/>
              </a:tblGrid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Trigonometry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Gradient descent</a:t>
                      </a:r>
                      <a:endParaRPr b="1"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Jacobian</a:t>
                      </a:r>
                      <a:endParaRPr b="1" sz="1700"/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Answer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exact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close (0.5 mm)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very close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Steps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one pass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50 to 1000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about 4 to 20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Needs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triangles for this arm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only FK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FK and the table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Out of reach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stops with an error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ends short, no error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ends short, no error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 new arm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new triangles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the same loop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the same loop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52" name="Google Shape;452;p36"/>
          <p:cNvSpPr txBox="1"/>
          <p:nvPr/>
        </p:nvSpPr>
        <p:spPr>
          <a:xfrm>
            <a:off x="274320" y="4434840"/>
            <a:ext cx="11521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</a:rPr>
              <a:t>If the arm had six joints, which method would you use, and why?</a:t>
            </a:r>
            <a:endParaRPr sz="21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Whichever you choose, check the answer with FK and look at the error.</a:t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7"/>
          <p:cNvSpPr txBox="1"/>
          <p:nvPr/>
        </p:nvSpPr>
        <p:spPr>
          <a:xfrm>
            <a:off x="274320" y="137160"/>
            <a:ext cx="1161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What we learned:</a:t>
            </a:r>
            <a:endParaRPr sz="2400"/>
          </a:p>
        </p:txBody>
      </p:sp>
      <p:sp>
        <p:nvSpPr>
          <p:cNvPr id="458" name="Google Shape;458;p37"/>
          <p:cNvSpPr txBox="1"/>
          <p:nvPr/>
        </p:nvSpPr>
        <p:spPr>
          <a:xfrm>
            <a:off x="274320" y="822960"/>
            <a:ext cx="11521500" cy="58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1.  Each step of Lesson 6’s recipe became a small function: law_of_cosines, elbow, shoulder, ik_flat and ik_3d.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2.  Lesson 7’s loop became error, cost, slopes and ik_gd.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3.  Check IK with FK every time.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4.  raise and try/except handle targets that are out of reach.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5.  The Jacobian says how each joint moves the tip, and it makes IK much faster.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Next lesson: AI object detection. The arm finds its own targets.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