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3BE301-D3C2-40FC-B3EE-2B950076AB16}">
  <a:tblStyle styleId="{CC3BE301-D3C2-40FC-B3EE-2B950076AB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l7_cove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l7_cove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l7_reca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l7_reca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l7_ide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l7_ide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l7_erro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l7_erro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l7_downhill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l7_downhil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l7_onenum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l7_onenu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l7_try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l7_try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l7_try1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l7_try1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l7_onejoint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l7_onejoin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l7_nudg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l7_nudg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l7_try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l7_try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l7_try2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l7_try2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l7_flat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l7_fla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l7_flatex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l7_flatex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l7_flatex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l7_flatex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l7_flatex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l7_flatex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l7_flatex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l7_flatex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l7_sam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l7_sam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l7_try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l7_try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l7_try3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l7_try3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l7_reca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l7_reca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l7_where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l7_where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l7_thre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l7_thre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l7_errorfall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l7_errorfal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l7_et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l7_et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l7_stop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l7_sto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l7_try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l7_try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l7_try4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l7_try4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l7_start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l7_star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l7_try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l7_try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l7_try5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l7_try5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l7_outreach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l7_outreac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l7_struggles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l7_struggle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l7_compar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l7_compar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l7_faste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l7_faste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l7_learne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l7_learne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/>
        </p:nvSpPr>
        <p:spPr>
          <a:xfrm>
            <a:off x="731520" y="1097280"/>
            <a:ext cx="5943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The Gradient Descent Approach to Inverse Kinematics</a:t>
            </a:r>
            <a:endParaRPr b="1" sz="3600"/>
          </a:p>
        </p:txBody>
      </p:sp>
      <p:sp>
        <p:nvSpPr>
          <p:cNvPr id="20" name="Google Shape;20;p3"/>
          <p:cNvSpPr txBox="1"/>
          <p:nvPr/>
        </p:nvSpPr>
        <p:spPr>
          <a:xfrm>
            <a:off x="731520" y="3474720"/>
            <a:ext cx="57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</a:rPr>
              <a:t>Robotic Arm Course · Lesson 7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731520" y="4114800"/>
            <a:ext cx="576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Day 1: Gradient descent by hand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Day 2: The 3D arm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 Lesson 6 left off:</a:t>
            </a:r>
            <a:endParaRPr sz="2400"/>
          </a:p>
        </p:txBody>
      </p:sp>
      <p:sp>
        <p:nvSpPr>
          <p:cNvPr id="27" name="Google Shape;27;p4"/>
          <p:cNvSpPr txBox="1"/>
          <p:nvPr/>
        </p:nvSpPr>
        <p:spPr>
          <a:xfrm>
            <a:off x="274324" y="822950"/>
            <a:ext cx="108447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Target </a:t>
            </a:r>
            <a:r>
              <a:rPr lang="en-US" sz="2100">
                <a:solidFill>
                  <a:srgbClr val="FF0000"/>
                </a:solidFill>
              </a:rPr>
              <a:t>(301.78, 301.78, 176.78)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Triangles gave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B</a:t>
            </a:r>
            <a:r>
              <a:rPr lang="en-US" sz="2100">
                <a:solidFill>
                  <a:srgbClr val="FF0000"/>
                </a:solidFill>
              </a:rPr>
              <a:t> = 45°, θ</a:t>
            </a:r>
            <a:r>
              <a:rPr baseline="-25000" lang="en-US" sz="2100">
                <a:solidFill>
                  <a:srgbClr val="FF0000"/>
                </a:solidFill>
              </a:rPr>
              <a:t>S</a:t>
            </a:r>
            <a:r>
              <a:rPr lang="en-US" sz="2100">
                <a:solidFill>
                  <a:srgbClr val="FF0000"/>
                </a:solidFill>
              </a:rPr>
              <a:t> = 45°, θ</a:t>
            </a:r>
            <a:r>
              <a:rPr baseline="-25000" lang="en-US" sz="2100">
                <a:solidFill>
                  <a:srgbClr val="FF0000"/>
                </a:solidFill>
              </a:rPr>
              <a:t>E</a:t>
            </a:r>
            <a:r>
              <a:rPr lang="en-US" sz="2100">
                <a:solidFill>
                  <a:srgbClr val="FF0000"/>
                </a:solidFill>
              </a:rPr>
              <a:t> = −45°</a:t>
            </a:r>
            <a:r>
              <a:rPr lang="en-US" sz="2100"/>
              <a:t> exactly.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Today’s method needs only one thing we already have: forward kinematics. Instead of solving for the angles, we improve a guess until the tip lands on the target.</a:t>
            </a:r>
            <a:endParaRPr sz="2100"/>
          </a:p>
        </p:txBody>
      </p:sp>
      <p:sp>
        <p:nvSpPr>
          <p:cNvPr id="28" name="Google Shape;28;p4"/>
          <p:cNvSpPr txBox="1"/>
          <p:nvPr/>
        </p:nvSpPr>
        <p:spPr>
          <a:xfrm>
            <a:off x="5811502" y="4916224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" name="Google Shape;29;p4"/>
          <p:cNvSpPr txBox="1"/>
          <p:nvPr/>
        </p:nvSpPr>
        <p:spPr>
          <a:xfrm>
            <a:off x="11022770" y="4127365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Guess, check, improve:</a:t>
            </a:r>
            <a:endParaRPr sz="2400"/>
          </a:p>
        </p:txBody>
      </p:sp>
      <p:sp>
        <p:nvSpPr>
          <p:cNvPr id="35" name="Google Shape;35;p5"/>
          <p:cNvSpPr/>
          <p:nvPr/>
        </p:nvSpPr>
        <p:spPr>
          <a:xfrm>
            <a:off x="274320" y="1737360"/>
            <a:ext cx="2697600" cy="12345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274320" y="1737360"/>
            <a:ext cx="2697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1. Guess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angles</a:t>
            </a:r>
            <a:endParaRPr sz="1800"/>
          </a:p>
        </p:txBody>
      </p:sp>
      <p:sp>
        <p:nvSpPr>
          <p:cNvPr id="37" name="Google Shape;37;p5"/>
          <p:cNvSpPr/>
          <p:nvPr/>
        </p:nvSpPr>
        <p:spPr>
          <a:xfrm>
            <a:off x="3246120" y="1737360"/>
            <a:ext cx="2697600" cy="12345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3246120" y="1737360"/>
            <a:ext cx="2697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2. FK: where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is the tip?</a:t>
            </a:r>
            <a:endParaRPr sz="1800"/>
          </a:p>
        </p:txBody>
      </p:sp>
      <p:sp>
        <p:nvSpPr>
          <p:cNvPr id="39" name="Google Shape;39;p5"/>
          <p:cNvSpPr/>
          <p:nvPr/>
        </p:nvSpPr>
        <p:spPr>
          <a:xfrm>
            <a:off x="6217920" y="1737360"/>
            <a:ext cx="2697600" cy="12345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 txBox="1"/>
          <p:nvPr/>
        </p:nvSpPr>
        <p:spPr>
          <a:xfrm>
            <a:off x="6217920" y="1737360"/>
            <a:ext cx="2697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3. Error: how far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from the target?</a:t>
            </a:r>
            <a:endParaRPr sz="1800"/>
          </a:p>
        </p:txBody>
      </p:sp>
      <p:sp>
        <p:nvSpPr>
          <p:cNvPr id="41" name="Google Shape;41;p5"/>
          <p:cNvSpPr/>
          <p:nvPr/>
        </p:nvSpPr>
        <p:spPr>
          <a:xfrm>
            <a:off x="9189720" y="1737360"/>
            <a:ext cx="2697600" cy="12345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/>
        </p:nvSpPr>
        <p:spPr>
          <a:xfrm>
            <a:off x="9189720" y="1737360"/>
            <a:ext cx="2697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4. Nudge the angles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to shrink the error</a:t>
            </a:r>
            <a:endParaRPr sz="1800"/>
          </a:p>
        </p:txBody>
      </p:sp>
      <p:cxnSp>
        <p:nvCxnSpPr>
          <p:cNvPr id="43" name="Google Shape;43;p5"/>
          <p:cNvCxnSpPr/>
          <p:nvPr/>
        </p:nvCxnSpPr>
        <p:spPr>
          <a:xfrm>
            <a:off x="2971800" y="2350008"/>
            <a:ext cx="2742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" name="Google Shape;44;p5"/>
          <p:cNvCxnSpPr/>
          <p:nvPr/>
        </p:nvCxnSpPr>
        <p:spPr>
          <a:xfrm>
            <a:off x="5943600" y="2350008"/>
            <a:ext cx="2742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" name="Google Shape;45;p5"/>
          <p:cNvCxnSpPr/>
          <p:nvPr/>
        </p:nvCxnSpPr>
        <p:spPr>
          <a:xfrm>
            <a:off x="8915400" y="2350008"/>
            <a:ext cx="2742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" name="Google Shape;46;p5"/>
          <p:cNvCxnSpPr/>
          <p:nvPr/>
        </p:nvCxnSpPr>
        <p:spPr>
          <a:xfrm>
            <a:off x="10515600" y="297180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5"/>
          <p:cNvCxnSpPr/>
          <p:nvPr/>
        </p:nvCxnSpPr>
        <p:spPr>
          <a:xfrm rot="10800000">
            <a:off x="4572000" y="3429000"/>
            <a:ext cx="59436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5"/>
          <p:cNvCxnSpPr/>
          <p:nvPr/>
        </p:nvCxnSpPr>
        <p:spPr>
          <a:xfrm rot="10800000">
            <a:off x="4572000" y="3017400"/>
            <a:ext cx="0" cy="4116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" name="Google Shape;49;p5"/>
          <p:cNvSpPr txBox="1"/>
          <p:nvPr/>
        </p:nvSpPr>
        <p:spPr>
          <a:xfrm>
            <a:off x="5486400" y="3474720"/>
            <a:ext cx="43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repeat until the error is tiny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274320" y="4206240"/>
            <a:ext cx="115215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clever part is step 4: which way should each joint turn, and how far? Gradient descent answers both.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robot never needs a formula for the angles. It only needs to compute where the tip is (FK), again and again.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Measuring the error:</a:t>
            </a:r>
            <a:endParaRPr sz="2400"/>
          </a:p>
        </p:txBody>
      </p:sp>
      <p:sp>
        <p:nvSpPr>
          <p:cNvPr id="56" name="Google Shape;56;p6"/>
          <p:cNvSpPr txBox="1"/>
          <p:nvPr/>
        </p:nvSpPr>
        <p:spPr>
          <a:xfrm>
            <a:off x="274320" y="822960"/>
            <a:ext cx="58521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</a:t>
            </a:r>
            <a:r>
              <a:rPr b="1" lang="en-US" sz="2100"/>
              <a:t>error</a:t>
            </a:r>
            <a:r>
              <a:rPr lang="en-US" sz="2100"/>
              <a:t> is the distance from the tip to the target, in mm.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We score a guess with the </a:t>
            </a:r>
            <a:r>
              <a:rPr b="1" lang="en-US" sz="2100"/>
              <a:t>cost</a:t>
            </a:r>
            <a:r>
              <a:rPr lang="en-US" sz="2100"/>
              <a:t>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</a:rPr>
              <a:t>C = (error ÷ 250)²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Dividing by 250 mm measures the error in link lengths, so the numbers stay small.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Why squared? It is never negative, it is zero only on the target, and it makes a smooth bowl to roll down.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Goal: find angles that make C as small as possible.</a:t>
            </a:r>
            <a:endParaRPr sz="2100"/>
          </a:p>
        </p:txBody>
      </p:sp>
      <p:sp>
        <p:nvSpPr>
          <p:cNvPr id="57" name="Google Shape;57;p6"/>
          <p:cNvSpPr/>
          <p:nvPr/>
        </p:nvSpPr>
        <p:spPr>
          <a:xfrm>
            <a:off x="6583680" y="5321808"/>
            <a:ext cx="5212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" name="Google Shape;58;p6"/>
          <p:cNvCxnSpPr/>
          <p:nvPr/>
        </p:nvCxnSpPr>
        <p:spPr>
          <a:xfrm flipH="1" rot="10800000">
            <a:off x="6949440" y="3106980"/>
            <a:ext cx="766200" cy="21051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6"/>
          <p:cNvCxnSpPr/>
          <p:nvPr/>
        </p:nvCxnSpPr>
        <p:spPr>
          <a:xfrm flipH="1" rot="10800000">
            <a:off x="6949440" y="3106980"/>
            <a:ext cx="766200" cy="2105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6"/>
          <p:cNvCxnSpPr/>
          <p:nvPr/>
        </p:nvCxnSpPr>
        <p:spPr>
          <a:xfrm flipH="1" rot="10800000">
            <a:off x="7715661" y="1986705"/>
            <a:ext cx="1940100" cy="11202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6"/>
          <p:cNvCxnSpPr/>
          <p:nvPr/>
        </p:nvCxnSpPr>
        <p:spPr>
          <a:xfrm flipH="1" rot="10800000">
            <a:off x="7715661" y="1986705"/>
            <a:ext cx="1940100" cy="1120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6"/>
          <p:cNvSpPr/>
          <p:nvPr/>
        </p:nvSpPr>
        <p:spPr>
          <a:xfrm>
            <a:off x="683971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7605933" y="2997177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9546072" y="1877037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6"/>
          <p:cNvCxnSpPr/>
          <p:nvPr/>
        </p:nvCxnSpPr>
        <p:spPr>
          <a:xfrm>
            <a:off x="9655800" y="1986765"/>
            <a:ext cx="1118100" cy="16413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6" name="Google Shape;66;p6"/>
          <p:cNvSpPr/>
          <p:nvPr/>
        </p:nvSpPr>
        <p:spPr>
          <a:xfrm>
            <a:off x="10618419" y="3472485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0728147" y="3582213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10351994" y="2395869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error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9472920" y="1438125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tip</a:t>
            </a:r>
            <a:endParaRPr sz="2000"/>
          </a:p>
        </p:txBody>
      </p:sp>
      <p:sp>
        <p:nvSpPr>
          <p:cNvPr id="70" name="Google Shape;70;p6"/>
          <p:cNvSpPr txBox="1"/>
          <p:nvPr/>
        </p:nvSpPr>
        <p:spPr>
          <a:xfrm>
            <a:off x="10408107" y="3856533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target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Rolling downhill:</a:t>
            </a:r>
            <a:endParaRPr sz="2400"/>
          </a:p>
        </p:txBody>
      </p:sp>
      <p:sp>
        <p:nvSpPr>
          <p:cNvPr id="76" name="Google Shape;76;p7"/>
          <p:cNvSpPr txBox="1"/>
          <p:nvPr/>
        </p:nvSpPr>
        <p:spPr>
          <a:xfrm>
            <a:off x="274320" y="822960"/>
            <a:ext cx="59436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Plot the cost against an angle. It looks like a valley. The best angle is at the bottom.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Measure the </a:t>
            </a:r>
            <a:r>
              <a:rPr b="1" lang="en-US" sz="2100"/>
              <a:t>slope</a:t>
            </a:r>
            <a:r>
              <a:rPr lang="en-US" sz="2100"/>
              <a:t> where you stand.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Step the opposite way (downhill):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new</a:t>
            </a:r>
            <a:r>
              <a:rPr lang="en-US" sz="2100">
                <a:solidFill>
                  <a:srgbClr val="FF0000"/>
                </a:solidFill>
              </a:rPr>
              <a:t> = θ − η × slope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η (eta) is the </a:t>
            </a:r>
            <a:r>
              <a:rPr b="1" lang="en-US" sz="2100"/>
              <a:t>learning rate</a:t>
            </a:r>
            <a:r>
              <a:rPr lang="en-US" sz="2100"/>
              <a:t>: the size of each step.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Slope negative (going down to the right): θ gets bigger. Slope positive: θ gets smaller.</a:t>
            </a:r>
            <a:endParaRPr sz="2100"/>
          </a:p>
        </p:txBody>
      </p:sp>
      <p:cxnSp>
        <p:nvCxnSpPr>
          <p:cNvPr id="77" name="Google Shape;77;p7"/>
          <p:cNvCxnSpPr/>
          <p:nvPr/>
        </p:nvCxnSpPr>
        <p:spPr>
          <a:xfrm>
            <a:off x="6675120" y="5303520"/>
            <a:ext cx="50292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7"/>
          <p:cNvCxnSpPr/>
          <p:nvPr/>
        </p:nvCxnSpPr>
        <p:spPr>
          <a:xfrm rot="10800000">
            <a:off x="6766560" y="1188660"/>
            <a:ext cx="0" cy="42063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7"/>
          <p:cNvSpPr txBox="1"/>
          <p:nvPr/>
        </p:nvSpPr>
        <p:spPr>
          <a:xfrm>
            <a:off x="10607040" y="534924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angle θ</a:t>
            </a:r>
            <a:endParaRPr sz="1600"/>
          </a:p>
        </p:txBody>
      </p:sp>
      <p:sp>
        <p:nvSpPr>
          <p:cNvPr id="80" name="Google Shape;80;p7"/>
          <p:cNvSpPr txBox="1"/>
          <p:nvPr/>
        </p:nvSpPr>
        <p:spPr>
          <a:xfrm>
            <a:off x="6858000" y="960120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cost C</a:t>
            </a:r>
            <a:endParaRPr sz="1600"/>
          </a:p>
        </p:txBody>
      </p:sp>
      <p:cxnSp>
        <p:nvCxnSpPr>
          <p:cNvPr id="81" name="Google Shape;81;p7"/>
          <p:cNvCxnSpPr/>
          <p:nvPr/>
        </p:nvCxnSpPr>
        <p:spPr>
          <a:xfrm>
            <a:off x="6949440" y="4085905"/>
            <a:ext cx="228600" cy="181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7"/>
          <p:cNvCxnSpPr/>
          <p:nvPr/>
        </p:nvCxnSpPr>
        <p:spPr>
          <a:xfrm>
            <a:off x="7178040" y="4266956"/>
            <a:ext cx="228600" cy="162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7"/>
          <p:cNvCxnSpPr/>
          <p:nvPr/>
        </p:nvCxnSpPr>
        <p:spPr>
          <a:xfrm>
            <a:off x="7406640" y="4429719"/>
            <a:ext cx="228600" cy="144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7"/>
          <p:cNvCxnSpPr/>
          <p:nvPr/>
        </p:nvCxnSpPr>
        <p:spPr>
          <a:xfrm>
            <a:off x="7635240" y="4574195"/>
            <a:ext cx="228600" cy="1263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7"/>
          <p:cNvCxnSpPr/>
          <p:nvPr/>
        </p:nvCxnSpPr>
        <p:spPr>
          <a:xfrm>
            <a:off x="7863840" y="4700382"/>
            <a:ext cx="228600" cy="1080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7"/>
          <p:cNvCxnSpPr/>
          <p:nvPr/>
        </p:nvCxnSpPr>
        <p:spPr>
          <a:xfrm>
            <a:off x="8092440" y="4808281"/>
            <a:ext cx="228600" cy="897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7"/>
          <p:cNvCxnSpPr/>
          <p:nvPr/>
        </p:nvCxnSpPr>
        <p:spPr>
          <a:xfrm>
            <a:off x="8321040" y="4897892"/>
            <a:ext cx="228600" cy="714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7"/>
          <p:cNvCxnSpPr/>
          <p:nvPr/>
        </p:nvCxnSpPr>
        <p:spPr>
          <a:xfrm>
            <a:off x="8549640" y="4969215"/>
            <a:ext cx="228600" cy="531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7"/>
          <p:cNvCxnSpPr/>
          <p:nvPr/>
        </p:nvCxnSpPr>
        <p:spPr>
          <a:xfrm>
            <a:off x="8778240" y="5022251"/>
            <a:ext cx="228600" cy="34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7"/>
          <p:cNvCxnSpPr/>
          <p:nvPr/>
        </p:nvCxnSpPr>
        <p:spPr>
          <a:xfrm>
            <a:off x="9006840" y="5056998"/>
            <a:ext cx="228600" cy="165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7"/>
          <p:cNvCxnSpPr/>
          <p:nvPr/>
        </p:nvCxnSpPr>
        <p:spPr>
          <a:xfrm flipH="1" rot="10800000">
            <a:off x="9235440" y="5071657"/>
            <a:ext cx="228600" cy="1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7"/>
          <p:cNvCxnSpPr/>
          <p:nvPr/>
        </p:nvCxnSpPr>
        <p:spPr>
          <a:xfrm flipH="1" rot="10800000">
            <a:off x="9464040" y="5051528"/>
            <a:ext cx="228600" cy="201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7"/>
          <p:cNvCxnSpPr/>
          <p:nvPr/>
        </p:nvCxnSpPr>
        <p:spPr>
          <a:xfrm flipH="1" rot="10800000">
            <a:off x="9692640" y="5013111"/>
            <a:ext cx="228600" cy="384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7"/>
          <p:cNvCxnSpPr/>
          <p:nvPr/>
        </p:nvCxnSpPr>
        <p:spPr>
          <a:xfrm flipH="1" rot="10800000">
            <a:off x="9921240" y="4956407"/>
            <a:ext cx="228600" cy="567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7"/>
          <p:cNvCxnSpPr/>
          <p:nvPr/>
        </p:nvCxnSpPr>
        <p:spPr>
          <a:xfrm flipH="1" rot="10800000">
            <a:off x="10149840" y="4881414"/>
            <a:ext cx="228600" cy="750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7"/>
          <p:cNvCxnSpPr/>
          <p:nvPr/>
        </p:nvCxnSpPr>
        <p:spPr>
          <a:xfrm flipH="1" rot="10800000">
            <a:off x="10378440" y="4788133"/>
            <a:ext cx="228600" cy="933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7"/>
          <p:cNvCxnSpPr/>
          <p:nvPr/>
        </p:nvCxnSpPr>
        <p:spPr>
          <a:xfrm flipH="1" rot="10800000">
            <a:off x="10607040" y="4676564"/>
            <a:ext cx="228600" cy="111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7"/>
          <p:cNvCxnSpPr/>
          <p:nvPr/>
        </p:nvCxnSpPr>
        <p:spPr>
          <a:xfrm flipH="1" rot="10800000">
            <a:off x="10835640" y="4546707"/>
            <a:ext cx="228600" cy="129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7"/>
          <p:cNvCxnSpPr/>
          <p:nvPr/>
        </p:nvCxnSpPr>
        <p:spPr>
          <a:xfrm flipH="1" rot="10800000">
            <a:off x="11064240" y="4398563"/>
            <a:ext cx="228600" cy="148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7"/>
          <p:cNvCxnSpPr/>
          <p:nvPr/>
        </p:nvCxnSpPr>
        <p:spPr>
          <a:xfrm flipH="1" rot="10800000">
            <a:off x="11292840" y="4232130"/>
            <a:ext cx="228600" cy="1665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7"/>
          <p:cNvCxnSpPr/>
          <p:nvPr/>
        </p:nvCxnSpPr>
        <p:spPr>
          <a:xfrm flipH="1" rot="10800000">
            <a:off x="11521440" y="4047409"/>
            <a:ext cx="228600" cy="184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7"/>
          <p:cNvSpPr/>
          <p:nvPr/>
        </p:nvSpPr>
        <p:spPr>
          <a:xfrm>
            <a:off x="7498080" y="4299875"/>
            <a:ext cx="274200" cy="2742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7"/>
          <p:cNvCxnSpPr/>
          <p:nvPr/>
        </p:nvCxnSpPr>
        <p:spPr>
          <a:xfrm>
            <a:off x="7863840" y="4345595"/>
            <a:ext cx="731400" cy="5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7"/>
          <p:cNvSpPr/>
          <p:nvPr/>
        </p:nvSpPr>
        <p:spPr>
          <a:xfrm>
            <a:off x="9171432" y="5009449"/>
            <a:ext cx="128100" cy="1281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8412480" y="5210617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</a:rPr>
              <a:t>the best angle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7909560" y="3614075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</a:rPr>
              <a:t>step downhill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one number</a:t>
            </a:r>
            <a:endParaRPr sz="2400"/>
          </a:p>
        </p:txBody>
      </p:sp>
      <p:sp>
        <p:nvSpPr>
          <p:cNvPr id="112" name="Google Shape;112;p8"/>
          <p:cNvSpPr txBox="1"/>
          <p:nvPr/>
        </p:nvSpPr>
        <p:spPr>
          <a:xfrm>
            <a:off x="274320" y="777240"/>
            <a:ext cx="11521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Find the lowest point of f(x) = (x − 3)². (It is at x = 3.)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We give you the slope: 2(x − 3). Start at x = 0 with η = 0.1.</a:t>
            </a:r>
            <a:endParaRPr sz="2100"/>
          </a:p>
        </p:txBody>
      </p:sp>
      <p:graphicFrame>
        <p:nvGraphicFramePr>
          <p:cNvPr id="113" name="Google Shape;113;p8"/>
          <p:cNvGraphicFramePr/>
          <p:nvPr/>
        </p:nvGraphicFramePr>
        <p:xfrm>
          <a:off x="27432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{CC3BE301-D3C2-40FC-B3EE-2B950076AB16}</a:tableStyleId>
              </a:tblPr>
              <a:tblGrid>
                <a:gridCol w="1097275"/>
                <a:gridCol w="1645900"/>
                <a:gridCol w="2560300"/>
                <a:gridCol w="3291825"/>
              </a:tblGrid>
              <a:tr h="47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Step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x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slope 2(x − 3)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new x = x − 0.1 × slope</a:t>
                      </a:r>
                      <a:endParaRPr b="1" sz="1900"/>
                    </a:p>
                  </a:txBody>
                  <a:tcPr marT="91425" marB="91425" marR="91425" marL="91425"/>
                </a:tc>
              </a:tr>
              <a:tr h="47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−6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0.6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0.6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−4.8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1.08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1.08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−3.84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1.464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1.464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−3.072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1.7712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1.7712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−2.4576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2.017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" name="Google Shape;114;p8"/>
          <p:cNvSpPr txBox="1"/>
          <p:nvPr/>
        </p:nvSpPr>
        <p:spPr>
          <a:xfrm>
            <a:off x="274320" y="5029200"/>
            <a:ext cx="11521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steps shrink as the slope gets flatter near the bottom: 0.6, then 0.48, then 0.38 …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We never jump straight to 3, but we get closer every step.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#1:</a:t>
            </a:r>
            <a:endParaRPr sz="2400"/>
          </a:p>
        </p:txBody>
      </p:sp>
      <p:sp>
        <p:nvSpPr>
          <p:cNvPr id="120" name="Google Shape;120;p9"/>
          <p:cNvSpPr txBox="1"/>
          <p:nvPr/>
        </p:nvSpPr>
        <p:spPr>
          <a:xfrm>
            <a:off x="274320" y="777240"/>
            <a:ext cx="11521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Same function: f(x) = (x − 3)², slope 2(x − 3), start at x = 0.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Take two steps with each learning rate: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(a)  </a:t>
            </a:r>
            <a:r>
              <a:rPr lang="en-US" sz="2200">
                <a:solidFill>
                  <a:srgbClr val="FF0000"/>
                </a:solidFill>
              </a:rPr>
              <a:t>η = 0.25</a:t>
            </a:r>
            <a:r>
              <a:rPr lang="en-US" sz="2200"/>
              <a:t>          (b)  </a:t>
            </a:r>
            <a:r>
              <a:rPr lang="en-US" sz="2200">
                <a:solidFill>
                  <a:srgbClr val="FF0000"/>
                </a:solidFill>
              </a:rPr>
              <a:t>η = 1</a:t>
            </a:r>
            <a:endParaRPr sz="2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#1: solution</a:t>
            </a:r>
            <a:endParaRPr sz="2400"/>
          </a:p>
        </p:txBody>
      </p:sp>
      <p:sp>
        <p:nvSpPr>
          <p:cNvPr id="126" name="Google Shape;126;p10"/>
          <p:cNvSpPr txBox="1"/>
          <p:nvPr/>
        </p:nvSpPr>
        <p:spPr>
          <a:xfrm>
            <a:off x="274320" y="777240"/>
            <a:ext cx="11521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Same function: f(x) = (x − 3)², slope 2(x − 3), start at x = 0.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Take two steps with each learning rate: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(a)  </a:t>
            </a:r>
            <a:r>
              <a:rPr lang="en-US" sz="2200">
                <a:solidFill>
                  <a:srgbClr val="FF0000"/>
                </a:solidFill>
              </a:rPr>
              <a:t>η = 0.25</a:t>
            </a:r>
            <a:r>
              <a:rPr lang="en-US" sz="2200"/>
              <a:t>          (b)  </a:t>
            </a:r>
            <a:r>
              <a:rPr lang="en-US" sz="2200">
                <a:solidFill>
                  <a:srgbClr val="FF0000"/>
                </a:solidFill>
              </a:rPr>
              <a:t>η = 1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27" name="Google Shape;127;p10"/>
          <p:cNvSpPr txBox="1"/>
          <p:nvPr/>
        </p:nvSpPr>
        <p:spPr>
          <a:xfrm>
            <a:off x="274320" y="2743200"/>
            <a:ext cx="115215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(a)  x = 0 − 0.25 × (−6) = </a:t>
            </a:r>
            <a:r>
              <a:rPr lang="en-US" sz="2100">
                <a:solidFill>
                  <a:srgbClr val="FF0000"/>
                </a:solidFill>
              </a:rPr>
              <a:t>1.5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       x = 1.5 − 0.25 × (−3) = </a:t>
            </a:r>
            <a:r>
              <a:rPr lang="en-US" sz="2100">
                <a:solidFill>
                  <a:srgbClr val="FF0000"/>
                </a:solidFill>
              </a:rPr>
              <a:t>2.25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       Bigger steps: closer to 3 than η = 0.1 after two steps.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(b)  x = 0 − 1 × (−6) = </a:t>
            </a:r>
            <a:r>
              <a:rPr lang="en-US" sz="2100">
                <a:solidFill>
                  <a:srgbClr val="FF0000"/>
                </a:solidFill>
              </a:rPr>
              <a:t>6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       x = 6 − 1 × 6 = </a:t>
            </a:r>
            <a:r>
              <a:rPr lang="en-US" sz="2100">
                <a:solidFill>
                  <a:srgbClr val="FF0000"/>
                </a:solidFill>
              </a:rPr>
              <a:t>0</a:t>
            </a:r>
            <a:r>
              <a:rPr lang="en-US" sz="2100"/>
              <a:t>, then 6, 0, 6 … forever.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       The step is too big. It jumps over the bottom every time and never settles.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Gradient descent on one joint:</a:t>
            </a:r>
            <a:endParaRPr sz="2400"/>
          </a:p>
        </p:txBody>
      </p:sp>
      <p:sp>
        <p:nvSpPr>
          <p:cNvPr id="133" name="Google Shape;133;p11"/>
          <p:cNvSpPr txBox="1"/>
          <p:nvPr/>
        </p:nvSpPr>
        <p:spPr>
          <a:xfrm>
            <a:off x="274320" y="777240"/>
            <a:ext cx="64008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One 250 mm link at angle θ from the floor. The target is (250, 0), so the answer is θ = 0°.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The tip is (250 cos θ, 250 sin θ), which gives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0000"/>
                </a:solidFill>
              </a:rPr>
              <a:t>C = 2 − 2 cos θ</a:t>
            </a:r>
            <a:r>
              <a:rPr lang="en-US" sz="1900"/>
              <a:t> and </a:t>
            </a:r>
            <a:r>
              <a:rPr lang="en-US" sz="1900">
                <a:solidFill>
                  <a:srgbClr val="FF0000"/>
                </a:solidFill>
              </a:rPr>
              <a:t>slope = 2 sin θ</a:t>
            </a:r>
            <a:r>
              <a:rPr lang="en-US" sz="1900"/>
              <a:t>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Start at θ = 45° with η = 0.2.</a:t>
            </a:r>
            <a:endParaRPr sz="1900"/>
          </a:p>
        </p:txBody>
      </p:sp>
      <p:graphicFrame>
        <p:nvGraphicFramePr>
          <p:cNvPr id="134" name="Google Shape;134;p11"/>
          <p:cNvGraphicFramePr/>
          <p:nvPr/>
        </p:nvGraphicFramePr>
        <p:xfrm>
          <a:off x="274320" y="3337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{CC3BE301-D3C2-40FC-B3EE-2B950076AB16}</a:tableStyleId>
              </a:tblPr>
              <a:tblGrid>
                <a:gridCol w="914400"/>
                <a:gridCol w="1280150"/>
                <a:gridCol w="1280150"/>
                <a:gridCol w="1737350"/>
                <a:gridCol w="1280150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Step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θ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slope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new θ (rad)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new θ</a:t>
                      </a:r>
                      <a:endParaRPr b="1" sz="17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45.00°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1.4142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0.5026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0000"/>
                          </a:solidFill>
                        </a:rPr>
                        <a:t>28.79°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28.79°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0.9633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0.3099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0000"/>
                          </a:solidFill>
                        </a:rPr>
                        <a:t>17.76°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17.76°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0.6099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0.1879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0000"/>
                          </a:solidFill>
                        </a:rPr>
                        <a:t>10.77°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10.77°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0.3736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0.1132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0000"/>
                          </a:solidFill>
                        </a:rPr>
                        <a:t>6.49°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6.49°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0.2259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0.0680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0000"/>
                          </a:solidFill>
                        </a:rPr>
                        <a:t>3.90°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5" name="Google Shape;135;p11"/>
          <p:cNvSpPr txBox="1"/>
          <p:nvPr/>
        </p:nvSpPr>
        <p:spPr>
          <a:xfrm>
            <a:off x="6949440" y="4572000"/>
            <a:ext cx="5029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step rule uses radians: 180° = π ≈ 3.1416 rad. Change back to degrees at the end (× 180 ÷ π).</a:t>
            </a:r>
            <a:endParaRPr sz="1800"/>
          </a:p>
        </p:txBody>
      </p:sp>
      <p:cxnSp>
        <p:nvCxnSpPr>
          <p:cNvPr id="136" name="Google Shape;136;p11"/>
          <p:cNvCxnSpPr/>
          <p:nvPr/>
        </p:nvCxnSpPr>
        <p:spPr>
          <a:xfrm>
            <a:off x="7589520" y="3931920"/>
            <a:ext cx="29262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1"/>
          <p:cNvCxnSpPr/>
          <p:nvPr/>
        </p:nvCxnSpPr>
        <p:spPr>
          <a:xfrm flipH="1" rot="10800000">
            <a:off x="7589520" y="2234520"/>
            <a:ext cx="1697400" cy="16974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1"/>
          <p:cNvCxnSpPr/>
          <p:nvPr/>
        </p:nvCxnSpPr>
        <p:spPr>
          <a:xfrm flipH="1" rot="10800000">
            <a:off x="7589520" y="2234520"/>
            <a:ext cx="1697400" cy="1697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11"/>
          <p:cNvSpPr/>
          <p:nvPr/>
        </p:nvSpPr>
        <p:spPr>
          <a:xfrm>
            <a:off x="7479792" y="382219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9177060" y="2124924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11"/>
          <p:cNvCxnSpPr/>
          <p:nvPr/>
        </p:nvCxnSpPr>
        <p:spPr>
          <a:xfrm>
            <a:off x="9286788" y="2234652"/>
            <a:ext cx="702900" cy="16974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2" name="Google Shape;142;p11"/>
          <p:cNvSpPr/>
          <p:nvPr/>
        </p:nvSpPr>
        <p:spPr>
          <a:xfrm>
            <a:off x="9834372" y="3776472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9944100" y="3886200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" name="Google Shape;144;p11"/>
          <p:cNvCxnSpPr/>
          <p:nvPr/>
        </p:nvCxnSpPr>
        <p:spPr>
          <a:xfrm rot="10800000">
            <a:off x="8396580" y="3771420"/>
            <a:ext cx="15900" cy="16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1"/>
          <p:cNvCxnSpPr/>
          <p:nvPr/>
        </p:nvCxnSpPr>
        <p:spPr>
          <a:xfrm rot="10800000">
            <a:off x="8349867" y="3616868"/>
            <a:ext cx="46800" cy="15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1"/>
          <p:cNvCxnSpPr/>
          <p:nvPr/>
        </p:nvCxnSpPr>
        <p:spPr>
          <a:xfrm rot="10800000">
            <a:off x="8273936" y="3474787"/>
            <a:ext cx="75900" cy="14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1"/>
          <p:cNvCxnSpPr/>
          <p:nvPr/>
        </p:nvCxnSpPr>
        <p:spPr>
          <a:xfrm rot="10800000">
            <a:off x="8171486" y="3349908"/>
            <a:ext cx="102300" cy="124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1"/>
          <p:cNvSpPr txBox="1"/>
          <p:nvPr/>
        </p:nvSpPr>
        <p:spPr>
          <a:xfrm>
            <a:off x="8458200" y="3364992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9395460" y="411480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target (250, 0)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9729744" y="2763246"/>
            <a:ext cx="100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error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Measuring the slope by nudging:</a:t>
            </a:r>
            <a:endParaRPr sz="2400"/>
          </a:p>
        </p:txBody>
      </p:sp>
      <p:sp>
        <p:nvSpPr>
          <p:cNvPr id="156" name="Google Shape;156;p12"/>
          <p:cNvSpPr txBox="1"/>
          <p:nvPr/>
        </p:nvSpPr>
        <p:spPr>
          <a:xfrm>
            <a:off x="274320" y="777240"/>
            <a:ext cx="6583800" cy="5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We do not need calculus. </a:t>
            </a:r>
            <a:r>
              <a:rPr b="1" lang="en-US" sz="2000"/>
              <a:t>Nudge</a:t>
            </a:r>
            <a:r>
              <a:rPr lang="en-US" sz="2000"/>
              <a:t> the joint a tiny amount h and watch the cost change: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slope ≈ (C(θ + h) − C(θ)) ÷ h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At θ = 45° (0.7854 rad), with h = 0.01: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C(θ) = 0.58579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C(θ + h) = 0.60000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slope ≈ (0.60000 − 0.58579) ÷ 0.01 = </a:t>
            </a:r>
            <a:r>
              <a:rPr lang="en-US" sz="2000">
                <a:solidFill>
                  <a:srgbClr val="FF0000"/>
                </a:solidFill>
              </a:rPr>
              <a:t>1.42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exact slope is 2 sin 45° = 1.414. Very close!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This only needs the cost, and the cost only needs FK. So it works for any arm.</a:t>
            </a:r>
            <a:endParaRPr sz="2000"/>
          </a:p>
        </p:txBody>
      </p:sp>
      <p:cxnSp>
        <p:nvCxnSpPr>
          <p:cNvPr id="157" name="Google Shape;157;p12"/>
          <p:cNvCxnSpPr/>
          <p:nvPr/>
        </p:nvCxnSpPr>
        <p:spPr>
          <a:xfrm>
            <a:off x="7406640" y="5303520"/>
            <a:ext cx="43890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2"/>
          <p:cNvCxnSpPr/>
          <p:nvPr/>
        </p:nvCxnSpPr>
        <p:spPr>
          <a:xfrm rot="10800000">
            <a:off x="7498080" y="1280160"/>
            <a:ext cx="0" cy="4114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12"/>
          <p:cNvSpPr txBox="1"/>
          <p:nvPr/>
        </p:nvSpPr>
        <p:spPr>
          <a:xfrm>
            <a:off x="10789920" y="534924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angle θ</a:t>
            </a:r>
            <a:endParaRPr sz="1600"/>
          </a:p>
        </p:txBody>
      </p:sp>
      <p:sp>
        <p:nvSpPr>
          <p:cNvPr id="160" name="Google Shape;160;p12"/>
          <p:cNvSpPr txBox="1"/>
          <p:nvPr/>
        </p:nvSpPr>
        <p:spPr>
          <a:xfrm>
            <a:off x="7589520" y="1051560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cost C</a:t>
            </a:r>
            <a:endParaRPr sz="1600"/>
          </a:p>
        </p:txBody>
      </p:sp>
      <p:cxnSp>
        <p:nvCxnSpPr>
          <p:cNvPr id="161" name="Google Shape;161;p12"/>
          <p:cNvCxnSpPr/>
          <p:nvPr/>
        </p:nvCxnSpPr>
        <p:spPr>
          <a:xfrm flipH="1" rot="10800000">
            <a:off x="7772400" y="5061420"/>
            <a:ext cx="181200" cy="135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2"/>
          <p:cNvCxnSpPr/>
          <p:nvPr/>
        </p:nvCxnSpPr>
        <p:spPr>
          <a:xfrm flipH="1" rot="10800000">
            <a:off x="7953451" y="5020495"/>
            <a:ext cx="181200" cy="40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2"/>
          <p:cNvCxnSpPr/>
          <p:nvPr/>
        </p:nvCxnSpPr>
        <p:spPr>
          <a:xfrm flipH="1" rot="10800000">
            <a:off x="8134502" y="4953414"/>
            <a:ext cx="181200" cy="67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2"/>
          <p:cNvCxnSpPr/>
          <p:nvPr/>
        </p:nvCxnSpPr>
        <p:spPr>
          <a:xfrm flipH="1" rot="10800000">
            <a:off x="8315554" y="4860764"/>
            <a:ext cx="181200" cy="927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2"/>
          <p:cNvCxnSpPr/>
          <p:nvPr/>
        </p:nvCxnSpPr>
        <p:spPr>
          <a:xfrm flipH="1" rot="10800000">
            <a:off x="8496605" y="4744109"/>
            <a:ext cx="181200" cy="1167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2"/>
          <p:cNvCxnSpPr/>
          <p:nvPr/>
        </p:nvCxnSpPr>
        <p:spPr>
          <a:xfrm flipH="1" rot="10800000">
            <a:off x="8677656" y="4604783"/>
            <a:ext cx="181200" cy="139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2"/>
          <p:cNvCxnSpPr/>
          <p:nvPr/>
        </p:nvCxnSpPr>
        <p:spPr>
          <a:xfrm flipH="1" rot="10800000">
            <a:off x="8858707" y="4444766"/>
            <a:ext cx="181200" cy="159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2"/>
          <p:cNvCxnSpPr/>
          <p:nvPr/>
        </p:nvCxnSpPr>
        <p:spPr>
          <a:xfrm flipH="1" rot="10800000">
            <a:off x="9039758" y="4266962"/>
            <a:ext cx="181200" cy="177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2"/>
          <p:cNvCxnSpPr/>
          <p:nvPr/>
        </p:nvCxnSpPr>
        <p:spPr>
          <a:xfrm flipH="1" rot="10800000">
            <a:off x="9220810" y="4073368"/>
            <a:ext cx="181200" cy="1935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2"/>
          <p:cNvCxnSpPr/>
          <p:nvPr/>
        </p:nvCxnSpPr>
        <p:spPr>
          <a:xfrm flipH="1" rot="10800000">
            <a:off x="9401861" y="3866846"/>
            <a:ext cx="181200" cy="2064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2"/>
          <p:cNvCxnSpPr/>
          <p:nvPr/>
        </p:nvCxnSpPr>
        <p:spPr>
          <a:xfrm flipH="1" rot="10800000">
            <a:off x="9582912" y="3650479"/>
            <a:ext cx="181200" cy="2163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2"/>
          <p:cNvCxnSpPr/>
          <p:nvPr/>
        </p:nvCxnSpPr>
        <p:spPr>
          <a:xfrm flipH="1" rot="10800000">
            <a:off x="9763963" y="3427238"/>
            <a:ext cx="181200" cy="223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2"/>
          <p:cNvCxnSpPr/>
          <p:nvPr/>
        </p:nvCxnSpPr>
        <p:spPr>
          <a:xfrm flipH="1" rot="10800000">
            <a:off x="9945014" y="3200534"/>
            <a:ext cx="181200" cy="226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2"/>
          <p:cNvCxnSpPr/>
          <p:nvPr/>
        </p:nvCxnSpPr>
        <p:spPr>
          <a:xfrm flipH="1" rot="10800000">
            <a:off x="10126066" y="2973575"/>
            <a:ext cx="181200" cy="2271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2"/>
          <p:cNvCxnSpPr/>
          <p:nvPr/>
        </p:nvCxnSpPr>
        <p:spPr>
          <a:xfrm flipH="1" rot="10800000">
            <a:off x="10307117" y="2749623"/>
            <a:ext cx="181200" cy="2241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2"/>
          <p:cNvCxnSpPr/>
          <p:nvPr/>
        </p:nvCxnSpPr>
        <p:spPr>
          <a:xfrm flipH="1" rot="10800000">
            <a:off x="10488168" y="2531940"/>
            <a:ext cx="181200" cy="217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2"/>
          <p:cNvCxnSpPr/>
          <p:nvPr/>
        </p:nvCxnSpPr>
        <p:spPr>
          <a:xfrm flipH="1" rot="10800000">
            <a:off x="10669219" y="2323449"/>
            <a:ext cx="181200" cy="2085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2"/>
          <p:cNvCxnSpPr/>
          <p:nvPr/>
        </p:nvCxnSpPr>
        <p:spPr>
          <a:xfrm flipH="1" rot="10800000">
            <a:off x="10850270" y="2127282"/>
            <a:ext cx="181200" cy="196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2"/>
          <p:cNvCxnSpPr/>
          <p:nvPr/>
        </p:nvCxnSpPr>
        <p:spPr>
          <a:xfrm flipH="1" rot="10800000">
            <a:off x="11031322" y="1946437"/>
            <a:ext cx="181200" cy="180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2"/>
          <p:cNvCxnSpPr/>
          <p:nvPr/>
        </p:nvCxnSpPr>
        <p:spPr>
          <a:xfrm flipH="1" rot="10800000">
            <a:off x="11212373" y="1783135"/>
            <a:ext cx="181200" cy="163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9500616" y="3784483"/>
            <a:ext cx="164700" cy="164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10043770" y="3118379"/>
            <a:ext cx="164700" cy="164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" name="Google Shape;183;p12"/>
          <p:cNvCxnSpPr/>
          <p:nvPr/>
        </p:nvCxnSpPr>
        <p:spPr>
          <a:xfrm>
            <a:off x="9582912" y="3866779"/>
            <a:ext cx="543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2"/>
          <p:cNvCxnSpPr/>
          <p:nvPr/>
        </p:nvCxnSpPr>
        <p:spPr>
          <a:xfrm rot="10800000">
            <a:off x="10126066" y="3200779"/>
            <a:ext cx="0" cy="66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5" name="Google Shape;185;p12"/>
          <p:cNvSpPr txBox="1"/>
          <p:nvPr/>
        </p:nvSpPr>
        <p:spPr>
          <a:xfrm>
            <a:off x="9625889" y="3885067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</a:t>
            </a:r>
            <a:endParaRPr sz="1600"/>
          </a:p>
        </p:txBody>
      </p:sp>
      <p:sp>
        <p:nvSpPr>
          <p:cNvPr id="186" name="Google Shape;186;p12"/>
          <p:cNvSpPr txBox="1"/>
          <p:nvPr/>
        </p:nvSpPr>
        <p:spPr>
          <a:xfrm>
            <a:off x="10217506" y="3332559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change in C</a:t>
            </a:r>
            <a:endParaRPr sz="1600"/>
          </a:p>
        </p:txBody>
      </p:sp>
      <p:sp>
        <p:nvSpPr>
          <p:cNvPr id="187" name="Google Shape;187;p12"/>
          <p:cNvSpPr txBox="1"/>
          <p:nvPr/>
        </p:nvSpPr>
        <p:spPr>
          <a:xfrm>
            <a:off x="8897112" y="3821059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</a:rPr>
              <a:t>θ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#2:</a:t>
            </a:r>
            <a:endParaRPr sz="2400"/>
          </a:p>
        </p:txBody>
      </p:sp>
      <p:sp>
        <p:nvSpPr>
          <p:cNvPr id="193" name="Google Shape;193;p13"/>
          <p:cNvSpPr txBox="1"/>
          <p:nvPr/>
        </p:nvSpPr>
        <p:spPr>
          <a:xfrm>
            <a:off x="274320" y="777240"/>
            <a:ext cx="11521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One joint again: C = 2 − 2 cos θ and slope = 2 sin θ, with η = 0.2.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Start at </a:t>
            </a:r>
            <a:r>
              <a:rPr lang="en-US" sz="2200">
                <a:solidFill>
                  <a:srgbClr val="FF0000"/>
                </a:solidFill>
              </a:rPr>
              <a:t>θ = 30°</a:t>
            </a:r>
            <a:r>
              <a:rPr lang="en-US" sz="2200"/>
              <a:t> and take two steps. Give θ in degrees.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#2: solution</a:t>
            </a:r>
            <a:endParaRPr sz="2400"/>
          </a:p>
        </p:txBody>
      </p:sp>
      <p:sp>
        <p:nvSpPr>
          <p:cNvPr id="199" name="Google Shape;199;p14"/>
          <p:cNvSpPr txBox="1"/>
          <p:nvPr/>
        </p:nvSpPr>
        <p:spPr>
          <a:xfrm>
            <a:off x="274320" y="777240"/>
            <a:ext cx="11521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One joint again: C = 2 − 2 cos θ and slope = 2 sin θ, with η = 0.2.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Start at </a:t>
            </a:r>
            <a:r>
              <a:rPr lang="en-US" sz="2200">
                <a:solidFill>
                  <a:srgbClr val="FF0000"/>
                </a:solidFill>
              </a:rPr>
              <a:t>θ = 30°</a:t>
            </a:r>
            <a:r>
              <a:rPr lang="en-US" sz="2200"/>
              <a:t> and take two steps. Give θ in degrees.</a:t>
            </a:r>
            <a:endParaRPr sz="2200"/>
          </a:p>
        </p:txBody>
      </p:sp>
      <p:sp>
        <p:nvSpPr>
          <p:cNvPr id="200" name="Google Shape;200;p14"/>
          <p:cNvSpPr txBox="1"/>
          <p:nvPr/>
        </p:nvSpPr>
        <p:spPr>
          <a:xfrm>
            <a:off x="274320" y="2286000"/>
            <a:ext cx="11521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Step 1:  slope = 2 sin 30° = 1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        θ = 0.5236 − 0.2 × 1 = 0.3236 rad = </a:t>
            </a:r>
            <a:r>
              <a:rPr lang="en-US" sz="2200">
                <a:solidFill>
                  <a:srgbClr val="FF0000"/>
                </a:solidFill>
              </a:rPr>
              <a:t>18.54°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Step 2:  slope = 2 sin 18.54° = 0.6360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        θ = 0.3236 − 0.2 × 0.6360 = 0.1964 rad = </a:t>
            </a:r>
            <a:r>
              <a:rPr lang="en-US" sz="2200">
                <a:solidFill>
                  <a:srgbClr val="FF0000"/>
                </a:solidFill>
              </a:rPr>
              <a:t>11.25°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Each step moves closer to 0°, and each step is smaller than the last.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flat arm: two joints</a:t>
            </a:r>
            <a:endParaRPr sz="2400"/>
          </a:p>
        </p:txBody>
      </p:sp>
      <p:sp>
        <p:nvSpPr>
          <p:cNvPr id="206" name="Google Shape;206;p15"/>
          <p:cNvSpPr txBox="1"/>
          <p:nvPr/>
        </p:nvSpPr>
        <p:spPr>
          <a:xfrm>
            <a:off x="274320" y="822960"/>
            <a:ext cx="60351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Now the cost depends on two angles, θ</a:t>
            </a:r>
            <a:r>
              <a:rPr baseline="-25000" lang="en-US" sz="2000"/>
              <a:t>S</a:t>
            </a:r>
            <a:r>
              <a:rPr lang="en-US" sz="2000"/>
              <a:t> and θ</a:t>
            </a:r>
            <a:r>
              <a:rPr baseline="-25000" lang="en-US" sz="2000"/>
              <a:t>E</a:t>
            </a:r>
            <a:r>
              <a:rPr lang="en-US" sz="2000"/>
              <a:t>. FK from Lesson 5 gives the tip: flat_tip(θ</a:t>
            </a:r>
            <a:r>
              <a:rPr baseline="-25000" lang="en-US" sz="2000"/>
              <a:t>S</a:t>
            </a:r>
            <a:r>
              <a:rPr lang="en-US" sz="2000"/>
              <a:t>, θ</a:t>
            </a:r>
            <a:r>
              <a:rPr baseline="-25000" lang="en-US" sz="2000"/>
              <a:t>E</a:t>
            </a:r>
            <a:r>
              <a:rPr lang="en-US" sz="2000"/>
              <a:t>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</a:t>
            </a:r>
            <a:r>
              <a:rPr b="1" lang="en-US" sz="2000"/>
              <a:t>gradient</a:t>
            </a:r>
            <a:r>
              <a:rPr lang="en-US" sz="2000"/>
              <a:t> is two slopes, one per joint: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nudge θ</a:t>
            </a:r>
            <a:r>
              <a:rPr baseline="-25000" lang="en-US" sz="2000"/>
              <a:t>S</a:t>
            </a:r>
            <a:r>
              <a:rPr lang="en-US" sz="2000"/>
              <a:t> (keep θ</a:t>
            </a:r>
            <a:r>
              <a:rPr baseline="-25000" lang="en-US" sz="2000"/>
              <a:t>E</a:t>
            </a:r>
            <a:r>
              <a:rPr lang="en-US" sz="2000"/>
              <a:t>) and see how C changes,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then nudge θ</a:t>
            </a:r>
            <a:r>
              <a:rPr baseline="-25000" lang="en-US" sz="2000"/>
              <a:t>E</a:t>
            </a:r>
            <a:r>
              <a:rPr lang="en-US" sz="2000"/>
              <a:t> (keep θ</a:t>
            </a:r>
            <a:r>
              <a:rPr baseline="-25000" lang="en-US" sz="2000"/>
              <a:t>S</a:t>
            </a:r>
            <a:r>
              <a:rPr lang="en-US" sz="2000"/>
              <a:t>) and see how C changes.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Then both angles take a step downhill at the same time: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= 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− η × slope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endParaRPr baseline="-25000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= 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− η × slope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endParaRPr baseline="-25000" sz="2000">
              <a:solidFill>
                <a:srgbClr val="FF0000"/>
              </a:solidFill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6583680" y="5321808"/>
            <a:ext cx="5212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15"/>
          <p:cNvCxnSpPr/>
          <p:nvPr/>
        </p:nvCxnSpPr>
        <p:spPr>
          <a:xfrm>
            <a:off x="6949440" y="5212080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5"/>
          <p:cNvCxnSpPr/>
          <p:nvPr/>
        </p:nvCxnSpPr>
        <p:spPr>
          <a:xfrm flipH="1" rot="10800000">
            <a:off x="7715661" y="1990005"/>
            <a:ext cx="406500" cy="11169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5"/>
          <p:cNvCxnSpPr/>
          <p:nvPr/>
        </p:nvCxnSpPr>
        <p:spPr>
          <a:xfrm flipH="1" rot="10800000">
            <a:off x="6949440" y="3106980"/>
            <a:ext cx="766200" cy="21051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5"/>
          <p:cNvCxnSpPr/>
          <p:nvPr/>
        </p:nvCxnSpPr>
        <p:spPr>
          <a:xfrm flipH="1" rot="10800000">
            <a:off x="6949440" y="3106980"/>
            <a:ext cx="766200" cy="2105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15"/>
          <p:cNvCxnSpPr/>
          <p:nvPr/>
        </p:nvCxnSpPr>
        <p:spPr>
          <a:xfrm flipH="1" rot="10800000">
            <a:off x="7715661" y="1986705"/>
            <a:ext cx="1940100" cy="11202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15"/>
          <p:cNvCxnSpPr/>
          <p:nvPr/>
        </p:nvCxnSpPr>
        <p:spPr>
          <a:xfrm flipH="1" rot="10800000">
            <a:off x="7715661" y="1986705"/>
            <a:ext cx="1940100" cy="1120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15"/>
          <p:cNvSpPr/>
          <p:nvPr/>
        </p:nvSpPr>
        <p:spPr>
          <a:xfrm>
            <a:off x="683971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7605933" y="2997177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5"/>
          <p:cNvSpPr/>
          <p:nvPr/>
        </p:nvSpPr>
        <p:spPr>
          <a:xfrm>
            <a:off x="9546072" y="1877037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15"/>
          <p:cNvCxnSpPr/>
          <p:nvPr/>
        </p:nvCxnSpPr>
        <p:spPr>
          <a:xfrm>
            <a:off x="9655800" y="1986765"/>
            <a:ext cx="1118100" cy="16413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8" name="Google Shape;218;p15"/>
          <p:cNvSpPr/>
          <p:nvPr/>
        </p:nvSpPr>
        <p:spPr>
          <a:xfrm>
            <a:off x="10618419" y="3472485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5"/>
          <p:cNvSpPr/>
          <p:nvPr/>
        </p:nvSpPr>
        <p:spPr>
          <a:xfrm>
            <a:off x="10728147" y="3582213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" name="Google Shape;220;p15"/>
          <p:cNvCxnSpPr/>
          <p:nvPr/>
        </p:nvCxnSpPr>
        <p:spPr>
          <a:xfrm rot="10800000">
            <a:off x="7755300" y="5045580"/>
            <a:ext cx="17100" cy="166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5"/>
          <p:cNvCxnSpPr/>
          <p:nvPr/>
        </p:nvCxnSpPr>
        <p:spPr>
          <a:xfrm rot="10800000">
            <a:off x="7704998" y="4886063"/>
            <a:ext cx="50400" cy="15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15"/>
          <p:cNvCxnSpPr/>
          <p:nvPr/>
        </p:nvCxnSpPr>
        <p:spPr>
          <a:xfrm rot="10800000">
            <a:off x="7623495" y="4740022"/>
            <a:ext cx="81600" cy="146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15"/>
          <p:cNvCxnSpPr/>
          <p:nvPr/>
        </p:nvCxnSpPr>
        <p:spPr>
          <a:xfrm rot="10800000">
            <a:off x="7514069" y="4613450"/>
            <a:ext cx="109500" cy="12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15"/>
          <p:cNvCxnSpPr/>
          <p:nvPr/>
        </p:nvCxnSpPr>
        <p:spPr>
          <a:xfrm rot="10800000">
            <a:off x="7381589" y="4511781"/>
            <a:ext cx="132600" cy="10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5"/>
          <p:cNvCxnSpPr/>
          <p:nvPr/>
        </p:nvCxnSpPr>
        <p:spPr>
          <a:xfrm rot="10800000">
            <a:off x="7230875" y="4438745"/>
            <a:ext cx="150600" cy="72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15"/>
          <p:cNvCxnSpPr/>
          <p:nvPr/>
        </p:nvCxnSpPr>
        <p:spPr>
          <a:xfrm rot="10800000">
            <a:off x="8380655" y="2479305"/>
            <a:ext cx="126900" cy="170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15"/>
          <p:cNvCxnSpPr/>
          <p:nvPr/>
        </p:nvCxnSpPr>
        <p:spPr>
          <a:xfrm rot="10800000">
            <a:off x="8218171" y="2342906"/>
            <a:ext cx="162600" cy="136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15"/>
          <p:cNvCxnSpPr/>
          <p:nvPr/>
        </p:nvCxnSpPr>
        <p:spPr>
          <a:xfrm rot="10800000">
            <a:off x="8028532" y="2247535"/>
            <a:ext cx="189600" cy="95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15"/>
          <p:cNvSpPr txBox="1"/>
          <p:nvPr/>
        </p:nvSpPr>
        <p:spPr>
          <a:xfrm>
            <a:off x="7818120" y="4526280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endParaRPr baseline="-25000" sz="2000">
              <a:solidFill>
                <a:srgbClr val="FF0000"/>
              </a:solidFill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8264301" y="1963905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endParaRPr baseline="-25000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set up</a:t>
            </a:r>
            <a:endParaRPr sz="2400"/>
          </a:p>
        </p:txBody>
      </p:sp>
      <p:sp>
        <p:nvSpPr>
          <p:cNvPr id="236" name="Google Shape;236;p16"/>
          <p:cNvSpPr txBox="1"/>
          <p:nvPr/>
        </p:nvSpPr>
        <p:spPr>
          <a:xfrm>
            <a:off x="274320" y="822960"/>
            <a:ext cx="64008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Target: </a:t>
            </a:r>
            <a:r>
              <a:rPr lang="en-US" sz="2100">
                <a:solidFill>
                  <a:srgbClr val="FF0000"/>
                </a:solidFill>
              </a:rPr>
              <a:t>(250, 250)</a:t>
            </a:r>
            <a:r>
              <a:rPr lang="en-US" sz="2100"/>
              <a:t>, with L</a:t>
            </a:r>
            <a:r>
              <a:rPr baseline="-25000" lang="en-US" sz="2100"/>
              <a:t>1</a:t>
            </a:r>
            <a:r>
              <a:rPr lang="en-US" sz="2100"/>
              <a:t> = L</a:t>
            </a:r>
            <a:r>
              <a:rPr baseline="-25000" lang="en-US" sz="2100"/>
              <a:t>2</a:t>
            </a:r>
            <a:r>
              <a:rPr lang="en-US" sz="2100"/>
              <a:t> = 250 mm.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Start: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S</a:t>
            </a:r>
            <a:r>
              <a:rPr lang="en-US" sz="2100">
                <a:solidFill>
                  <a:srgbClr val="FF0000"/>
                </a:solidFill>
              </a:rPr>
              <a:t> = 90°, θ</a:t>
            </a:r>
            <a:r>
              <a:rPr baseline="-25000" lang="en-US" sz="2100">
                <a:solidFill>
                  <a:srgbClr val="FF0000"/>
                </a:solidFill>
              </a:rPr>
              <a:t>E</a:t>
            </a:r>
            <a:r>
              <a:rPr lang="en-US" sz="2100">
                <a:solidFill>
                  <a:srgbClr val="FF0000"/>
                </a:solidFill>
              </a:rPr>
              <a:t> = 0°</a:t>
            </a:r>
            <a:r>
              <a:rPr lang="en-US" sz="2100"/>
              <a:t>. The arm points straight up and the tip is at (0, 500).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Learning rate: </a:t>
            </a:r>
            <a:r>
              <a:rPr lang="en-US" sz="2100">
                <a:solidFill>
                  <a:srgbClr val="FF0000"/>
                </a:solidFill>
              </a:rPr>
              <a:t>η = 0.1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tip is 250 mm left of the target and 250 mm above it: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error = √(250² + 250²) = 353.6 mm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 = (353.6 ÷ 250)² = </a:t>
            </a:r>
            <a:r>
              <a:rPr lang="en-US" sz="2100">
                <a:solidFill>
                  <a:srgbClr val="FF0000"/>
                </a:solidFill>
              </a:rPr>
              <a:t>2</a:t>
            </a:r>
            <a:endParaRPr sz="2100">
              <a:solidFill>
                <a:srgbClr val="FF0000"/>
              </a:solidFill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7132320" y="5321808"/>
            <a:ext cx="46635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16"/>
          <p:cNvCxnSpPr/>
          <p:nvPr/>
        </p:nvCxnSpPr>
        <p:spPr>
          <a:xfrm rot="10800000">
            <a:off x="7863840" y="3268980"/>
            <a:ext cx="0" cy="19431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16"/>
          <p:cNvCxnSpPr/>
          <p:nvPr/>
        </p:nvCxnSpPr>
        <p:spPr>
          <a:xfrm rot="10800000">
            <a:off x="7863840" y="3268980"/>
            <a:ext cx="0" cy="1943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16"/>
          <p:cNvCxnSpPr/>
          <p:nvPr/>
        </p:nvCxnSpPr>
        <p:spPr>
          <a:xfrm rot="10800000">
            <a:off x="7863840" y="1325880"/>
            <a:ext cx="0" cy="19431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16"/>
          <p:cNvCxnSpPr/>
          <p:nvPr/>
        </p:nvCxnSpPr>
        <p:spPr>
          <a:xfrm rot="10800000">
            <a:off x="7863840" y="1325880"/>
            <a:ext cx="0" cy="1943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16"/>
          <p:cNvSpPr/>
          <p:nvPr/>
        </p:nvSpPr>
        <p:spPr>
          <a:xfrm>
            <a:off x="775411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7754112" y="31592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7754112" y="12161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"/>
          <p:cNvSpPr/>
          <p:nvPr/>
        </p:nvSpPr>
        <p:spPr>
          <a:xfrm>
            <a:off x="9651492" y="3113532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9761220" y="3223260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16"/>
          <p:cNvCxnSpPr/>
          <p:nvPr/>
        </p:nvCxnSpPr>
        <p:spPr>
          <a:xfrm>
            <a:off x="7863840" y="1325880"/>
            <a:ext cx="1943100" cy="19431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8" name="Google Shape;248;p16"/>
          <p:cNvSpPr txBox="1"/>
          <p:nvPr/>
        </p:nvSpPr>
        <p:spPr>
          <a:xfrm>
            <a:off x="10035540" y="3086100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target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measure the slopes</a:t>
            </a:r>
            <a:endParaRPr sz="2400"/>
          </a:p>
        </p:txBody>
      </p:sp>
      <p:sp>
        <p:nvSpPr>
          <p:cNvPr id="254" name="Google Shape;254;p17"/>
          <p:cNvSpPr txBox="1"/>
          <p:nvPr/>
        </p:nvSpPr>
        <p:spPr>
          <a:xfrm>
            <a:off x="274320" y="822960"/>
            <a:ext cx="65838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Nudge each joint by h = 0.01 and see what the cost does. At the start, C = 2.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Nudge θ</a:t>
            </a:r>
            <a:r>
              <a:rPr baseline="-25000" lang="en-US" sz="2100"/>
              <a:t>S</a:t>
            </a:r>
            <a:r>
              <a:rPr lang="en-US" sz="2100"/>
              <a:t>:  C = 2.0402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slope</a:t>
            </a:r>
            <a:r>
              <a:rPr baseline="-25000" lang="en-US" sz="2100"/>
              <a:t>S</a:t>
            </a:r>
            <a:r>
              <a:rPr lang="en-US" sz="2100"/>
              <a:t> ≈ (2.0402 − 2) ÷ 0.01 ≈ </a:t>
            </a:r>
            <a:r>
              <a:rPr lang="en-US" sz="2100">
                <a:solidFill>
                  <a:srgbClr val="FF0000"/>
                </a:solidFill>
              </a:rPr>
              <a:t>4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Nudge θ</a:t>
            </a:r>
            <a:r>
              <a:rPr baseline="-25000" lang="en-US" sz="2100"/>
              <a:t>E</a:t>
            </a:r>
            <a:r>
              <a:rPr lang="en-US" sz="2100"/>
              <a:t>:  C = 2.0200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slope</a:t>
            </a:r>
            <a:r>
              <a:rPr baseline="-25000" lang="en-US" sz="2100"/>
              <a:t>E</a:t>
            </a:r>
            <a:r>
              <a:rPr lang="en-US" sz="2100"/>
              <a:t> ≈ (2.0200 − 2) ÷ 0.01 = </a:t>
            </a:r>
            <a:r>
              <a:rPr lang="en-US" sz="2100">
                <a:solidFill>
                  <a:srgbClr val="FF0000"/>
                </a:solidFill>
              </a:rPr>
              <a:t>2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Both slopes are positive: raising either angle makes the cost bigger. So both angles must go down. θ</a:t>
            </a:r>
            <a:r>
              <a:rPr baseline="-25000" lang="en-US" sz="2100"/>
              <a:t>S</a:t>
            </a:r>
            <a:r>
              <a:rPr lang="en-US" sz="2100"/>
              <a:t> matters twice as much as θ</a:t>
            </a:r>
            <a:r>
              <a:rPr baseline="-25000" lang="en-US" sz="2100"/>
              <a:t>E</a:t>
            </a:r>
            <a:r>
              <a:rPr lang="en-US" sz="2100"/>
              <a:t>.</a:t>
            </a:r>
            <a:endParaRPr sz="2100"/>
          </a:p>
        </p:txBody>
      </p:sp>
      <p:sp>
        <p:nvSpPr>
          <p:cNvPr id="255" name="Google Shape;255;p17"/>
          <p:cNvSpPr/>
          <p:nvPr/>
        </p:nvSpPr>
        <p:spPr>
          <a:xfrm>
            <a:off x="7132320" y="5321808"/>
            <a:ext cx="46635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7"/>
          <p:cNvCxnSpPr/>
          <p:nvPr/>
        </p:nvCxnSpPr>
        <p:spPr>
          <a:xfrm rot="10800000">
            <a:off x="7863840" y="3268980"/>
            <a:ext cx="0" cy="19431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17"/>
          <p:cNvCxnSpPr/>
          <p:nvPr/>
        </p:nvCxnSpPr>
        <p:spPr>
          <a:xfrm rot="10800000">
            <a:off x="7863840" y="3268980"/>
            <a:ext cx="0" cy="1943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17"/>
          <p:cNvCxnSpPr/>
          <p:nvPr/>
        </p:nvCxnSpPr>
        <p:spPr>
          <a:xfrm rot="10800000">
            <a:off x="7863840" y="1325880"/>
            <a:ext cx="0" cy="19431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17"/>
          <p:cNvCxnSpPr/>
          <p:nvPr/>
        </p:nvCxnSpPr>
        <p:spPr>
          <a:xfrm rot="10800000">
            <a:off x="7863840" y="1325880"/>
            <a:ext cx="0" cy="1943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17"/>
          <p:cNvSpPr/>
          <p:nvPr/>
        </p:nvSpPr>
        <p:spPr>
          <a:xfrm>
            <a:off x="775411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7754112" y="31592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7754112" y="12161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9651492" y="3113532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9761220" y="3223260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7"/>
          <p:cNvCxnSpPr/>
          <p:nvPr/>
        </p:nvCxnSpPr>
        <p:spPr>
          <a:xfrm>
            <a:off x="7863840" y="1325880"/>
            <a:ext cx="1943100" cy="19431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take a step</a:t>
            </a:r>
            <a:endParaRPr sz="2400"/>
          </a:p>
        </p:txBody>
      </p:sp>
      <p:sp>
        <p:nvSpPr>
          <p:cNvPr id="271" name="Google Shape;271;p18"/>
          <p:cNvSpPr txBox="1"/>
          <p:nvPr/>
        </p:nvSpPr>
        <p:spPr>
          <a:xfrm>
            <a:off x="274320" y="822960"/>
            <a:ext cx="65838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Update both joints at once, with η = 0.1: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θ</a:t>
            </a:r>
            <a:r>
              <a:rPr baseline="-25000" lang="en-US" sz="2100"/>
              <a:t>S</a:t>
            </a:r>
            <a:r>
              <a:rPr lang="en-US" sz="2100"/>
              <a:t> = 1.5708 − 0.1 × 4 = 1.1708 rad = </a:t>
            </a:r>
            <a:r>
              <a:rPr lang="en-US" sz="2100">
                <a:solidFill>
                  <a:srgbClr val="FF0000"/>
                </a:solidFill>
              </a:rPr>
              <a:t>67.08°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θ</a:t>
            </a:r>
            <a:r>
              <a:rPr baseline="-25000" lang="en-US" sz="2100"/>
              <a:t>E</a:t>
            </a:r>
            <a:r>
              <a:rPr lang="en-US" sz="2100"/>
              <a:t> = 0 − 0.1 × 2 = −0.2 rad = </a:t>
            </a:r>
            <a:r>
              <a:rPr lang="en-US" sz="2100">
                <a:solidFill>
                  <a:srgbClr val="FF0000"/>
                </a:solidFill>
              </a:rPr>
              <a:t>−11.46°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tip moves from (0, 500) to (238.5, 436.6).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error drops from 353.6 mm to </a:t>
            </a:r>
            <a:r>
              <a:rPr lang="en-US" sz="2100">
                <a:solidFill>
                  <a:srgbClr val="FF0000"/>
                </a:solidFill>
              </a:rPr>
              <a:t>187.0 mm</a:t>
            </a:r>
            <a:r>
              <a:rPr lang="en-US" sz="2100"/>
              <a:t>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Then repeat: measure new slopes, take another step.</a:t>
            </a:r>
            <a:endParaRPr sz="2100"/>
          </a:p>
        </p:txBody>
      </p:sp>
      <p:sp>
        <p:nvSpPr>
          <p:cNvPr id="272" name="Google Shape;272;p18"/>
          <p:cNvSpPr/>
          <p:nvPr/>
        </p:nvSpPr>
        <p:spPr>
          <a:xfrm>
            <a:off x="7132320" y="5321808"/>
            <a:ext cx="46635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3" name="Google Shape;273;p18"/>
          <p:cNvCxnSpPr/>
          <p:nvPr/>
        </p:nvCxnSpPr>
        <p:spPr>
          <a:xfrm rot="10800000">
            <a:off x="7863840" y="3268980"/>
            <a:ext cx="0" cy="19431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18"/>
          <p:cNvCxnSpPr/>
          <p:nvPr/>
        </p:nvCxnSpPr>
        <p:spPr>
          <a:xfrm rot="10800000">
            <a:off x="7863840" y="3268980"/>
            <a:ext cx="0" cy="19431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18"/>
          <p:cNvCxnSpPr/>
          <p:nvPr/>
        </p:nvCxnSpPr>
        <p:spPr>
          <a:xfrm rot="10800000">
            <a:off x="7863840" y="1325880"/>
            <a:ext cx="0" cy="19431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18"/>
          <p:cNvCxnSpPr/>
          <p:nvPr/>
        </p:nvCxnSpPr>
        <p:spPr>
          <a:xfrm rot="10800000">
            <a:off x="7863840" y="1325880"/>
            <a:ext cx="0" cy="19431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18"/>
          <p:cNvSpPr/>
          <p:nvPr/>
        </p:nvSpPr>
        <p:spPr>
          <a:xfrm>
            <a:off x="7763256" y="511149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7763256" y="316839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7763256" y="122529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18"/>
          <p:cNvCxnSpPr/>
          <p:nvPr/>
        </p:nvCxnSpPr>
        <p:spPr>
          <a:xfrm flipH="1" rot="10800000">
            <a:off x="7863840" y="3422280"/>
            <a:ext cx="756600" cy="17898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18"/>
          <p:cNvCxnSpPr/>
          <p:nvPr/>
        </p:nvCxnSpPr>
        <p:spPr>
          <a:xfrm flipH="1" rot="10800000">
            <a:off x="7863840" y="3422280"/>
            <a:ext cx="756600" cy="1789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18"/>
          <p:cNvCxnSpPr/>
          <p:nvPr/>
        </p:nvCxnSpPr>
        <p:spPr>
          <a:xfrm flipH="1" rot="10800000">
            <a:off x="8620572" y="1818589"/>
            <a:ext cx="1097100" cy="16038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18"/>
          <p:cNvCxnSpPr/>
          <p:nvPr/>
        </p:nvCxnSpPr>
        <p:spPr>
          <a:xfrm flipH="1" rot="10800000">
            <a:off x="8620572" y="1818589"/>
            <a:ext cx="1097100" cy="1603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18"/>
          <p:cNvSpPr/>
          <p:nvPr/>
        </p:nvSpPr>
        <p:spPr>
          <a:xfrm>
            <a:off x="775411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8510844" y="3312661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9608071" y="1709000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9651492" y="3113532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9761220" y="3223260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9" name="Google Shape;289;p18"/>
          <p:cNvCxnSpPr/>
          <p:nvPr/>
        </p:nvCxnSpPr>
        <p:spPr>
          <a:xfrm>
            <a:off x="9717799" y="1818728"/>
            <a:ext cx="89100" cy="14502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Worked example: keep going</a:t>
            </a:r>
            <a:endParaRPr sz="2400"/>
          </a:p>
        </p:txBody>
      </p:sp>
      <p:graphicFrame>
        <p:nvGraphicFramePr>
          <p:cNvPr id="295" name="Google Shape;295;p19"/>
          <p:cNvGraphicFramePr/>
          <p:nvPr/>
        </p:nvGraphicFramePr>
        <p:xfrm>
          <a:off x="27432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{CC3BE301-D3C2-40FC-B3EE-2B950076AB16}</a:tableStyleId>
              </a:tblPr>
              <a:tblGrid>
                <a:gridCol w="822950"/>
                <a:gridCol w="1188700"/>
                <a:gridCol w="1280150"/>
                <a:gridCol w="2011675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Step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θ</a:t>
                      </a:r>
                      <a:r>
                        <a:rPr b="1" baseline="-25000" lang="en-US" sz="1700"/>
                        <a:t>S</a:t>
                      </a:r>
                      <a:endParaRPr b="1" baseline="-25000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θ</a:t>
                      </a:r>
                      <a:r>
                        <a:rPr b="1" baseline="-25000" lang="en-US" sz="1700"/>
                        <a:t>E</a:t>
                      </a:r>
                      <a:endParaRPr b="1" baseline="-25000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tip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error (mm)</a:t>
                      </a:r>
                      <a:endParaRPr b="1" sz="17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90.00°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0.00°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(0.0, 500.0)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353.6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67.08°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−11.46°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(238.5, 436.6)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187.0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58.00°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−16.72°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(320.3, 376.9)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145.1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55.41°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−18.97°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(343.1, 354.3)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139.8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57.29°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−26.51°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(349.9, 338.3)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133.3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30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70.82°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−54.67°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(322.3, 305.6)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91.2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60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86.72°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−84.54°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(264.1, 259.1)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16.8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106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0000"/>
                          </a:solidFill>
                        </a:rPr>
                        <a:t>89.91°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0000"/>
                          </a:solidFill>
                        </a:rPr>
                        <a:t>−89.85°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(250.4, 250.3)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0000"/>
                          </a:solidFill>
                        </a:rPr>
                        <a:t>0.5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6" name="Google Shape;296;p19"/>
          <p:cNvSpPr txBox="1"/>
          <p:nvPr/>
        </p:nvSpPr>
        <p:spPr>
          <a:xfrm>
            <a:off x="274320" y="5120640"/>
            <a:ext cx="11521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Big steps at first, then smaller ones. After 106 steps the error is under 0.5 mm, at </a:t>
            </a: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= 89.91°, 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= −89.85°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Lesson 6 gave θ</a:t>
            </a:r>
            <a:r>
              <a:rPr baseline="-25000" lang="en-US" sz="2000"/>
              <a:t>S</a:t>
            </a:r>
            <a:r>
              <a:rPr lang="en-US" sz="2000"/>
              <a:t> = 90°, θ</a:t>
            </a:r>
            <a:r>
              <a:rPr baseline="-25000" lang="en-US" sz="2000"/>
              <a:t>E</a:t>
            </a:r>
            <a:r>
              <a:rPr lang="en-US" sz="2000"/>
              <a:t> = −90° for this target.</a:t>
            </a:r>
            <a:endParaRPr sz="2000"/>
          </a:p>
        </p:txBody>
      </p:sp>
      <p:sp>
        <p:nvSpPr>
          <p:cNvPr id="297" name="Google Shape;297;p19"/>
          <p:cNvSpPr/>
          <p:nvPr/>
        </p:nvSpPr>
        <p:spPr>
          <a:xfrm>
            <a:off x="7132320" y="4681728"/>
            <a:ext cx="46635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8" name="Google Shape;298;p19"/>
          <p:cNvCxnSpPr/>
          <p:nvPr/>
        </p:nvCxnSpPr>
        <p:spPr>
          <a:xfrm flipH="1" rot="10800000">
            <a:off x="8138160" y="2992800"/>
            <a:ext cx="667800" cy="15792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9"/>
          <p:cNvCxnSpPr/>
          <p:nvPr/>
        </p:nvCxnSpPr>
        <p:spPr>
          <a:xfrm flipH="1" rot="10800000">
            <a:off x="8138160" y="2992800"/>
            <a:ext cx="667800" cy="15792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9"/>
          <p:cNvCxnSpPr/>
          <p:nvPr/>
        </p:nvCxnSpPr>
        <p:spPr>
          <a:xfrm flipH="1" rot="10800000">
            <a:off x="8805818" y="1577741"/>
            <a:ext cx="968100" cy="14151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19"/>
          <p:cNvCxnSpPr/>
          <p:nvPr/>
        </p:nvCxnSpPr>
        <p:spPr>
          <a:xfrm flipH="1" rot="10800000">
            <a:off x="8805818" y="1577741"/>
            <a:ext cx="968100" cy="14151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19"/>
          <p:cNvSpPr/>
          <p:nvPr/>
        </p:nvSpPr>
        <p:spPr>
          <a:xfrm>
            <a:off x="8037576" y="447141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8705234" y="2892257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9673313" y="1477219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5" name="Google Shape;305;p19"/>
          <p:cNvCxnSpPr/>
          <p:nvPr/>
        </p:nvCxnSpPr>
        <p:spPr>
          <a:xfrm flipH="1" rot="10800000">
            <a:off x="8138160" y="3160500"/>
            <a:ext cx="973500" cy="14115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19"/>
          <p:cNvCxnSpPr/>
          <p:nvPr/>
        </p:nvCxnSpPr>
        <p:spPr>
          <a:xfrm flipH="1" rot="10800000">
            <a:off x="8138160" y="3160500"/>
            <a:ext cx="973500" cy="14115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19"/>
          <p:cNvCxnSpPr/>
          <p:nvPr/>
        </p:nvCxnSpPr>
        <p:spPr>
          <a:xfrm flipH="1" rot="10800000">
            <a:off x="9111536" y="2142101"/>
            <a:ext cx="1379400" cy="10185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19"/>
          <p:cNvCxnSpPr/>
          <p:nvPr/>
        </p:nvCxnSpPr>
        <p:spPr>
          <a:xfrm flipH="1" rot="10800000">
            <a:off x="9111536" y="2142101"/>
            <a:ext cx="1379400" cy="10185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19"/>
          <p:cNvSpPr/>
          <p:nvPr/>
        </p:nvSpPr>
        <p:spPr>
          <a:xfrm>
            <a:off x="8037576" y="447141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9010952" y="3060017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10390249" y="2041659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" name="Google Shape;312;p19"/>
          <p:cNvCxnSpPr/>
          <p:nvPr/>
        </p:nvCxnSpPr>
        <p:spPr>
          <a:xfrm flipH="1" rot="10800000">
            <a:off x="8138160" y="2952600"/>
            <a:ext cx="563400" cy="16194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19"/>
          <p:cNvCxnSpPr/>
          <p:nvPr/>
        </p:nvCxnSpPr>
        <p:spPr>
          <a:xfrm flipH="1" rot="10800000">
            <a:off x="8138160" y="2952600"/>
            <a:ext cx="563400" cy="16194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19"/>
          <p:cNvCxnSpPr/>
          <p:nvPr/>
        </p:nvCxnSpPr>
        <p:spPr>
          <a:xfrm flipH="1" rot="10800000">
            <a:off x="8701429" y="2475968"/>
            <a:ext cx="1647000" cy="4767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19"/>
          <p:cNvCxnSpPr/>
          <p:nvPr/>
        </p:nvCxnSpPr>
        <p:spPr>
          <a:xfrm flipH="1" rot="10800000">
            <a:off x="8701429" y="2475968"/>
            <a:ext cx="1647000" cy="4767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19"/>
          <p:cNvSpPr/>
          <p:nvPr/>
        </p:nvSpPr>
        <p:spPr>
          <a:xfrm>
            <a:off x="8037576" y="447141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8600845" y="2852084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10247710" y="2375273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9" name="Google Shape;319;p19"/>
          <p:cNvCxnSpPr/>
          <p:nvPr/>
        </p:nvCxnSpPr>
        <p:spPr>
          <a:xfrm flipH="1" rot="10800000">
            <a:off x="8138160" y="2857500"/>
            <a:ext cx="2700" cy="17145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19"/>
          <p:cNvCxnSpPr/>
          <p:nvPr/>
        </p:nvCxnSpPr>
        <p:spPr>
          <a:xfrm flipH="1" rot="10800000">
            <a:off x="8138160" y="2857500"/>
            <a:ext cx="2700" cy="1714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19"/>
          <p:cNvCxnSpPr/>
          <p:nvPr/>
        </p:nvCxnSpPr>
        <p:spPr>
          <a:xfrm flipH="1" rot="10800000">
            <a:off x="8140937" y="2855702"/>
            <a:ext cx="1714500" cy="18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19"/>
          <p:cNvCxnSpPr/>
          <p:nvPr/>
        </p:nvCxnSpPr>
        <p:spPr>
          <a:xfrm flipH="1" rot="10800000">
            <a:off x="8140937" y="2855702"/>
            <a:ext cx="1714500" cy="1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19"/>
          <p:cNvSpPr/>
          <p:nvPr/>
        </p:nvSpPr>
        <p:spPr>
          <a:xfrm>
            <a:off x="8028432" y="44622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8031209" y="2747774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9745708" y="2746054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/>
          <p:nvPr/>
        </p:nvSpPr>
        <p:spPr>
          <a:xfrm>
            <a:off x="9697212" y="2702052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9806940" y="2811780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Same answer, no triangles:</a:t>
            </a:r>
            <a:endParaRPr sz="2400"/>
          </a:p>
        </p:txBody>
      </p:sp>
      <p:sp>
        <p:nvSpPr>
          <p:cNvPr id="333" name="Google Shape;333;p20"/>
          <p:cNvSpPr/>
          <p:nvPr/>
        </p:nvSpPr>
        <p:spPr>
          <a:xfrm>
            <a:off x="274320" y="868680"/>
            <a:ext cx="5577900" cy="26517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411480" y="960120"/>
            <a:ext cx="53034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Lesson 6: trigonometry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= 90°, 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= −90°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law of cosines, atan2 and a few formulas.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Exact, in one pass. Needs the triangles.</a:t>
            </a:r>
            <a:endParaRPr sz="2000"/>
          </a:p>
        </p:txBody>
      </p:sp>
      <p:sp>
        <p:nvSpPr>
          <p:cNvPr id="335" name="Google Shape;335;p20"/>
          <p:cNvSpPr/>
          <p:nvPr/>
        </p:nvSpPr>
        <p:spPr>
          <a:xfrm>
            <a:off x="6309360" y="868680"/>
            <a:ext cx="5577900" cy="26517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6446520" y="960120"/>
            <a:ext cx="53034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Lesson 7: gradient descent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S</a:t>
            </a:r>
            <a:r>
              <a:rPr lang="en-US" sz="2000">
                <a:solidFill>
                  <a:srgbClr val="FF0000"/>
                </a:solidFill>
              </a:rPr>
              <a:t> = 89.91°, 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r>
              <a:rPr lang="en-US" sz="2000">
                <a:solidFill>
                  <a:srgbClr val="FF0000"/>
                </a:solidFill>
              </a:rPr>
              <a:t> = −89.85°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Guess, nudge, step, repeat (106 steps).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Very close. Needs only FK and a loop.</a:t>
            </a:r>
            <a:endParaRPr sz="2000"/>
          </a:p>
        </p:txBody>
      </p:sp>
      <p:sp>
        <p:nvSpPr>
          <p:cNvPr id="337" name="Google Shape;337;p20"/>
          <p:cNvSpPr txBox="1"/>
          <p:nvPr/>
        </p:nvSpPr>
        <p:spPr>
          <a:xfrm>
            <a:off x="274320" y="3931920"/>
            <a:ext cx="115215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Same target, almost the same pose.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Gradient descent trades exactness for generality: if you can compute FK for an arm, you can do IK for it.</a:t>
            </a:r>
            <a:endParaRPr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#3:</a:t>
            </a:r>
            <a:endParaRPr sz="2400"/>
          </a:p>
        </p:txBody>
      </p:sp>
      <p:sp>
        <p:nvSpPr>
          <p:cNvPr id="343" name="Google Shape;343;p21"/>
          <p:cNvSpPr txBox="1"/>
          <p:nvPr/>
        </p:nvSpPr>
        <p:spPr>
          <a:xfrm>
            <a:off x="274320" y="777240"/>
            <a:ext cx="11521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Target </a:t>
            </a:r>
            <a:r>
              <a:rPr lang="en-US" sz="2100">
                <a:solidFill>
                  <a:srgbClr val="FF0000"/>
                </a:solidFill>
              </a:rPr>
              <a:t>(341.51, 341.51)</a:t>
            </a:r>
            <a:r>
              <a:rPr lang="en-US" sz="2100"/>
              <a:t>. Start at θ</a:t>
            </a:r>
            <a:r>
              <a:rPr baseline="-25000" lang="en-US" sz="2100"/>
              <a:t>S</a:t>
            </a:r>
            <a:r>
              <a:rPr lang="en-US" sz="2100"/>
              <a:t> = 90°, θ</a:t>
            </a:r>
            <a:r>
              <a:rPr baseline="-25000" lang="en-US" sz="2100"/>
              <a:t>E</a:t>
            </a:r>
            <a:r>
              <a:rPr lang="en-US" sz="2100"/>
              <a:t> = 0° with η = 0.1.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slopes at the start are slope</a:t>
            </a:r>
            <a:r>
              <a:rPr baseline="-25000" lang="en-US" sz="2100"/>
              <a:t>S</a:t>
            </a:r>
            <a:r>
              <a:rPr lang="en-US" sz="2100"/>
              <a:t> = </a:t>
            </a:r>
            <a:r>
              <a:rPr lang="en-US" sz="2100">
                <a:solidFill>
                  <a:srgbClr val="FF0000"/>
                </a:solidFill>
              </a:rPr>
              <a:t>5.46</a:t>
            </a:r>
            <a:r>
              <a:rPr lang="en-US" sz="2100"/>
              <a:t> and slope</a:t>
            </a:r>
            <a:r>
              <a:rPr baseline="-25000" lang="en-US" sz="2100"/>
              <a:t>E</a:t>
            </a:r>
            <a:r>
              <a:rPr lang="en-US" sz="2100"/>
              <a:t> = </a:t>
            </a:r>
            <a:r>
              <a:rPr lang="en-US" sz="2100">
                <a:solidFill>
                  <a:srgbClr val="FF0000"/>
                </a:solidFill>
              </a:rPr>
              <a:t>2.73</a:t>
            </a:r>
            <a:r>
              <a:rPr lang="en-US" sz="2100"/>
              <a:t>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Take one step. Give θ</a:t>
            </a:r>
            <a:r>
              <a:rPr baseline="-25000" lang="en-US" sz="2100"/>
              <a:t>S</a:t>
            </a:r>
            <a:r>
              <a:rPr lang="en-US" sz="2100"/>
              <a:t> and θ</a:t>
            </a:r>
            <a:r>
              <a:rPr baseline="-25000" lang="en-US" sz="2100"/>
              <a:t>E</a:t>
            </a:r>
            <a:r>
              <a:rPr lang="en-US" sz="2100"/>
              <a:t> in degrees.</a:t>
            </a:r>
            <a:endParaRPr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#3: solution</a:t>
            </a:r>
            <a:endParaRPr sz="2400"/>
          </a:p>
        </p:txBody>
      </p:sp>
      <p:sp>
        <p:nvSpPr>
          <p:cNvPr id="349" name="Google Shape;349;p22"/>
          <p:cNvSpPr txBox="1"/>
          <p:nvPr/>
        </p:nvSpPr>
        <p:spPr>
          <a:xfrm>
            <a:off x="274320" y="777240"/>
            <a:ext cx="11521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Target </a:t>
            </a:r>
            <a:r>
              <a:rPr lang="en-US" sz="2100">
                <a:solidFill>
                  <a:srgbClr val="FF0000"/>
                </a:solidFill>
              </a:rPr>
              <a:t>(341.51, 341.51)</a:t>
            </a:r>
            <a:r>
              <a:rPr lang="en-US" sz="2100"/>
              <a:t>. Start at θ</a:t>
            </a:r>
            <a:r>
              <a:rPr baseline="-25000" lang="en-US" sz="2100"/>
              <a:t>S</a:t>
            </a:r>
            <a:r>
              <a:rPr lang="en-US" sz="2100"/>
              <a:t> = 90°, θ</a:t>
            </a:r>
            <a:r>
              <a:rPr baseline="-25000" lang="en-US" sz="2100"/>
              <a:t>E</a:t>
            </a:r>
            <a:r>
              <a:rPr lang="en-US" sz="2100"/>
              <a:t> = 0° with η = 0.1.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slopes at the start are slope</a:t>
            </a:r>
            <a:r>
              <a:rPr baseline="-25000" lang="en-US" sz="2100"/>
              <a:t>S</a:t>
            </a:r>
            <a:r>
              <a:rPr lang="en-US" sz="2100"/>
              <a:t> = </a:t>
            </a:r>
            <a:r>
              <a:rPr lang="en-US" sz="2100">
                <a:solidFill>
                  <a:srgbClr val="FF0000"/>
                </a:solidFill>
              </a:rPr>
              <a:t>5.46</a:t>
            </a:r>
            <a:r>
              <a:rPr lang="en-US" sz="2100"/>
              <a:t> and slope</a:t>
            </a:r>
            <a:r>
              <a:rPr baseline="-25000" lang="en-US" sz="2100"/>
              <a:t>E</a:t>
            </a:r>
            <a:r>
              <a:rPr lang="en-US" sz="2100"/>
              <a:t> = </a:t>
            </a:r>
            <a:r>
              <a:rPr lang="en-US" sz="2100">
                <a:solidFill>
                  <a:srgbClr val="FF0000"/>
                </a:solidFill>
              </a:rPr>
              <a:t>2.73</a:t>
            </a:r>
            <a:r>
              <a:rPr lang="en-US" sz="2100"/>
              <a:t>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Take one step. Give θ</a:t>
            </a:r>
            <a:r>
              <a:rPr baseline="-25000" lang="en-US" sz="2100"/>
              <a:t>S</a:t>
            </a:r>
            <a:r>
              <a:rPr lang="en-US" sz="2100"/>
              <a:t> and θ</a:t>
            </a:r>
            <a:r>
              <a:rPr baseline="-25000" lang="en-US" sz="2100"/>
              <a:t>E</a:t>
            </a:r>
            <a:r>
              <a:rPr lang="en-US" sz="2100"/>
              <a:t> in degrees.</a:t>
            </a:r>
            <a:endParaRPr sz="2100"/>
          </a:p>
        </p:txBody>
      </p:sp>
      <p:sp>
        <p:nvSpPr>
          <p:cNvPr id="350" name="Google Shape;350;p22"/>
          <p:cNvSpPr txBox="1"/>
          <p:nvPr/>
        </p:nvSpPr>
        <p:spPr>
          <a:xfrm>
            <a:off x="274320" y="2377440"/>
            <a:ext cx="6766500" cy="4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θ</a:t>
            </a:r>
            <a:r>
              <a:rPr baseline="-25000" lang="en-US" sz="2100"/>
              <a:t>S</a:t>
            </a:r>
            <a:r>
              <a:rPr lang="en-US" sz="2100"/>
              <a:t> = 1.5708 − 0.1 × 5.46 = 1.0248 rad = </a:t>
            </a:r>
            <a:r>
              <a:rPr lang="en-US" sz="2100">
                <a:solidFill>
                  <a:srgbClr val="FF0000"/>
                </a:solidFill>
              </a:rPr>
              <a:t>58.72°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θ</a:t>
            </a:r>
            <a:r>
              <a:rPr baseline="-25000" lang="en-US" sz="2100"/>
              <a:t>E</a:t>
            </a:r>
            <a:r>
              <a:rPr lang="en-US" sz="2100"/>
              <a:t> = 0 − 0.1 × 2.73 = −0.273 rad = </a:t>
            </a:r>
            <a:r>
              <a:rPr lang="en-US" sz="2100">
                <a:solidFill>
                  <a:srgbClr val="FF0000"/>
                </a:solidFill>
              </a:rPr>
              <a:t>−15.64°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tip moves to (312.4, 384.4). The error falls from 376.5 mm to 51.8 mm in one step.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Lesson 6’s answer is θ</a:t>
            </a:r>
            <a:r>
              <a:rPr baseline="-25000" lang="en-US" sz="2100"/>
              <a:t>S</a:t>
            </a:r>
            <a:r>
              <a:rPr lang="en-US" sz="2100"/>
              <a:t> = 60°, θ</a:t>
            </a:r>
            <a:r>
              <a:rPr baseline="-25000" lang="en-US" sz="2100"/>
              <a:t>E</a:t>
            </a:r>
            <a:r>
              <a:rPr lang="en-US" sz="2100"/>
              <a:t> = −30°, so we are already close.</a:t>
            </a:r>
            <a:endParaRPr sz="2100"/>
          </a:p>
        </p:txBody>
      </p:sp>
      <p:sp>
        <p:nvSpPr>
          <p:cNvPr id="351" name="Google Shape;351;p22"/>
          <p:cNvSpPr/>
          <p:nvPr/>
        </p:nvSpPr>
        <p:spPr>
          <a:xfrm>
            <a:off x="7498080" y="5321808"/>
            <a:ext cx="42978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2" name="Google Shape;352;p22"/>
          <p:cNvCxnSpPr/>
          <p:nvPr/>
        </p:nvCxnSpPr>
        <p:spPr>
          <a:xfrm rot="10800000">
            <a:off x="8138160" y="3497580"/>
            <a:ext cx="0" cy="17145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2"/>
          <p:cNvCxnSpPr/>
          <p:nvPr/>
        </p:nvCxnSpPr>
        <p:spPr>
          <a:xfrm rot="10800000">
            <a:off x="8138160" y="3497580"/>
            <a:ext cx="0" cy="17145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2"/>
          <p:cNvCxnSpPr/>
          <p:nvPr/>
        </p:nvCxnSpPr>
        <p:spPr>
          <a:xfrm rot="10800000">
            <a:off x="8138160" y="1783080"/>
            <a:ext cx="0" cy="17145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22"/>
          <p:cNvCxnSpPr/>
          <p:nvPr/>
        </p:nvCxnSpPr>
        <p:spPr>
          <a:xfrm rot="10800000">
            <a:off x="8138160" y="1783080"/>
            <a:ext cx="0" cy="17145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22"/>
          <p:cNvSpPr/>
          <p:nvPr/>
        </p:nvSpPr>
        <p:spPr>
          <a:xfrm>
            <a:off x="8037576" y="511149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2"/>
          <p:cNvSpPr/>
          <p:nvPr/>
        </p:nvSpPr>
        <p:spPr>
          <a:xfrm>
            <a:off x="8037576" y="339699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8037576" y="168249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9" name="Google Shape;359;p22"/>
          <p:cNvCxnSpPr/>
          <p:nvPr/>
        </p:nvCxnSpPr>
        <p:spPr>
          <a:xfrm flipH="1" rot="10800000">
            <a:off x="8138160" y="3746880"/>
            <a:ext cx="890100" cy="14652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22"/>
          <p:cNvCxnSpPr/>
          <p:nvPr/>
        </p:nvCxnSpPr>
        <p:spPr>
          <a:xfrm flipH="1" rot="10800000">
            <a:off x="8138160" y="3746880"/>
            <a:ext cx="890100" cy="146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22"/>
          <p:cNvCxnSpPr/>
          <p:nvPr/>
        </p:nvCxnSpPr>
        <p:spPr>
          <a:xfrm flipH="1" rot="10800000">
            <a:off x="9028364" y="2575900"/>
            <a:ext cx="1252200" cy="11709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2"/>
          <p:cNvCxnSpPr/>
          <p:nvPr/>
        </p:nvCxnSpPr>
        <p:spPr>
          <a:xfrm flipH="1" rot="10800000">
            <a:off x="9028364" y="2575900"/>
            <a:ext cx="1252200" cy="1170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22"/>
          <p:cNvSpPr/>
          <p:nvPr/>
        </p:nvSpPr>
        <p:spPr>
          <a:xfrm>
            <a:off x="802843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8918636" y="36370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10170908" y="2466036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6" name="Google Shape;366;p22"/>
          <p:cNvCxnSpPr/>
          <p:nvPr/>
        </p:nvCxnSpPr>
        <p:spPr>
          <a:xfrm>
            <a:off x="10280636" y="2575764"/>
            <a:ext cx="199500" cy="2943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7" name="Google Shape;367;p22"/>
          <p:cNvSpPr/>
          <p:nvPr/>
        </p:nvSpPr>
        <p:spPr>
          <a:xfrm>
            <a:off x="10324788" y="2714556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10434516" y="2824284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Day 1 recap:</a:t>
            </a:r>
            <a:endParaRPr sz="2400"/>
          </a:p>
        </p:txBody>
      </p:sp>
      <p:sp>
        <p:nvSpPr>
          <p:cNvPr id="374" name="Google Shape;374;p23"/>
          <p:cNvSpPr txBox="1"/>
          <p:nvPr/>
        </p:nvSpPr>
        <p:spPr>
          <a:xfrm>
            <a:off x="274320" y="822960"/>
            <a:ext cx="115215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Cost: </a:t>
            </a:r>
            <a:r>
              <a:rPr lang="en-US" sz="2200">
                <a:solidFill>
                  <a:srgbClr val="FF0000"/>
                </a:solidFill>
              </a:rPr>
              <a:t>C = (error ÷ 250)²</a:t>
            </a:r>
            <a:r>
              <a:rPr lang="en-US" sz="2200"/>
              <a:t>. A bowl whose bottom is the answer.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Slope: nudge a joint and watch the cost: </a:t>
            </a:r>
            <a:r>
              <a:rPr lang="en-US" sz="2200">
                <a:solidFill>
                  <a:srgbClr val="FF0000"/>
                </a:solidFill>
              </a:rPr>
              <a:t>(C(θ + h) − C(θ)) ÷ h</a:t>
            </a:r>
            <a:r>
              <a:rPr lang="en-US" sz="2200"/>
              <a:t>. Only FK is needed.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 Step: </a:t>
            </a:r>
            <a:r>
              <a:rPr lang="en-US" sz="2200">
                <a:solidFill>
                  <a:srgbClr val="FF0000"/>
                </a:solidFill>
              </a:rPr>
              <a:t>θ</a:t>
            </a:r>
            <a:r>
              <a:rPr baseline="-25000" lang="en-US" sz="2200">
                <a:solidFill>
                  <a:srgbClr val="FF0000"/>
                </a:solidFill>
              </a:rPr>
              <a:t>new</a:t>
            </a:r>
            <a:r>
              <a:rPr lang="en-US" sz="2200">
                <a:solidFill>
                  <a:srgbClr val="FF0000"/>
                </a:solidFill>
              </a:rPr>
              <a:t> = θ − η × slope</a:t>
            </a:r>
            <a:r>
              <a:rPr lang="en-US" sz="2200"/>
              <a:t>, for every joint at once. The update uses radians.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4.  Repeat until the error is tiny.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Tomorrow the base turns too, so there are three joints to nudge.</a:t>
            </a:r>
            <a:endParaRPr sz="2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Day 2: where Day 1 left off</a:t>
            </a:r>
            <a:endParaRPr sz="2400"/>
          </a:p>
        </p:txBody>
      </p:sp>
      <p:sp>
        <p:nvSpPr>
          <p:cNvPr id="380" name="Google Shape;380;p24"/>
          <p:cNvSpPr txBox="1"/>
          <p:nvPr/>
        </p:nvSpPr>
        <p:spPr>
          <a:xfrm>
            <a:off x="274320" y="822960"/>
            <a:ext cx="11521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What does the learning rate η control?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The slope is positive. Does θ go up or down?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 Why do we nudge a joint instead of using a formula for the slope?</a:t>
            </a:r>
            <a:endParaRPr sz="2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Extending to 3D:</a:t>
            </a:r>
            <a:endParaRPr sz="2400"/>
          </a:p>
        </p:txBody>
      </p:sp>
      <p:sp>
        <p:nvSpPr>
          <p:cNvPr id="386" name="Google Shape;386;p25"/>
          <p:cNvSpPr txBox="1"/>
          <p:nvPr/>
        </p:nvSpPr>
        <p:spPr>
          <a:xfrm>
            <a:off x="274320" y="822960"/>
            <a:ext cx="53493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Now the arm has three joints: θ</a:t>
            </a:r>
            <a:r>
              <a:rPr baseline="-25000" lang="en-US" sz="2100"/>
              <a:t>B</a:t>
            </a:r>
            <a:r>
              <a:rPr lang="en-US" sz="2100"/>
              <a:t>, θ</a:t>
            </a:r>
            <a:r>
              <a:rPr baseline="-25000" lang="en-US" sz="2100"/>
              <a:t>S</a:t>
            </a:r>
            <a:r>
              <a:rPr lang="en-US" sz="2100"/>
              <a:t> and θ</a:t>
            </a:r>
            <a:r>
              <a:rPr baseline="-25000" lang="en-US" sz="2100"/>
              <a:t>E</a:t>
            </a:r>
            <a:r>
              <a:rPr lang="en-US" sz="2100"/>
              <a:t>. Nothing in the method changes: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FK: tip_3d from Lesson 5 gives the tip.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Cost: C = (error ÷ 250)², with error in 3D.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3.  Gradient: three slopes, by nudging θ</a:t>
            </a:r>
            <a:r>
              <a:rPr baseline="-25000" lang="en-US" sz="2100"/>
              <a:t>B</a:t>
            </a:r>
            <a:r>
              <a:rPr lang="en-US" sz="2100"/>
              <a:t>, θ</a:t>
            </a:r>
            <a:r>
              <a:rPr baseline="-25000" lang="en-US" sz="2100"/>
              <a:t>S</a:t>
            </a:r>
            <a:r>
              <a:rPr lang="en-US" sz="2100"/>
              <a:t> and θ</a:t>
            </a:r>
            <a:r>
              <a:rPr baseline="-25000" lang="en-US" sz="2100"/>
              <a:t>E</a:t>
            </a:r>
            <a:r>
              <a:rPr lang="en-US" sz="2100"/>
              <a:t> in turn.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4.  Step all three downhill, then repeat.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By hand this is a lot of arithmetic, so a computer ran the loop. For the target (301.78, 301.78, 176.78), it stopped after 84 steps at </a:t>
            </a:r>
            <a:r>
              <a:rPr lang="en-US" sz="2100">
                <a:solidFill>
                  <a:srgbClr val="FF0000"/>
                </a:solidFill>
              </a:rPr>
              <a:t>(45.0°, 45.15°, −45.29°)</a:t>
            </a:r>
            <a:r>
              <a:rPr lang="en-US" sz="2100"/>
              <a:t>, 0.49 mm from the target and within 0.3° of Lesson 6.</a:t>
            </a:r>
            <a:endParaRPr sz="2100"/>
          </a:p>
        </p:txBody>
      </p:sp>
      <p:sp>
        <p:nvSpPr>
          <p:cNvPr id="387" name="Google Shape;387;p25"/>
          <p:cNvSpPr/>
          <p:nvPr/>
        </p:nvSpPr>
        <p:spPr>
          <a:xfrm flipH="1" rot="-2749560">
            <a:off x="7587156" y="2567299"/>
            <a:ext cx="1795248" cy="4422661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8" name="Google Shape;388;p25"/>
          <p:cNvCxnSpPr/>
          <p:nvPr/>
        </p:nvCxnSpPr>
        <p:spPr>
          <a:xfrm flipH="1">
            <a:off x="6222960" y="4023360"/>
            <a:ext cx="1000800" cy="10299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25"/>
          <p:cNvCxnSpPr/>
          <p:nvPr/>
        </p:nvCxnSpPr>
        <p:spPr>
          <a:xfrm>
            <a:off x="7223760" y="4023360"/>
            <a:ext cx="3780600" cy="515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25"/>
          <p:cNvCxnSpPr/>
          <p:nvPr/>
        </p:nvCxnSpPr>
        <p:spPr>
          <a:xfrm rot="10800000">
            <a:off x="7223760" y="1564560"/>
            <a:ext cx="0" cy="2458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1" name="Google Shape;391;p25"/>
          <p:cNvSpPr/>
          <p:nvPr/>
        </p:nvSpPr>
        <p:spPr>
          <a:xfrm>
            <a:off x="6931152" y="3913747"/>
            <a:ext cx="585300" cy="2193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2" name="Google Shape;392;p25"/>
          <p:cNvCxnSpPr/>
          <p:nvPr/>
        </p:nvCxnSpPr>
        <p:spPr>
          <a:xfrm flipH="1" rot="10800000">
            <a:off x="7223760" y="2126760"/>
            <a:ext cx="666000" cy="18966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25"/>
          <p:cNvCxnSpPr/>
          <p:nvPr/>
        </p:nvCxnSpPr>
        <p:spPr>
          <a:xfrm flipH="1" rot="10800000">
            <a:off x="7223760" y="2126760"/>
            <a:ext cx="666000" cy="1896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25"/>
          <p:cNvCxnSpPr/>
          <p:nvPr/>
        </p:nvCxnSpPr>
        <p:spPr>
          <a:xfrm flipH="1" rot="10800000">
            <a:off x="7889839" y="1466987"/>
            <a:ext cx="1686600" cy="659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5"/>
          <p:cNvCxnSpPr/>
          <p:nvPr/>
        </p:nvCxnSpPr>
        <p:spPr>
          <a:xfrm flipH="1" rot="10800000">
            <a:off x="7889839" y="1466987"/>
            <a:ext cx="1686600" cy="659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5"/>
          <p:cNvSpPr/>
          <p:nvPr/>
        </p:nvSpPr>
        <p:spPr>
          <a:xfrm>
            <a:off x="7114032" y="391363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"/>
          <p:cNvSpPr/>
          <p:nvPr/>
        </p:nvSpPr>
        <p:spPr>
          <a:xfrm>
            <a:off x="7780111" y="2016959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5"/>
          <p:cNvSpPr/>
          <p:nvPr/>
        </p:nvSpPr>
        <p:spPr>
          <a:xfrm>
            <a:off x="9466682" y="1357189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5"/>
          <p:cNvSpPr txBox="1"/>
          <p:nvPr/>
        </p:nvSpPr>
        <p:spPr>
          <a:xfrm>
            <a:off x="5811502" y="4916224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400" name="Google Shape;400;p25"/>
          <p:cNvSpPr txBox="1"/>
          <p:nvPr/>
        </p:nvSpPr>
        <p:spPr>
          <a:xfrm>
            <a:off x="11022770" y="4127365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401" name="Google Shape;401;p25"/>
          <p:cNvSpPr txBox="1"/>
          <p:nvPr/>
        </p:nvSpPr>
        <p:spPr>
          <a:xfrm>
            <a:off x="6812280" y="138181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</a:t>
            </a:r>
            <a:endParaRPr sz="2000"/>
          </a:p>
        </p:txBody>
      </p:sp>
      <p:cxnSp>
        <p:nvCxnSpPr>
          <p:cNvPr id="402" name="Google Shape;402;p25"/>
          <p:cNvCxnSpPr/>
          <p:nvPr/>
        </p:nvCxnSpPr>
        <p:spPr>
          <a:xfrm flipH="1">
            <a:off x="8938910" y="1466917"/>
            <a:ext cx="637500" cy="2375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3" name="Google Shape;403;p25"/>
          <p:cNvSpPr/>
          <p:nvPr/>
        </p:nvSpPr>
        <p:spPr>
          <a:xfrm>
            <a:off x="8756095" y="3659699"/>
            <a:ext cx="365700" cy="3657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8893255" y="3796859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5"/>
          <p:cNvSpPr txBox="1"/>
          <p:nvPr/>
        </p:nvSpPr>
        <p:spPr>
          <a:xfrm>
            <a:off x="9167575" y="3568259"/>
            <a:ext cx="109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target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Watching the error fall:</a:t>
            </a:r>
            <a:endParaRPr sz="2400"/>
          </a:p>
        </p:txBody>
      </p:sp>
      <p:graphicFrame>
        <p:nvGraphicFramePr>
          <p:cNvPr id="411" name="Google Shape;411;p26"/>
          <p:cNvGraphicFramePr/>
          <p:nvPr/>
        </p:nvGraphicFramePr>
        <p:xfrm>
          <a:off x="27432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{CC3BE301-D3C2-40FC-B3EE-2B950076AB16}</a:tableStyleId>
              </a:tblPr>
              <a:tblGrid>
                <a:gridCol w="1097275"/>
                <a:gridCol w="1737350"/>
              </a:tblGrid>
              <a:tr h="4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Step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error (mm)</a:t>
                      </a:r>
                      <a:endParaRPr b="1" sz="1700"/>
                    </a:p>
                  </a:txBody>
                  <a:tcPr marT="91425" marB="91425" marR="91425" marL="91425"/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326.64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159.23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72.17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31.00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6.43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2.96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40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1.41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84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0000"/>
                          </a:solidFill>
                        </a:rPr>
                        <a:t>0.49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2" name="Google Shape;412;p26"/>
          <p:cNvSpPr txBox="1"/>
          <p:nvPr/>
        </p:nvSpPr>
        <p:spPr>
          <a:xfrm>
            <a:off x="274320" y="4937760"/>
            <a:ext cx="4480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Fast at first, then a slow crawl.</a:t>
            </a:r>
            <a:endParaRPr sz="2000"/>
          </a:p>
        </p:txBody>
      </p:sp>
      <p:cxnSp>
        <p:nvCxnSpPr>
          <p:cNvPr id="413" name="Google Shape;413;p26"/>
          <p:cNvCxnSpPr/>
          <p:nvPr/>
        </p:nvCxnSpPr>
        <p:spPr>
          <a:xfrm>
            <a:off x="6035040" y="4937760"/>
            <a:ext cx="56694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26"/>
          <p:cNvCxnSpPr/>
          <p:nvPr/>
        </p:nvCxnSpPr>
        <p:spPr>
          <a:xfrm rot="10800000">
            <a:off x="6035040" y="663060"/>
            <a:ext cx="0" cy="42747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26"/>
          <p:cNvCxnSpPr/>
          <p:nvPr/>
        </p:nvCxnSpPr>
        <p:spPr>
          <a:xfrm>
            <a:off x="5961888" y="3794760"/>
            <a:ext cx="732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26"/>
          <p:cNvSpPr txBox="1"/>
          <p:nvPr/>
        </p:nvSpPr>
        <p:spPr>
          <a:xfrm>
            <a:off x="5349240" y="3593592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100</a:t>
            </a:r>
            <a:endParaRPr/>
          </a:p>
        </p:txBody>
      </p:sp>
      <p:cxnSp>
        <p:nvCxnSpPr>
          <p:cNvPr id="417" name="Google Shape;417;p26"/>
          <p:cNvCxnSpPr/>
          <p:nvPr/>
        </p:nvCxnSpPr>
        <p:spPr>
          <a:xfrm>
            <a:off x="5961888" y="2651760"/>
            <a:ext cx="732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26"/>
          <p:cNvSpPr txBox="1"/>
          <p:nvPr/>
        </p:nvSpPr>
        <p:spPr>
          <a:xfrm>
            <a:off x="5349240" y="2450592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200</a:t>
            </a:r>
            <a:endParaRPr/>
          </a:p>
        </p:txBody>
      </p:sp>
      <p:cxnSp>
        <p:nvCxnSpPr>
          <p:cNvPr id="419" name="Google Shape;419;p26"/>
          <p:cNvCxnSpPr/>
          <p:nvPr/>
        </p:nvCxnSpPr>
        <p:spPr>
          <a:xfrm>
            <a:off x="5961888" y="1508760"/>
            <a:ext cx="732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26"/>
          <p:cNvSpPr txBox="1"/>
          <p:nvPr/>
        </p:nvSpPr>
        <p:spPr>
          <a:xfrm>
            <a:off x="5349240" y="1307592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300</a:t>
            </a:r>
            <a:endParaRPr/>
          </a:p>
        </p:txBody>
      </p:sp>
      <p:cxnSp>
        <p:nvCxnSpPr>
          <p:cNvPr id="421" name="Google Shape;421;p26"/>
          <p:cNvCxnSpPr/>
          <p:nvPr/>
        </p:nvCxnSpPr>
        <p:spPr>
          <a:xfrm>
            <a:off x="6035040" y="4937760"/>
            <a:ext cx="0" cy="732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26"/>
          <p:cNvSpPr txBox="1"/>
          <p:nvPr/>
        </p:nvSpPr>
        <p:spPr>
          <a:xfrm>
            <a:off x="5760720" y="5010912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cxnSp>
        <p:nvCxnSpPr>
          <p:cNvPr id="423" name="Google Shape;423;p26"/>
          <p:cNvCxnSpPr/>
          <p:nvPr/>
        </p:nvCxnSpPr>
        <p:spPr>
          <a:xfrm>
            <a:off x="7360920" y="4937760"/>
            <a:ext cx="0" cy="732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26"/>
          <p:cNvSpPr txBox="1"/>
          <p:nvPr/>
        </p:nvSpPr>
        <p:spPr>
          <a:xfrm>
            <a:off x="7086600" y="5010912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425" name="Google Shape;425;p26"/>
          <p:cNvCxnSpPr/>
          <p:nvPr/>
        </p:nvCxnSpPr>
        <p:spPr>
          <a:xfrm>
            <a:off x="8686800" y="4937760"/>
            <a:ext cx="0" cy="732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26"/>
          <p:cNvSpPr txBox="1"/>
          <p:nvPr/>
        </p:nvSpPr>
        <p:spPr>
          <a:xfrm>
            <a:off x="8412480" y="5010912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cxnSp>
        <p:nvCxnSpPr>
          <p:cNvPr id="427" name="Google Shape;427;p26"/>
          <p:cNvCxnSpPr/>
          <p:nvPr/>
        </p:nvCxnSpPr>
        <p:spPr>
          <a:xfrm>
            <a:off x="10012680" y="4937760"/>
            <a:ext cx="0" cy="732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26"/>
          <p:cNvSpPr txBox="1"/>
          <p:nvPr/>
        </p:nvSpPr>
        <p:spPr>
          <a:xfrm>
            <a:off x="9738360" y="5010912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cxnSp>
        <p:nvCxnSpPr>
          <p:cNvPr id="429" name="Google Shape;429;p26"/>
          <p:cNvCxnSpPr/>
          <p:nvPr/>
        </p:nvCxnSpPr>
        <p:spPr>
          <a:xfrm>
            <a:off x="11338560" y="4937760"/>
            <a:ext cx="0" cy="7320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26"/>
          <p:cNvSpPr txBox="1"/>
          <p:nvPr/>
        </p:nvSpPr>
        <p:spPr>
          <a:xfrm>
            <a:off x="11064240" y="5010912"/>
            <a:ext cx="54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</a:t>
            </a:r>
            <a:endParaRPr/>
          </a:p>
        </p:txBody>
      </p:sp>
      <p:sp>
        <p:nvSpPr>
          <p:cNvPr id="431" name="Google Shape;431;p26"/>
          <p:cNvSpPr txBox="1"/>
          <p:nvPr/>
        </p:nvSpPr>
        <p:spPr>
          <a:xfrm>
            <a:off x="10881360" y="5321808"/>
            <a:ext cx="82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step</a:t>
            </a:r>
            <a:endParaRPr sz="1600"/>
          </a:p>
        </p:txBody>
      </p:sp>
      <p:sp>
        <p:nvSpPr>
          <p:cNvPr id="432" name="Google Shape;432;p26"/>
          <p:cNvSpPr txBox="1"/>
          <p:nvPr/>
        </p:nvSpPr>
        <p:spPr>
          <a:xfrm>
            <a:off x="6126480" y="434340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error (mm)</a:t>
            </a:r>
            <a:endParaRPr sz="1600"/>
          </a:p>
        </p:txBody>
      </p:sp>
      <p:cxnSp>
        <p:nvCxnSpPr>
          <p:cNvPr id="433" name="Google Shape;433;p26"/>
          <p:cNvCxnSpPr/>
          <p:nvPr/>
        </p:nvCxnSpPr>
        <p:spPr>
          <a:xfrm>
            <a:off x="6035040" y="1204236"/>
            <a:ext cx="265200" cy="19137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26"/>
          <p:cNvCxnSpPr/>
          <p:nvPr/>
        </p:nvCxnSpPr>
        <p:spPr>
          <a:xfrm>
            <a:off x="6300216" y="3117801"/>
            <a:ext cx="265200" cy="9951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26"/>
          <p:cNvCxnSpPr/>
          <p:nvPr/>
        </p:nvCxnSpPr>
        <p:spPr>
          <a:xfrm>
            <a:off x="6565392" y="4112892"/>
            <a:ext cx="265200" cy="4707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26"/>
          <p:cNvCxnSpPr/>
          <p:nvPr/>
        </p:nvCxnSpPr>
        <p:spPr>
          <a:xfrm>
            <a:off x="6830568" y="4583463"/>
            <a:ext cx="265200" cy="2007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26"/>
          <p:cNvCxnSpPr/>
          <p:nvPr/>
        </p:nvCxnSpPr>
        <p:spPr>
          <a:xfrm>
            <a:off x="7095744" y="4784036"/>
            <a:ext cx="265200" cy="801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26"/>
          <p:cNvCxnSpPr/>
          <p:nvPr/>
        </p:nvCxnSpPr>
        <p:spPr>
          <a:xfrm>
            <a:off x="7360920" y="4864257"/>
            <a:ext cx="265200" cy="27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26"/>
          <p:cNvCxnSpPr/>
          <p:nvPr/>
        </p:nvCxnSpPr>
        <p:spPr>
          <a:xfrm>
            <a:off x="7626096" y="4891902"/>
            <a:ext cx="265200" cy="75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26"/>
          <p:cNvCxnSpPr/>
          <p:nvPr/>
        </p:nvCxnSpPr>
        <p:spPr>
          <a:xfrm>
            <a:off x="7891272" y="4899551"/>
            <a:ext cx="265200" cy="24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26"/>
          <p:cNvCxnSpPr/>
          <p:nvPr/>
        </p:nvCxnSpPr>
        <p:spPr>
          <a:xfrm>
            <a:off x="8156448" y="4901818"/>
            <a:ext cx="265200" cy="1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26"/>
          <p:cNvCxnSpPr/>
          <p:nvPr/>
        </p:nvCxnSpPr>
        <p:spPr>
          <a:xfrm>
            <a:off x="8421624" y="4902961"/>
            <a:ext cx="265200" cy="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26"/>
          <p:cNvCxnSpPr/>
          <p:nvPr/>
        </p:nvCxnSpPr>
        <p:spPr>
          <a:xfrm>
            <a:off x="8686800" y="4903876"/>
            <a:ext cx="265200" cy="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26"/>
          <p:cNvCxnSpPr/>
          <p:nvPr/>
        </p:nvCxnSpPr>
        <p:spPr>
          <a:xfrm>
            <a:off x="8951976" y="4904730"/>
            <a:ext cx="265200" cy="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26"/>
          <p:cNvCxnSpPr/>
          <p:nvPr/>
        </p:nvCxnSpPr>
        <p:spPr>
          <a:xfrm>
            <a:off x="9217152" y="4905555"/>
            <a:ext cx="265200" cy="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26"/>
          <p:cNvCxnSpPr/>
          <p:nvPr/>
        </p:nvCxnSpPr>
        <p:spPr>
          <a:xfrm>
            <a:off x="9482328" y="4906356"/>
            <a:ext cx="265200" cy="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26"/>
          <p:cNvCxnSpPr/>
          <p:nvPr/>
        </p:nvCxnSpPr>
        <p:spPr>
          <a:xfrm>
            <a:off x="9747504" y="4907137"/>
            <a:ext cx="265200" cy="9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26"/>
          <p:cNvCxnSpPr/>
          <p:nvPr/>
        </p:nvCxnSpPr>
        <p:spPr>
          <a:xfrm>
            <a:off x="10012680" y="4907896"/>
            <a:ext cx="265200" cy="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26"/>
          <p:cNvCxnSpPr/>
          <p:nvPr/>
        </p:nvCxnSpPr>
        <p:spPr>
          <a:xfrm>
            <a:off x="10277856" y="4908636"/>
            <a:ext cx="265200" cy="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26"/>
          <p:cNvCxnSpPr/>
          <p:nvPr/>
        </p:nvCxnSpPr>
        <p:spPr>
          <a:xfrm>
            <a:off x="10543032" y="4909356"/>
            <a:ext cx="265200" cy="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26"/>
          <p:cNvCxnSpPr/>
          <p:nvPr/>
        </p:nvCxnSpPr>
        <p:spPr>
          <a:xfrm>
            <a:off x="10808208" y="4910057"/>
            <a:ext cx="265200" cy="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26"/>
          <p:cNvCxnSpPr/>
          <p:nvPr/>
        </p:nvCxnSpPr>
        <p:spPr>
          <a:xfrm>
            <a:off x="11073384" y="4910740"/>
            <a:ext cx="265200" cy="6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26"/>
          <p:cNvSpPr/>
          <p:nvPr/>
        </p:nvSpPr>
        <p:spPr>
          <a:xfrm>
            <a:off x="5980176" y="1149372"/>
            <a:ext cx="109800" cy="1098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6245352" y="3062937"/>
            <a:ext cx="109800" cy="1098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6"/>
          <p:cNvSpPr/>
          <p:nvPr/>
        </p:nvSpPr>
        <p:spPr>
          <a:xfrm>
            <a:off x="6510528" y="4058028"/>
            <a:ext cx="109800" cy="1098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"/>
          <p:cNvSpPr/>
          <p:nvPr/>
        </p:nvSpPr>
        <p:spPr>
          <a:xfrm>
            <a:off x="6775704" y="4528599"/>
            <a:ext cx="109800" cy="1098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6"/>
          <p:cNvSpPr/>
          <p:nvPr/>
        </p:nvSpPr>
        <p:spPr>
          <a:xfrm>
            <a:off x="7040880" y="4729172"/>
            <a:ext cx="109800" cy="1098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7306056" y="4809393"/>
            <a:ext cx="109800" cy="109800"/>
          </a:xfrm>
          <a:prstGeom prst="ellips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 txBox="1"/>
          <p:nvPr/>
        </p:nvSpPr>
        <p:spPr>
          <a:xfrm>
            <a:off x="5760720" y="5715000"/>
            <a:ext cx="6217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The first 20 steps. From step 20 it takes 64 more steps to go from 2.31 mm to 0.49 mm: the valley is flat near the bottom, so the slopes and the steps get tiny.</a:t>
            </a:r>
            <a:endParaRPr sz="1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Choosing the learning rate η:</a:t>
            </a:r>
            <a:endParaRPr sz="2400"/>
          </a:p>
        </p:txBody>
      </p:sp>
      <p:sp>
        <p:nvSpPr>
          <p:cNvPr id="465" name="Google Shape;465;p27"/>
          <p:cNvSpPr txBox="1"/>
          <p:nvPr/>
        </p:nvSpPr>
        <p:spPr>
          <a:xfrm>
            <a:off x="274320" y="777240"/>
            <a:ext cx="11521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Same target (301.78, 301.78, 176.78), same start, five learning rates:</a:t>
            </a:r>
            <a:endParaRPr sz="2100"/>
          </a:p>
        </p:txBody>
      </p:sp>
      <p:graphicFrame>
        <p:nvGraphicFramePr>
          <p:cNvPr id="466" name="Google Shape;466;p27"/>
          <p:cNvGraphicFramePr/>
          <p:nvPr/>
        </p:nvGraphicFramePr>
        <p:xfrm>
          <a:off x="27432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{CC3BE301-D3C2-40FC-B3EE-2B950076AB16}</a:tableStyleId>
              </a:tblPr>
              <a:tblGrid>
                <a:gridCol w="1828800"/>
                <a:gridCol w="7223750"/>
              </a:tblGrid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η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steps to reach 0.5 mm</a:t>
                      </a:r>
                      <a:endParaRPr b="1" sz="19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0.02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364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0.05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153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0.1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84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0.2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52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0.3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never settles (bounces between 234.5 and 288.0 mm)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7" name="Google Shape;467;p27"/>
          <p:cNvSpPr txBox="1"/>
          <p:nvPr/>
        </p:nvSpPr>
        <p:spPr>
          <a:xfrm>
            <a:off x="274320" y="4663440"/>
            <a:ext cx="115215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Too small: safe but slow. Too big: it overshoots and bounces, like η = 1 in Try it yourself #1.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We use </a:t>
            </a:r>
            <a:r>
              <a:rPr lang="en-US" sz="2100">
                <a:solidFill>
                  <a:srgbClr val="FF0000"/>
                </a:solidFill>
              </a:rPr>
              <a:t>η = 0.1</a:t>
            </a:r>
            <a:r>
              <a:rPr lang="en-US" sz="2100"/>
              <a:t>: fast enough, and safe for every target in this lesson.</a:t>
            </a:r>
            <a:endParaRPr sz="2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When do we stop?</a:t>
            </a:r>
            <a:endParaRPr sz="2400"/>
          </a:p>
        </p:txBody>
      </p:sp>
      <p:sp>
        <p:nvSpPr>
          <p:cNvPr id="473" name="Google Shape;473;p28"/>
          <p:cNvSpPr txBox="1"/>
          <p:nvPr/>
        </p:nvSpPr>
        <p:spPr>
          <a:xfrm>
            <a:off x="274320" y="822960"/>
            <a:ext cx="115215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The loop needs a rule, or it could run forever.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</a:t>
            </a:r>
            <a:r>
              <a:rPr b="1" lang="en-US" sz="2200"/>
              <a:t>Tolerance</a:t>
            </a:r>
            <a:r>
              <a:rPr lang="en-US" sz="2200"/>
              <a:t>: stop when the error is small enough. We use 0.5 mm.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</a:t>
            </a:r>
            <a:r>
              <a:rPr b="1" lang="en-US" sz="2200"/>
              <a:t>Step limit</a:t>
            </a:r>
            <a:r>
              <a:rPr lang="en-US" sz="2200"/>
              <a:t>: stop after a set number of steps (1000), even if the error is still big.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Stopping at the step limit does not mean the answer is right.</a:t>
            </a:r>
            <a:r>
              <a:rPr lang="en-US" sz="2200"/>
              <a:t> </a:t>
            </a:r>
            <a:r>
              <a:rPr lang="en-US" sz="2200"/>
              <a:t>Always look at the final error.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real robot also has a time budget, so it needs the step limit.</a:t>
            </a: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#4:</a:t>
            </a:r>
            <a:endParaRPr sz="2400"/>
          </a:p>
        </p:txBody>
      </p:sp>
      <p:sp>
        <p:nvSpPr>
          <p:cNvPr id="479" name="Google Shape;479;p29"/>
          <p:cNvSpPr txBox="1"/>
          <p:nvPr/>
        </p:nvSpPr>
        <p:spPr>
          <a:xfrm>
            <a:off x="274320" y="777240"/>
            <a:ext cx="11521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computer ran gradient descent for the target </a:t>
            </a:r>
            <a:r>
              <a:rPr lang="en-US" sz="2200">
                <a:solidFill>
                  <a:srgbClr val="FF0000"/>
                </a:solidFill>
              </a:rPr>
              <a:t>(295.75, 170.75, 91.51)</a:t>
            </a:r>
            <a:r>
              <a:rPr lang="en-US" sz="2200"/>
              <a:t>, from the start (0°, 45°, −45°) with η = 0.1. It stopped after 79 steps at </a:t>
            </a:r>
            <a:r>
              <a:rPr lang="en-US" sz="2200">
                <a:solidFill>
                  <a:srgbClr val="FF0000"/>
                </a:solidFill>
              </a:rPr>
              <a:t>(30.0°, 59.91°, −89.85°)</a:t>
            </a:r>
            <a:r>
              <a:rPr lang="en-US" sz="2200"/>
              <a:t>, with an error of 0.49 mm.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Did it reach the target? Compare with Lesson 6’s Try it yourself #4.</a:t>
            </a:r>
            <a:endParaRPr sz="2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#4: solution</a:t>
            </a:r>
            <a:endParaRPr sz="2400"/>
          </a:p>
        </p:txBody>
      </p:sp>
      <p:sp>
        <p:nvSpPr>
          <p:cNvPr id="485" name="Google Shape;485;p30"/>
          <p:cNvSpPr txBox="1"/>
          <p:nvPr/>
        </p:nvSpPr>
        <p:spPr>
          <a:xfrm>
            <a:off x="274320" y="777240"/>
            <a:ext cx="11521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computer ran gradient descent for the target </a:t>
            </a:r>
            <a:r>
              <a:rPr lang="en-US" sz="2200">
                <a:solidFill>
                  <a:srgbClr val="FF0000"/>
                </a:solidFill>
              </a:rPr>
              <a:t>(295.75, 170.75, 91.51)</a:t>
            </a:r>
            <a:r>
              <a:rPr lang="en-US" sz="2200"/>
              <a:t>, from the start (0°, 45°, −45°) with η = 0.1. It stopped after 79 steps at </a:t>
            </a:r>
            <a:r>
              <a:rPr lang="en-US" sz="2200">
                <a:solidFill>
                  <a:srgbClr val="FF0000"/>
                </a:solidFill>
              </a:rPr>
              <a:t>(30.0°, 59.91°, −89.85°)</a:t>
            </a:r>
            <a:r>
              <a:rPr lang="en-US" sz="2200"/>
              <a:t>, with an error of 0.49 mm.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Did it reach the target? Compare with Lesson 6’s Try it yourself #4.</a:t>
            </a:r>
            <a:endParaRPr sz="2200"/>
          </a:p>
        </p:txBody>
      </p:sp>
      <p:sp>
        <p:nvSpPr>
          <p:cNvPr id="486" name="Google Shape;486;p30"/>
          <p:cNvSpPr txBox="1"/>
          <p:nvPr/>
        </p:nvSpPr>
        <p:spPr>
          <a:xfrm>
            <a:off x="274320" y="2377440"/>
            <a:ext cx="115215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Yes. The error, </a:t>
            </a:r>
            <a:r>
              <a:rPr lang="en-US" sz="2100">
                <a:solidFill>
                  <a:srgbClr val="FF0000"/>
                </a:solidFill>
              </a:rPr>
              <a:t>0.49 mm</a:t>
            </a:r>
            <a:r>
              <a:rPr lang="en-US" sz="2100"/>
              <a:t>, is under the 0.5 mm tolerance, so the loop stopped long before the 1000-step limit.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Lesson 6 gave (30°, 60°, −90°): the same pose, to within 0.2°.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With η = 0.2 the same run needs only </a:t>
            </a:r>
            <a:r>
              <a:rPr lang="en-US" sz="2100">
                <a:solidFill>
                  <a:srgbClr val="FF0000"/>
                </a:solidFill>
              </a:rPr>
              <a:t>39 steps</a:t>
            </a:r>
            <a:r>
              <a:rPr lang="en-US" sz="2100"/>
              <a:t> (error 0.43 mm).</a:t>
            </a:r>
            <a:endParaRPr sz="2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Different start, different answer:</a:t>
            </a:r>
            <a:endParaRPr sz="2400"/>
          </a:p>
        </p:txBody>
      </p:sp>
      <p:sp>
        <p:nvSpPr>
          <p:cNvPr id="492" name="Google Shape;492;p31"/>
          <p:cNvSpPr txBox="1"/>
          <p:nvPr/>
        </p:nvSpPr>
        <p:spPr>
          <a:xfrm>
            <a:off x="274320" y="777240"/>
            <a:ext cx="60351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Target </a:t>
            </a:r>
            <a:r>
              <a:rPr lang="en-US" sz="2000">
                <a:solidFill>
                  <a:srgbClr val="FF0000"/>
                </a:solidFill>
              </a:rPr>
              <a:t>(−324.76, 187.50, 216.51)</a:t>
            </a:r>
            <a:r>
              <a:rPr lang="en-US" sz="2000"/>
              <a:t>: Lesson 6’s #5, answer (150°, 60°, −60°).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Start (0, 45, −45):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[−30.0, 179.88, −59.78]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base points away, and the arm reaches back over the top.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Start (150, 45, −45):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[150.0, 59.88, −59.77]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Both put the tip on the target. Gradient descent rolls into the nearest valley, so start near the pose you want, and check the joint limits.</a:t>
            </a:r>
            <a:endParaRPr sz="2000"/>
          </a:p>
        </p:txBody>
      </p:sp>
      <p:sp>
        <p:nvSpPr>
          <p:cNvPr id="493" name="Google Shape;493;p31"/>
          <p:cNvSpPr/>
          <p:nvPr/>
        </p:nvSpPr>
        <p:spPr>
          <a:xfrm>
            <a:off x="6583680" y="5230368"/>
            <a:ext cx="5212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1"/>
          <p:cNvSpPr txBox="1"/>
          <p:nvPr/>
        </p:nvSpPr>
        <p:spPr>
          <a:xfrm>
            <a:off x="6583680" y="6035040"/>
            <a:ext cx="521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34343"/>
                </a:solidFill>
              </a:rPr>
              <a:t>side view, looking along the base direction 150°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495" name="Google Shape;495;p31"/>
          <p:cNvCxnSpPr/>
          <p:nvPr/>
        </p:nvCxnSpPr>
        <p:spPr>
          <a:xfrm flipH="1" rot="10800000">
            <a:off x="8961120" y="3637740"/>
            <a:ext cx="860400" cy="14829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31"/>
          <p:cNvCxnSpPr/>
          <p:nvPr/>
        </p:nvCxnSpPr>
        <p:spPr>
          <a:xfrm flipH="1" rot="10800000">
            <a:off x="8961120" y="3637740"/>
            <a:ext cx="860400" cy="1482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31"/>
          <p:cNvCxnSpPr/>
          <p:nvPr/>
        </p:nvCxnSpPr>
        <p:spPr>
          <a:xfrm flipH="1" rot="10800000">
            <a:off x="9821478" y="3634338"/>
            <a:ext cx="1714500" cy="33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1"/>
          <p:cNvCxnSpPr/>
          <p:nvPr/>
        </p:nvCxnSpPr>
        <p:spPr>
          <a:xfrm flipH="1" rot="10800000">
            <a:off x="9821478" y="3634338"/>
            <a:ext cx="1714500" cy="3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31"/>
          <p:cNvSpPr/>
          <p:nvPr/>
        </p:nvSpPr>
        <p:spPr>
          <a:xfrm>
            <a:off x="885139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1"/>
          <p:cNvSpPr/>
          <p:nvPr/>
        </p:nvSpPr>
        <p:spPr>
          <a:xfrm>
            <a:off x="9711750" y="3527910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1"/>
          <p:cNvSpPr/>
          <p:nvPr/>
        </p:nvSpPr>
        <p:spPr>
          <a:xfrm>
            <a:off x="11426247" y="3524619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2" name="Google Shape;502;p31"/>
          <p:cNvCxnSpPr/>
          <p:nvPr/>
        </p:nvCxnSpPr>
        <p:spPr>
          <a:xfrm flipH="1" rot="10800000">
            <a:off x="8961120" y="5117040"/>
            <a:ext cx="1714500" cy="36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1"/>
          <p:cNvCxnSpPr/>
          <p:nvPr/>
        </p:nvCxnSpPr>
        <p:spPr>
          <a:xfrm flipH="1" rot="10800000">
            <a:off x="8961120" y="5117040"/>
            <a:ext cx="1714500" cy="36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1"/>
          <p:cNvCxnSpPr/>
          <p:nvPr/>
        </p:nvCxnSpPr>
        <p:spPr>
          <a:xfrm flipH="1" rot="10800000">
            <a:off x="10675616" y="3633849"/>
            <a:ext cx="859800" cy="1483200"/>
          </a:xfrm>
          <a:prstGeom prst="straightConnector1">
            <a:avLst/>
          </a:prstGeom>
          <a:noFill/>
          <a:ln cap="flat" cmpd="sng" w="152400">
            <a:solidFill>
              <a:srgbClr val="C9C9C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1"/>
          <p:cNvCxnSpPr/>
          <p:nvPr/>
        </p:nvCxnSpPr>
        <p:spPr>
          <a:xfrm flipH="1" rot="10800000">
            <a:off x="10675616" y="3633849"/>
            <a:ext cx="859800" cy="1483200"/>
          </a:xfrm>
          <a:prstGeom prst="straightConnector1">
            <a:avLst/>
          </a:prstGeom>
          <a:noFill/>
          <a:ln cap="flat" cmpd="sng" w="38100">
            <a:solidFill>
              <a:srgbClr val="D9EAD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31"/>
          <p:cNvSpPr/>
          <p:nvPr/>
        </p:nvSpPr>
        <p:spPr>
          <a:xfrm>
            <a:off x="8860536" y="5020056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1"/>
          <p:cNvSpPr/>
          <p:nvPr/>
        </p:nvSpPr>
        <p:spPr>
          <a:xfrm>
            <a:off x="10575032" y="5016465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1"/>
          <p:cNvSpPr/>
          <p:nvPr/>
        </p:nvSpPr>
        <p:spPr>
          <a:xfrm>
            <a:off x="11434872" y="3533163"/>
            <a:ext cx="201300" cy="201300"/>
          </a:xfrm>
          <a:prstGeom prst="ellipse">
            <a:avLst/>
          </a:prstGeom>
          <a:solidFill>
            <a:srgbClr val="FBE5B6"/>
          </a:solidFill>
          <a:ln cap="flat" cmpd="sng" w="12700">
            <a:solidFill>
              <a:srgbClr val="E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1"/>
          <p:cNvSpPr/>
          <p:nvPr/>
        </p:nvSpPr>
        <p:spPr>
          <a:xfrm>
            <a:off x="11377422" y="3480366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11487150" y="3590094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1"/>
          <p:cNvSpPr txBox="1"/>
          <p:nvPr/>
        </p:nvSpPr>
        <p:spPr>
          <a:xfrm>
            <a:off x="8084118" y="3180438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start (150, 45, −45)</a:t>
            </a:r>
            <a:endParaRPr sz="1600"/>
          </a:p>
        </p:txBody>
      </p:sp>
      <p:sp>
        <p:nvSpPr>
          <p:cNvPr id="512" name="Google Shape;512;p31"/>
          <p:cNvSpPr txBox="1"/>
          <p:nvPr/>
        </p:nvSpPr>
        <p:spPr>
          <a:xfrm>
            <a:off x="9852656" y="5528529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4343"/>
                </a:solidFill>
              </a:rPr>
              <a:t>start (0, 45, −45)</a:t>
            </a:r>
            <a:endParaRPr sz="16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#5:</a:t>
            </a:r>
            <a:endParaRPr sz="2400"/>
          </a:p>
        </p:txBody>
      </p:sp>
      <p:sp>
        <p:nvSpPr>
          <p:cNvPr id="518" name="Google Shape;518;p32"/>
          <p:cNvSpPr txBox="1"/>
          <p:nvPr/>
        </p:nvSpPr>
        <p:spPr>
          <a:xfrm>
            <a:off x="274320" y="777240"/>
            <a:ext cx="11521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computer ran gradient descent twice for the target </a:t>
            </a:r>
            <a:r>
              <a:rPr lang="en-US" sz="2200">
                <a:solidFill>
                  <a:srgbClr val="FF0000"/>
                </a:solidFill>
              </a:rPr>
              <a:t>(−125, 216.51, 250)</a:t>
            </a:r>
            <a:r>
              <a:rPr lang="en-US" sz="2200"/>
              <a:t>. Lesson 6 gives (120°, 90°, −90°).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Start (0°, 45°, −45°): </a:t>
            </a:r>
            <a:r>
              <a:rPr lang="en-US" sz="2200">
                <a:solidFill>
                  <a:srgbClr val="FF0000"/>
                </a:solidFill>
              </a:rPr>
              <a:t>(120.0°, 89.9°, −89.84°)</a:t>
            </a:r>
            <a:r>
              <a:rPr lang="en-US" sz="2200"/>
              <a:t> in 73 steps.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Start (0°, 90°, 0°): </a:t>
            </a:r>
            <a:r>
              <a:rPr lang="en-US" sz="2200">
                <a:solidFill>
                  <a:srgbClr val="FF0000"/>
                </a:solidFill>
              </a:rPr>
              <a:t>(−60.0°, 90.1°, 89.84°)</a:t>
            </a:r>
            <a:r>
              <a:rPr lang="en-US" sz="2200"/>
              <a:t> in 106 steps.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Are both answers right? Why did the base turn a different way?</a:t>
            </a:r>
            <a:endParaRPr sz="2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#5: solution</a:t>
            </a:r>
            <a:endParaRPr sz="2400"/>
          </a:p>
        </p:txBody>
      </p:sp>
      <p:sp>
        <p:nvSpPr>
          <p:cNvPr id="524" name="Google Shape;524;p33"/>
          <p:cNvSpPr txBox="1"/>
          <p:nvPr/>
        </p:nvSpPr>
        <p:spPr>
          <a:xfrm>
            <a:off x="274320" y="777240"/>
            <a:ext cx="11521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 computer ran gradient descent twice for the target </a:t>
            </a:r>
            <a:r>
              <a:rPr lang="en-US" sz="2200">
                <a:solidFill>
                  <a:srgbClr val="FF0000"/>
                </a:solidFill>
              </a:rPr>
              <a:t>(−125, 216.51, 250)</a:t>
            </a:r>
            <a:r>
              <a:rPr lang="en-US" sz="2200"/>
              <a:t>. Lesson 6 gives (120°, 90°, −90°).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Start (0°, 45°, −45°): </a:t>
            </a:r>
            <a:r>
              <a:rPr lang="en-US" sz="2200">
                <a:solidFill>
                  <a:srgbClr val="FF0000"/>
                </a:solidFill>
              </a:rPr>
              <a:t>(120.0°, 89.9°, −89.84°)</a:t>
            </a:r>
            <a:r>
              <a:rPr lang="en-US" sz="2200"/>
              <a:t> in 73 steps.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Start (0°, 90°, 0°): </a:t>
            </a:r>
            <a:r>
              <a:rPr lang="en-US" sz="2200">
                <a:solidFill>
                  <a:srgbClr val="FF0000"/>
                </a:solidFill>
              </a:rPr>
              <a:t>(−60.0°, 90.1°, 89.84°)</a:t>
            </a:r>
            <a:r>
              <a:rPr lang="en-US" sz="2200"/>
              <a:t> in 106 steps.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Are both answers right? Why did the base turn a different way?</a:t>
            </a:r>
            <a:endParaRPr sz="2200"/>
          </a:p>
        </p:txBody>
      </p:sp>
      <p:sp>
        <p:nvSpPr>
          <p:cNvPr id="525" name="Google Shape;525;p33"/>
          <p:cNvSpPr txBox="1"/>
          <p:nvPr/>
        </p:nvSpPr>
        <p:spPr>
          <a:xfrm>
            <a:off x="274320" y="2697480"/>
            <a:ext cx="115215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Both are right. Both errors are within the 0.5 mm tolerance, so both tips are on the target.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second run started straight up, so the arm could fall either way. It found the other valley: the base turned to </a:t>
            </a:r>
            <a:r>
              <a:rPr lang="en-US" sz="2100">
                <a:solidFill>
                  <a:srgbClr val="FF0000"/>
                </a:solidFill>
              </a:rPr>
              <a:t>−60°</a:t>
            </a:r>
            <a:r>
              <a:rPr lang="en-US" sz="2100"/>
              <a:t> instead of 120°, and the forearm reaches back.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Choose the answer that fits the robot’s joint limits.</a:t>
            </a:r>
            <a:endParaRPr sz="2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Out of reach: no error, just a gap</a:t>
            </a:r>
            <a:endParaRPr sz="2400"/>
          </a:p>
        </p:txBody>
      </p:sp>
      <p:sp>
        <p:nvSpPr>
          <p:cNvPr id="531" name="Google Shape;531;p34"/>
          <p:cNvSpPr txBox="1"/>
          <p:nvPr/>
        </p:nvSpPr>
        <p:spPr>
          <a:xfrm>
            <a:off x="274320" y="777240"/>
            <a:ext cx="60351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Try Lesson 6’s unreachable target </a:t>
            </a:r>
            <a:r>
              <a:rPr lang="en-US" sz="2000">
                <a:solidFill>
                  <a:srgbClr val="FF0000"/>
                </a:solidFill>
              </a:rPr>
              <a:t>(400, 300, 200)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Trigonometry found no answer: the cosine came out as 1.32. Gradient descent still gives angles: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[36.87, 21.8, 0.0]</a:t>
            </a:r>
            <a:r>
              <a:rPr lang="en-US" sz="2000"/>
              <a:t>, 1000 steps, error </a:t>
            </a:r>
            <a:r>
              <a:rPr lang="en-US" sz="2000">
                <a:solidFill>
                  <a:srgbClr val="FF0000"/>
                </a:solidFill>
              </a:rPr>
              <a:t>38.52 mm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It used every step, and stopped with the arm straight (θ</a:t>
            </a:r>
            <a:r>
              <a:rPr baseline="-25000" lang="en-US" sz="2000"/>
              <a:t>E</a:t>
            </a:r>
            <a:r>
              <a:rPr lang="en-US" sz="2000"/>
              <a:t> = 0°), pointing at the target, as close as it can get: 538.52 − 500 = 38.52 mm short.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Always check the final error.</a:t>
            </a:r>
            <a:r>
              <a:rPr lang="en-US" sz="2000"/>
              <a:t> Otherwise the robot thinks it got there.</a:t>
            </a:r>
            <a:endParaRPr sz="2000"/>
          </a:p>
        </p:txBody>
      </p:sp>
      <p:sp>
        <p:nvSpPr>
          <p:cNvPr id="532" name="Google Shape;532;p34"/>
          <p:cNvSpPr/>
          <p:nvPr/>
        </p:nvSpPr>
        <p:spPr>
          <a:xfrm>
            <a:off x="6583680" y="5321808"/>
            <a:ext cx="5212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3" name="Google Shape;533;p34"/>
          <p:cNvCxnSpPr/>
          <p:nvPr/>
        </p:nvCxnSpPr>
        <p:spPr>
          <a:xfrm>
            <a:off x="6949440" y="1325880"/>
            <a:ext cx="338700" cy="147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34"/>
          <p:cNvCxnSpPr/>
          <p:nvPr/>
        </p:nvCxnSpPr>
        <p:spPr>
          <a:xfrm>
            <a:off x="7288145" y="1340668"/>
            <a:ext cx="336000" cy="444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34"/>
          <p:cNvCxnSpPr/>
          <p:nvPr/>
        </p:nvCxnSpPr>
        <p:spPr>
          <a:xfrm>
            <a:off x="7624272" y="1384920"/>
            <a:ext cx="330900" cy="735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34"/>
          <p:cNvCxnSpPr/>
          <p:nvPr/>
        </p:nvCxnSpPr>
        <p:spPr>
          <a:xfrm>
            <a:off x="7955263" y="1458299"/>
            <a:ext cx="323400" cy="1020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34"/>
          <p:cNvCxnSpPr/>
          <p:nvPr/>
        </p:nvCxnSpPr>
        <p:spPr>
          <a:xfrm>
            <a:off x="8278599" y="1560247"/>
            <a:ext cx="313200" cy="1296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34"/>
          <p:cNvCxnSpPr/>
          <p:nvPr/>
        </p:nvCxnSpPr>
        <p:spPr>
          <a:xfrm>
            <a:off x="8591819" y="1689987"/>
            <a:ext cx="300600" cy="1566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34"/>
          <p:cNvCxnSpPr/>
          <p:nvPr/>
        </p:nvCxnSpPr>
        <p:spPr>
          <a:xfrm>
            <a:off x="8892540" y="1846532"/>
            <a:ext cx="285900" cy="1821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34"/>
          <p:cNvCxnSpPr/>
          <p:nvPr/>
        </p:nvCxnSpPr>
        <p:spPr>
          <a:xfrm>
            <a:off x="9178473" y="2028691"/>
            <a:ext cx="269100" cy="2064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34"/>
          <p:cNvCxnSpPr/>
          <p:nvPr/>
        </p:nvCxnSpPr>
        <p:spPr>
          <a:xfrm>
            <a:off x="9447441" y="2235078"/>
            <a:ext cx="249900" cy="2289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34"/>
          <p:cNvCxnSpPr/>
          <p:nvPr/>
        </p:nvCxnSpPr>
        <p:spPr>
          <a:xfrm>
            <a:off x="9697398" y="2464122"/>
            <a:ext cx="228900" cy="2499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34"/>
          <p:cNvCxnSpPr/>
          <p:nvPr/>
        </p:nvCxnSpPr>
        <p:spPr>
          <a:xfrm>
            <a:off x="9926442" y="2714079"/>
            <a:ext cx="206400" cy="2691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34"/>
          <p:cNvCxnSpPr/>
          <p:nvPr/>
        </p:nvCxnSpPr>
        <p:spPr>
          <a:xfrm>
            <a:off x="10132829" y="2983047"/>
            <a:ext cx="182100" cy="2859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34"/>
          <p:cNvCxnSpPr/>
          <p:nvPr/>
        </p:nvCxnSpPr>
        <p:spPr>
          <a:xfrm>
            <a:off x="10314988" y="3268980"/>
            <a:ext cx="156600" cy="3006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4"/>
          <p:cNvCxnSpPr/>
          <p:nvPr/>
        </p:nvCxnSpPr>
        <p:spPr>
          <a:xfrm>
            <a:off x="10471533" y="3569701"/>
            <a:ext cx="129600" cy="3132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4"/>
          <p:cNvCxnSpPr/>
          <p:nvPr/>
        </p:nvCxnSpPr>
        <p:spPr>
          <a:xfrm>
            <a:off x="10601273" y="3882921"/>
            <a:ext cx="102000" cy="3234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34"/>
          <p:cNvCxnSpPr/>
          <p:nvPr/>
        </p:nvCxnSpPr>
        <p:spPr>
          <a:xfrm>
            <a:off x="10703221" y="4206257"/>
            <a:ext cx="73500" cy="3309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34"/>
          <p:cNvCxnSpPr/>
          <p:nvPr/>
        </p:nvCxnSpPr>
        <p:spPr>
          <a:xfrm>
            <a:off x="10776600" y="4537248"/>
            <a:ext cx="44400" cy="3360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34"/>
          <p:cNvCxnSpPr/>
          <p:nvPr/>
        </p:nvCxnSpPr>
        <p:spPr>
          <a:xfrm>
            <a:off x="10820852" y="4873375"/>
            <a:ext cx="14700" cy="3387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34"/>
          <p:cNvCxnSpPr/>
          <p:nvPr/>
        </p:nvCxnSpPr>
        <p:spPr>
          <a:xfrm flipH="1" rot="10800000">
            <a:off x="6949440" y="4490580"/>
            <a:ext cx="1804200" cy="7215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4"/>
          <p:cNvCxnSpPr/>
          <p:nvPr/>
        </p:nvCxnSpPr>
        <p:spPr>
          <a:xfrm flipH="1" rot="10800000">
            <a:off x="6949440" y="4490580"/>
            <a:ext cx="1804200" cy="721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34"/>
          <p:cNvCxnSpPr/>
          <p:nvPr/>
        </p:nvCxnSpPr>
        <p:spPr>
          <a:xfrm flipH="1" rot="10800000">
            <a:off x="8753581" y="3768975"/>
            <a:ext cx="1804200" cy="7215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34"/>
          <p:cNvCxnSpPr/>
          <p:nvPr/>
        </p:nvCxnSpPr>
        <p:spPr>
          <a:xfrm flipH="1" rot="10800000">
            <a:off x="8753581" y="3768975"/>
            <a:ext cx="1804200" cy="721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34"/>
          <p:cNvSpPr/>
          <p:nvPr/>
        </p:nvSpPr>
        <p:spPr>
          <a:xfrm>
            <a:off x="6839712" y="510235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4"/>
          <p:cNvSpPr/>
          <p:nvPr/>
        </p:nvSpPr>
        <p:spPr>
          <a:xfrm>
            <a:off x="8643853" y="4380747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4"/>
          <p:cNvSpPr/>
          <p:nvPr/>
        </p:nvSpPr>
        <p:spPr>
          <a:xfrm>
            <a:off x="10447994" y="365914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8" name="Google Shape;558;p34"/>
          <p:cNvCxnSpPr/>
          <p:nvPr/>
        </p:nvCxnSpPr>
        <p:spPr>
          <a:xfrm flipH="1" rot="10800000">
            <a:off x="10557722" y="3657570"/>
            <a:ext cx="278100" cy="1113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9" name="Google Shape;559;p34"/>
          <p:cNvSpPr/>
          <p:nvPr/>
        </p:nvSpPr>
        <p:spPr>
          <a:xfrm>
            <a:off x="10680256" y="3502237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4"/>
          <p:cNvSpPr/>
          <p:nvPr/>
        </p:nvSpPr>
        <p:spPr>
          <a:xfrm>
            <a:off x="10789984" y="3611965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4"/>
          <p:cNvSpPr txBox="1"/>
          <p:nvPr/>
        </p:nvSpPr>
        <p:spPr>
          <a:xfrm>
            <a:off x="10652824" y="2926165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38.52 mm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62" name="Google Shape;562;p34"/>
          <p:cNvSpPr txBox="1"/>
          <p:nvPr/>
        </p:nvSpPr>
        <p:spPr>
          <a:xfrm>
            <a:off x="6858000" y="86868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AA84F"/>
                </a:solidFill>
              </a:rPr>
              <a:t>reach: 500 mm</a:t>
            </a:r>
            <a:endParaRPr sz="1600">
              <a:solidFill>
                <a:srgbClr val="6AA84F"/>
              </a:solidFill>
            </a:endParaRPr>
          </a:p>
        </p:txBody>
      </p:sp>
      <p:sp>
        <p:nvSpPr>
          <p:cNvPr id="563" name="Google Shape;563;p34"/>
          <p:cNvSpPr txBox="1"/>
          <p:nvPr/>
        </p:nvSpPr>
        <p:spPr>
          <a:xfrm>
            <a:off x="6583680" y="553212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34343"/>
                </a:solidFill>
              </a:rPr>
              <a:t>side view, in the arm’s plane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When gradient descent struggles:</a:t>
            </a:r>
            <a:endParaRPr sz="2400"/>
          </a:p>
        </p:txBody>
      </p:sp>
      <p:graphicFrame>
        <p:nvGraphicFramePr>
          <p:cNvPr id="569" name="Google Shape;569;p35"/>
          <p:cNvGraphicFramePr/>
          <p:nvPr/>
        </p:nvGraphicFramePr>
        <p:xfrm>
          <a:off x="27432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{CC3BE301-D3C2-40FC-B3EE-2B950076AB16}</a:tableStyleId>
              </a:tblPr>
              <a:tblGrid>
                <a:gridCol w="3291825"/>
                <a:gridCol w="8229600"/>
              </a:tblGrid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Situation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What happens</a:t>
                      </a:r>
                      <a:endParaRPr b="1" sz="1900"/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Target out of reach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ends with a leftover error (38.52 mm for (400, 300, 200))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Target near full reach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very slow: (375, 216.51, 250) is still 1.5 mm off after 1000 steps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Learning rate too big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bounces and never settles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Learning rate too small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hundreds of steps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Different start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0000"/>
                          </a:solidFill>
                        </a:rPr>
                        <a:t>a different (valid) answer</a:t>
                      </a:r>
                      <a:endParaRPr sz="19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70" name="Google Shape;570;p35"/>
          <p:cNvSpPr txBox="1"/>
          <p:nvPr/>
        </p:nvSpPr>
        <p:spPr>
          <a:xfrm>
            <a:off x="274320" y="4480560"/>
            <a:ext cx="11521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Near full reach the arm is almost straight. Bending the elbow then barely moves the tip toward the target, so the slope is tiny and so are the steps.</a:t>
            </a:r>
            <a:endParaRPr sz="2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Trigonometry vs. gradient descent</a:t>
            </a:r>
            <a:endParaRPr sz="2400"/>
          </a:p>
        </p:txBody>
      </p:sp>
      <p:sp>
        <p:nvSpPr>
          <p:cNvPr id="576" name="Google Shape;576;p36"/>
          <p:cNvSpPr/>
          <p:nvPr/>
        </p:nvSpPr>
        <p:spPr>
          <a:xfrm>
            <a:off x="274320" y="868680"/>
            <a:ext cx="5577900" cy="30174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6"/>
          <p:cNvSpPr txBox="1"/>
          <p:nvPr/>
        </p:nvSpPr>
        <p:spPr>
          <a:xfrm>
            <a:off x="411480" y="960120"/>
            <a:ext cx="53034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Lesson 6: trigonometry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+  Exact answer in one pass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+  Very fast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−  New triangles for every new joint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−  Special cases by hand</a:t>
            </a:r>
            <a:endParaRPr sz="2000"/>
          </a:p>
        </p:txBody>
      </p:sp>
      <p:sp>
        <p:nvSpPr>
          <p:cNvPr id="578" name="Google Shape;578;p36"/>
          <p:cNvSpPr/>
          <p:nvPr/>
        </p:nvSpPr>
        <p:spPr>
          <a:xfrm>
            <a:off x="6309360" y="868680"/>
            <a:ext cx="5577900" cy="30174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6"/>
          <p:cNvSpPr txBox="1"/>
          <p:nvPr/>
        </p:nvSpPr>
        <p:spPr>
          <a:xfrm>
            <a:off x="6446520" y="960120"/>
            <a:ext cx="53034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Lesson 7: gradient descent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+  The same loop for any arm: only FK changes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+  Unreachable targets fail gently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−  Close, not exact, and slower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−  Needs a good η and a good start</a:t>
            </a:r>
            <a:endParaRPr sz="2000"/>
          </a:p>
        </p:txBody>
      </p:sp>
      <p:sp>
        <p:nvSpPr>
          <p:cNvPr id="580" name="Google Shape;580;p36"/>
          <p:cNvSpPr txBox="1"/>
          <p:nvPr/>
        </p:nvSpPr>
        <p:spPr>
          <a:xfrm>
            <a:off x="274320" y="4297680"/>
            <a:ext cx="11521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If the arm had six joints, which method would you use, and why?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With gradient descent the loop stays the same: only FK changes.</a:t>
            </a:r>
            <a:endParaRPr sz="2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Making it faster:</a:t>
            </a:r>
            <a:endParaRPr sz="2400"/>
          </a:p>
        </p:txBody>
      </p:sp>
      <p:sp>
        <p:nvSpPr>
          <p:cNvPr id="586" name="Google Shape;586;p37"/>
          <p:cNvSpPr txBox="1"/>
          <p:nvPr/>
        </p:nvSpPr>
        <p:spPr>
          <a:xfrm>
            <a:off x="274320" y="822960"/>
            <a:ext cx="115215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Plain gradient descent is the simplest numerical IK method. Real robots use the same loop with smarter steps: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</a:t>
            </a:r>
            <a:r>
              <a:rPr b="1" lang="en-US" sz="2100"/>
              <a:t>Warm start</a:t>
            </a:r>
            <a:r>
              <a:rPr lang="en-US" sz="2100"/>
              <a:t>: begin from the arm’s current pose. The next target is usually close, so only a few steps are needed.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</a:t>
            </a:r>
            <a:r>
              <a:rPr b="1" lang="en-US" sz="2100"/>
              <a:t>Exact slopes</a:t>
            </a:r>
            <a:r>
              <a:rPr lang="en-US" sz="2100"/>
              <a:t>: calculus can give the slopes directly, without nudging (Jacobian methods, Lesson 8).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3.  </a:t>
            </a:r>
            <a:r>
              <a:rPr b="1" lang="en-US" sz="2100"/>
              <a:t>Adaptive steps</a:t>
            </a:r>
            <a:r>
              <a:rPr lang="en-US" sz="2100"/>
              <a:t>: take big steps where the valley is steep and small ones where it is flat.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All of them are still guess, measure, improve.</a:t>
            </a:r>
            <a:endParaRPr sz="2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What we learned:</a:t>
            </a:r>
            <a:endParaRPr sz="2400"/>
          </a:p>
        </p:txBody>
      </p:sp>
      <p:sp>
        <p:nvSpPr>
          <p:cNvPr id="592" name="Google Shape;592;p38"/>
          <p:cNvSpPr txBox="1"/>
          <p:nvPr/>
        </p:nvSpPr>
        <p:spPr>
          <a:xfrm>
            <a:off x="274320" y="822960"/>
            <a:ext cx="11521500" cy="5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Iterative IK guesses, measures the error and improves. It only needs FK.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Cost = (error ÷ 250)². The slope of each joint comes from nudging it.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 θ</a:t>
            </a:r>
            <a:r>
              <a:rPr baseline="-25000" lang="en-US" sz="2200"/>
              <a:t>new</a:t>
            </a:r>
            <a:r>
              <a:rPr lang="en-US" sz="2200"/>
              <a:t> = θ − η × slope. Too big an η bounces, too small an η crawls.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4.  Always check the final error, and mind the start pose.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Next time (Lesson 8): we write IK code ourselves and meet the Jacobian.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