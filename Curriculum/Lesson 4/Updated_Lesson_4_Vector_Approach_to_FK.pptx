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05F537-6600-4C5C-841D-AB38A1FBC9B4}">
  <a:tblStyle styleId="{EC05F537-6600-4C5C-841D-AB38A1FBC9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dhs0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dhs0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dhs01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dhs0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dhs0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dhs02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dhs0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dhs0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dhs03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dhs0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dhs0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dhs04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dhs0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dhs0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dhs05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dhs0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dhs0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dhs06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dhs0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dhs0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dhs07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dhs0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dhs0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dhs08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dhs0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dhs0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dhs09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dhs10w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dhs10w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dhs10w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dhs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dhs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dhs10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dhs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dhs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dhs11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dhs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dhs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dhs12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dhs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dhs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dhs13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dhs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dhs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dhs14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dhs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dhs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dhs15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dhs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dhs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dhs16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dhs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dhs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dhs17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dhs2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dhs2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dhs20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dhs2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dhs2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dhs21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dhs2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dhs2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dhs22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dhs2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dhs2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dhs23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dhs2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dhs2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dhs24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dhs2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dhs2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dhs25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dhs2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dhs2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dhs26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dhs2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dhs2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dhs27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dhs2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dhs2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dhs28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dhs2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dhs2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dhs29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dhs3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dhs3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dhs30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dhs3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dhs3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dhs31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dhs3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dhs3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dhs32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dhs3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dhs3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dhs33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dhs3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dhs3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dhs35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_COVER">
  <p:cSld name="LESSON_COVER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812800" y="2095499"/>
            <a:ext cx="6141720" cy="1421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b="1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_CONTENT">
  <p:cSld name="LESSON_CONTENT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12800" y="884302"/>
            <a:ext cx="1082040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_DIVIDER">
  <p:cSld name="LESSON_DIVIDER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812800" y="2003635"/>
            <a:ext cx="9144000" cy="744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desmos.com/3d/qq1w1zrs78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/>
        </p:nvSpPr>
        <p:spPr>
          <a:xfrm>
            <a:off x="731520" y="1188720"/>
            <a:ext cx="57606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The DH Approach to Forward Kinematics</a:t>
            </a:r>
            <a:endParaRPr b="1" sz="4000"/>
          </a:p>
        </p:txBody>
      </p:sp>
      <p:sp>
        <p:nvSpPr>
          <p:cNvPr id="23" name="Google Shape;23;p6"/>
          <p:cNvSpPr txBox="1"/>
          <p:nvPr/>
        </p:nvSpPr>
        <p:spPr>
          <a:xfrm>
            <a:off x="731520" y="3383280"/>
            <a:ext cx="57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Robotic Arm Course · Lesson 4 of 10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24" name="Google Shape;24;p6"/>
          <p:cNvSpPr txBox="1"/>
          <p:nvPr/>
        </p:nvSpPr>
        <p:spPr>
          <a:xfrm>
            <a:off x="731520" y="4023360"/>
            <a:ext cx="576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Day 1: The flat arm with vectors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Day 2: Adding the base turn (3D)</a:t>
            </a:r>
            <a:endParaRPr sz="2200"/>
          </a:p>
        </p:txBody>
      </p:sp>
      <p:sp>
        <p:nvSpPr>
          <p:cNvPr id="25" name="Google Shape;25;p6"/>
          <p:cNvSpPr/>
          <p:nvPr/>
        </p:nvSpPr>
        <p:spPr>
          <a:xfrm>
            <a:off x="6675120" y="5138928"/>
            <a:ext cx="4846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" name="Google Shape;26;p6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6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6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" name="Google Shape;29;p6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6"/>
          <p:cNvSpPr/>
          <p:nvPr/>
        </p:nvSpPr>
        <p:spPr>
          <a:xfrm>
            <a:off x="7205472" y="49194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85794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105225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 Lesson 3 left off:</a:t>
            </a:r>
            <a:endParaRPr sz="2400"/>
          </a:p>
        </p:txBody>
      </p:sp>
      <p:sp>
        <p:nvSpPr>
          <p:cNvPr id="39" name="Google Shape;39;p7"/>
          <p:cNvSpPr txBox="1"/>
          <p:nvPr/>
        </p:nvSpPr>
        <p:spPr>
          <a:xfrm>
            <a:off x="274320" y="822960"/>
            <a:ext cx="41148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L</a:t>
            </a:r>
            <a:r>
              <a:rPr baseline="-25000" lang="en-US" sz="24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L</a:t>
            </a:r>
            <a:r>
              <a:rPr baseline="-25000" lang="en-US" sz="24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θ</a:t>
            </a:r>
            <a:r>
              <a:rPr baseline="-25000" lang="en-US" sz="24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=45°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θ</a:t>
            </a:r>
            <a:r>
              <a:rPr baseline="-25000" lang="en-US" sz="24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=45°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40" name="Google Shape;40;p7"/>
          <p:cNvSpPr txBox="1"/>
          <p:nvPr/>
        </p:nvSpPr>
        <p:spPr>
          <a:xfrm>
            <a:off x="274320" y="2743200"/>
            <a:ext cx="47550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3 we used triangles to find the tip of the arm: (X, Y) = (426.78, 176.78).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Today we get the same answer with vectors. We also measure the angles the way engineers do. This is called the DH convention.</a:t>
            </a:r>
            <a:endParaRPr sz="2000"/>
          </a:p>
        </p:txBody>
      </p:sp>
      <p:sp>
        <p:nvSpPr>
          <p:cNvPr id="41" name="Google Shape;41;p7"/>
          <p:cNvSpPr/>
          <p:nvPr/>
        </p:nvSpPr>
        <p:spPr>
          <a:xfrm>
            <a:off x="5394960" y="5596128"/>
            <a:ext cx="54864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" name="Google Shape;42;p7"/>
          <p:cNvCxnSpPr/>
          <p:nvPr/>
        </p:nvCxnSpPr>
        <p:spPr>
          <a:xfrm flipH="1" rot="10800000">
            <a:off x="6035040" y="395070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7"/>
          <p:cNvCxnSpPr/>
          <p:nvPr/>
        </p:nvCxnSpPr>
        <p:spPr>
          <a:xfrm flipH="1" rot="10800000">
            <a:off x="6035040" y="395070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7"/>
          <p:cNvCxnSpPr/>
          <p:nvPr/>
        </p:nvCxnSpPr>
        <p:spPr>
          <a:xfrm>
            <a:off x="7570664" y="395077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7"/>
          <p:cNvCxnSpPr/>
          <p:nvPr/>
        </p:nvCxnSpPr>
        <p:spPr>
          <a:xfrm>
            <a:off x="7570664" y="395077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" name="Google Shape;46;p7"/>
          <p:cNvSpPr/>
          <p:nvPr/>
        </p:nvSpPr>
        <p:spPr>
          <a:xfrm>
            <a:off x="5925312" y="53766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7460936" y="384104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9632636" y="384104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8873684" y="3310696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tip (X, Y)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6217920" y="594360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(0, 0)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is a vector?</a:t>
            </a:r>
            <a:endParaRPr sz="2400"/>
          </a:p>
        </p:txBody>
      </p:sp>
      <p:sp>
        <p:nvSpPr>
          <p:cNvPr id="57" name="Google Shape;57;p8"/>
          <p:cNvSpPr txBox="1"/>
          <p:nvPr/>
        </p:nvSpPr>
        <p:spPr>
          <a:xfrm>
            <a:off x="274320" y="822960"/>
            <a:ext cx="48462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vector is an arrow.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It has a length and a direction.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write a vector as numbers.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(3, 4)</a:t>
            </a:r>
            <a:r>
              <a:rPr lang="en-US" sz="2200"/>
              <a:t> means 3 across and 4 up.</a:t>
            </a:r>
            <a:endParaRPr sz="2200"/>
          </a:p>
        </p:txBody>
      </p:sp>
      <p:cxnSp>
        <p:nvCxnSpPr>
          <p:cNvPr id="58" name="Google Shape;58;p8"/>
          <p:cNvCxnSpPr/>
          <p:nvPr/>
        </p:nvCxnSpPr>
        <p:spPr>
          <a:xfrm>
            <a:off x="6035040" y="5303520"/>
            <a:ext cx="39318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p8"/>
          <p:cNvCxnSpPr/>
          <p:nvPr/>
        </p:nvCxnSpPr>
        <p:spPr>
          <a:xfrm rot="10800000">
            <a:off x="6035040" y="1462920"/>
            <a:ext cx="0" cy="3840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8"/>
          <p:cNvCxnSpPr/>
          <p:nvPr/>
        </p:nvCxnSpPr>
        <p:spPr>
          <a:xfrm>
            <a:off x="6035040" y="5303520"/>
            <a:ext cx="2331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" name="Google Shape;61;p8"/>
          <p:cNvCxnSpPr/>
          <p:nvPr/>
        </p:nvCxnSpPr>
        <p:spPr>
          <a:xfrm rot="10800000">
            <a:off x="8366760" y="2194620"/>
            <a:ext cx="0" cy="3108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" name="Google Shape;62;p8"/>
          <p:cNvCxnSpPr/>
          <p:nvPr/>
        </p:nvCxnSpPr>
        <p:spPr>
          <a:xfrm flipH="1" rot="10800000">
            <a:off x="6035040" y="2194620"/>
            <a:ext cx="2331600" cy="31089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8"/>
          <p:cNvSpPr/>
          <p:nvPr/>
        </p:nvSpPr>
        <p:spPr>
          <a:xfrm>
            <a:off x="5943600" y="521208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6858000" y="5394960"/>
            <a:ext cx="130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 across</a:t>
            </a:r>
            <a:endParaRPr sz="2000"/>
          </a:p>
        </p:txBody>
      </p:sp>
      <p:sp>
        <p:nvSpPr>
          <p:cNvPr id="65" name="Google Shape;65;p8"/>
          <p:cNvSpPr txBox="1"/>
          <p:nvPr/>
        </p:nvSpPr>
        <p:spPr>
          <a:xfrm>
            <a:off x="8503920" y="3017520"/>
            <a:ext cx="81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4 up</a:t>
            </a:r>
            <a:endParaRPr sz="2000"/>
          </a:p>
        </p:txBody>
      </p:sp>
      <p:sp>
        <p:nvSpPr>
          <p:cNvPr id="66" name="Google Shape;66;p8"/>
          <p:cNvSpPr txBox="1"/>
          <p:nvPr/>
        </p:nvSpPr>
        <p:spPr>
          <a:xfrm>
            <a:off x="8458200" y="1737360"/>
            <a:ext cx="106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(3, 4)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274320" y="3108960"/>
            <a:ext cx="4937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length = √(3² + 4²) = 5</a:t>
            </a:r>
            <a:endParaRPr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Adding vectors:</a:t>
            </a:r>
            <a:endParaRPr sz="2400"/>
          </a:p>
        </p:txBody>
      </p:sp>
      <p:sp>
        <p:nvSpPr>
          <p:cNvPr id="74" name="Google Shape;74;p9"/>
          <p:cNvSpPr txBox="1"/>
          <p:nvPr/>
        </p:nvSpPr>
        <p:spPr>
          <a:xfrm>
            <a:off x="274320" y="822960"/>
            <a:ext cx="51207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Walk </a:t>
            </a:r>
            <a:r>
              <a:rPr lang="en-US" sz="2200">
                <a:solidFill>
                  <a:srgbClr val="FF0000"/>
                </a:solidFill>
              </a:rPr>
              <a:t>(3, 4)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Then walk </a:t>
            </a:r>
            <a:r>
              <a:rPr lang="en-US" sz="2200">
                <a:solidFill>
                  <a:srgbClr val="FF0000"/>
                </a:solidFill>
              </a:rPr>
              <a:t>(2, −1)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You end up at the sum: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(3, 4) + (2, −1) = (5, 3)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Add the first numbers. Then add the second numbers.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Multiply by a number: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2 × (3, 4) = (6, 8)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Same direction, twice as long.</a:t>
            </a:r>
            <a:endParaRPr sz="2200"/>
          </a:p>
        </p:txBody>
      </p:sp>
      <p:cxnSp>
        <p:nvCxnSpPr>
          <p:cNvPr id="75" name="Google Shape;75;p9"/>
          <p:cNvCxnSpPr/>
          <p:nvPr/>
        </p:nvCxnSpPr>
        <p:spPr>
          <a:xfrm flipH="1" rot="10800000">
            <a:off x="5852160" y="2560320"/>
            <a:ext cx="2057400" cy="27432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9"/>
          <p:cNvCxnSpPr/>
          <p:nvPr/>
        </p:nvCxnSpPr>
        <p:spPr>
          <a:xfrm>
            <a:off x="7909560" y="2560320"/>
            <a:ext cx="1371600" cy="6858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9"/>
          <p:cNvCxnSpPr/>
          <p:nvPr/>
        </p:nvCxnSpPr>
        <p:spPr>
          <a:xfrm flipH="1" rot="10800000">
            <a:off x="5852160" y="3246120"/>
            <a:ext cx="3429000" cy="2057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9"/>
          <p:cNvSpPr/>
          <p:nvPr/>
        </p:nvSpPr>
        <p:spPr>
          <a:xfrm>
            <a:off x="5760720" y="521208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 txBox="1"/>
          <p:nvPr/>
        </p:nvSpPr>
        <p:spPr>
          <a:xfrm>
            <a:off x="5257800" y="338328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(3, 4)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8275320" y="219456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(2, −1)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81" name="Google Shape;81;p9"/>
          <p:cNvSpPr txBox="1"/>
          <p:nvPr/>
        </p:nvSpPr>
        <p:spPr>
          <a:xfrm>
            <a:off x="7680960" y="429768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(5, 3)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Measuring angles the DH way:</a:t>
            </a:r>
            <a:endParaRPr sz="2400"/>
          </a:p>
        </p:txBody>
      </p:sp>
      <p:sp>
        <p:nvSpPr>
          <p:cNvPr id="88" name="Google Shape;88;p10"/>
          <p:cNvSpPr txBox="1"/>
          <p:nvPr/>
        </p:nvSpPr>
        <p:spPr>
          <a:xfrm>
            <a:off x="274320" y="822960"/>
            <a:ext cx="53949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Each angle is measured from the link before it.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Up (counterclockwise) is +.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Down (clockwise) is −.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θ</a:t>
            </a:r>
            <a:r>
              <a:rPr baseline="-25000" lang="en-US" sz="2200"/>
              <a:t>S</a:t>
            </a:r>
            <a:r>
              <a:rPr lang="en-US" sz="2200"/>
              <a:t>: the upper arm, measured from the floor.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θ</a:t>
            </a:r>
            <a:r>
              <a:rPr baseline="-25000" lang="en-US" sz="2200"/>
              <a:t>E</a:t>
            </a:r>
            <a:r>
              <a:rPr lang="en-US" sz="2200"/>
              <a:t>: the forearm, measured from the line of the upper arm (dashed).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Our arm: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45° and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−45°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5760720" y="5230368"/>
            <a:ext cx="55779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>
            <a:off x="6309360" y="5120640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" name="Google Shape;91;p10"/>
          <p:cNvCxnSpPr/>
          <p:nvPr/>
        </p:nvCxnSpPr>
        <p:spPr>
          <a:xfrm flipH="1" rot="10800000">
            <a:off x="7844984" y="2744416"/>
            <a:ext cx="840600" cy="840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2" name="Google Shape;92;p10"/>
          <p:cNvCxnSpPr/>
          <p:nvPr/>
        </p:nvCxnSpPr>
        <p:spPr>
          <a:xfrm flipH="1" rot="10800000">
            <a:off x="6309360" y="358494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0"/>
          <p:cNvCxnSpPr/>
          <p:nvPr/>
        </p:nvCxnSpPr>
        <p:spPr>
          <a:xfrm flipH="1" rot="10800000">
            <a:off x="6309360" y="358494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0"/>
          <p:cNvCxnSpPr/>
          <p:nvPr/>
        </p:nvCxnSpPr>
        <p:spPr>
          <a:xfrm>
            <a:off x="7844984" y="358501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0"/>
          <p:cNvCxnSpPr/>
          <p:nvPr/>
        </p:nvCxnSpPr>
        <p:spPr>
          <a:xfrm>
            <a:off x="7844984" y="358501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0"/>
          <p:cNvSpPr/>
          <p:nvPr/>
        </p:nvSpPr>
        <p:spPr>
          <a:xfrm>
            <a:off x="619963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7735256" y="347528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9906956" y="347528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10"/>
          <p:cNvCxnSpPr/>
          <p:nvPr/>
        </p:nvCxnSpPr>
        <p:spPr>
          <a:xfrm rot="10800000">
            <a:off x="7215960" y="5001240"/>
            <a:ext cx="7800" cy="11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0"/>
          <p:cNvCxnSpPr/>
          <p:nvPr/>
        </p:nvCxnSpPr>
        <p:spPr>
          <a:xfrm rot="10800000">
            <a:off x="7192537" y="4883987"/>
            <a:ext cx="23400" cy="117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0"/>
          <p:cNvCxnSpPr/>
          <p:nvPr/>
        </p:nvCxnSpPr>
        <p:spPr>
          <a:xfrm rot="10800000">
            <a:off x="7154203" y="4770576"/>
            <a:ext cx="38400" cy="11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0"/>
          <p:cNvCxnSpPr/>
          <p:nvPr/>
        </p:nvCxnSpPr>
        <p:spPr>
          <a:xfrm rot="10800000">
            <a:off x="7101355" y="4663314"/>
            <a:ext cx="52800" cy="10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0"/>
          <p:cNvCxnSpPr/>
          <p:nvPr/>
        </p:nvCxnSpPr>
        <p:spPr>
          <a:xfrm rot="10800000">
            <a:off x="7034654" y="4563840"/>
            <a:ext cx="66600" cy="9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0"/>
          <p:cNvCxnSpPr/>
          <p:nvPr/>
        </p:nvCxnSpPr>
        <p:spPr>
          <a:xfrm rot="10800000">
            <a:off x="6955902" y="4473989"/>
            <a:ext cx="78900" cy="9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0"/>
          <p:cNvCxnSpPr/>
          <p:nvPr/>
        </p:nvCxnSpPr>
        <p:spPr>
          <a:xfrm rot="10800000">
            <a:off x="8751584" y="3465616"/>
            <a:ext cx="7800" cy="11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0"/>
          <p:cNvCxnSpPr/>
          <p:nvPr/>
        </p:nvCxnSpPr>
        <p:spPr>
          <a:xfrm rot="10800000">
            <a:off x="8728161" y="3348363"/>
            <a:ext cx="23400" cy="117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0"/>
          <p:cNvCxnSpPr/>
          <p:nvPr/>
        </p:nvCxnSpPr>
        <p:spPr>
          <a:xfrm rot="10800000">
            <a:off x="8689826" y="3234952"/>
            <a:ext cx="38400" cy="11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0"/>
          <p:cNvCxnSpPr/>
          <p:nvPr/>
        </p:nvCxnSpPr>
        <p:spPr>
          <a:xfrm rot="10800000">
            <a:off x="8636979" y="3127690"/>
            <a:ext cx="52800" cy="10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0"/>
          <p:cNvCxnSpPr/>
          <p:nvPr/>
        </p:nvCxnSpPr>
        <p:spPr>
          <a:xfrm rot="10800000">
            <a:off x="8570277" y="3028216"/>
            <a:ext cx="66600" cy="9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0"/>
          <p:cNvCxnSpPr/>
          <p:nvPr/>
        </p:nvCxnSpPr>
        <p:spPr>
          <a:xfrm rot="10800000">
            <a:off x="8491526" y="2938365"/>
            <a:ext cx="78900" cy="9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0"/>
          <p:cNvSpPr txBox="1"/>
          <p:nvPr/>
        </p:nvSpPr>
        <p:spPr>
          <a:xfrm>
            <a:off x="7315200" y="4553712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= 45°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8896544" y="2899216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−45°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5760720" y="5943600"/>
            <a:ext cx="6217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From Lesson 3: θ</a:t>
            </a:r>
            <a:r>
              <a:rPr baseline="-25000" lang="en-US" sz="2000"/>
              <a:t>S</a:t>
            </a:r>
            <a:r>
              <a:rPr lang="en-US" sz="2000"/>
              <a:t> = 90° − θ</a:t>
            </a:r>
            <a:r>
              <a:rPr baseline="-25000" lang="en-US" sz="2000"/>
              <a:t>1</a:t>
            </a:r>
            <a:r>
              <a:rPr lang="en-US" sz="2000"/>
              <a:t>,  θ</a:t>
            </a:r>
            <a:r>
              <a:rPr baseline="-25000" lang="en-US" sz="2000"/>
              <a:t>E</a:t>
            </a:r>
            <a:r>
              <a:rPr lang="en-US" sz="2000"/>
              <a:t> = −θ</a:t>
            </a:r>
            <a:r>
              <a:rPr baseline="-25000" lang="en-US" sz="2000"/>
              <a:t>2</a:t>
            </a:r>
            <a:r>
              <a:rPr lang="en-US" sz="2000"/>
              <a:t>,  θ</a:t>
            </a:r>
            <a:r>
              <a:rPr baseline="-25000" lang="en-US" sz="2000"/>
              <a:t>B</a:t>
            </a:r>
            <a:r>
              <a:rPr lang="en-US" sz="2000"/>
              <a:t> = θ</a:t>
            </a:r>
            <a:r>
              <a:rPr baseline="-25000" lang="en-US" sz="2000"/>
              <a:t>3</a:t>
            </a:r>
            <a:endParaRPr baseline="-25000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 arrow for each link:</a:t>
            </a:r>
            <a:endParaRPr sz="2400"/>
          </a:p>
        </p:txBody>
      </p:sp>
      <p:sp>
        <p:nvSpPr>
          <p:cNvPr id="120" name="Google Shape;120;p11"/>
          <p:cNvSpPr txBox="1"/>
          <p:nvPr/>
        </p:nvSpPr>
        <p:spPr>
          <a:xfrm>
            <a:off x="274320" y="822960"/>
            <a:ext cx="60351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unit vector is an arrow with length 1.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At angle θ from the floor, it is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(cos θ, sin θ)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Multiply it by the link length L to get the link vector.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Upper arm, θ</a:t>
            </a:r>
            <a:r>
              <a:rPr baseline="-25000" lang="en-US" sz="2200"/>
              <a:t>S</a:t>
            </a:r>
            <a:r>
              <a:rPr lang="en-US" sz="2200"/>
              <a:t> = 45°: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250 × (0.7071, 0.7071)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= (176.78, 176.78)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121" name="Google Shape;121;p11"/>
          <p:cNvCxnSpPr/>
          <p:nvPr/>
        </p:nvCxnSpPr>
        <p:spPr>
          <a:xfrm>
            <a:off x="7498080" y="5120640"/>
            <a:ext cx="40233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1"/>
          <p:cNvCxnSpPr/>
          <p:nvPr/>
        </p:nvCxnSpPr>
        <p:spPr>
          <a:xfrm rot="10800000">
            <a:off x="7498080" y="1828740"/>
            <a:ext cx="0" cy="3291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1"/>
          <p:cNvCxnSpPr/>
          <p:nvPr/>
        </p:nvCxnSpPr>
        <p:spPr>
          <a:xfrm>
            <a:off x="7498080" y="5120640"/>
            <a:ext cx="23970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1"/>
          <p:cNvCxnSpPr/>
          <p:nvPr/>
        </p:nvCxnSpPr>
        <p:spPr>
          <a:xfrm rot="10800000">
            <a:off x="9894984" y="3442440"/>
            <a:ext cx="0" cy="167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1"/>
          <p:cNvCxnSpPr/>
          <p:nvPr/>
        </p:nvCxnSpPr>
        <p:spPr>
          <a:xfrm flipH="1" rot="10800000">
            <a:off x="7498080" y="3442440"/>
            <a:ext cx="2397000" cy="1678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1"/>
          <p:cNvSpPr/>
          <p:nvPr/>
        </p:nvSpPr>
        <p:spPr>
          <a:xfrm>
            <a:off x="7406640" y="502920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 rot="10800000">
            <a:off x="8311440" y="4995540"/>
            <a:ext cx="9600" cy="12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1"/>
          <p:cNvCxnSpPr/>
          <p:nvPr/>
        </p:nvCxnSpPr>
        <p:spPr>
          <a:xfrm rot="10800000">
            <a:off x="8282962" y="4873049"/>
            <a:ext cx="28500" cy="122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1"/>
          <p:cNvCxnSpPr/>
          <p:nvPr/>
        </p:nvCxnSpPr>
        <p:spPr>
          <a:xfrm rot="10800000">
            <a:off x="8236151" y="4756771"/>
            <a:ext cx="46800" cy="116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1"/>
          <p:cNvCxnSpPr/>
          <p:nvPr/>
        </p:nvCxnSpPr>
        <p:spPr>
          <a:xfrm rot="10800000">
            <a:off x="8172270" y="4648654"/>
            <a:ext cx="63900" cy="108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1"/>
          <p:cNvSpPr txBox="1"/>
          <p:nvPr/>
        </p:nvSpPr>
        <p:spPr>
          <a:xfrm>
            <a:off x="8366760" y="466344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8412480" y="37947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1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33" name="Google Shape;133;p11"/>
          <p:cNvSpPr txBox="1"/>
          <p:nvPr/>
        </p:nvSpPr>
        <p:spPr>
          <a:xfrm>
            <a:off x="8229600" y="516636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cos θ</a:t>
            </a:r>
            <a:endParaRPr sz="2000"/>
          </a:p>
        </p:txBody>
      </p:sp>
      <p:sp>
        <p:nvSpPr>
          <p:cNvPr id="134" name="Google Shape;134;p11"/>
          <p:cNvSpPr txBox="1"/>
          <p:nvPr/>
        </p:nvSpPr>
        <p:spPr>
          <a:xfrm>
            <a:off x="9986424" y="4098595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sin θ</a:t>
            </a:r>
            <a:endParaRPr sz="2000"/>
          </a:p>
        </p:txBody>
      </p:sp>
      <p:sp>
        <p:nvSpPr>
          <p:cNvPr id="135" name="Google Shape;135;p11"/>
          <p:cNvSpPr txBox="1"/>
          <p:nvPr/>
        </p:nvSpPr>
        <p:spPr>
          <a:xfrm>
            <a:off x="8889144" y="2939389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(cos θ, sin θ)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find the link vector.</a:t>
            </a:r>
            <a:endParaRPr sz="2400"/>
          </a:p>
        </p:txBody>
      </p:sp>
      <p:sp>
        <p:nvSpPr>
          <p:cNvPr id="142" name="Google Shape;142;p12"/>
          <p:cNvSpPr txBox="1"/>
          <p:nvPr/>
        </p:nvSpPr>
        <p:spPr>
          <a:xfrm>
            <a:off x="274320" y="914400"/>
            <a:ext cx="4114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1.  L=250mm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     θ=30°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274320" y="2468880"/>
            <a:ext cx="4114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2.  L=250mm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     θ=90°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274320" y="4023360"/>
            <a:ext cx="4206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 is measured from the floor.</a:t>
            </a:r>
            <a:endParaRPr sz="2000"/>
          </a:p>
        </p:txBody>
      </p:sp>
      <p:cxnSp>
        <p:nvCxnSpPr>
          <p:cNvPr id="145" name="Google Shape;145;p12"/>
          <p:cNvCxnSpPr/>
          <p:nvPr/>
        </p:nvCxnSpPr>
        <p:spPr>
          <a:xfrm>
            <a:off x="4937760" y="5394960"/>
            <a:ext cx="2560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2"/>
          <p:cNvCxnSpPr/>
          <p:nvPr/>
        </p:nvCxnSpPr>
        <p:spPr>
          <a:xfrm flipH="1" rot="10800000">
            <a:off x="4937760" y="4297560"/>
            <a:ext cx="1900500" cy="1097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2"/>
          <p:cNvCxnSpPr/>
          <p:nvPr/>
        </p:nvCxnSpPr>
        <p:spPr>
          <a:xfrm flipH="1" rot="10800000">
            <a:off x="4937760" y="4297560"/>
            <a:ext cx="1900500" cy="1097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2"/>
          <p:cNvCxnSpPr/>
          <p:nvPr/>
        </p:nvCxnSpPr>
        <p:spPr>
          <a:xfrm rot="10800000">
            <a:off x="6025740" y="5251860"/>
            <a:ext cx="9300" cy="143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2"/>
          <p:cNvCxnSpPr/>
          <p:nvPr/>
        </p:nvCxnSpPr>
        <p:spPr>
          <a:xfrm rot="10800000">
            <a:off x="5997753" y="5111036"/>
            <a:ext cx="27900" cy="14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2"/>
          <p:cNvCxnSpPr/>
          <p:nvPr/>
        </p:nvCxnSpPr>
        <p:spPr>
          <a:xfrm rot="10800000">
            <a:off x="5951451" y="4975063"/>
            <a:ext cx="46200" cy="13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2"/>
          <p:cNvCxnSpPr/>
          <p:nvPr/>
        </p:nvCxnSpPr>
        <p:spPr>
          <a:xfrm rot="10800000">
            <a:off x="5887915" y="4846349"/>
            <a:ext cx="63600" cy="128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2"/>
          <p:cNvSpPr/>
          <p:nvPr/>
        </p:nvSpPr>
        <p:spPr>
          <a:xfrm>
            <a:off x="4828032" y="52852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6728577" y="41879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6172200" y="4873752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θ=30°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6975465" y="3840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(?, ?)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4800600" y="59436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</a:t>
            </a:r>
            <a:endParaRPr sz="2000"/>
          </a:p>
        </p:txBody>
      </p:sp>
      <p:cxnSp>
        <p:nvCxnSpPr>
          <p:cNvPr id="157" name="Google Shape;157;p12"/>
          <p:cNvCxnSpPr/>
          <p:nvPr/>
        </p:nvCxnSpPr>
        <p:spPr>
          <a:xfrm>
            <a:off x="9692640" y="5394960"/>
            <a:ext cx="17373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2"/>
          <p:cNvCxnSpPr/>
          <p:nvPr/>
        </p:nvCxnSpPr>
        <p:spPr>
          <a:xfrm rot="10800000">
            <a:off x="9692640" y="3200460"/>
            <a:ext cx="0" cy="21945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2"/>
          <p:cNvCxnSpPr/>
          <p:nvPr/>
        </p:nvCxnSpPr>
        <p:spPr>
          <a:xfrm rot="10800000">
            <a:off x="9692640" y="3200460"/>
            <a:ext cx="0" cy="2194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2"/>
          <p:cNvCxnSpPr/>
          <p:nvPr/>
        </p:nvCxnSpPr>
        <p:spPr>
          <a:xfrm rot="10800000">
            <a:off x="10416660" y="5290860"/>
            <a:ext cx="7500" cy="10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2"/>
          <p:cNvCxnSpPr/>
          <p:nvPr/>
        </p:nvCxnSpPr>
        <p:spPr>
          <a:xfrm rot="10800000">
            <a:off x="10394514" y="5188854"/>
            <a:ext cx="22200" cy="10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2"/>
          <p:cNvCxnSpPr/>
          <p:nvPr/>
        </p:nvCxnSpPr>
        <p:spPr>
          <a:xfrm rot="10800000">
            <a:off x="10357928" y="5091067"/>
            <a:ext cx="36600" cy="97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2"/>
          <p:cNvCxnSpPr/>
          <p:nvPr/>
        </p:nvCxnSpPr>
        <p:spPr>
          <a:xfrm rot="10800000">
            <a:off x="10307954" y="4999576"/>
            <a:ext cx="50100" cy="9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2"/>
          <p:cNvCxnSpPr/>
          <p:nvPr/>
        </p:nvCxnSpPr>
        <p:spPr>
          <a:xfrm rot="10800000">
            <a:off x="10245634" y="4915770"/>
            <a:ext cx="62400" cy="83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2"/>
          <p:cNvCxnSpPr/>
          <p:nvPr/>
        </p:nvCxnSpPr>
        <p:spPr>
          <a:xfrm rot="10800000">
            <a:off x="10171686" y="4842116"/>
            <a:ext cx="73800" cy="7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2"/>
          <p:cNvCxnSpPr/>
          <p:nvPr/>
        </p:nvCxnSpPr>
        <p:spPr>
          <a:xfrm rot="10800000">
            <a:off x="10087984" y="4779714"/>
            <a:ext cx="83700" cy="62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2"/>
          <p:cNvCxnSpPr/>
          <p:nvPr/>
        </p:nvCxnSpPr>
        <p:spPr>
          <a:xfrm rot="10800000">
            <a:off x="9996630" y="4729466"/>
            <a:ext cx="91500" cy="50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2"/>
          <p:cNvCxnSpPr/>
          <p:nvPr/>
        </p:nvCxnSpPr>
        <p:spPr>
          <a:xfrm rot="10800000">
            <a:off x="9898724" y="4692946"/>
            <a:ext cx="97800" cy="3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2"/>
          <p:cNvCxnSpPr/>
          <p:nvPr/>
        </p:nvCxnSpPr>
        <p:spPr>
          <a:xfrm rot="10800000">
            <a:off x="9796733" y="4670872"/>
            <a:ext cx="102000" cy="2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2"/>
          <p:cNvCxnSpPr/>
          <p:nvPr/>
        </p:nvCxnSpPr>
        <p:spPr>
          <a:xfrm rot="10800000">
            <a:off x="9692646" y="4663386"/>
            <a:ext cx="104100" cy="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12"/>
          <p:cNvSpPr/>
          <p:nvPr/>
        </p:nvSpPr>
        <p:spPr>
          <a:xfrm>
            <a:off x="9582912" y="52852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9582912" y="30906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 txBox="1"/>
          <p:nvPr/>
        </p:nvSpPr>
        <p:spPr>
          <a:xfrm>
            <a:off x="10469880" y="448056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θ=90°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9829800" y="278892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(?, ?)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9555480" y="59436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solution</a:t>
            </a:r>
            <a:endParaRPr sz="2400"/>
          </a:p>
        </p:txBody>
      </p:sp>
      <p:sp>
        <p:nvSpPr>
          <p:cNvPr id="182" name="Google Shape;182;p13"/>
          <p:cNvSpPr txBox="1"/>
          <p:nvPr/>
        </p:nvSpPr>
        <p:spPr>
          <a:xfrm>
            <a:off x="274320" y="914400"/>
            <a:ext cx="4114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1.  L=250mm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     θ=30°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274320" y="2468880"/>
            <a:ext cx="4114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2.  L=250mm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     θ=90°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274320" y="4023360"/>
            <a:ext cx="4206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Solution:</a:t>
            </a:r>
            <a:endParaRPr sz="2000"/>
          </a:p>
        </p:txBody>
      </p:sp>
      <p:cxnSp>
        <p:nvCxnSpPr>
          <p:cNvPr id="185" name="Google Shape;185;p13"/>
          <p:cNvCxnSpPr/>
          <p:nvPr/>
        </p:nvCxnSpPr>
        <p:spPr>
          <a:xfrm>
            <a:off x="4937760" y="5394960"/>
            <a:ext cx="2560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3"/>
          <p:cNvCxnSpPr/>
          <p:nvPr/>
        </p:nvCxnSpPr>
        <p:spPr>
          <a:xfrm flipH="1" rot="10800000">
            <a:off x="4937760" y="4297560"/>
            <a:ext cx="1900500" cy="1097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3"/>
          <p:cNvCxnSpPr/>
          <p:nvPr/>
        </p:nvCxnSpPr>
        <p:spPr>
          <a:xfrm flipH="1" rot="10800000">
            <a:off x="4937760" y="4297560"/>
            <a:ext cx="1900500" cy="1097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3"/>
          <p:cNvCxnSpPr/>
          <p:nvPr/>
        </p:nvCxnSpPr>
        <p:spPr>
          <a:xfrm rot="10800000">
            <a:off x="6025740" y="5251860"/>
            <a:ext cx="9300" cy="143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3"/>
          <p:cNvCxnSpPr/>
          <p:nvPr/>
        </p:nvCxnSpPr>
        <p:spPr>
          <a:xfrm rot="10800000">
            <a:off x="5997753" y="5111036"/>
            <a:ext cx="27900" cy="14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3"/>
          <p:cNvCxnSpPr/>
          <p:nvPr/>
        </p:nvCxnSpPr>
        <p:spPr>
          <a:xfrm rot="10800000">
            <a:off x="5951451" y="4975063"/>
            <a:ext cx="46200" cy="13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3"/>
          <p:cNvCxnSpPr/>
          <p:nvPr/>
        </p:nvCxnSpPr>
        <p:spPr>
          <a:xfrm rot="10800000">
            <a:off x="5887915" y="4846349"/>
            <a:ext cx="63600" cy="128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13"/>
          <p:cNvSpPr/>
          <p:nvPr/>
        </p:nvSpPr>
        <p:spPr>
          <a:xfrm>
            <a:off x="4828032" y="52852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6728577" y="41879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6172200" y="4873752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θ=30°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6975465" y="3840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(216.51, 125.00)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4800600" y="59436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</a:t>
            </a:r>
            <a:endParaRPr sz="2000"/>
          </a:p>
        </p:txBody>
      </p:sp>
      <p:cxnSp>
        <p:nvCxnSpPr>
          <p:cNvPr id="197" name="Google Shape;197;p13"/>
          <p:cNvCxnSpPr/>
          <p:nvPr/>
        </p:nvCxnSpPr>
        <p:spPr>
          <a:xfrm>
            <a:off x="9692640" y="5394960"/>
            <a:ext cx="17373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13"/>
          <p:cNvCxnSpPr/>
          <p:nvPr/>
        </p:nvCxnSpPr>
        <p:spPr>
          <a:xfrm rot="10800000">
            <a:off x="9692640" y="3200460"/>
            <a:ext cx="0" cy="21945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3"/>
          <p:cNvCxnSpPr/>
          <p:nvPr/>
        </p:nvCxnSpPr>
        <p:spPr>
          <a:xfrm rot="10800000">
            <a:off x="9692640" y="3200460"/>
            <a:ext cx="0" cy="2194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13"/>
          <p:cNvCxnSpPr/>
          <p:nvPr/>
        </p:nvCxnSpPr>
        <p:spPr>
          <a:xfrm rot="10800000">
            <a:off x="10416660" y="5290860"/>
            <a:ext cx="7500" cy="10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3"/>
          <p:cNvCxnSpPr/>
          <p:nvPr/>
        </p:nvCxnSpPr>
        <p:spPr>
          <a:xfrm rot="10800000">
            <a:off x="10394514" y="5188854"/>
            <a:ext cx="22200" cy="10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3"/>
          <p:cNvCxnSpPr/>
          <p:nvPr/>
        </p:nvCxnSpPr>
        <p:spPr>
          <a:xfrm rot="10800000">
            <a:off x="10357928" y="5091067"/>
            <a:ext cx="36600" cy="97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3"/>
          <p:cNvCxnSpPr/>
          <p:nvPr/>
        </p:nvCxnSpPr>
        <p:spPr>
          <a:xfrm rot="10800000">
            <a:off x="10307954" y="4999576"/>
            <a:ext cx="50100" cy="9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3"/>
          <p:cNvCxnSpPr/>
          <p:nvPr/>
        </p:nvCxnSpPr>
        <p:spPr>
          <a:xfrm rot="10800000">
            <a:off x="10245634" y="4915770"/>
            <a:ext cx="62400" cy="83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3"/>
          <p:cNvCxnSpPr/>
          <p:nvPr/>
        </p:nvCxnSpPr>
        <p:spPr>
          <a:xfrm rot="10800000">
            <a:off x="10171686" y="4842116"/>
            <a:ext cx="73800" cy="7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3"/>
          <p:cNvCxnSpPr/>
          <p:nvPr/>
        </p:nvCxnSpPr>
        <p:spPr>
          <a:xfrm rot="10800000">
            <a:off x="10087984" y="4779714"/>
            <a:ext cx="83700" cy="62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3"/>
          <p:cNvCxnSpPr/>
          <p:nvPr/>
        </p:nvCxnSpPr>
        <p:spPr>
          <a:xfrm rot="10800000">
            <a:off x="9996630" y="4729466"/>
            <a:ext cx="91500" cy="50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3"/>
          <p:cNvCxnSpPr/>
          <p:nvPr/>
        </p:nvCxnSpPr>
        <p:spPr>
          <a:xfrm rot="10800000">
            <a:off x="9898724" y="4692946"/>
            <a:ext cx="97800" cy="3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3"/>
          <p:cNvCxnSpPr/>
          <p:nvPr/>
        </p:nvCxnSpPr>
        <p:spPr>
          <a:xfrm rot="10800000">
            <a:off x="9796733" y="4670872"/>
            <a:ext cx="102000" cy="2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3"/>
          <p:cNvCxnSpPr/>
          <p:nvPr/>
        </p:nvCxnSpPr>
        <p:spPr>
          <a:xfrm rot="10800000">
            <a:off x="9692646" y="4663386"/>
            <a:ext cx="104100" cy="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3"/>
          <p:cNvSpPr/>
          <p:nvPr/>
        </p:nvSpPr>
        <p:spPr>
          <a:xfrm>
            <a:off x="9582912" y="52852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9582912" y="30906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10469880" y="448056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θ=90°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9829800" y="278892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(0.00, 250.00)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9555480" y="594360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</a:t>
            </a:r>
            <a:endParaRPr sz="2000"/>
          </a:p>
        </p:txBody>
      </p:sp>
      <p:sp>
        <p:nvSpPr>
          <p:cNvPr id="216" name="Google Shape;216;p13"/>
          <p:cNvSpPr txBox="1"/>
          <p:nvPr/>
        </p:nvSpPr>
        <p:spPr>
          <a:xfrm>
            <a:off x="274320" y="4480560"/>
            <a:ext cx="4480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  250 × (cos 30°, sin 30°)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2.  250 × (cos 90°, sin 90°)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Turning an arrow 90°:</a:t>
            </a:r>
            <a:endParaRPr sz="2400"/>
          </a:p>
        </p:txBody>
      </p:sp>
      <p:sp>
        <p:nvSpPr>
          <p:cNvPr id="223" name="Google Shape;223;p14"/>
          <p:cNvSpPr txBox="1"/>
          <p:nvPr/>
        </p:nvSpPr>
        <p:spPr>
          <a:xfrm>
            <a:off x="274320" y="822960"/>
            <a:ext cx="56694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 turn an arrow 90° counterclockwise, swap the two numbers. Then change the sign of the first one.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(x, y) → (−y, x)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Example: </a:t>
            </a:r>
            <a:r>
              <a:rPr lang="en-US" sz="2200">
                <a:solidFill>
                  <a:srgbClr val="FF0000"/>
                </a:solidFill>
              </a:rPr>
              <a:t>(3, 4) → (−4, 3)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upper arm: e = (0.7071, 0.7071)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turns into </a:t>
            </a:r>
            <a:r>
              <a:rPr lang="en-US" sz="2200">
                <a:solidFill>
                  <a:srgbClr val="FF0000"/>
                </a:solidFill>
              </a:rPr>
              <a:t>n = (−0.7071, 0.7071)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 and n are at right angles. Together they are the upper arm’s frame.</a:t>
            </a:r>
            <a:endParaRPr sz="2200"/>
          </a:p>
        </p:txBody>
      </p:sp>
      <p:cxnSp>
        <p:nvCxnSpPr>
          <p:cNvPr id="224" name="Google Shape;224;p14"/>
          <p:cNvCxnSpPr/>
          <p:nvPr/>
        </p:nvCxnSpPr>
        <p:spPr>
          <a:xfrm>
            <a:off x="6309360" y="5120640"/>
            <a:ext cx="53949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4"/>
          <p:cNvCxnSpPr/>
          <p:nvPr/>
        </p:nvCxnSpPr>
        <p:spPr>
          <a:xfrm rot="10800000">
            <a:off x="8961120" y="2194440"/>
            <a:ext cx="0" cy="3383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4"/>
          <p:cNvCxnSpPr/>
          <p:nvPr/>
        </p:nvCxnSpPr>
        <p:spPr>
          <a:xfrm flipH="1" rot="10800000">
            <a:off x="8961120" y="2926140"/>
            <a:ext cx="1645800" cy="21945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14"/>
          <p:cNvCxnSpPr/>
          <p:nvPr/>
        </p:nvCxnSpPr>
        <p:spPr>
          <a:xfrm rot="10800000">
            <a:off x="6766620" y="3474840"/>
            <a:ext cx="2194500" cy="16458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14"/>
          <p:cNvSpPr/>
          <p:nvPr/>
        </p:nvSpPr>
        <p:spPr>
          <a:xfrm>
            <a:off x="8869680" y="502920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14"/>
          <p:cNvCxnSpPr/>
          <p:nvPr/>
        </p:nvCxnSpPr>
        <p:spPr>
          <a:xfrm rot="10800000">
            <a:off x="8909839" y="4762214"/>
            <a:ext cx="204900" cy="1536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14"/>
          <p:cNvCxnSpPr/>
          <p:nvPr/>
        </p:nvCxnSpPr>
        <p:spPr>
          <a:xfrm flipH="1">
            <a:off x="8756314" y="4762195"/>
            <a:ext cx="153600" cy="204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14"/>
          <p:cNvSpPr txBox="1"/>
          <p:nvPr/>
        </p:nvSpPr>
        <p:spPr>
          <a:xfrm>
            <a:off x="10424160" y="246888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(3, 4)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6217920" y="301752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(−4, 3)</a:t>
            </a:r>
            <a:endParaRPr sz="20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Finding the forearm’s arrow:</a:t>
            </a:r>
            <a:endParaRPr sz="2400"/>
          </a:p>
        </p:txBody>
      </p:sp>
      <p:sp>
        <p:nvSpPr>
          <p:cNvPr id="239" name="Google Shape;239;p15"/>
          <p:cNvSpPr txBox="1"/>
          <p:nvPr/>
        </p:nvSpPr>
        <p:spPr>
          <a:xfrm>
            <a:off x="274320" y="822960"/>
            <a:ext cx="57606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On the unit circle, an arrow at angle θ is: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cos θ</a:t>
            </a:r>
            <a:r>
              <a:rPr lang="en-US" sz="2200"/>
              <a:t> along x, then </a:t>
            </a:r>
            <a:r>
              <a:rPr lang="en-US" sz="2200">
                <a:solidFill>
                  <a:srgbClr val="FF0000"/>
                </a:solidFill>
              </a:rPr>
              <a:t>sin θ</a:t>
            </a:r>
            <a:r>
              <a:rPr lang="en-US" sz="2200"/>
              <a:t> along y.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forearm’s angle θ</a:t>
            </a:r>
            <a:r>
              <a:rPr baseline="-25000" lang="en-US" sz="2200"/>
              <a:t>E</a:t>
            </a:r>
            <a:r>
              <a:rPr lang="en-US" sz="2200"/>
              <a:t> is measured from the upper arm, not from the floor. So at the elbow, tilt the axes: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e (along the upper arm) is the new x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n (e turned 90°) is the new 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Use the same rule on the tilted axes: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f = 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e + sin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cos θ</a:t>
            </a:r>
            <a:r>
              <a:rPr baseline="-25000" lang="en-US" sz="2200"/>
              <a:t>E</a:t>
            </a:r>
            <a:r>
              <a:rPr lang="en-US" sz="2200"/>
              <a:t> along e, then sin θ</a:t>
            </a:r>
            <a:r>
              <a:rPr baseline="-25000" lang="en-US" sz="2200"/>
              <a:t>E</a:t>
            </a:r>
            <a:r>
              <a:rPr lang="en-US" sz="2200"/>
              <a:t> along n.</a:t>
            </a:r>
            <a:endParaRPr sz="2200"/>
          </a:p>
        </p:txBody>
      </p:sp>
      <p:cxnSp>
        <p:nvCxnSpPr>
          <p:cNvPr id="240" name="Google Shape;240;p15"/>
          <p:cNvCxnSpPr/>
          <p:nvPr/>
        </p:nvCxnSpPr>
        <p:spPr>
          <a:xfrm>
            <a:off x="6949440" y="2880360"/>
            <a:ext cx="24690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5"/>
          <p:cNvCxnSpPr/>
          <p:nvPr/>
        </p:nvCxnSpPr>
        <p:spPr>
          <a:xfrm rot="10800000">
            <a:off x="6949440" y="822960"/>
            <a:ext cx="0" cy="2057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15"/>
          <p:cNvCxnSpPr/>
          <p:nvPr/>
        </p:nvCxnSpPr>
        <p:spPr>
          <a:xfrm>
            <a:off x="6949440" y="2880360"/>
            <a:ext cx="1423200" cy="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15"/>
          <p:cNvCxnSpPr/>
          <p:nvPr/>
        </p:nvCxnSpPr>
        <p:spPr>
          <a:xfrm rot="10800000">
            <a:off x="8372602" y="1883760"/>
            <a:ext cx="0" cy="9966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15"/>
          <p:cNvCxnSpPr/>
          <p:nvPr/>
        </p:nvCxnSpPr>
        <p:spPr>
          <a:xfrm flipH="1" rot="10800000">
            <a:off x="6949440" y="1883760"/>
            <a:ext cx="1423200" cy="9966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15"/>
          <p:cNvSpPr/>
          <p:nvPr/>
        </p:nvSpPr>
        <p:spPr>
          <a:xfrm>
            <a:off x="6858000" y="278892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15"/>
          <p:cNvCxnSpPr/>
          <p:nvPr/>
        </p:nvCxnSpPr>
        <p:spPr>
          <a:xfrm rot="10800000">
            <a:off x="7491780" y="2796960"/>
            <a:ext cx="6300" cy="8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15"/>
          <p:cNvCxnSpPr/>
          <p:nvPr/>
        </p:nvCxnSpPr>
        <p:spPr>
          <a:xfrm rot="10800000">
            <a:off x="7472795" y="2715299"/>
            <a:ext cx="18900" cy="8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5"/>
          <p:cNvCxnSpPr/>
          <p:nvPr/>
        </p:nvCxnSpPr>
        <p:spPr>
          <a:xfrm rot="10800000">
            <a:off x="7441487" y="2637681"/>
            <a:ext cx="31200" cy="7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5"/>
          <p:cNvCxnSpPr/>
          <p:nvPr/>
        </p:nvCxnSpPr>
        <p:spPr>
          <a:xfrm rot="10800000">
            <a:off x="7398900" y="2565703"/>
            <a:ext cx="42600" cy="7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15"/>
          <p:cNvSpPr txBox="1"/>
          <p:nvPr/>
        </p:nvSpPr>
        <p:spPr>
          <a:xfrm>
            <a:off x="9464040" y="265176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251" name="Google Shape;251;p15"/>
          <p:cNvSpPr txBox="1"/>
          <p:nvPr/>
        </p:nvSpPr>
        <p:spPr>
          <a:xfrm>
            <a:off x="6812280" y="36576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252" name="Google Shape;252;p15"/>
          <p:cNvSpPr txBox="1"/>
          <p:nvPr/>
        </p:nvSpPr>
        <p:spPr>
          <a:xfrm>
            <a:off x="7516368" y="242316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7178040" y="2926080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cos θ</a:t>
            </a:r>
            <a:endParaRPr sz="2000"/>
          </a:p>
        </p:txBody>
      </p:sp>
      <p:sp>
        <p:nvSpPr>
          <p:cNvPr id="254" name="Google Shape;254;p15"/>
          <p:cNvSpPr txBox="1"/>
          <p:nvPr/>
        </p:nvSpPr>
        <p:spPr>
          <a:xfrm>
            <a:off x="8464042" y="2199226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sin θ</a:t>
            </a:r>
            <a:endParaRPr sz="2000"/>
          </a:p>
        </p:txBody>
      </p:sp>
      <p:sp>
        <p:nvSpPr>
          <p:cNvPr id="255" name="Google Shape;255;p15"/>
          <p:cNvSpPr txBox="1"/>
          <p:nvPr/>
        </p:nvSpPr>
        <p:spPr>
          <a:xfrm>
            <a:off x="9464040" y="114300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unit circle</a:t>
            </a:r>
            <a:endParaRPr sz="1800"/>
          </a:p>
        </p:txBody>
      </p:sp>
      <p:cxnSp>
        <p:nvCxnSpPr>
          <p:cNvPr id="256" name="Google Shape;256;p15"/>
          <p:cNvCxnSpPr/>
          <p:nvPr/>
        </p:nvCxnSpPr>
        <p:spPr>
          <a:xfrm flipH="1" rot="10800000">
            <a:off x="7211715" y="5714865"/>
            <a:ext cx="743700" cy="743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15"/>
          <p:cNvCxnSpPr/>
          <p:nvPr/>
        </p:nvCxnSpPr>
        <p:spPr>
          <a:xfrm flipH="1" rot="10800000">
            <a:off x="7211715" y="5714865"/>
            <a:ext cx="743700" cy="743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15"/>
          <p:cNvCxnSpPr/>
          <p:nvPr/>
        </p:nvCxnSpPr>
        <p:spPr>
          <a:xfrm flipH="1" rot="10800000">
            <a:off x="7955280" y="4033800"/>
            <a:ext cx="1681200" cy="16812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15"/>
          <p:cNvCxnSpPr/>
          <p:nvPr/>
        </p:nvCxnSpPr>
        <p:spPr>
          <a:xfrm rot="10800000">
            <a:off x="6468180" y="4227900"/>
            <a:ext cx="1487100" cy="14871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15"/>
          <p:cNvCxnSpPr/>
          <p:nvPr/>
        </p:nvCxnSpPr>
        <p:spPr>
          <a:xfrm flipH="1" rot="10800000">
            <a:off x="7955280" y="4708800"/>
            <a:ext cx="1006200" cy="10062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15"/>
          <p:cNvCxnSpPr/>
          <p:nvPr/>
        </p:nvCxnSpPr>
        <p:spPr>
          <a:xfrm rot="10800000">
            <a:off x="8256907" y="4003973"/>
            <a:ext cx="704700" cy="7047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15"/>
          <p:cNvCxnSpPr/>
          <p:nvPr/>
        </p:nvCxnSpPr>
        <p:spPr>
          <a:xfrm flipH="1" rot="10800000">
            <a:off x="7955280" y="4004100"/>
            <a:ext cx="301800" cy="17109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15"/>
          <p:cNvSpPr/>
          <p:nvPr/>
        </p:nvSpPr>
        <p:spPr>
          <a:xfrm>
            <a:off x="7845552" y="56052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15"/>
          <p:cNvCxnSpPr/>
          <p:nvPr/>
        </p:nvCxnSpPr>
        <p:spPr>
          <a:xfrm rot="10800000">
            <a:off x="8279627" y="5272453"/>
            <a:ext cx="63600" cy="5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15"/>
          <p:cNvCxnSpPr/>
          <p:nvPr/>
        </p:nvCxnSpPr>
        <p:spPr>
          <a:xfrm rot="10800000">
            <a:off x="8208596" y="5228452"/>
            <a:ext cx="71100" cy="4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15"/>
          <p:cNvCxnSpPr/>
          <p:nvPr/>
        </p:nvCxnSpPr>
        <p:spPr>
          <a:xfrm rot="10800000">
            <a:off x="8131514" y="5195350"/>
            <a:ext cx="77100" cy="33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5"/>
          <p:cNvCxnSpPr/>
          <p:nvPr/>
        </p:nvCxnSpPr>
        <p:spPr>
          <a:xfrm rot="10800000">
            <a:off x="8050635" y="5174776"/>
            <a:ext cx="81000" cy="2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15"/>
          <p:cNvSpPr txBox="1"/>
          <p:nvPr/>
        </p:nvSpPr>
        <p:spPr>
          <a:xfrm>
            <a:off x="9682104" y="3668136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e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6056670" y="386211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n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8165529" y="3565122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f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8165592" y="4617720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9464040" y="5074920"/>
            <a:ext cx="2560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At the elbow: tilted with the</a:t>
            </a:r>
            <a:r>
              <a:rPr lang="en-US" sz="1800"/>
              <a:t> upper arm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forearm turns from the upper arm:</a:t>
            </a:r>
            <a:endParaRPr sz="2400"/>
          </a:p>
        </p:txBody>
      </p:sp>
      <p:sp>
        <p:nvSpPr>
          <p:cNvPr id="279" name="Google Shape;279;p16"/>
          <p:cNvSpPr txBox="1"/>
          <p:nvPr/>
        </p:nvSpPr>
        <p:spPr>
          <a:xfrm>
            <a:off x="274320" y="822960"/>
            <a:ext cx="54864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 is the forearm’s arrow.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It is e turned by θ</a:t>
            </a:r>
            <a:r>
              <a:rPr baseline="-25000" lang="en-US" sz="2200"/>
              <a:t>E</a:t>
            </a:r>
            <a:r>
              <a:rPr lang="en-US" sz="2200"/>
              <a:t>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f = 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e + sin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θ</a:t>
            </a:r>
            <a:r>
              <a:rPr baseline="-25000" lang="en-US" sz="2200"/>
              <a:t>E</a:t>
            </a:r>
            <a:r>
              <a:rPr lang="en-US" sz="2200"/>
              <a:t> = 0°: f = e (no turn)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θ</a:t>
            </a:r>
            <a:r>
              <a:rPr baseline="-25000" lang="en-US" sz="2200"/>
              <a:t>E</a:t>
            </a:r>
            <a:r>
              <a:rPr lang="en-US" sz="2200"/>
              <a:t> = 90°: f = n (a quarter turn up)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θ</a:t>
            </a:r>
            <a:r>
              <a:rPr baseline="-25000" lang="en-US" sz="2200"/>
              <a:t>E</a:t>
            </a:r>
            <a:r>
              <a:rPr lang="en-US" sz="2200"/>
              <a:t> = −90°: f = −n (a quarter turn down)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forearm only needs the upper arm’s frame. That is the DH idea.</a:t>
            </a:r>
            <a:endParaRPr sz="2200"/>
          </a:p>
        </p:txBody>
      </p:sp>
      <p:sp>
        <p:nvSpPr>
          <p:cNvPr id="280" name="Google Shape;280;p16"/>
          <p:cNvSpPr/>
          <p:nvPr/>
        </p:nvSpPr>
        <p:spPr>
          <a:xfrm>
            <a:off x="5943600" y="5596128"/>
            <a:ext cx="54864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1" name="Google Shape;281;p16"/>
          <p:cNvCxnSpPr/>
          <p:nvPr/>
        </p:nvCxnSpPr>
        <p:spPr>
          <a:xfrm flipH="1" rot="10800000">
            <a:off x="6400800" y="4063800"/>
            <a:ext cx="1422600" cy="14226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16"/>
          <p:cNvCxnSpPr/>
          <p:nvPr/>
        </p:nvCxnSpPr>
        <p:spPr>
          <a:xfrm flipH="1" rot="10800000">
            <a:off x="6400800" y="4063800"/>
            <a:ext cx="1422600" cy="1422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16"/>
          <p:cNvSpPr/>
          <p:nvPr/>
        </p:nvSpPr>
        <p:spPr>
          <a:xfrm>
            <a:off x="6291072" y="53766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"/>
          <p:cNvSpPr/>
          <p:nvPr/>
        </p:nvSpPr>
        <p:spPr>
          <a:xfrm>
            <a:off x="7713545" y="395419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" name="Google Shape;285;p16"/>
          <p:cNvCxnSpPr/>
          <p:nvPr/>
        </p:nvCxnSpPr>
        <p:spPr>
          <a:xfrm flipH="1" rot="10800000">
            <a:off x="7823273" y="2964727"/>
            <a:ext cx="1099200" cy="10992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16"/>
          <p:cNvCxnSpPr/>
          <p:nvPr/>
        </p:nvCxnSpPr>
        <p:spPr>
          <a:xfrm rot="10800000">
            <a:off x="6724073" y="2964727"/>
            <a:ext cx="1099200" cy="10992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16"/>
          <p:cNvCxnSpPr/>
          <p:nvPr/>
        </p:nvCxnSpPr>
        <p:spPr>
          <a:xfrm>
            <a:off x="7823273" y="4063927"/>
            <a:ext cx="15546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16"/>
          <p:cNvCxnSpPr/>
          <p:nvPr/>
        </p:nvCxnSpPr>
        <p:spPr>
          <a:xfrm rot="10800000">
            <a:off x="8639333" y="3956527"/>
            <a:ext cx="6900" cy="10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16"/>
          <p:cNvCxnSpPr/>
          <p:nvPr/>
        </p:nvCxnSpPr>
        <p:spPr>
          <a:xfrm rot="10800000">
            <a:off x="8618192" y="3850910"/>
            <a:ext cx="21000" cy="105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16"/>
          <p:cNvCxnSpPr/>
          <p:nvPr/>
        </p:nvCxnSpPr>
        <p:spPr>
          <a:xfrm rot="10800000">
            <a:off x="8583691" y="3748930"/>
            <a:ext cx="34500" cy="10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16"/>
          <p:cNvCxnSpPr/>
          <p:nvPr/>
        </p:nvCxnSpPr>
        <p:spPr>
          <a:xfrm rot="10800000">
            <a:off x="8535888" y="3652394"/>
            <a:ext cx="47700" cy="9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16"/>
          <p:cNvCxnSpPr/>
          <p:nvPr/>
        </p:nvCxnSpPr>
        <p:spPr>
          <a:xfrm rot="10800000">
            <a:off x="8476277" y="3563047"/>
            <a:ext cx="59700" cy="8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16"/>
          <p:cNvCxnSpPr/>
          <p:nvPr/>
        </p:nvCxnSpPr>
        <p:spPr>
          <a:xfrm rot="10800000">
            <a:off x="8405071" y="3481941"/>
            <a:ext cx="71100" cy="8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16"/>
          <p:cNvSpPr txBox="1"/>
          <p:nvPr/>
        </p:nvSpPr>
        <p:spPr>
          <a:xfrm>
            <a:off x="8968176" y="2553264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e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6312609" y="2553264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n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9423473" y="3835327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f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8829113" y="3240967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−45°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the forearm’s arrow</a:t>
            </a:r>
            <a:endParaRPr sz="2400"/>
          </a:p>
        </p:txBody>
      </p:sp>
      <p:sp>
        <p:nvSpPr>
          <p:cNvPr id="304" name="Google Shape;304;p17"/>
          <p:cNvSpPr txBox="1"/>
          <p:nvPr/>
        </p:nvSpPr>
        <p:spPr>
          <a:xfrm>
            <a:off x="274320" y="822960"/>
            <a:ext cx="82296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S</a:t>
            </a:r>
            <a:r>
              <a:rPr lang="en-US" sz="2000"/>
              <a:t> = 45° and θ</a:t>
            </a:r>
            <a:r>
              <a:rPr baseline="-25000" lang="en-US" sz="2000"/>
              <a:t>E</a:t>
            </a:r>
            <a:r>
              <a:rPr lang="en-US" sz="2000"/>
              <a:t> = −45°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 = (cos 45°, sin 45°) = (0.7071, 0.7071)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 = (−0.7071, 0.7071)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cos(−45°) = 0.7071 and sin(−45°) = −0.7071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 = 0.7071 × (0.7071, 0.7071) + (−0.7071) × (−0.7071, 0.7071)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= (0.5000, 0.5000) + (0.5000, −0.5000)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</a:t>
            </a:r>
            <a:r>
              <a:rPr lang="en-US" sz="2000">
                <a:solidFill>
                  <a:srgbClr val="FF0000"/>
                </a:solidFill>
              </a:rPr>
              <a:t>= (1.0000, 0.0000)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forearm is flat. Check: 45° + (−45°) = 0° from the floor.</a:t>
            </a:r>
            <a:endParaRPr sz="2000"/>
          </a:p>
        </p:txBody>
      </p:sp>
      <p:cxnSp>
        <p:nvCxnSpPr>
          <p:cNvPr id="305" name="Google Shape;305;p17"/>
          <p:cNvCxnSpPr/>
          <p:nvPr/>
        </p:nvCxnSpPr>
        <p:spPr>
          <a:xfrm flipH="1" rot="10800000">
            <a:off x="10058400" y="1964040"/>
            <a:ext cx="1099200" cy="10992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17"/>
          <p:cNvCxnSpPr/>
          <p:nvPr/>
        </p:nvCxnSpPr>
        <p:spPr>
          <a:xfrm rot="10800000">
            <a:off x="8959200" y="1964040"/>
            <a:ext cx="1099200" cy="10992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17"/>
          <p:cNvCxnSpPr/>
          <p:nvPr/>
        </p:nvCxnSpPr>
        <p:spPr>
          <a:xfrm flipH="1" rot="10800000">
            <a:off x="10058400" y="2285940"/>
            <a:ext cx="777300" cy="7773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17"/>
          <p:cNvCxnSpPr/>
          <p:nvPr/>
        </p:nvCxnSpPr>
        <p:spPr>
          <a:xfrm>
            <a:off x="10835633" y="2286007"/>
            <a:ext cx="777300" cy="7773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17"/>
          <p:cNvCxnSpPr/>
          <p:nvPr/>
        </p:nvCxnSpPr>
        <p:spPr>
          <a:xfrm>
            <a:off x="10058400" y="3063240"/>
            <a:ext cx="15546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17"/>
          <p:cNvSpPr/>
          <p:nvPr/>
        </p:nvSpPr>
        <p:spPr>
          <a:xfrm>
            <a:off x="9966960" y="2971800"/>
            <a:ext cx="183000" cy="1830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11203303" y="1598297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e</a:t>
            </a:r>
            <a:endParaRPr sz="1800">
              <a:solidFill>
                <a:srgbClr val="6AA84F"/>
              </a:solidFill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8547737" y="1598297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n</a:t>
            </a:r>
            <a:endParaRPr sz="1800">
              <a:solidFill>
                <a:srgbClr val="6AA84F"/>
              </a:solidFill>
            </a:endParaRPr>
          </a:p>
        </p:txBody>
      </p:sp>
      <p:sp>
        <p:nvSpPr>
          <p:cNvPr id="313" name="Google Shape;313;p17"/>
          <p:cNvSpPr txBox="1"/>
          <p:nvPr/>
        </p:nvSpPr>
        <p:spPr>
          <a:xfrm>
            <a:off x="11658600" y="2862072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f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8686800" y="3520440"/>
            <a:ext cx="338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0.7071 along e, then 0.7071 away from n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Two vectors, one tip:</a:t>
            </a:r>
            <a:endParaRPr sz="2400"/>
          </a:p>
        </p:txBody>
      </p:sp>
      <p:sp>
        <p:nvSpPr>
          <p:cNvPr id="321" name="Google Shape;321;p18"/>
          <p:cNvSpPr txBox="1"/>
          <p:nvPr/>
        </p:nvSpPr>
        <p:spPr>
          <a:xfrm>
            <a:off x="274320" y="822960"/>
            <a:ext cx="4755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Upper arm: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= 250 × e = (176.78, 176.78)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Forearm: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b = 250 × f = (250.00, 0.00)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Put the arrows end to end: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+ b = </a:t>
            </a:r>
            <a:r>
              <a:rPr lang="en-US" sz="2200">
                <a:solidFill>
                  <a:srgbClr val="FF0000"/>
                </a:solidFill>
              </a:rPr>
              <a:t>(426.78, 176.78)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same answer as Lesson 3.</a:t>
            </a:r>
            <a:endParaRPr sz="2200"/>
          </a:p>
        </p:txBody>
      </p:sp>
      <p:sp>
        <p:nvSpPr>
          <p:cNvPr id="322" name="Google Shape;322;p18"/>
          <p:cNvSpPr/>
          <p:nvPr/>
        </p:nvSpPr>
        <p:spPr>
          <a:xfrm>
            <a:off x="5212080" y="559612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3" name="Google Shape;323;p18"/>
          <p:cNvCxnSpPr/>
          <p:nvPr/>
        </p:nvCxnSpPr>
        <p:spPr>
          <a:xfrm flipH="1" rot="10800000">
            <a:off x="5852160" y="3950700"/>
            <a:ext cx="1535700" cy="15357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18"/>
          <p:cNvCxnSpPr/>
          <p:nvPr/>
        </p:nvCxnSpPr>
        <p:spPr>
          <a:xfrm>
            <a:off x="7387784" y="3950776"/>
            <a:ext cx="2171700" cy="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18"/>
          <p:cNvCxnSpPr/>
          <p:nvPr/>
        </p:nvCxnSpPr>
        <p:spPr>
          <a:xfrm flipH="1" rot="10800000">
            <a:off x="5852160" y="3950700"/>
            <a:ext cx="3707400" cy="15357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18"/>
          <p:cNvSpPr/>
          <p:nvPr/>
        </p:nvSpPr>
        <p:spPr>
          <a:xfrm>
            <a:off x="5742432" y="53766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6172200" y="416052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</a:t>
            </a:r>
            <a:endParaRPr sz="2000"/>
          </a:p>
        </p:txBody>
      </p:sp>
      <p:sp>
        <p:nvSpPr>
          <p:cNvPr id="328" name="Google Shape;328;p18"/>
          <p:cNvSpPr txBox="1"/>
          <p:nvPr/>
        </p:nvSpPr>
        <p:spPr>
          <a:xfrm>
            <a:off x="8302184" y="3493576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</a:t>
            </a:r>
            <a:endParaRPr sz="2000"/>
          </a:p>
        </p:txBody>
      </p:sp>
      <p:sp>
        <p:nvSpPr>
          <p:cNvPr id="329" name="Google Shape;329;p18"/>
          <p:cNvSpPr txBox="1"/>
          <p:nvPr/>
        </p:nvSpPr>
        <p:spPr>
          <a:xfrm>
            <a:off x="7680960" y="484632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a + b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link table:</a:t>
            </a:r>
            <a:endParaRPr sz="2400"/>
          </a:p>
        </p:txBody>
      </p:sp>
      <p:graphicFrame>
        <p:nvGraphicFramePr>
          <p:cNvPr id="336" name="Google Shape;336;p19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377425"/>
                <a:gridCol w="1097275"/>
                <a:gridCol w="1737350"/>
                <a:gridCol w="2743200"/>
                <a:gridCol w="2834625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Link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 (mm)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angle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arrow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vector = L × arrow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Upper arm (e)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20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 = 45°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(0.7071, 0.7071)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(176.78, 176.78)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Turned 90° (n)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(−0.7071, 0.7071)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—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Forearm (f)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20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 = −45°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(1.0000, 0.0000)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(250.00, 0.00)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Tip (add)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(426.78, 176.78)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7" name="Google Shape;337;p19"/>
          <p:cNvSpPr txBox="1"/>
          <p:nvPr/>
        </p:nvSpPr>
        <p:spPr>
          <a:xfrm>
            <a:off x="548640" y="3886200"/>
            <a:ext cx="11155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 = (cos θ</a:t>
            </a:r>
            <a:r>
              <a:rPr baseline="-25000" lang="en-US" sz="2000"/>
              <a:t>S</a:t>
            </a:r>
            <a:r>
              <a:rPr lang="en-US" sz="2000"/>
              <a:t>, sin θ</a:t>
            </a:r>
            <a:r>
              <a:rPr baseline="-25000" lang="en-US" sz="2000"/>
              <a:t>S</a:t>
            </a:r>
            <a:r>
              <a:rPr lang="en-US" sz="2000"/>
              <a:t>)      n = (−sin θ</a:t>
            </a:r>
            <a:r>
              <a:rPr baseline="-25000" lang="en-US" sz="2000"/>
              <a:t>S</a:t>
            </a:r>
            <a:r>
              <a:rPr lang="en-US" sz="2000"/>
              <a:t>, cos θ</a:t>
            </a:r>
            <a:r>
              <a:rPr baseline="-25000" lang="en-US" sz="2000"/>
              <a:t>S</a:t>
            </a:r>
            <a:r>
              <a:rPr lang="en-US" sz="2000"/>
              <a:t>)      </a:t>
            </a:r>
            <a:r>
              <a:rPr lang="en-US" sz="2000">
                <a:solidFill>
                  <a:srgbClr val="FF0000"/>
                </a:solidFill>
              </a:rPr>
              <a:t>f = cos 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· e + sin 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· n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Keep all the digits in your calculator. Round only at the end.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</a:t>
            </a:r>
            <a:endParaRPr sz="2400"/>
          </a:p>
        </p:txBody>
      </p:sp>
      <p:sp>
        <p:nvSpPr>
          <p:cNvPr id="344" name="Google Shape;344;p20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60°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−30°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345" name="Google Shape;345;p20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377425"/>
                <a:gridCol w="1097275"/>
                <a:gridCol w="1737350"/>
                <a:gridCol w="2743200"/>
                <a:gridCol w="2834625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Link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 (mm)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angle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arrow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vector = L × arrow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Upper arm (e)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Turned 90° (n)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—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Forearm (f)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Tip (add)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6" name="Google Shape;346;p20"/>
          <p:cNvSpPr txBox="1"/>
          <p:nvPr/>
        </p:nvSpPr>
        <p:spPr>
          <a:xfrm>
            <a:off x="548640" y="434340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Y) = (?, ?)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5760720" y="4343400"/>
            <a:ext cx="6035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Fill in the table, one row at a time.</a:t>
            </a:r>
            <a:endParaRPr sz="2000"/>
          </a:p>
        </p:txBody>
      </p:sp>
      <p:sp>
        <p:nvSpPr>
          <p:cNvPr id="348" name="Google Shape;348;p20"/>
          <p:cNvSpPr txBox="1"/>
          <p:nvPr/>
        </p:nvSpPr>
        <p:spPr>
          <a:xfrm>
            <a:off x="548640" y="585216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3 this arm was θ</a:t>
            </a:r>
            <a:r>
              <a:rPr baseline="-25000" lang="en-US" sz="2000"/>
              <a:t>1</a:t>
            </a:r>
            <a:r>
              <a:rPr lang="en-US" sz="2000"/>
              <a:t> = 30° and θ</a:t>
            </a:r>
            <a:r>
              <a:rPr baseline="-25000" lang="en-US" sz="2000"/>
              <a:t>2</a:t>
            </a:r>
            <a:r>
              <a:rPr lang="en-US" sz="2000"/>
              <a:t> = 30°.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 solution</a:t>
            </a:r>
            <a:endParaRPr sz="2400"/>
          </a:p>
        </p:txBody>
      </p:sp>
      <p:sp>
        <p:nvSpPr>
          <p:cNvPr id="355" name="Google Shape;355;p21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60°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−30°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356" name="Google Shape;356;p21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377425"/>
                <a:gridCol w="1097275"/>
                <a:gridCol w="1737350"/>
                <a:gridCol w="2743200"/>
                <a:gridCol w="2834625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Link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 (mm)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angle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arrow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vector = L × arrow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Upper arm (e)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20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 = 60°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(0.5000, 0.8660)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(125.00, 216.51)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Turned 90° (n)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(−0.8660, 0.5000)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—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Forearm (f)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20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 = −30°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(0.8660, 0.5000)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(216.51, 125.00)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Tip (add)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(341.51, 341.51)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7" name="Google Shape;357;p21"/>
          <p:cNvSpPr txBox="1"/>
          <p:nvPr/>
        </p:nvSpPr>
        <p:spPr>
          <a:xfrm>
            <a:off x="548640" y="434340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Y) = (341.51, 341.51)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760720" y="4343400"/>
            <a:ext cx="6035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 = cos(−30°) e + sin(−30°) 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= 0.8660 e − 0.5000 n</a:t>
            </a:r>
            <a:endParaRPr sz="2000"/>
          </a:p>
        </p:txBody>
      </p:sp>
      <p:sp>
        <p:nvSpPr>
          <p:cNvPr id="359" name="Google Shape;359;p21"/>
          <p:cNvSpPr txBox="1"/>
          <p:nvPr/>
        </p:nvSpPr>
        <p:spPr>
          <a:xfrm>
            <a:off x="548640" y="585216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3 this arm was θ</a:t>
            </a:r>
            <a:r>
              <a:rPr baseline="-25000" lang="en-US" sz="2000"/>
              <a:t>1</a:t>
            </a:r>
            <a:r>
              <a:rPr lang="en-US" sz="2000"/>
              <a:t> = 30° and θ</a:t>
            </a:r>
            <a:r>
              <a:rPr baseline="-25000" lang="en-US" sz="2000"/>
              <a:t>2</a:t>
            </a:r>
            <a:r>
              <a:rPr lang="en-US" sz="2000"/>
              <a:t> = 30°.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</a:t>
            </a:r>
            <a:endParaRPr sz="2400"/>
          </a:p>
        </p:txBody>
      </p:sp>
      <p:sp>
        <p:nvSpPr>
          <p:cNvPr id="366" name="Google Shape;366;p22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367" name="Google Shape;367;p22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377425"/>
                <a:gridCol w="1097275"/>
                <a:gridCol w="1737350"/>
                <a:gridCol w="2743200"/>
                <a:gridCol w="2834625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Link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 (mm)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angle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arrow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vector = L × arrow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Upper arm (e)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Turned 90° (n)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—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Forearm (f)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Tip (add)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8" name="Google Shape;368;p22"/>
          <p:cNvSpPr txBox="1"/>
          <p:nvPr/>
        </p:nvSpPr>
        <p:spPr>
          <a:xfrm>
            <a:off x="548640" y="434340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Y) = (?, ?)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5760720" y="4343400"/>
            <a:ext cx="6035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Fill in the table, one row at a time.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Use the rules on the link table slide.</a:t>
            </a:r>
            <a:endParaRPr sz="2000"/>
          </a:p>
        </p:txBody>
      </p:sp>
      <p:sp>
        <p:nvSpPr>
          <p:cNvPr id="370" name="Google Shape;370;p22"/>
          <p:cNvSpPr txBox="1"/>
          <p:nvPr/>
        </p:nvSpPr>
        <p:spPr>
          <a:xfrm>
            <a:off x="548640" y="585216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3 this arm was θ</a:t>
            </a:r>
            <a:r>
              <a:rPr baseline="-25000" lang="en-US" sz="2000"/>
              <a:t>1</a:t>
            </a:r>
            <a:r>
              <a:rPr lang="en-US" sz="2000"/>
              <a:t> = 60° and θ</a:t>
            </a:r>
            <a:r>
              <a:rPr baseline="-25000" lang="en-US" sz="2000"/>
              <a:t>2</a:t>
            </a:r>
            <a:r>
              <a:rPr lang="en-US" sz="2000"/>
              <a:t> = 0°.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 solution</a:t>
            </a:r>
            <a:endParaRPr sz="2400"/>
          </a:p>
        </p:txBody>
      </p:sp>
      <p:sp>
        <p:nvSpPr>
          <p:cNvPr id="377" name="Google Shape;377;p23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378" name="Google Shape;378;p23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377425"/>
                <a:gridCol w="1097275"/>
                <a:gridCol w="1737350"/>
                <a:gridCol w="2743200"/>
                <a:gridCol w="2834625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Link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 (mm)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angle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arrow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vector = L × arrow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Upper arm (e)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20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 = 30°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(0.8660, 0.5000)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(216.51, 125.00)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Turned 90° (n)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(−0.5000, 0.8660)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—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Forearm (f)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20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 = 0°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(0.8660, 0.5000)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(216.51, 125.00)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Tip (add)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(433.01, 250.00)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9" name="Google Shape;379;p23"/>
          <p:cNvSpPr txBox="1"/>
          <p:nvPr/>
        </p:nvSpPr>
        <p:spPr>
          <a:xfrm>
            <a:off x="548640" y="434340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Y) = (433.01, 250.00)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5760720" y="4343400"/>
            <a:ext cx="6035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E</a:t>
            </a:r>
            <a:r>
              <a:rPr lang="en-US" sz="2000"/>
              <a:t> = 0°, so f = e.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arm is straight.</a:t>
            </a:r>
            <a:endParaRPr sz="2000"/>
          </a:p>
        </p:txBody>
      </p:sp>
      <p:sp>
        <p:nvSpPr>
          <p:cNvPr id="381" name="Google Shape;381;p23"/>
          <p:cNvSpPr txBox="1"/>
          <p:nvPr/>
        </p:nvSpPr>
        <p:spPr>
          <a:xfrm>
            <a:off x="548640" y="585216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3 this arm was θ</a:t>
            </a:r>
            <a:r>
              <a:rPr baseline="-25000" lang="en-US" sz="2000"/>
              <a:t>1</a:t>
            </a:r>
            <a:r>
              <a:rPr lang="en-US" sz="2000"/>
              <a:t> = 60° and θ</a:t>
            </a:r>
            <a:r>
              <a:rPr baseline="-25000" lang="en-US" sz="2000"/>
              <a:t>2</a:t>
            </a:r>
            <a:r>
              <a:rPr lang="en-US" sz="2000"/>
              <a:t> = 0°.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1 recap:</a:t>
            </a:r>
            <a:endParaRPr sz="2400"/>
          </a:p>
        </p:txBody>
      </p:sp>
      <p:sp>
        <p:nvSpPr>
          <p:cNvPr id="388" name="Google Shape;388;p24"/>
          <p:cNvSpPr txBox="1"/>
          <p:nvPr/>
        </p:nvSpPr>
        <p:spPr>
          <a:xfrm>
            <a:off x="274320" y="822960"/>
            <a:ext cx="69495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Each angle is measured from the link before it. Up is +. Down is −.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link’s arrow: </a:t>
            </a:r>
            <a:r>
              <a:rPr lang="en-US" sz="2200">
                <a:solidFill>
                  <a:srgbClr val="FF0000"/>
                </a:solidFill>
              </a:rPr>
              <a:t>(cos θ, sin θ)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Turn 90°: </a:t>
            </a:r>
            <a:r>
              <a:rPr lang="en-US" sz="2200">
                <a:solidFill>
                  <a:srgbClr val="FF0000"/>
                </a:solidFill>
              </a:rPr>
              <a:t>(x, y) → (−y, x)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forearm’s arrow: </a:t>
            </a:r>
            <a:r>
              <a:rPr lang="en-US" sz="2200">
                <a:solidFill>
                  <a:srgbClr val="FF0000"/>
                </a:solidFill>
              </a:rPr>
              <a:t>f = 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e + sin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tip is the sum of the link vectors.</a:t>
            </a:r>
            <a:endParaRPr sz="2200"/>
          </a:p>
        </p:txBody>
      </p:sp>
      <p:sp>
        <p:nvSpPr>
          <p:cNvPr id="389" name="Google Shape;389;p24"/>
          <p:cNvSpPr/>
          <p:nvPr/>
        </p:nvSpPr>
        <p:spPr>
          <a:xfrm>
            <a:off x="7498080" y="5230368"/>
            <a:ext cx="42063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0" name="Google Shape;390;p24"/>
          <p:cNvCxnSpPr/>
          <p:nvPr/>
        </p:nvCxnSpPr>
        <p:spPr>
          <a:xfrm flipH="1" rot="10800000">
            <a:off x="8046720" y="3908340"/>
            <a:ext cx="1212300" cy="1212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24"/>
          <p:cNvCxnSpPr/>
          <p:nvPr/>
        </p:nvCxnSpPr>
        <p:spPr>
          <a:xfrm flipH="1" rot="10800000">
            <a:off x="8046720" y="3908340"/>
            <a:ext cx="1212300" cy="1212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24"/>
          <p:cNvCxnSpPr/>
          <p:nvPr/>
        </p:nvCxnSpPr>
        <p:spPr>
          <a:xfrm>
            <a:off x="9259055" y="3908305"/>
            <a:ext cx="17145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24"/>
          <p:cNvCxnSpPr/>
          <p:nvPr/>
        </p:nvCxnSpPr>
        <p:spPr>
          <a:xfrm>
            <a:off x="9259055" y="3908305"/>
            <a:ext cx="17145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24"/>
          <p:cNvSpPr/>
          <p:nvPr/>
        </p:nvSpPr>
        <p:spPr>
          <a:xfrm>
            <a:off x="793699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4"/>
          <p:cNvSpPr/>
          <p:nvPr/>
        </p:nvSpPr>
        <p:spPr>
          <a:xfrm>
            <a:off x="9149327" y="379857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10863827" y="379857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8138160" y="356616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</a:t>
            </a:r>
            <a:endParaRPr sz="2000"/>
          </a:p>
        </p:txBody>
      </p:sp>
      <p:sp>
        <p:nvSpPr>
          <p:cNvPr id="398" name="Google Shape;398;p24"/>
          <p:cNvSpPr txBox="1"/>
          <p:nvPr/>
        </p:nvSpPr>
        <p:spPr>
          <a:xfrm>
            <a:off x="9692640" y="324612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2</a:t>
            </a:r>
            <a:endParaRPr sz="2400"/>
          </a:p>
        </p:txBody>
      </p:sp>
      <p:sp>
        <p:nvSpPr>
          <p:cNvPr id="405" name="Google Shape;405;p25"/>
          <p:cNvSpPr txBox="1"/>
          <p:nvPr/>
        </p:nvSpPr>
        <p:spPr>
          <a:xfrm>
            <a:off x="274325" y="988022"/>
            <a:ext cx="6035100" cy="55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On Day 1 the tip was (across, up). For our arm it was (426.78, 176.78).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Today the base turns, so “across” can point any way on the floor. We give the two numbers new names: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the reach, </a:t>
            </a:r>
            <a:r>
              <a:rPr lang="en-US" sz="2000">
                <a:solidFill>
                  <a:srgbClr val="FF0000"/>
                </a:solidFill>
              </a:rPr>
              <a:t>R</a:t>
            </a:r>
            <a:r>
              <a:rPr lang="en-US" sz="2000"/>
              <a:t> = 426.78 (along the floor)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the height, </a:t>
            </a:r>
            <a:r>
              <a:rPr lang="en-US" sz="2000">
                <a:solidFill>
                  <a:srgbClr val="FF0000"/>
                </a:solidFill>
              </a:rPr>
              <a:t>z</a:t>
            </a:r>
            <a:r>
              <a:rPr lang="en-US" sz="2000"/>
              <a:t> = 176.78 (up)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From now on, up is z, like in Desmos. (Lesson 3 called it Y.)</a:t>
            </a:r>
            <a:endParaRPr sz="2000"/>
          </a:p>
        </p:txBody>
      </p:sp>
      <p:sp>
        <p:nvSpPr>
          <p:cNvPr id="406" name="Google Shape;406;p25"/>
          <p:cNvSpPr/>
          <p:nvPr/>
        </p:nvSpPr>
        <p:spPr>
          <a:xfrm flipH="1" rot="-2749835">
            <a:off x="8076124" y="3179838"/>
            <a:ext cx="1346331" cy="39024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7" name="Google Shape;407;p25"/>
          <p:cNvCxnSpPr/>
          <p:nvPr/>
        </p:nvCxnSpPr>
        <p:spPr>
          <a:xfrm flipH="1">
            <a:off x="6870120" y="4572000"/>
            <a:ext cx="719400" cy="740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25"/>
          <p:cNvCxnSpPr/>
          <p:nvPr/>
        </p:nvCxnSpPr>
        <p:spPr>
          <a:xfrm>
            <a:off x="7589520" y="4572000"/>
            <a:ext cx="3093300" cy="421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25"/>
          <p:cNvCxnSpPr/>
          <p:nvPr/>
        </p:nvCxnSpPr>
        <p:spPr>
          <a:xfrm rot="10800000">
            <a:off x="7589520" y="2622000"/>
            <a:ext cx="0" cy="19500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25"/>
          <p:cNvSpPr/>
          <p:nvPr/>
        </p:nvSpPr>
        <p:spPr>
          <a:xfrm>
            <a:off x="7296912" y="446238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p25"/>
          <p:cNvCxnSpPr/>
          <p:nvPr/>
        </p:nvCxnSpPr>
        <p:spPr>
          <a:xfrm>
            <a:off x="7589520" y="4572000"/>
            <a:ext cx="1856100" cy="82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25"/>
          <p:cNvCxnSpPr/>
          <p:nvPr/>
        </p:nvCxnSpPr>
        <p:spPr>
          <a:xfrm rot="10800000">
            <a:off x="9445769" y="4291601"/>
            <a:ext cx="0" cy="110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5"/>
          <p:cNvCxnSpPr/>
          <p:nvPr/>
        </p:nvCxnSpPr>
        <p:spPr>
          <a:xfrm flipH="1" rot="10800000">
            <a:off x="7589520" y="3806100"/>
            <a:ext cx="768900" cy="765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5"/>
          <p:cNvCxnSpPr/>
          <p:nvPr/>
        </p:nvCxnSpPr>
        <p:spPr>
          <a:xfrm flipH="1" rot="10800000">
            <a:off x="7589520" y="3806100"/>
            <a:ext cx="768900" cy="765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5"/>
          <p:cNvCxnSpPr/>
          <p:nvPr/>
        </p:nvCxnSpPr>
        <p:spPr>
          <a:xfrm>
            <a:off x="8358403" y="3806190"/>
            <a:ext cx="1087500" cy="485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5"/>
          <p:cNvCxnSpPr/>
          <p:nvPr/>
        </p:nvCxnSpPr>
        <p:spPr>
          <a:xfrm>
            <a:off x="8358403" y="3806190"/>
            <a:ext cx="1087500" cy="485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25"/>
          <p:cNvSpPr/>
          <p:nvPr/>
        </p:nvSpPr>
        <p:spPr>
          <a:xfrm>
            <a:off x="7479792" y="44622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8248675" y="369646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5"/>
          <p:cNvSpPr/>
          <p:nvPr/>
        </p:nvSpPr>
        <p:spPr>
          <a:xfrm>
            <a:off x="9336041" y="4181904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"/>
          <p:cNvSpPr txBox="1"/>
          <p:nvPr/>
        </p:nvSpPr>
        <p:spPr>
          <a:xfrm>
            <a:off x="6458731" y="517517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421" name="Google Shape;421;p25"/>
          <p:cNvSpPr txBox="1"/>
          <p:nvPr/>
        </p:nvSpPr>
        <p:spPr>
          <a:xfrm>
            <a:off x="10701126" y="45822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422" name="Google Shape;422;p25"/>
          <p:cNvSpPr txBox="1"/>
          <p:nvPr/>
        </p:nvSpPr>
        <p:spPr>
          <a:xfrm>
            <a:off x="7178040" y="243914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423" name="Google Shape;423;p25"/>
          <p:cNvSpPr txBox="1"/>
          <p:nvPr/>
        </p:nvSpPr>
        <p:spPr>
          <a:xfrm>
            <a:off x="8471924" y="5004639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R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9061721" y="430992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z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9262889" y="3742992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tip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base turns the whole arm:</a:t>
            </a:r>
            <a:endParaRPr sz="2400"/>
          </a:p>
        </p:txBody>
      </p:sp>
      <p:sp>
        <p:nvSpPr>
          <p:cNvPr id="432" name="Google Shape;432;p26"/>
          <p:cNvSpPr txBox="1"/>
          <p:nvPr/>
        </p:nvSpPr>
        <p:spPr>
          <a:xfrm>
            <a:off x="274320" y="822960"/>
            <a:ext cx="51207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base turns the arm by θ</a:t>
            </a:r>
            <a:r>
              <a:rPr baseline="-25000" lang="en-US" sz="2200"/>
              <a:t>B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arm’s shadow on the floor is the reach, 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Split the shadow along x and y: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x = R cos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endParaRPr baseline="-25000"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y = R sin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endParaRPr baseline="-25000"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height z does not change.</a:t>
            </a:r>
            <a:endParaRPr sz="2200"/>
          </a:p>
        </p:txBody>
      </p:sp>
      <p:sp>
        <p:nvSpPr>
          <p:cNvPr id="433" name="Google Shape;433;p26"/>
          <p:cNvSpPr/>
          <p:nvPr/>
        </p:nvSpPr>
        <p:spPr>
          <a:xfrm flipH="1" rot="-2749835">
            <a:off x="8076124" y="3179838"/>
            <a:ext cx="1346331" cy="39024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4" name="Google Shape;434;p26"/>
          <p:cNvCxnSpPr/>
          <p:nvPr/>
        </p:nvCxnSpPr>
        <p:spPr>
          <a:xfrm flipH="1">
            <a:off x="6870120" y="4572000"/>
            <a:ext cx="719400" cy="740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26"/>
          <p:cNvCxnSpPr/>
          <p:nvPr/>
        </p:nvCxnSpPr>
        <p:spPr>
          <a:xfrm>
            <a:off x="7589520" y="4572000"/>
            <a:ext cx="3093300" cy="421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26"/>
          <p:cNvCxnSpPr/>
          <p:nvPr/>
        </p:nvCxnSpPr>
        <p:spPr>
          <a:xfrm rot="10800000">
            <a:off x="7589520" y="2622000"/>
            <a:ext cx="0" cy="19500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26"/>
          <p:cNvSpPr/>
          <p:nvPr/>
        </p:nvSpPr>
        <p:spPr>
          <a:xfrm>
            <a:off x="7296912" y="446238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8" name="Google Shape;438;p26"/>
          <p:cNvCxnSpPr/>
          <p:nvPr/>
        </p:nvCxnSpPr>
        <p:spPr>
          <a:xfrm flipH="1">
            <a:off x="7095720" y="4572000"/>
            <a:ext cx="493800" cy="50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26"/>
          <p:cNvCxnSpPr/>
          <p:nvPr/>
        </p:nvCxnSpPr>
        <p:spPr>
          <a:xfrm>
            <a:off x="7095675" y="5080276"/>
            <a:ext cx="2350200" cy="320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26"/>
          <p:cNvCxnSpPr/>
          <p:nvPr/>
        </p:nvCxnSpPr>
        <p:spPr>
          <a:xfrm>
            <a:off x="7589520" y="4572000"/>
            <a:ext cx="1856100" cy="82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26"/>
          <p:cNvCxnSpPr/>
          <p:nvPr/>
        </p:nvCxnSpPr>
        <p:spPr>
          <a:xfrm rot="10800000">
            <a:off x="9445769" y="4291601"/>
            <a:ext cx="0" cy="11091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26"/>
          <p:cNvCxnSpPr/>
          <p:nvPr/>
        </p:nvCxnSpPr>
        <p:spPr>
          <a:xfrm>
            <a:off x="7339325" y="4829506"/>
            <a:ext cx="91800" cy="9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26"/>
          <p:cNvCxnSpPr/>
          <p:nvPr/>
        </p:nvCxnSpPr>
        <p:spPr>
          <a:xfrm>
            <a:off x="7431190" y="4839537"/>
            <a:ext cx="94500" cy="5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26"/>
          <p:cNvCxnSpPr/>
          <p:nvPr/>
        </p:nvCxnSpPr>
        <p:spPr>
          <a:xfrm>
            <a:off x="7525764" y="4844989"/>
            <a:ext cx="95700" cy="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26"/>
          <p:cNvCxnSpPr/>
          <p:nvPr/>
        </p:nvCxnSpPr>
        <p:spPr>
          <a:xfrm flipH="1" rot="10800000">
            <a:off x="7621428" y="4841871"/>
            <a:ext cx="95100" cy="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26"/>
          <p:cNvCxnSpPr/>
          <p:nvPr/>
        </p:nvCxnSpPr>
        <p:spPr>
          <a:xfrm flipH="1" rot="10800000">
            <a:off x="7716547" y="4833469"/>
            <a:ext cx="93000" cy="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26"/>
          <p:cNvCxnSpPr/>
          <p:nvPr/>
        </p:nvCxnSpPr>
        <p:spPr>
          <a:xfrm flipH="1" rot="10800000">
            <a:off x="7809492" y="4820449"/>
            <a:ext cx="89100" cy="1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26"/>
          <p:cNvCxnSpPr/>
          <p:nvPr/>
        </p:nvCxnSpPr>
        <p:spPr>
          <a:xfrm flipH="1" rot="10800000">
            <a:off x="7898674" y="4803258"/>
            <a:ext cx="84000" cy="1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6"/>
          <p:cNvCxnSpPr/>
          <p:nvPr/>
        </p:nvCxnSpPr>
        <p:spPr>
          <a:xfrm flipH="1" rot="10800000">
            <a:off x="7982565" y="4781816"/>
            <a:ext cx="77100" cy="2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6"/>
          <p:cNvCxnSpPr/>
          <p:nvPr/>
        </p:nvCxnSpPr>
        <p:spPr>
          <a:xfrm flipH="1" rot="10800000">
            <a:off x="7589520" y="3806100"/>
            <a:ext cx="768900" cy="765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6"/>
          <p:cNvCxnSpPr/>
          <p:nvPr/>
        </p:nvCxnSpPr>
        <p:spPr>
          <a:xfrm flipH="1" rot="10800000">
            <a:off x="7589520" y="3806100"/>
            <a:ext cx="768900" cy="765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26"/>
          <p:cNvCxnSpPr/>
          <p:nvPr/>
        </p:nvCxnSpPr>
        <p:spPr>
          <a:xfrm>
            <a:off x="8358403" y="3806190"/>
            <a:ext cx="1087500" cy="485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26"/>
          <p:cNvCxnSpPr/>
          <p:nvPr/>
        </p:nvCxnSpPr>
        <p:spPr>
          <a:xfrm>
            <a:off x="8358403" y="3806190"/>
            <a:ext cx="1087500" cy="485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26"/>
          <p:cNvSpPr/>
          <p:nvPr/>
        </p:nvSpPr>
        <p:spPr>
          <a:xfrm>
            <a:off x="7479792" y="44622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8248675" y="369646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9336041" y="4181904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6458731" y="517517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458" name="Google Shape;458;p26"/>
          <p:cNvSpPr txBox="1"/>
          <p:nvPr/>
        </p:nvSpPr>
        <p:spPr>
          <a:xfrm>
            <a:off x="10701126" y="45822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459" name="Google Shape;459;p26"/>
          <p:cNvSpPr txBox="1"/>
          <p:nvPr/>
        </p:nvSpPr>
        <p:spPr>
          <a:xfrm>
            <a:off x="7178040" y="243914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460" name="Google Shape;460;p26"/>
          <p:cNvSpPr txBox="1"/>
          <p:nvPr/>
        </p:nvSpPr>
        <p:spPr>
          <a:xfrm>
            <a:off x="7585627" y="4772793"/>
            <a:ext cx="68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θ</a:t>
            </a:r>
            <a:r>
              <a:rPr baseline="-25000" lang="en-US" sz="1600">
                <a:solidFill>
                  <a:srgbClr val="FF0000"/>
                </a:solidFill>
              </a:rPr>
              <a:t>B</a:t>
            </a:r>
            <a:endParaRPr baseline="-25000" sz="1600">
              <a:solidFill>
                <a:srgbClr val="FF0000"/>
              </a:solidFill>
            </a:endParaRPr>
          </a:p>
        </p:txBody>
      </p:sp>
      <p:sp>
        <p:nvSpPr>
          <p:cNvPr id="461" name="Google Shape;461;p26"/>
          <p:cNvSpPr txBox="1"/>
          <p:nvPr/>
        </p:nvSpPr>
        <p:spPr>
          <a:xfrm>
            <a:off x="8286299" y="4885193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R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462" name="Google Shape;462;p26"/>
          <p:cNvSpPr txBox="1"/>
          <p:nvPr/>
        </p:nvSpPr>
        <p:spPr>
          <a:xfrm>
            <a:off x="6931118" y="464325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x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8179282" y="5258777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y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9061721" y="4309920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z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upper arm’s arrow in 3D:</a:t>
            </a:r>
            <a:endParaRPr sz="2400"/>
          </a:p>
        </p:txBody>
      </p:sp>
      <p:sp>
        <p:nvSpPr>
          <p:cNvPr id="471" name="Google Shape;471;p27"/>
          <p:cNvSpPr txBox="1"/>
          <p:nvPr/>
        </p:nvSpPr>
        <p:spPr>
          <a:xfrm>
            <a:off x="274320" y="777240"/>
            <a:ext cx="5760600" cy="4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Step 1. From the side, e looks like Day 1: length 1, at angle θ</a:t>
            </a:r>
            <a:r>
              <a:rPr baseline="-25000" lang="en-US" sz="2000"/>
              <a:t>S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along the floor: </a:t>
            </a:r>
            <a:r>
              <a:rPr lang="en-US" sz="2000">
                <a:solidFill>
                  <a:srgbClr val="FF0000"/>
                </a:solidFill>
              </a:rPr>
              <a:t>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up: </a:t>
            </a:r>
            <a:r>
              <a:rPr lang="en-US" sz="2000">
                <a:solidFill>
                  <a:srgbClr val="FF0000"/>
                </a:solidFill>
              </a:rPr>
              <a:t>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Step 2. From above, the floor part points at angle θ</a:t>
            </a:r>
            <a:r>
              <a:rPr baseline="-25000" lang="en-US" sz="2000"/>
              <a:t>B</a:t>
            </a:r>
            <a:r>
              <a:rPr lang="en-US" sz="2000"/>
              <a:t>. Split it like R on the last slide: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x = </a:t>
            </a:r>
            <a:r>
              <a:rPr lang="en-US" sz="2000">
                <a:solidFill>
                  <a:srgbClr val="FF0000"/>
                </a:solidFill>
              </a:rPr>
              <a:t>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cos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y = </a:t>
            </a:r>
            <a:r>
              <a:rPr lang="en-US" sz="2000">
                <a:solidFill>
                  <a:srgbClr val="FF0000"/>
                </a:solidFill>
              </a:rPr>
              <a:t>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sin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Step 3. Turning the base does not change the height: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z = </a:t>
            </a:r>
            <a:r>
              <a:rPr lang="en-US" sz="2000">
                <a:solidFill>
                  <a:srgbClr val="FF0000"/>
                </a:solidFill>
              </a:rPr>
              <a:t>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472" name="Google Shape;472;p27"/>
          <p:cNvSpPr txBox="1"/>
          <p:nvPr/>
        </p:nvSpPr>
        <p:spPr>
          <a:xfrm>
            <a:off x="274320" y="516636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So </a:t>
            </a:r>
            <a:r>
              <a:rPr lang="en-US" sz="2000">
                <a:solidFill>
                  <a:srgbClr val="FF0000"/>
                </a:solidFill>
              </a:rPr>
              <a:t>e = (cos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cos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, 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sin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, 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the Desmos graph</a:t>
            </a:r>
            <a:r>
              <a:rPr lang="en-US" sz="2000"/>
              <a:t>, e is (a, b, c).</a:t>
            </a:r>
            <a:endParaRPr sz="2000"/>
          </a:p>
        </p:txBody>
      </p:sp>
      <p:sp>
        <p:nvSpPr>
          <p:cNvPr id="473" name="Google Shape;473;p27"/>
          <p:cNvSpPr/>
          <p:nvPr/>
        </p:nvSpPr>
        <p:spPr>
          <a:xfrm flipH="1" rot="-2749348">
            <a:off x="8319028" y="3293369"/>
            <a:ext cx="1211823" cy="416254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4" name="Google Shape;474;p27"/>
          <p:cNvCxnSpPr/>
          <p:nvPr/>
        </p:nvCxnSpPr>
        <p:spPr>
          <a:xfrm flipH="1">
            <a:off x="6932820" y="4846320"/>
            <a:ext cx="656700" cy="675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27"/>
          <p:cNvCxnSpPr/>
          <p:nvPr/>
        </p:nvCxnSpPr>
        <p:spPr>
          <a:xfrm>
            <a:off x="7589520" y="4846320"/>
            <a:ext cx="3437100" cy="468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27"/>
          <p:cNvCxnSpPr/>
          <p:nvPr/>
        </p:nvCxnSpPr>
        <p:spPr>
          <a:xfrm rot="10800000">
            <a:off x="7589520" y="2387520"/>
            <a:ext cx="0" cy="2458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27"/>
          <p:cNvSpPr/>
          <p:nvPr/>
        </p:nvSpPr>
        <p:spPr>
          <a:xfrm>
            <a:off x="7296912" y="473670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8" name="Google Shape;478;p27"/>
          <p:cNvCxnSpPr/>
          <p:nvPr/>
        </p:nvCxnSpPr>
        <p:spPr>
          <a:xfrm>
            <a:off x="7589520" y="4846320"/>
            <a:ext cx="1371600" cy="61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27"/>
          <p:cNvCxnSpPr/>
          <p:nvPr/>
        </p:nvCxnSpPr>
        <p:spPr>
          <a:xfrm rot="10800000">
            <a:off x="8961042" y="3480420"/>
            <a:ext cx="0" cy="197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7"/>
          <p:cNvCxnSpPr/>
          <p:nvPr/>
        </p:nvCxnSpPr>
        <p:spPr>
          <a:xfrm>
            <a:off x="7339325" y="5103826"/>
            <a:ext cx="91800" cy="9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7"/>
          <p:cNvCxnSpPr/>
          <p:nvPr/>
        </p:nvCxnSpPr>
        <p:spPr>
          <a:xfrm>
            <a:off x="7431190" y="5113857"/>
            <a:ext cx="94500" cy="5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27"/>
          <p:cNvCxnSpPr/>
          <p:nvPr/>
        </p:nvCxnSpPr>
        <p:spPr>
          <a:xfrm>
            <a:off x="7525764" y="5119309"/>
            <a:ext cx="95700" cy="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27"/>
          <p:cNvCxnSpPr/>
          <p:nvPr/>
        </p:nvCxnSpPr>
        <p:spPr>
          <a:xfrm flipH="1" rot="10800000">
            <a:off x="7621428" y="5116191"/>
            <a:ext cx="95100" cy="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27"/>
          <p:cNvCxnSpPr/>
          <p:nvPr/>
        </p:nvCxnSpPr>
        <p:spPr>
          <a:xfrm flipH="1" rot="10800000">
            <a:off x="7716547" y="5107789"/>
            <a:ext cx="93000" cy="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27"/>
          <p:cNvCxnSpPr/>
          <p:nvPr/>
        </p:nvCxnSpPr>
        <p:spPr>
          <a:xfrm flipH="1" rot="10800000">
            <a:off x="7809492" y="5094769"/>
            <a:ext cx="89100" cy="1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27"/>
          <p:cNvCxnSpPr/>
          <p:nvPr/>
        </p:nvCxnSpPr>
        <p:spPr>
          <a:xfrm flipH="1" rot="10800000">
            <a:off x="7898674" y="5077578"/>
            <a:ext cx="84000" cy="1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27"/>
          <p:cNvCxnSpPr/>
          <p:nvPr/>
        </p:nvCxnSpPr>
        <p:spPr>
          <a:xfrm flipH="1" rot="10800000">
            <a:off x="7982565" y="5056136"/>
            <a:ext cx="77100" cy="2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27"/>
          <p:cNvCxnSpPr/>
          <p:nvPr/>
        </p:nvCxnSpPr>
        <p:spPr>
          <a:xfrm rot="10800000">
            <a:off x="8172185" y="4995921"/>
            <a:ext cx="5100" cy="11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27"/>
          <p:cNvCxnSpPr/>
          <p:nvPr/>
        </p:nvCxnSpPr>
        <p:spPr>
          <a:xfrm rot="10800000">
            <a:off x="8157257" y="4880314"/>
            <a:ext cx="15000" cy="11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27"/>
          <p:cNvCxnSpPr/>
          <p:nvPr/>
        </p:nvCxnSpPr>
        <p:spPr>
          <a:xfrm rot="10800000">
            <a:off x="8132657" y="4764249"/>
            <a:ext cx="24600" cy="116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7"/>
          <p:cNvCxnSpPr/>
          <p:nvPr/>
        </p:nvCxnSpPr>
        <p:spPr>
          <a:xfrm rot="10800000">
            <a:off x="8098644" y="4649701"/>
            <a:ext cx="33900" cy="11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7"/>
          <p:cNvCxnSpPr/>
          <p:nvPr/>
        </p:nvCxnSpPr>
        <p:spPr>
          <a:xfrm rot="10800000">
            <a:off x="8055939" y="4538358"/>
            <a:ext cx="42600" cy="11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7"/>
          <p:cNvCxnSpPr/>
          <p:nvPr/>
        </p:nvCxnSpPr>
        <p:spPr>
          <a:xfrm rot="10800000">
            <a:off x="8005125" y="4432479"/>
            <a:ext cx="50700" cy="10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27"/>
          <p:cNvCxnSpPr/>
          <p:nvPr/>
        </p:nvCxnSpPr>
        <p:spPr>
          <a:xfrm>
            <a:off x="8961042" y="3480280"/>
            <a:ext cx="1939500" cy="865800"/>
          </a:xfrm>
          <a:prstGeom prst="straightConnector1">
            <a:avLst/>
          </a:prstGeom>
          <a:noFill/>
          <a:ln cap="flat" cmpd="sng" w="15240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27"/>
          <p:cNvCxnSpPr/>
          <p:nvPr/>
        </p:nvCxnSpPr>
        <p:spPr>
          <a:xfrm>
            <a:off x="8961042" y="3480280"/>
            <a:ext cx="1939500" cy="8658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27"/>
          <p:cNvCxnSpPr/>
          <p:nvPr/>
        </p:nvCxnSpPr>
        <p:spPr>
          <a:xfrm flipH="1" rot="10800000">
            <a:off x="7589520" y="3480420"/>
            <a:ext cx="1371600" cy="1365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27"/>
          <p:cNvCxnSpPr/>
          <p:nvPr/>
        </p:nvCxnSpPr>
        <p:spPr>
          <a:xfrm flipH="1" rot="10800000">
            <a:off x="7589520" y="3480420"/>
            <a:ext cx="1371600" cy="1365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27"/>
          <p:cNvSpPr/>
          <p:nvPr/>
        </p:nvSpPr>
        <p:spPr>
          <a:xfrm>
            <a:off x="7479792" y="473659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8851314" y="33705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 txBox="1"/>
          <p:nvPr/>
        </p:nvSpPr>
        <p:spPr>
          <a:xfrm>
            <a:off x="6521279" y="5385113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501" name="Google Shape;501;p27"/>
          <p:cNvSpPr txBox="1"/>
          <p:nvPr/>
        </p:nvSpPr>
        <p:spPr>
          <a:xfrm>
            <a:off x="11044828" y="4903463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502" name="Google Shape;502;p27"/>
          <p:cNvSpPr txBox="1"/>
          <p:nvPr/>
        </p:nvSpPr>
        <p:spPr>
          <a:xfrm>
            <a:off x="7178040" y="220477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503" name="Google Shape;503;p27"/>
          <p:cNvSpPr txBox="1"/>
          <p:nvPr/>
        </p:nvSpPr>
        <p:spPr>
          <a:xfrm>
            <a:off x="7776929" y="371095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e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7585627" y="5047113"/>
            <a:ext cx="68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θ</a:t>
            </a:r>
            <a:r>
              <a:rPr baseline="-25000" lang="en-US" sz="1600">
                <a:solidFill>
                  <a:srgbClr val="FF0000"/>
                </a:solidFill>
              </a:rPr>
              <a:t>B</a:t>
            </a:r>
            <a:endParaRPr baseline="-25000" sz="1600">
              <a:solidFill>
                <a:srgbClr val="FF0000"/>
              </a:solidFill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8304034" y="4484606"/>
            <a:ext cx="68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θ</a:t>
            </a:r>
            <a:r>
              <a:rPr baseline="-25000" lang="en-US" sz="1600">
                <a:solidFill>
                  <a:srgbClr val="FF0000"/>
                </a:solidFill>
              </a:rPr>
              <a:t>S</a:t>
            </a:r>
            <a:endParaRPr baseline="-25000" sz="1600">
              <a:solidFill>
                <a:srgbClr val="FF0000"/>
              </a:solidFill>
            </a:endParaRPr>
          </a:p>
        </p:txBody>
      </p:sp>
      <p:sp>
        <p:nvSpPr>
          <p:cNvPr id="506" name="Google Shape;506;p27"/>
          <p:cNvSpPr txBox="1"/>
          <p:nvPr/>
        </p:nvSpPr>
        <p:spPr>
          <a:xfrm>
            <a:off x="9006762" y="4268282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507" name="Google Shape;507;p27"/>
          <p:cNvSpPr txBox="1"/>
          <p:nvPr/>
        </p:nvSpPr>
        <p:spPr>
          <a:xfrm>
            <a:off x="8092362" y="545862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turned arrow in 3D:</a:t>
            </a:r>
            <a:endParaRPr sz="2400"/>
          </a:p>
        </p:txBody>
      </p:sp>
      <p:sp>
        <p:nvSpPr>
          <p:cNvPr id="514" name="Google Shape;514;p28"/>
          <p:cNvSpPr txBox="1"/>
          <p:nvPr/>
        </p:nvSpPr>
        <p:spPr>
          <a:xfrm>
            <a:off x="274320" y="777240"/>
            <a:ext cx="60351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Step 1. From the side, turn e by 90° with the Day 1 rule (x, y) → (−y, x):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(cos θ</a:t>
            </a:r>
            <a:r>
              <a:rPr baseline="-25000" lang="en-US" sz="2000"/>
              <a:t>S</a:t>
            </a:r>
            <a:r>
              <a:rPr lang="en-US" sz="2000"/>
              <a:t>, sin θ</a:t>
            </a:r>
            <a:r>
              <a:rPr baseline="-25000" lang="en-US" sz="2000"/>
              <a:t>S</a:t>
            </a:r>
            <a:r>
              <a:rPr lang="en-US" sz="2000"/>
              <a:t>) → </a:t>
            </a:r>
            <a:r>
              <a:rPr lang="en-US" sz="2000">
                <a:solidFill>
                  <a:srgbClr val="FF0000"/>
                </a:solidFill>
              </a:rPr>
              <a:t>(−sin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, 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So n goes </a:t>
            </a:r>
            <a:r>
              <a:rPr lang="en-US" sz="2000">
                <a:solidFill>
                  <a:srgbClr val="FF0000"/>
                </a:solidFill>
              </a:rPr>
              <a:t>−sin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/>
              <a:t> along the floor (back toward the base) and </a:t>
            </a:r>
            <a:r>
              <a:rPr lang="en-US" sz="2000">
                <a:solidFill>
                  <a:srgbClr val="FF0000"/>
                </a:solidFill>
              </a:rPr>
              <a:t>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/>
              <a:t> up.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Step 2. From above, split the floor part with θ</a:t>
            </a:r>
            <a:r>
              <a:rPr baseline="-25000" lang="en-US" sz="2000"/>
              <a:t>B</a:t>
            </a:r>
            <a:r>
              <a:rPr lang="en-US" sz="2000"/>
              <a:t>, the same as for 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x = </a:t>
            </a:r>
            <a:r>
              <a:rPr lang="en-US" sz="2000">
                <a:solidFill>
                  <a:srgbClr val="FF0000"/>
                </a:solidFill>
              </a:rPr>
              <a:t>−sin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cos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y = </a:t>
            </a:r>
            <a:r>
              <a:rPr lang="en-US" sz="2000">
                <a:solidFill>
                  <a:srgbClr val="FF0000"/>
                </a:solidFill>
              </a:rPr>
              <a:t>−sin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sin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Step 3. The up part stays: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z = </a:t>
            </a:r>
            <a:r>
              <a:rPr lang="en-US" sz="2000">
                <a:solidFill>
                  <a:srgbClr val="FF0000"/>
                </a:solidFill>
              </a:rPr>
              <a:t>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515" name="Google Shape;515;p28"/>
          <p:cNvSpPr txBox="1"/>
          <p:nvPr/>
        </p:nvSpPr>
        <p:spPr>
          <a:xfrm>
            <a:off x="274320" y="5257800"/>
            <a:ext cx="6035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So </a:t>
            </a:r>
            <a:r>
              <a:rPr lang="en-US" sz="2000">
                <a:solidFill>
                  <a:srgbClr val="FF0000"/>
                </a:solidFill>
              </a:rPr>
              <a:t>n = (−sin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cos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, −sin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sin θ</a:t>
            </a:r>
            <a:r>
              <a:rPr baseline="-25000" lang="en-US" sz="2000">
                <a:solidFill>
                  <a:srgbClr val="FF0000"/>
                </a:solidFill>
              </a:rPr>
              <a:t>B</a:t>
            </a:r>
            <a:r>
              <a:rPr lang="en-US" sz="2000">
                <a:solidFill>
                  <a:srgbClr val="FF0000"/>
                </a:solidFill>
              </a:rPr>
              <a:t>, cos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Check: it is e with θ</a:t>
            </a:r>
            <a:r>
              <a:rPr baseline="-25000" lang="en-US" sz="2000"/>
              <a:t>S</a:t>
            </a:r>
            <a:r>
              <a:rPr lang="en-US" sz="2000"/>
              <a:t> + 90° in place of θ</a:t>
            </a:r>
            <a:r>
              <a:rPr baseline="-25000" lang="en-US" sz="2000"/>
              <a:t>S</a:t>
            </a:r>
            <a:r>
              <a:rPr lang="en-US" sz="2000"/>
              <a:t>.</a:t>
            </a:r>
            <a:endParaRPr sz="2000"/>
          </a:p>
        </p:txBody>
      </p:sp>
      <p:sp>
        <p:nvSpPr>
          <p:cNvPr id="516" name="Google Shape;516;p28"/>
          <p:cNvSpPr txBox="1"/>
          <p:nvPr/>
        </p:nvSpPr>
        <p:spPr>
          <a:xfrm>
            <a:off x="6675120" y="5897880"/>
            <a:ext cx="5303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e, n and the elbow’s axle make the upper arm’s frame.</a:t>
            </a:r>
            <a:endParaRPr sz="2000"/>
          </a:p>
        </p:txBody>
      </p:sp>
      <p:sp>
        <p:nvSpPr>
          <p:cNvPr id="517" name="Google Shape;517;p28"/>
          <p:cNvSpPr/>
          <p:nvPr/>
        </p:nvSpPr>
        <p:spPr>
          <a:xfrm flipH="1" rot="-2749426">
            <a:off x="8035657" y="3204001"/>
            <a:ext cx="1077106" cy="3728976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8" name="Google Shape;518;p28"/>
          <p:cNvCxnSpPr/>
          <p:nvPr/>
        </p:nvCxnSpPr>
        <p:spPr>
          <a:xfrm flipH="1">
            <a:off x="6812340" y="4617720"/>
            <a:ext cx="594300" cy="6117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28"/>
          <p:cNvCxnSpPr/>
          <p:nvPr/>
        </p:nvCxnSpPr>
        <p:spPr>
          <a:xfrm>
            <a:off x="7406640" y="4617720"/>
            <a:ext cx="3093300" cy="421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28"/>
          <p:cNvCxnSpPr/>
          <p:nvPr/>
        </p:nvCxnSpPr>
        <p:spPr>
          <a:xfrm rot="10800000">
            <a:off x="7406640" y="1735020"/>
            <a:ext cx="0" cy="28827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28"/>
          <p:cNvSpPr/>
          <p:nvPr/>
        </p:nvSpPr>
        <p:spPr>
          <a:xfrm>
            <a:off x="7114032" y="450810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2" name="Google Shape;522;p28"/>
          <p:cNvCxnSpPr/>
          <p:nvPr/>
        </p:nvCxnSpPr>
        <p:spPr>
          <a:xfrm>
            <a:off x="7406640" y="4617720"/>
            <a:ext cx="1163700" cy="519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28"/>
          <p:cNvCxnSpPr/>
          <p:nvPr/>
        </p:nvCxnSpPr>
        <p:spPr>
          <a:xfrm rot="10800000">
            <a:off x="7989305" y="4767321"/>
            <a:ext cx="5100" cy="11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28"/>
          <p:cNvCxnSpPr/>
          <p:nvPr/>
        </p:nvCxnSpPr>
        <p:spPr>
          <a:xfrm rot="10800000">
            <a:off x="7974377" y="4651714"/>
            <a:ext cx="15000" cy="11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28"/>
          <p:cNvCxnSpPr/>
          <p:nvPr/>
        </p:nvCxnSpPr>
        <p:spPr>
          <a:xfrm rot="10800000">
            <a:off x="7949777" y="4535649"/>
            <a:ext cx="24600" cy="116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28"/>
          <p:cNvCxnSpPr/>
          <p:nvPr/>
        </p:nvCxnSpPr>
        <p:spPr>
          <a:xfrm rot="10800000">
            <a:off x="7915764" y="4421101"/>
            <a:ext cx="33900" cy="11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28"/>
          <p:cNvCxnSpPr/>
          <p:nvPr/>
        </p:nvCxnSpPr>
        <p:spPr>
          <a:xfrm rot="10800000">
            <a:off x="7873059" y="4309758"/>
            <a:ext cx="42600" cy="11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8"/>
          <p:cNvCxnSpPr/>
          <p:nvPr/>
        </p:nvCxnSpPr>
        <p:spPr>
          <a:xfrm rot="10800000">
            <a:off x="7822245" y="4203879"/>
            <a:ext cx="50700" cy="10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28"/>
          <p:cNvCxnSpPr/>
          <p:nvPr/>
        </p:nvCxnSpPr>
        <p:spPr>
          <a:xfrm>
            <a:off x="8570355" y="3458656"/>
            <a:ext cx="1645800" cy="734700"/>
          </a:xfrm>
          <a:prstGeom prst="straightConnector1">
            <a:avLst/>
          </a:prstGeom>
          <a:noFill/>
          <a:ln cap="flat" cmpd="sng" w="15240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28"/>
          <p:cNvCxnSpPr/>
          <p:nvPr/>
        </p:nvCxnSpPr>
        <p:spPr>
          <a:xfrm>
            <a:off x="8570355" y="3458656"/>
            <a:ext cx="1645800" cy="7347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28"/>
          <p:cNvCxnSpPr/>
          <p:nvPr/>
        </p:nvCxnSpPr>
        <p:spPr>
          <a:xfrm flipH="1" rot="10800000">
            <a:off x="7406640" y="3458520"/>
            <a:ext cx="1163700" cy="11592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28"/>
          <p:cNvCxnSpPr/>
          <p:nvPr/>
        </p:nvCxnSpPr>
        <p:spPr>
          <a:xfrm flipH="1" rot="10800000">
            <a:off x="7406640" y="3458520"/>
            <a:ext cx="1163700" cy="1159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28"/>
          <p:cNvCxnSpPr/>
          <p:nvPr/>
        </p:nvCxnSpPr>
        <p:spPr>
          <a:xfrm rot="10800000">
            <a:off x="8570451" y="3075091"/>
            <a:ext cx="132900" cy="2511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28"/>
          <p:cNvCxnSpPr/>
          <p:nvPr/>
        </p:nvCxnSpPr>
        <p:spPr>
          <a:xfrm flipH="1">
            <a:off x="8437455" y="3074978"/>
            <a:ext cx="132900" cy="1326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28"/>
          <p:cNvCxnSpPr/>
          <p:nvPr/>
        </p:nvCxnSpPr>
        <p:spPr>
          <a:xfrm flipH="1" rot="10800000">
            <a:off x="8570355" y="2754856"/>
            <a:ext cx="706500" cy="7038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28"/>
          <p:cNvCxnSpPr/>
          <p:nvPr/>
        </p:nvCxnSpPr>
        <p:spPr>
          <a:xfrm rot="10800000">
            <a:off x="7863855" y="2123956"/>
            <a:ext cx="706500" cy="13347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28"/>
          <p:cNvSpPr/>
          <p:nvPr/>
        </p:nvSpPr>
        <p:spPr>
          <a:xfrm>
            <a:off x="7296912" y="450799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8"/>
          <p:cNvSpPr/>
          <p:nvPr/>
        </p:nvSpPr>
        <p:spPr>
          <a:xfrm>
            <a:off x="8460627" y="334892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8"/>
          <p:cNvSpPr txBox="1"/>
          <p:nvPr/>
        </p:nvSpPr>
        <p:spPr>
          <a:xfrm>
            <a:off x="6400948" y="5092137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540" name="Google Shape;540;p28"/>
          <p:cNvSpPr txBox="1"/>
          <p:nvPr/>
        </p:nvSpPr>
        <p:spPr>
          <a:xfrm>
            <a:off x="10518246" y="46280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541" name="Google Shape;541;p28"/>
          <p:cNvSpPr txBox="1"/>
          <p:nvPr/>
        </p:nvSpPr>
        <p:spPr>
          <a:xfrm>
            <a:off x="6995160" y="155226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542" name="Google Shape;542;p28"/>
          <p:cNvSpPr txBox="1"/>
          <p:nvPr/>
        </p:nvSpPr>
        <p:spPr>
          <a:xfrm>
            <a:off x="9322617" y="237089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e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543" name="Google Shape;543;p28"/>
          <p:cNvSpPr txBox="1"/>
          <p:nvPr/>
        </p:nvSpPr>
        <p:spPr>
          <a:xfrm>
            <a:off x="7955254" y="1849763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n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544" name="Google Shape;544;p28"/>
          <p:cNvSpPr txBox="1"/>
          <p:nvPr/>
        </p:nvSpPr>
        <p:spPr>
          <a:xfrm>
            <a:off x="8121154" y="4256006"/>
            <a:ext cx="68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θ</a:t>
            </a:r>
            <a:r>
              <a:rPr baseline="-25000" lang="en-US" sz="1600">
                <a:solidFill>
                  <a:srgbClr val="FF0000"/>
                </a:solidFill>
              </a:rPr>
              <a:t>S</a:t>
            </a:r>
            <a:endParaRPr baseline="-25000"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forearm and the tip in 3D:</a:t>
            </a:r>
            <a:endParaRPr sz="2400"/>
          </a:p>
        </p:txBody>
      </p:sp>
      <p:sp>
        <p:nvSpPr>
          <p:cNvPr id="551" name="Google Shape;551;p29"/>
          <p:cNvSpPr txBox="1"/>
          <p:nvPr/>
        </p:nvSpPr>
        <p:spPr>
          <a:xfrm>
            <a:off x="274320" y="822960"/>
            <a:ext cx="58521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same rules as Day 1: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f = 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e + sin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tip = 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e +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f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base angle is already inside e and n. So we do not need a new rule.</a:t>
            </a:r>
            <a:endParaRPr sz="2200"/>
          </a:p>
        </p:txBody>
      </p:sp>
      <p:sp>
        <p:nvSpPr>
          <p:cNvPr id="552" name="Google Shape;552;p29"/>
          <p:cNvSpPr/>
          <p:nvPr/>
        </p:nvSpPr>
        <p:spPr>
          <a:xfrm flipH="1" rot="-2749835">
            <a:off x="8076124" y="3362718"/>
            <a:ext cx="1346331" cy="39024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3" name="Google Shape;553;p29"/>
          <p:cNvCxnSpPr/>
          <p:nvPr/>
        </p:nvCxnSpPr>
        <p:spPr>
          <a:xfrm flipH="1">
            <a:off x="6870120" y="4754880"/>
            <a:ext cx="719400" cy="740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29"/>
          <p:cNvCxnSpPr/>
          <p:nvPr/>
        </p:nvCxnSpPr>
        <p:spPr>
          <a:xfrm>
            <a:off x="7589520" y="4754880"/>
            <a:ext cx="3093300" cy="421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29"/>
          <p:cNvCxnSpPr/>
          <p:nvPr/>
        </p:nvCxnSpPr>
        <p:spPr>
          <a:xfrm rot="10800000">
            <a:off x="7589520" y="2804880"/>
            <a:ext cx="0" cy="19500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6" name="Google Shape;556;p29"/>
          <p:cNvSpPr/>
          <p:nvPr/>
        </p:nvSpPr>
        <p:spPr>
          <a:xfrm>
            <a:off x="7296912" y="464526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7" name="Google Shape;557;p29"/>
          <p:cNvCxnSpPr/>
          <p:nvPr/>
        </p:nvCxnSpPr>
        <p:spPr>
          <a:xfrm flipH="1" rot="10800000">
            <a:off x="7589520" y="3947580"/>
            <a:ext cx="810300" cy="807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29"/>
          <p:cNvCxnSpPr/>
          <p:nvPr/>
        </p:nvCxnSpPr>
        <p:spPr>
          <a:xfrm flipH="1" rot="10800000">
            <a:off x="7589520" y="3947580"/>
            <a:ext cx="810300" cy="80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29"/>
          <p:cNvCxnSpPr/>
          <p:nvPr/>
        </p:nvCxnSpPr>
        <p:spPr>
          <a:xfrm>
            <a:off x="8399965" y="3947675"/>
            <a:ext cx="1146000" cy="5118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29"/>
          <p:cNvCxnSpPr/>
          <p:nvPr/>
        </p:nvCxnSpPr>
        <p:spPr>
          <a:xfrm>
            <a:off x="8399965" y="3947675"/>
            <a:ext cx="1146000" cy="511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29"/>
          <p:cNvCxnSpPr/>
          <p:nvPr/>
        </p:nvCxnSpPr>
        <p:spPr>
          <a:xfrm flipH="1" rot="10800000">
            <a:off x="8399965" y="3388775"/>
            <a:ext cx="561000" cy="5589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29"/>
          <p:cNvCxnSpPr/>
          <p:nvPr/>
        </p:nvCxnSpPr>
        <p:spPr>
          <a:xfrm rot="10800000">
            <a:off x="7838965" y="2887775"/>
            <a:ext cx="561000" cy="1059900"/>
          </a:xfrm>
          <a:prstGeom prst="straightConnector1">
            <a:avLst/>
          </a:prstGeom>
          <a:noFill/>
          <a:ln cap="flat" cmpd="sng" w="508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p29"/>
          <p:cNvSpPr/>
          <p:nvPr/>
        </p:nvSpPr>
        <p:spPr>
          <a:xfrm>
            <a:off x="7479792" y="46451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9"/>
          <p:cNvSpPr/>
          <p:nvPr/>
        </p:nvSpPr>
        <p:spPr>
          <a:xfrm>
            <a:off x="8290237" y="383794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9"/>
          <p:cNvSpPr/>
          <p:nvPr/>
        </p:nvSpPr>
        <p:spPr>
          <a:xfrm>
            <a:off x="9436378" y="434962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9"/>
          <p:cNvSpPr txBox="1"/>
          <p:nvPr/>
        </p:nvSpPr>
        <p:spPr>
          <a:xfrm>
            <a:off x="6458731" y="535805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567" name="Google Shape;567;p29"/>
          <p:cNvSpPr txBox="1"/>
          <p:nvPr/>
        </p:nvSpPr>
        <p:spPr>
          <a:xfrm>
            <a:off x="10701126" y="4765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568" name="Google Shape;568;p29"/>
          <p:cNvSpPr txBox="1"/>
          <p:nvPr/>
        </p:nvSpPr>
        <p:spPr>
          <a:xfrm>
            <a:off x="7178040" y="262202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569" name="Google Shape;569;p29"/>
          <p:cNvSpPr txBox="1"/>
          <p:nvPr/>
        </p:nvSpPr>
        <p:spPr>
          <a:xfrm>
            <a:off x="9006762" y="29773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e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570" name="Google Shape;570;p29"/>
          <p:cNvSpPr txBox="1"/>
          <p:nvPr/>
        </p:nvSpPr>
        <p:spPr>
          <a:xfrm>
            <a:off x="7884608" y="2522107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AA84F"/>
                </a:solidFill>
              </a:rPr>
              <a:t>n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571" name="Google Shape;571;p29"/>
          <p:cNvSpPr txBox="1"/>
          <p:nvPr/>
        </p:nvSpPr>
        <p:spPr>
          <a:xfrm>
            <a:off x="8881595" y="427666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f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572" name="Google Shape;572;p29"/>
          <p:cNvSpPr txBox="1"/>
          <p:nvPr/>
        </p:nvSpPr>
        <p:spPr>
          <a:xfrm>
            <a:off x="9363226" y="3910717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tip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set up</a:t>
            </a:r>
            <a:endParaRPr sz="2400"/>
          </a:p>
        </p:txBody>
      </p:sp>
      <p:sp>
        <p:nvSpPr>
          <p:cNvPr id="579" name="Google Shape;579;p30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45°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45°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−45°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580" name="Google Shape;580;p30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286000"/>
                <a:gridCol w="1005825"/>
                <a:gridCol w="1645900"/>
                <a:gridCol w="3200400"/>
                <a:gridCol w="31089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Link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angle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arrow (x, y, z)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vector (x, y, z)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Upper arm (e)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45°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(0.5000, 0.5000, 0.7071)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(125.00, 125.00, 176.78)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Turned 90° (n)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(−0.5000, −0.5000, 0.7071)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—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Forearm (f)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−45°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 (add)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1" name="Google Shape;581;p30"/>
          <p:cNvSpPr txBox="1"/>
          <p:nvPr/>
        </p:nvSpPr>
        <p:spPr>
          <a:xfrm>
            <a:off x="548640" y="4069080"/>
            <a:ext cx="113385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 = (cos 45° cos 45°, cos 45° sin 45°, sin 45°) = (0.5000, 0.5000, 0.7071)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 = (−sin 45° cos 45°, −sin 45° sin 45°, cos 45°) = (−0.5000, −0.5000, 0.7071)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Upper arm vector = 250 × e = (125.00, 125.00, 176.78)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adding up</a:t>
            </a:r>
            <a:endParaRPr sz="2400"/>
          </a:p>
        </p:txBody>
      </p:sp>
      <p:sp>
        <p:nvSpPr>
          <p:cNvPr id="588" name="Google Shape;588;p31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45°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45°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−45°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589" name="Google Shape;589;p31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286000"/>
                <a:gridCol w="1005825"/>
                <a:gridCol w="1645900"/>
                <a:gridCol w="3200400"/>
                <a:gridCol w="31089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Link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angle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arrow (x, y, z)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vector (x, y, z)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Upper arm (e)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45°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(0.5000, 0.5000, 0.7071)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(125.00, 125.00, 176.78)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Turned 90° (n)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(−0.5000, −0.5000, 0.7071)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—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Forearm (f)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−45°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(0.7071, 0.7071, 0.0000)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(176.78, 176.78, 0.00)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 (add)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(301.78, 301.78, 176.78)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90" name="Google Shape;590;p31"/>
          <p:cNvSpPr txBox="1"/>
          <p:nvPr/>
        </p:nvSpPr>
        <p:spPr>
          <a:xfrm>
            <a:off x="548640" y="4069080"/>
            <a:ext cx="113385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 = cos(−45°) e + sin(−45°) n = 0.7071 e − 0.7071 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= (0.3536, 0.3536, 0.5000) + (0.3536, 0.3536, −0.5000) = (0.7071, 0.7071, 0.0000)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Forearm vector = 250 × f = (176.78, 176.78, 0.00)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Tip: add the vector column. </a:t>
            </a:r>
            <a:r>
              <a:rPr lang="en-US" sz="2000">
                <a:solidFill>
                  <a:srgbClr val="FF0000"/>
                </a:solidFill>
              </a:rPr>
              <a:t>(301.78, 301.78, 176.78)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</a:t>
            </a:r>
            <a:endParaRPr sz="2400"/>
          </a:p>
        </p:txBody>
      </p:sp>
      <p:sp>
        <p:nvSpPr>
          <p:cNvPr id="597" name="Google Shape;597;p32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598" name="Google Shape;598;p32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286000"/>
                <a:gridCol w="1005825"/>
                <a:gridCol w="1645900"/>
                <a:gridCol w="3200400"/>
                <a:gridCol w="31089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Link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angle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arrow (x, y, z)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vector (x, y, z)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Upper arm (e)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Turned 90° (n)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—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Forearm (f)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 (add)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99" name="Google Shape;599;p32"/>
          <p:cNvSpPr txBox="1"/>
          <p:nvPr/>
        </p:nvSpPr>
        <p:spPr>
          <a:xfrm>
            <a:off x="548640" y="4069080"/>
            <a:ext cx="603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y, z) = (?, ?, ?)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00" name="Google Shape;600;p32"/>
          <p:cNvSpPr txBox="1"/>
          <p:nvPr/>
        </p:nvSpPr>
        <p:spPr>
          <a:xfrm>
            <a:off x="548640" y="4754880"/>
            <a:ext cx="1133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Fill in the table, one row at a time.</a:t>
            </a:r>
            <a:endParaRPr sz="2000"/>
          </a:p>
        </p:txBody>
      </p:sp>
      <p:sp>
        <p:nvSpPr>
          <p:cNvPr id="601" name="Google Shape;601;p32"/>
          <p:cNvSpPr txBox="1"/>
          <p:nvPr/>
        </p:nvSpPr>
        <p:spPr>
          <a:xfrm>
            <a:off x="548640" y="5943600"/>
            <a:ext cx="1133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3 this arm was θ</a:t>
            </a:r>
            <a:r>
              <a:rPr baseline="-25000" lang="en-US" sz="2000"/>
              <a:t>1</a:t>
            </a:r>
            <a:r>
              <a:rPr lang="en-US" sz="2000"/>
              <a:t> = 60°, θ</a:t>
            </a:r>
            <a:r>
              <a:rPr baseline="-25000" lang="en-US" sz="2000"/>
              <a:t>2</a:t>
            </a:r>
            <a:r>
              <a:rPr lang="en-US" sz="2000"/>
              <a:t> = 0°, θ</a:t>
            </a:r>
            <a:r>
              <a:rPr baseline="-25000" lang="en-US" sz="2000"/>
              <a:t>3</a:t>
            </a:r>
            <a:r>
              <a:rPr lang="en-US" sz="2000"/>
              <a:t> = 30°.</a:t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 solution</a:t>
            </a:r>
            <a:endParaRPr sz="2400"/>
          </a:p>
        </p:txBody>
      </p:sp>
      <p:sp>
        <p:nvSpPr>
          <p:cNvPr id="608" name="Google Shape;608;p33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609" name="Google Shape;609;p33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286000"/>
                <a:gridCol w="1005825"/>
                <a:gridCol w="1645900"/>
                <a:gridCol w="3200400"/>
                <a:gridCol w="31089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Link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angle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arrow (x, y, z)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vector (x, y, z)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Upper arm (e)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30°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(0.7500, 0.4330, 0.5000)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(187.50, 108.25, 125.00)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Turned 90° (n)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(−0.4330, −0.2500, 0.8660)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—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Forearm (f)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0°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(0.7500, 0.4330, 0.5000)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(187.50, 108.25, 125.00)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 (add)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(375.00, 216.51, 250.00)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0" name="Google Shape;610;p33"/>
          <p:cNvSpPr txBox="1"/>
          <p:nvPr/>
        </p:nvSpPr>
        <p:spPr>
          <a:xfrm>
            <a:off x="548640" y="4069080"/>
            <a:ext cx="603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y, z) = (375.00, 216.51, 250.00)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548640" y="4754880"/>
            <a:ext cx="1133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E</a:t>
            </a:r>
            <a:r>
              <a:rPr lang="en-US" sz="2000"/>
              <a:t> = 0°, so f = e. The arm is straight.</a:t>
            </a:r>
            <a:endParaRPr sz="2000"/>
          </a:p>
        </p:txBody>
      </p:sp>
      <p:sp>
        <p:nvSpPr>
          <p:cNvPr id="612" name="Google Shape;612;p33"/>
          <p:cNvSpPr txBox="1"/>
          <p:nvPr/>
        </p:nvSpPr>
        <p:spPr>
          <a:xfrm>
            <a:off x="548640" y="5943600"/>
            <a:ext cx="1133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 Lesson 3 this arm was θ</a:t>
            </a:r>
            <a:r>
              <a:rPr baseline="-25000" lang="en-US" sz="2000"/>
              <a:t>1</a:t>
            </a:r>
            <a:r>
              <a:rPr lang="en-US" sz="2000"/>
              <a:t> = 60°, θ</a:t>
            </a:r>
            <a:r>
              <a:rPr baseline="-25000" lang="en-US" sz="2000"/>
              <a:t>2</a:t>
            </a:r>
            <a:r>
              <a:rPr lang="en-US" sz="2000"/>
              <a:t> = 0°, θ</a:t>
            </a:r>
            <a:r>
              <a:rPr baseline="-25000" lang="en-US" sz="2000"/>
              <a:t>3</a:t>
            </a:r>
            <a:r>
              <a:rPr lang="en-US" sz="2000"/>
              <a:t> = 30°.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</a:t>
            </a:r>
            <a:endParaRPr sz="2400"/>
          </a:p>
        </p:txBody>
      </p:sp>
      <p:sp>
        <p:nvSpPr>
          <p:cNvPr id="619" name="Google Shape;619;p34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60°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−90°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620" name="Google Shape;620;p34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286000"/>
                <a:gridCol w="1005825"/>
                <a:gridCol w="1645900"/>
                <a:gridCol w="3200400"/>
                <a:gridCol w="31089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Link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angle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arrow (x, y, z)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vector (x, y, z)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Upper arm (e)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Turned 90° (n)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—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Forearm (f)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 (add)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1" name="Google Shape;621;p34"/>
          <p:cNvSpPr txBox="1"/>
          <p:nvPr/>
        </p:nvSpPr>
        <p:spPr>
          <a:xfrm>
            <a:off x="548640" y="4069080"/>
            <a:ext cx="603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y, z) = (?, ?, ?)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22" name="Google Shape;622;p34"/>
          <p:cNvSpPr txBox="1"/>
          <p:nvPr/>
        </p:nvSpPr>
        <p:spPr>
          <a:xfrm>
            <a:off x="548640" y="4754880"/>
            <a:ext cx="1133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Fill in the table, one row at a time.</a:t>
            </a:r>
            <a:endParaRPr sz="2000"/>
          </a:p>
        </p:txBody>
      </p:sp>
      <p:sp>
        <p:nvSpPr>
          <p:cNvPr id="623" name="Google Shape;623;p34"/>
          <p:cNvSpPr txBox="1"/>
          <p:nvPr/>
        </p:nvSpPr>
        <p:spPr>
          <a:xfrm>
            <a:off x="548640" y="5943600"/>
            <a:ext cx="1133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is Practice Problem 2 from Lesson 3: θ</a:t>
            </a:r>
            <a:r>
              <a:rPr baseline="-25000" lang="en-US" sz="2000"/>
              <a:t>1</a:t>
            </a:r>
            <a:r>
              <a:rPr lang="en-US" sz="2000"/>
              <a:t> = 30°, θ</a:t>
            </a:r>
            <a:r>
              <a:rPr baseline="-25000" lang="en-US" sz="2000"/>
              <a:t>2</a:t>
            </a:r>
            <a:r>
              <a:rPr lang="en-US" sz="2000"/>
              <a:t> = 90°, θ</a:t>
            </a:r>
            <a:r>
              <a:rPr baseline="-25000" lang="en-US" sz="2000"/>
              <a:t>3</a:t>
            </a:r>
            <a:r>
              <a:rPr lang="en-US" sz="2000"/>
              <a:t> = 30°.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 solution</a:t>
            </a:r>
            <a:endParaRPr sz="2400"/>
          </a:p>
        </p:txBody>
      </p:sp>
      <p:sp>
        <p:nvSpPr>
          <p:cNvPr id="630" name="Google Shape;630;p35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=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= 250mm     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= 30°     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= 60°     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= −90°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631" name="Google Shape;631;p35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2286000"/>
                <a:gridCol w="1005825"/>
                <a:gridCol w="1645900"/>
                <a:gridCol w="3200400"/>
                <a:gridCol w="31089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Link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angle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arrow (x, y, z)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vector (x, y, z)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Upper arm (e)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60°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(0.4330, 0.2500, 0.8660)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(108.25, 62.50, 216.51)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Turned 90° (n)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(−0.7500, −0.4330, 0.5000)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—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Forearm (f)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θ</a:t>
                      </a:r>
                      <a:r>
                        <a:rPr baseline="-25000" lang="en-US" sz="18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 = −90°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(0.7500, 0.4330, −0.5000)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(187.50, 108.25, −125.00)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 (add)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(295.75, 170.75, 91.51)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32" name="Google Shape;632;p35"/>
          <p:cNvSpPr txBox="1"/>
          <p:nvPr/>
        </p:nvSpPr>
        <p:spPr>
          <a:xfrm>
            <a:off x="548640" y="4069080"/>
            <a:ext cx="603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(x, y, z) = (295.75, 170.75, 91.51)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33" name="Google Shape;633;p35"/>
          <p:cNvSpPr txBox="1"/>
          <p:nvPr/>
        </p:nvSpPr>
        <p:spPr>
          <a:xfrm>
            <a:off x="548640" y="4754880"/>
            <a:ext cx="1133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E</a:t>
            </a:r>
            <a:r>
              <a:rPr lang="en-US" sz="2000"/>
              <a:t> = −90°, so f = −n. The forearm points down: 60° − 90° = −30° from the floor.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Lesson 3 wrote the answer as (X, Y, Z) = (295.75, 91.51, 170.75), with Y up.</a:t>
            </a:r>
            <a:endParaRPr sz="2000"/>
          </a:p>
        </p:txBody>
      </p:sp>
      <p:sp>
        <p:nvSpPr>
          <p:cNvPr id="634" name="Google Shape;634;p35"/>
          <p:cNvSpPr txBox="1"/>
          <p:nvPr/>
        </p:nvSpPr>
        <p:spPr>
          <a:xfrm>
            <a:off x="548640" y="5943600"/>
            <a:ext cx="1133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is Practice Problem 2 from Lesson 3: θ</a:t>
            </a:r>
            <a:r>
              <a:rPr baseline="-25000" lang="en-US" sz="2000"/>
              <a:t>1</a:t>
            </a:r>
            <a:r>
              <a:rPr lang="en-US" sz="2000"/>
              <a:t> = 30°, θ</a:t>
            </a:r>
            <a:r>
              <a:rPr baseline="-25000" lang="en-US" sz="2000"/>
              <a:t>2</a:t>
            </a:r>
            <a:r>
              <a:rPr lang="en-US" sz="2000"/>
              <a:t> = 90°, θ</a:t>
            </a:r>
            <a:r>
              <a:rPr baseline="-25000" lang="en-US" sz="2000"/>
              <a:t>3</a:t>
            </a:r>
            <a:r>
              <a:rPr lang="en-US" sz="2000"/>
              <a:t> = 30°.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Check it in Desmos:</a:t>
            </a:r>
            <a:endParaRPr sz="2400"/>
          </a:p>
        </p:txBody>
      </p:sp>
      <p:sp>
        <p:nvSpPr>
          <p:cNvPr id="641" name="Google Shape;641;p36"/>
          <p:cNvSpPr txBox="1"/>
          <p:nvPr/>
        </p:nvSpPr>
        <p:spPr>
          <a:xfrm>
            <a:off x="274320" y="822960"/>
            <a:ext cx="7498200" cy="48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lang="en-US" sz="2200"/>
              <a:t>Open the Desmos graph</a:t>
            </a:r>
            <a:r>
              <a:rPr lang="en-US" sz="2200"/>
              <a:t> (link below).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Type the angles into u, v and w.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Read d, then multiply it by 100 to get mm.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(The graph uses 2.5 for 250mm.)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4.  Worked example: d = (3.0178, 3.0178, 1.7678)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</a:t>
            </a:r>
            <a:r>
              <a:rPr lang="en-US" sz="2200">
                <a:solidFill>
                  <a:srgbClr val="FF0000"/>
                </a:solidFill>
              </a:rPr>
              <a:t>→ (301.78, 301.78, 176.78)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5.  Check Try it yourself #4 and #5.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6.  To see the frames, click the gray circles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in the Vectors folder.</a:t>
            </a:r>
            <a:endParaRPr sz="2200"/>
          </a:p>
        </p:txBody>
      </p:sp>
      <p:sp>
        <p:nvSpPr>
          <p:cNvPr id="642" name="Google Shape;642;p36"/>
          <p:cNvSpPr txBox="1"/>
          <p:nvPr/>
        </p:nvSpPr>
        <p:spPr>
          <a:xfrm>
            <a:off x="8046720" y="914400"/>
            <a:ext cx="39318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u =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 (base)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v =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(shoulder)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w =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(elbow)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All in degrees.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v must be less than 90°.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643" name="Google Shape;643;p36"/>
          <p:cNvSpPr txBox="1"/>
          <p:nvPr/>
        </p:nvSpPr>
        <p:spPr>
          <a:xfrm>
            <a:off x="274320" y="5897880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https://www.desmos.com/3d/qq1w1zrs78</a:t>
            </a:r>
            <a:endParaRPr sz="2200" u="sng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the graph does:</a:t>
            </a:r>
            <a:endParaRPr sz="2400"/>
          </a:p>
        </p:txBody>
      </p:sp>
      <p:graphicFrame>
        <p:nvGraphicFramePr>
          <p:cNvPr id="650" name="Google Shape;650;p37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{EC05F537-6600-4C5C-841D-AB38A1FBC9B4}</a:tableStyleId>
              </a:tblPr>
              <a:tblGrid>
                <a:gridCol w="5943600"/>
                <a:gridCol w="5120625"/>
              </a:tblGrid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In the graph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In our steps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a = cos(v) cos(u),  b = cos(v) sin(u),  c = sin(v)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(a, b, c) is e, the upper arm’s arrow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(−ac, −bc, a² + b²) ÷ √(1 − c²)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n, the turned arrow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cos(w) (a, b, c) + sin(w) × that arrow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f, the forearm’s arrow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d = 2.5 × (forearm arrow) + 2.5 (a, b, c)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 = L</a:t>
                      </a:r>
                      <a:r>
                        <a:rPr baseline="-25000" lang="en-US" sz="1800"/>
                        <a:t>1</a:t>
                      </a:r>
                      <a:r>
                        <a:rPr lang="en-US" sz="1800"/>
                        <a:t> e + L</a:t>
                      </a:r>
                      <a:r>
                        <a:rPr baseline="-25000" lang="en-US" sz="1800"/>
                        <a:t>2</a:t>
                      </a:r>
                      <a:r>
                        <a:rPr lang="en-US" sz="1800"/>
                        <a:t> f, in hundreds of mm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(b, −a, 0) ÷ √(1 − c²)   (hidden)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the elbow’s axle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1" name="Google Shape;651;p37"/>
          <p:cNvSpPr txBox="1"/>
          <p:nvPr/>
        </p:nvSpPr>
        <p:spPr>
          <a:xfrm>
            <a:off x="548640" y="5120640"/>
            <a:ext cx="11155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Each link is one vector, and each joint is measured from the link before it.</a:t>
            </a:r>
            <a:endParaRPr sz="2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we learned:</a:t>
            </a:r>
            <a:endParaRPr sz="2400"/>
          </a:p>
        </p:txBody>
      </p:sp>
      <p:sp>
        <p:nvSpPr>
          <p:cNvPr id="658" name="Google Shape;658;p38"/>
          <p:cNvSpPr txBox="1"/>
          <p:nvPr/>
        </p:nvSpPr>
        <p:spPr>
          <a:xfrm>
            <a:off x="274320" y="822960"/>
            <a:ext cx="115215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Each joint angle is measured from the link before it.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link’s arrow is </a:t>
            </a:r>
            <a:r>
              <a:rPr lang="en-US" sz="2200">
                <a:solidFill>
                  <a:srgbClr val="FF0000"/>
                </a:solidFill>
              </a:rPr>
              <a:t>(cos θ, sin θ)</a:t>
            </a:r>
            <a:r>
              <a:rPr lang="en-US" sz="2200"/>
              <a:t>. In 3D it is </a:t>
            </a:r>
            <a:r>
              <a:rPr lang="en-US" sz="2200">
                <a:solidFill>
                  <a:srgbClr val="FF0000"/>
                </a:solidFill>
              </a:rPr>
              <a:t>(cos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cos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, cos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 sin θ</a:t>
            </a:r>
            <a:r>
              <a:rPr baseline="-25000" lang="en-US" sz="2200">
                <a:solidFill>
                  <a:srgbClr val="FF0000"/>
                </a:solidFill>
              </a:rPr>
              <a:t>B</a:t>
            </a:r>
            <a:r>
              <a:rPr lang="en-US" sz="2200">
                <a:solidFill>
                  <a:srgbClr val="FF0000"/>
                </a:solidFill>
              </a:rPr>
              <a:t>, sin θ</a:t>
            </a:r>
            <a:r>
              <a:rPr baseline="-25000" lang="en-US" sz="2200">
                <a:solidFill>
                  <a:srgbClr val="FF0000"/>
                </a:solidFill>
              </a:rPr>
              <a:t>S</a:t>
            </a:r>
            <a:r>
              <a:rPr lang="en-US" sz="2200">
                <a:solidFill>
                  <a:srgbClr val="FF0000"/>
                </a:solidFill>
              </a:rPr>
              <a:t>)</a:t>
            </a:r>
            <a:r>
              <a:rPr lang="en-US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 turn an arrow by θ</a:t>
            </a:r>
            <a:r>
              <a:rPr baseline="-25000" lang="en-US" sz="2200"/>
              <a:t>E</a:t>
            </a:r>
            <a:r>
              <a:rPr lang="en-US" sz="2200"/>
              <a:t>: </a:t>
            </a:r>
            <a:r>
              <a:rPr lang="en-US" sz="2200">
                <a:solidFill>
                  <a:srgbClr val="FF0000"/>
                </a:solidFill>
              </a:rPr>
              <a:t>cos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e + sin θ</a:t>
            </a:r>
            <a:r>
              <a:rPr baseline="-25000" lang="en-US" sz="2200">
                <a:solidFill>
                  <a:srgbClr val="FF0000"/>
                </a:solidFill>
              </a:rPr>
              <a:t>E</a:t>
            </a:r>
            <a:r>
              <a:rPr lang="en-US" sz="2200">
                <a:solidFill>
                  <a:srgbClr val="FF0000"/>
                </a:solidFill>
              </a:rPr>
              <a:t> · 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tip is the sum of the link vectors: </a:t>
            </a:r>
            <a:r>
              <a:rPr lang="en-US" sz="2200">
                <a:solidFill>
                  <a:srgbClr val="FF0000"/>
                </a:solidFill>
              </a:rPr>
              <a:t>L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e + L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f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Desmos graph does</a:t>
            </a:r>
            <a:r>
              <a:rPr lang="en-US" sz="2200"/>
              <a:t> the same steps.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Next lesson: we write these steps as a Python program.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obotic Arm Course">
  <a:themeElements>
    <a:clrScheme name="Robotic Arm Course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6AA84F"/>
      </a:accent1>
      <a:accent2>
        <a:srgbClr val="F1C232"/>
      </a:accent2>
      <a:accent3>
        <a:srgbClr val="FF0000"/>
      </a:accent3>
      <a:accent4>
        <a:srgbClr val="1155CC"/>
      </a:accent4>
      <a:accent5>
        <a:srgbClr val="666666"/>
      </a:accent5>
      <a:accent6>
        <a:srgbClr val="38761D"/>
      </a:accent6>
      <a:hlink>
        <a:srgbClr val="1155CC"/>
      </a:hlink>
      <a:folHlink>
        <a:srgbClr val="66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